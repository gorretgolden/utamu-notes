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9" r:id="rId13"/>
    <p:sldId id="278" r:id="rId14"/>
    <p:sldId id="269" r:id="rId15"/>
    <p:sldId id="270" r:id="rId16"/>
    <p:sldId id="271" r:id="rId17"/>
    <p:sldId id="272" r:id="rId18"/>
    <p:sldId id="280" r:id="rId19"/>
    <p:sldId id="273" r:id="rId20"/>
    <p:sldId id="274" r:id="rId21"/>
    <p:sldId id="275" r:id="rId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4A21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4A21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670" y="3175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4" y="0"/>
                </a:moveTo>
                <a:lnTo>
                  <a:pt x="505" y="0"/>
                </a:lnTo>
                <a:lnTo>
                  <a:pt x="0" y="819150"/>
                </a:lnTo>
                <a:lnTo>
                  <a:pt x="505" y="819150"/>
                </a:lnTo>
                <a:lnTo>
                  <a:pt x="48636" y="817759"/>
                </a:lnTo>
                <a:lnTo>
                  <a:pt x="96034" y="813638"/>
                </a:lnTo>
                <a:lnTo>
                  <a:pt x="142624" y="806864"/>
                </a:lnTo>
                <a:lnTo>
                  <a:pt x="188327" y="797514"/>
                </a:lnTo>
                <a:lnTo>
                  <a:pt x="233067" y="785664"/>
                </a:lnTo>
                <a:lnTo>
                  <a:pt x="276768" y="771391"/>
                </a:lnTo>
                <a:lnTo>
                  <a:pt x="319353" y="754772"/>
                </a:lnTo>
                <a:lnTo>
                  <a:pt x="360744" y="735885"/>
                </a:lnTo>
                <a:lnTo>
                  <a:pt x="400865" y="714805"/>
                </a:lnTo>
                <a:lnTo>
                  <a:pt x="439639" y="691610"/>
                </a:lnTo>
                <a:lnTo>
                  <a:pt x="476989" y="666377"/>
                </a:lnTo>
                <a:lnTo>
                  <a:pt x="512839" y="639182"/>
                </a:lnTo>
                <a:lnTo>
                  <a:pt x="547111" y="610102"/>
                </a:lnTo>
                <a:lnTo>
                  <a:pt x="579729" y="579215"/>
                </a:lnTo>
                <a:lnTo>
                  <a:pt x="610616" y="546596"/>
                </a:lnTo>
                <a:lnTo>
                  <a:pt x="639695" y="512323"/>
                </a:lnTo>
                <a:lnTo>
                  <a:pt x="666889" y="476473"/>
                </a:lnTo>
                <a:lnTo>
                  <a:pt x="692121" y="439123"/>
                </a:lnTo>
                <a:lnTo>
                  <a:pt x="715315" y="400349"/>
                </a:lnTo>
                <a:lnTo>
                  <a:pt x="736394" y="360228"/>
                </a:lnTo>
                <a:lnTo>
                  <a:pt x="755281" y="318837"/>
                </a:lnTo>
                <a:lnTo>
                  <a:pt x="771898" y="276253"/>
                </a:lnTo>
                <a:lnTo>
                  <a:pt x="786170" y="232553"/>
                </a:lnTo>
                <a:lnTo>
                  <a:pt x="798019" y="187814"/>
                </a:lnTo>
                <a:lnTo>
                  <a:pt x="807369" y="142112"/>
                </a:lnTo>
                <a:lnTo>
                  <a:pt x="814143" y="95524"/>
                </a:lnTo>
                <a:lnTo>
                  <a:pt x="818263" y="48128"/>
                </a:lnTo>
                <a:lnTo>
                  <a:pt x="819654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670" y="3175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4" y="0"/>
                </a:moveTo>
                <a:lnTo>
                  <a:pt x="818263" y="48128"/>
                </a:lnTo>
                <a:lnTo>
                  <a:pt x="814143" y="95524"/>
                </a:lnTo>
                <a:lnTo>
                  <a:pt x="807369" y="142112"/>
                </a:lnTo>
                <a:lnTo>
                  <a:pt x="798019" y="187814"/>
                </a:lnTo>
                <a:lnTo>
                  <a:pt x="786170" y="232553"/>
                </a:lnTo>
                <a:lnTo>
                  <a:pt x="771898" y="276253"/>
                </a:lnTo>
                <a:lnTo>
                  <a:pt x="755281" y="318837"/>
                </a:lnTo>
                <a:lnTo>
                  <a:pt x="736394" y="360228"/>
                </a:lnTo>
                <a:lnTo>
                  <a:pt x="715315" y="400349"/>
                </a:lnTo>
                <a:lnTo>
                  <a:pt x="692121" y="439123"/>
                </a:lnTo>
                <a:lnTo>
                  <a:pt x="666889" y="476473"/>
                </a:lnTo>
                <a:lnTo>
                  <a:pt x="639695" y="512323"/>
                </a:lnTo>
                <a:lnTo>
                  <a:pt x="610616" y="546596"/>
                </a:lnTo>
                <a:lnTo>
                  <a:pt x="579729" y="579215"/>
                </a:lnTo>
                <a:lnTo>
                  <a:pt x="547111" y="610102"/>
                </a:lnTo>
                <a:lnTo>
                  <a:pt x="512839" y="639182"/>
                </a:lnTo>
                <a:lnTo>
                  <a:pt x="476989" y="666377"/>
                </a:lnTo>
                <a:lnTo>
                  <a:pt x="439639" y="691610"/>
                </a:lnTo>
                <a:lnTo>
                  <a:pt x="400865" y="714805"/>
                </a:lnTo>
                <a:lnTo>
                  <a:pt x="360744" y="735885"/>
                </a:lnTo>
                <a:lnTo>
                  <a:pt x="319353" y="754772"/>
                </a:lnTo>
                <a:lnTo>
                  <a:pt x="276768" y="771391"/>
                </a:lnTo>
                <a:lnTo>
                  <a:pt x="233067" y="785664"/>
                </a:lnTo>
                <a:lnTo>
                  <a:pt x="188327" y="797514"/>
                </a:lnTo>
                <a:lnTo>
                  <a:pt x="142624" y="806864"/>
                </a:lnTo>
                <a:lnTo>
                  <a:pt x="96034" y="813638"/>
                </a:lnTo>
                <a:lnTo>
                  <a:pt x="48636" y="817759"/>
                </a:lnTo>
                <a:lnTo>
                  <a:pt x="505" y="819150"/>
                </a:lnTo>
                <a:lnTo>
                  <a:pt x="337" y="819150"/>
                </a:lnTo>
                <a:lnTo>
                  <a:pt x="168" y="819150"/>
                </a:lnTo>
                <a:lnTo>
                  <a:pt x="0" y="819150"/>
                </a:lnTo>
                <a:lnTo>
                  <a:pt x="505" y="0"/>
                </a:lnTo>
                <a:lnTo>
                  <a:pt x="819654" y="0"/>
                </a:lnTo>
                <a:close/>
              </a:path>
            </a:pathLst>
          </a:custGeom>
          <a:ln w="12700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26492" y="4572"/>
            <a:ext cx="1786127" cy="1786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68275" y="20700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5" h="1703705">
                <a:moveTo>
                  <a:pt x="0" y="851662"/>
                </a:moveTo>
                <a:lnTo>
                  <a:pt x="1348" y="803329"/>
                </a:lnTo>
                <a:lnTo>
                  <a:pt x="5345" y="755704"/>
                </a:lnTo>
                <a:lnTo>
                  <a:pt x="11918" y="708858"/>
                </a:lnTo>
                <a:lnTo>
                  <a:pt x="20996" y="662865"/>
                </a:lnTo>
                <a:lnTo>
                  <a:pt x="32507" y="617795"/>
                </a:lnTo>
                <a:lnTo>
                  <a:pt x="46379" y="573720"/>
                </a:lnTo>
                <a:lnTo>
                  <a:pt x="62541" y="530713"/>
                </a:lnTo>
                <a:lnTo>
                  <a:pt x="80919" y="488844"/>
                </a:lnTo>
                <a:lnTo>
                  <a:pt x="101442" y="448187"/>
                </a:lnTo>
                <a:lnTo>
                  <a:pt x="124039" y="408812"/>
                </a:lnTo>
                <a:lnTo>
                  <a:pt x="148638" y="370792"/>
                </a:lnTo>
                <a:lnTo>
                  <a:pt x="175166" y="334199"/>
                </a:lnTo>
                <a:lnTo>
                  <a:pt x="203552" y="299104"/>
                </a:lnTo>
                <a:lnTo>
                  <a:pt x="233723" y="265579"/>
                </a:lnTo>
                <a:lnTo>
                  <a:pt x="265609" y="233696"/>
                </a:lnTo>
                <a:lnTo>
                  <a:pt x="299136" y="203527"/>
                </a:lnTo>
                <a:lnTo>
                  <a:pt x="334233" y="175144"/>
                </a:lnTo>
                <a:lnTo>
                  <a:pt x="370829" y="148619"/>
                </a:lnTo>
                <a:lnTo>
                  <a:pt x="408851" y="124023"/>
                </a:lnTo>
                <a:lnTo>
                  <a:pt x="448227" y="101429"/>
                </a:lnTo>
                <a:lnTo>
                  <a:pt x="488886" y="80908"/>
                </a:lnTo>
                <a:lnTo>
                  <a:pt x="530756" y="62532"/>
                </a:lnTo>
                <a:lnTo>
                  <a:pt x="573764" y="46373"/>
                </a:lnTo>
                <a:lnTo>
                  <a:pt x="617839" y="32502"/>
                </a:lnTo>
                <a:lnTo>
                  <a:pt x="662909" y="20993"/>
                </a:lnTo>
                <a:lnTo>
                  <a:pt x="708902" y="11916"/>
                </a:lnTo>
                <a:lnTo>
                  <a:pt x="755746" y="5344"/>
                </a:lnTo>
                <a:lnTo>
                  <a:pt x="803369" y="1348"/>
                </a:lnTo>
                <a:lnTo>
                  <a:pt x="851700" y="0"/>
                </a:lnTo>
                <a:lnTo>
                  <a:pt x="900029" y="1348"/>
                </a:lnTo>
                <a:lnTo>
                  <a:pt x="947652" y="5344"/>
                </a:lnTo>
                <a:lnTo>
                  <a:pt x="994496" y="11916"/>
                </a:lnTo>
                <a:lnTo>
                  <a:pt x="1040489" y="20993"/>
                </a:lnTo>
                <a:lnTo>
                  <a:pt x="1085560" y="32502"/>
                </a:lnTo>
                <a:lnTo>
                  <a:pt x="1129636" y="46373"/>
                </a:lnTo>
                <a:lnTo>
                  <a:pt x="1172646" y="62532"/>
                </a:lnTo>
                <a:lnTo>
                  <a:pt x="1214517" y="80908"/>
                </a:lnTo>
                <a:lnTo>
                  <a:pt x="1255178" y="101429"/>
                </a:lnTo>
                <a:lnTo>
                  <a:pt x="1294557" y="124023"/>
                </a:lnTo>
                <a:lnTo>
                  <a:pt x="1332581" y="148619"/>
                </a:lnTo>
                <a:lnTo>
                  <a:pt x="1369179" y="175144"/>
                </a:lnTo>
                <a:lnTo>
                  <a:pt x="1404280" y="203527"/>
                </a:lnTo>
                <a:lnTo>
                  <a:pt x="1437810" y="233696"/>
                </a:lnTo>
                <a:lnTo>
                  <a:pt x="1469698" y="265579"/>
                </a:lnTo>
                <a:lnTo>
                  <a:pt x="1499873" y="299104"/>
                </a:lnTo>
                <a:lnTo>
                  <a:pt x="1528261" y="334199"/>
                </a:lnTo>
                <a:lnTo>
                  <a:pt x="1554792" y="370792"/>
                </a:lnTo>
                <a:lnTo>
                  <a:pt x="1579394" y="408812"/>
                </a:lnTo>
                <a:lnTo>
                  <a:pt x="1601993" y="448187"/>
                </a:lnTo>
                <a:lnTo>
                  <a:pt x="1622520" y="488844"/>
                </a:lnTo>
                <a:lnTo>
                  <a:pt x="1640900" y="530713"/>
                </a:lnTo>
                <a:lnTo>
                  <a:pt x="1657064" y="573720"/>
                </a:lnTo>
                <a:lnTo>
                  <a:pt x="1670938" y="617795"/>
                </a:lnTo>
                <a:lnTo>
                  <a:pt x="1682450" y="662865"/>
                </a:lnTo>
                <a:lnTo>
                  <a:pt x="1691530" y="708858"/>
                </a:lnTo>
                <a:lnTo>
                  <a:pt x="1698105" y="755704"/>
                </a:lnTo>
                <a:lnTo>
                  <a:pt x="1702102" y="803329"/>
                </a:lnTo>
                <a:lnTo>
                  <a:pt x="1703451" y="851662"/>
                </a:lnTo>
                <a:lnTo>
                  <a:pt x="1702102" y="899994"/>
                </a:lnTo>
                <a:lnTo>
                  <a:pt x="1698105" y="947619"/>
                </a:lnTo>
                <a:lnTo>
                  <a:pt x="1691530" y="994465"/>
                </a:lnTo>
                <a:lnTo>
                  <a:pt x="1682450" y="1040458"/>
                </a:lnTo>
                <a:lnTo>
                  <a:pt x="1670938" y="1085528"/>
                </a:lnTo>
                <a:lnTo>
                  <a:pt x="1657064" y="1129603"/>
                </a:lnTo>
                <a:lnTo>
                  <a:pt x="1640900" y="1172610"/>
                </a:lnTo>
                <a:lnTo>
                  <a:pt x="1622520" y="1214479"/>
                </a:lnTo>
                <a:lnTo>
                  <a:pt x="1601993" y="1255136"/>
                </a:lnTo>
                <a:lnTo>
                  <a:pt x="1579394" y="1294511"/>
                </a:lnTo>
                <a:lnTo>
                  <a:pt x="1554792" y="1332531"/>
                </a:lnTo>
                <a:lnTo>
                  <a:pt x="1528261" y="1369124"/>
                </a:lnTo>
                <a:lnTo>
                  <a:pt x="1499873" y="1404219"/>
                </a:lnTo>
                <a:lnTo>
                  <a:pt x="1469698" y="1437744"/>
                </a:lnTo>
                <a:lnTo>
                  <a:pt x="1437810" y="1469627"/>
                </a:lnTo>
                <a:lnTo>
                  <a:pt x="1404280" y="1499796"/>
                </a:lnTo>
                <a:lnTo>
                  <a:pt x="1369179" y="1528179"/>
                </a:lnTo>
                <a:lnTo>
                  <a:pt x="1332581" y="1554704"/>
                </a:lnTo>
                <a:lnTo>
                  <a:pt x="1294557" y="1579300"/>
                </a:lnTo>
                <a:lnTo>
                  <a:pt x="1255178" y="1601894"/>
                </a:lnTo>
                <a:lnTo>
                  <a:pt x="1214517" y="1622415"/>
                </a:lnTo>
                <a:lnTo>
                  <a:pt x="1172646" y="1640791"/>
                </a:lnTo>
                <a:lnTo>
                  <a:pt x="1129636" y="1656950"/>
                </a:lnTo>
                <a:lnTo>
                  <a:pt x="1085560" y="1670821"/>
                </a:lnTo>
                <a:lnTo>
                  <a:pt x="1040489" y="1682330"/>
                </a:lnTo>
                <a:lnTo>
                  <a:pt x="994496" y="1691407"/>
                </a:lnTo>
                <a:lnTo>
                  <a:pt x="947652" y="1697979"/>
                </a:lnTo>
                <a:lnTo>
                  <a:pt x="900029" y="1701975"/>
                </a:lnTo>
                <a:lnTo>
                  <a:pt x="851700" y="1703324"/>
                </a:lnTo>
                <a:lnTo>
                  <a:pt x="803369" y="1701975"/>
                </a:lnTo>
                <a:lnTo>
                  <a:pt x="755746" y="1697979"/>
                </a:lnTo>
                <a:lnTo>
                  <a:pt x="708902" y="1691407"/>
                </a:lnTo>
                <a:lnTo>
                  <a:pt x="662909" y="1682330"/>
                </a:lnTo>
                <a:lnTo>
                  <a:pt x="617839" y="1670821"/>
                </a:lnTo>
                <a:lnTo>
                  <a:pt x="573764" y="1656950"/>
                </a:lnTo>
                <a:lnTo>
                  <a:pt x="530756" y="1640791"/>
                </a:lnTo>
                <a:lnTo>
                  <a:pt x="488886" y="1622415"/>
                </a:lnTo>
                <a:lnTo>
                  <a:pt x="448227" y="1601894"/>
                </a:lnTo>
                <a:lnTo>
                  <a:pt x="408851" y="1579300"/>
                </a:lnTo>
                <a:lnTo>
                  <a:pt x="370829" y="1554704"/>
                </a:lnTo>
                <a:lnTo>
                  <a:pt x="334233" y="1528179"/>
                </a:lnTo>
                <a:lnTo>
                  <a:pt x="299136" y="1499796"/>
                </a:lnTo>
                <a:lnTo>
                  <a:pt x="265609" y="1469627"/>
                </a:lnTo>
                <a:lnTo>
                  <a:pt x="233723" y="1437744"/>
                </a:lnTo>
                <a:lnTo>
                  <a:pt x="203552" y="1404219"/>
                </a:lnTo>
                <a:lnTo>
                  <a:pt x="175166" y="1369124"/>
                </a:lnTo>
                <a:lnTo>
                  <a:pt x="148638" y="1332531"/>
                </a:lnTo>
                <a:lnTo>
                  <a:pt x="124039" y="1294511"/>
                </a:lnTo>
                <a:lnTo>
                  <a:pt x="101442" y="1255136"/>
                </a:lnTo>
                <a:lnTo>
                  <a:pt x="80919" y="1214479"/>
                </a:lnTo>
                <a:lnTo>
                  <a:pt x="62541" y="1172610"/>
                </a:lnTo>
                <a:lnTo>
                  <a:pt x="46379" y="1129603"/>
                </a:lnTo>
                <a:lnTo>
                  <a:pt x="32507" y="1085528"/>
                </a:lnTo>
                <a:lnTo>
                  <a:pt x="20996" y="1040458"/>
                </a:lnTo>
                <a:lnTo>
                  <a:pt x="11918" y="994465"/>
                </a:lnTo>
                <a:lnTo>
                  <a:pt x="5345" y="947619"/>
                </a:lnTo>
                <a:lnTo>
                  <a:pt x="1348" y="899994"/>
                </a:lnTo>
                <a:lnTo>
                  <a:pt x="0" y="851662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69163" y="1043939"/>
            <a:ext cx="1159764" cy="11536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87318" y="1050633"/>
            <a:ext cx="1116813" cy="11115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87318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7" y="204634"/>
                </a:moveTo>
                <a:lnTo>
                  <a:pt x="149786" y="168741"/>
                </a:lnTo>
                <a:lnTo>
                  <a:pt x="183516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6" y="40547"/>
                </a:lnTo>
                <a:lnTo>
                  <a:pt x="380539" y="25331"/>
                </a:lnTo>
                <a:lnTo>
                  <a:pt x="423971" y="13644"/>
                </a:lnTo>
                <a:lnTo>
                  <a:pt x="468197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8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8" y="50083"/>
                </a:lnTo>
                <a:lnTo>
                  <a:pt x="822331" y="71238"/>
                </a:lnTo>
                <a:lnTo>
                  <a:pt x="863109" y="96162"/>
                </a:lnTo>
                <a:lnTo>
                  <a:pt x="902328" y="124878"/>
                </a:lnTo>
                <a:lnTo>
                  <a:pt x="939023" y="156757"/>
                </a:lnTo>
                <a:lnTo>
                  <a:pt x="972366" y="190998"/>
                </a:lnTo>
                <a:lnTo>
                  <a:pt x="1002326" y="227366"/>
                </a:lnTo>
                <a:lnTo>
                  <a:pt x="1028875" y="265625"/>
                </a:lnTo>
                <a:lnTo>
                  <a:pt x="1051985" y="305541"/>
                </a:lnTo>
                <a:lnTo>
                  <a:pt x="1071627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5" y="611617"/>
                </a:lnTo>
                <a:lnTo>
                  <a:pt x="1109608" y="656333"/>
                </a:lnTo>
                <a:lnTo>
                  <a:pt x="1100474" y="700593"/>
                </a:lnTo>
                <a:lnTo>
                  <a:pt x="1087614" y="744160"/>
                </a:lnTo>
                <a:lnTo>
                  <a:pt x="1070999" y="786801"/>
                </a:lnTo>
                <a:lnTo>
                  <a:pt x="1050601" y="828281"/>
                </a:lnTo>
                <a:lnTo>
                  <a:pt x="1026391" y="868365"/>
                </a:lnTo>
                <a:lnTo>
                  <a:pt x="998340" y="906817"/>
                </a:lnTo>
                <a:lnTo>
                  <a:pt x="967050" y="942711"/>
                </a:lnTo>
                <a:lnTo>
                  <a:pt x="933321" y="975221"/>
                </a:lnTo>
                <a:lnTo>
                  <a:pt x="897386" y="1004323"/>
                </a:lnTo>
                <a:lnTo>
                  <a:pt x="859481" y="1029991"/>
                </a:lnTo>
                <a:lnTo>
                  <a:pt x="819842" y="1052203"/>
                </a:lnTo>
                <a:lnTo>
                  <a:pt x="778703" y="1070934"/>
                </a:lnTo>
                <a:lnTo>
                  <a:pt x="736301" y="1086160"/>
                </a:lnTo>
                <a:lnTo>
                  <a:pt x="692869" y="1097856"/>
                </a:lnTo>
                <a:lnTo>
                  <a:pt x="648644" y="1105999"/>
                </a:lnTo>
                <a:lnTo>
                  <a:pt x="603861" y="1110565"/>
                </a:lnTo>
                <a:lnTo>
                  <a:pt x="558755" y="1111530"/>
                </a:lnTo>
                <a:lnTo>
                  <a:pt x="513561" y="1108869"/>
                </a:lnTo>
                <a:lnTo>
                  <a:pt x="468514" y="1102558"/>
                </a:lnTo>
                <a:lnTo>
                  <a:pt x="423851" y="1092574"/>
                </a:lnTo>
                <a:lnTo>
                  <a:pt x="379805" y="1078891"/>
                </a:lnTo>
                <a:lnTo>
                  <a:pt x="336613" y="1061487"/>
                </a:lnTo>
                <a:lnTo>
                  <a:pt x="294509" y="1040336"/>
                </a:lnTo>
                <a:lnTo>
                  <a:pt x="253729" y="1015415"/>
                </a:lnTo>
                <a:lnTo>
                  <a:pt x="214509" y="986700"/>
                </a:lnTo>
                <a:lnTo>
                  <a:pt x="177813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3" y="806035"/>
                </a:lnTo>
                <a:lnTo>
                  <a:pt x="45198" y="764695"/>
                </a:lnTo>
                <a:lnTo>
                  <a:pt x="29050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1" y="367355"/>
                </a:lnTo>
                <a:lnTo>
                  <a:pt x="45819" y="324701"/>
                </a:lnTo>
                <a:lnTo>
                  <a:pt x="66221" y="283206"/>
                </a:lnTo>
                <a:lnTo>
                  <a:pt x="90438" y="243105"/>
                </a:lnTo>
                <a:lnTo>
                  <a:pt x="118497" y="204634"/>
                </a:lnTo>
                <a:close/>
              </a:path>
            </a:pathLst>
          </a:custGeom>
          <a:ln w="12700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317961" y="1181524"/>
            <a:ext cx="855980" cy="850265"/>
          </a:xfrm>
          <a:custGeom>
            <a:avLst/>
            <a:gdLst/>
            <a:ahLst/>
            <a:cxnLst/>
            <a:rect l="l" t="t" r="r" b="b"/>
            <a:pathLst>
              <a:path w="855980" h="850264">
                <a:moveTo>
                  <a:pt x="89835" y="155150"/>
                </a:moveTo>
                <a:lnTo>
                  <a:pt x="63214" y="192564"/>
                </a:lnTo>
                <a:lnTo>
                  <a:pt x="41313" y="231919"/>
                </a:lnTo>
                <a:lnTo>
                  <a:pt x="24088" y="272849"/>
                </a:lnTo>
                <a:lnTo>
                  <a:pt x="11491" y="314989"/>
                </a:lnTo>
                <a:lnTo>
                  <a:pt x="3477" y="357973"/>
                </a:lnTo>
                <a:lnTo>
                  <a:pt x="0" y="401436"/>
                </a:lnTo>
                <a:lnTo>
                  <a:pt x="1013" y="445012"/>
                </a:lnTo>
                <a:lnTo>
                  <a:pt x="6470" y="488336"/>
                </a:lnTo>
                <a:lnTo>
                  <a:pt x="16327" y="531041"/>
                </a:lnTo>
                <a:lnTo>
                  <a:pt x="30536" y="572763"/>
                </a:lnTo>
                <a:lnTo>
                  <a:pt x="49052" y="613136"/>
                </a:lnTo>
                <a:lnTo>
                  <a:pt x="71828" y="651795"/>
                </a:lnTo>
                <a:lnTo>
                  <a:pt x="98819" y="688373"/>
                </a:lnTo>
                <a:lnTo>
                  <a:pt x="129978" y="722506"/>
                </a:lnTo>
                <a:lnTo>
                  <a:pt x="165260" y="753828"/>
                </a:lnTo>
                <a:lnTo>
                  <a:pt x="203623" y="781288"/>
                </a:lnTo>
                <a:lnTo>
                  <a:pt x="243811" y="804104"/>
                </a:lnTo>
                <a:lnTo>
                  <a:pt x="285458" y="822312"/>
                </a:lnTo>
                <a:lnTo>
                  <a:pt x="328199" y="835949"/>
                </a:lnTo>
                <a:lnTo>
                  <a:pt x="371666" y="845051"/>
                </a:lnTo>
                <a:lnTo>
                  <a:pt x="415493" y="849655"/>
                </a:lnTo>
                <a:lnTo>
                  <a:pt x="459315" y="849796"/>
                </a:lnTo>
                <a:lnTo>
                  <a:pt x="502764" y="845511"/>
                </a:lnTo>
                <a:lnTo>
                  <a:pt x="545475" y="836837"/>
                </a:lnTo>
                <a:lnTo>
                  <a:pt x="587081" y="823809"/>
                </a:lnTo>
                <a:lnTo>
                  <a:pt x="627215" y="806465"/>
                </a:lnTo>
                <a:lnTo>
                  <a:pt x="665512" y="784840"/>
                </a:lnTo>
                <a:lnTo>
                  <a:pt x="701606" y="758971"/>
                </a:lnTo>
                <a:lnTo>
                  <a:pt x="735129" y="728894"/>
                </a:lnTo>
                <a:lnTo>
                  <a:pt x="765716" y="694646"/>
                </a:lnTo>
                <a:lnTo>
                  <a:pt x="792339" y="657209"/>
                </a:lnTo>
                <a:lnTo>
                  <a:pt x="814242" y="617838"/>
                </a:lnTo>
                <a:lnTo>
                  <a:pt x="831469" y="576897"/>
                </a:lnTo>
                <a:lnTo>
                  <a:pt x="844067" y="534752"/>
                </a:lnTo>
                <a:lnTo>
                  <a:pt x="852083" y="491766"/>
                </a:lnTo>
                <a:lnTo>
                  <a:pt x="855561" y="448304"/>
                </a:lnTo>
                <a:lnTo>
                  <a:pt x="854549" y="404733"/>
                </a:lnTo>
                <a:lnTo>
                  <a:pt x="849091" y="361416"/>
                </a:lnTo>
                <a:lnTo>
                  <a:pt x="839236" y="318718"/>
                </a:lnTo>
                <a:lnTo>
                  <a:pt x="825027" y="277004"/>
                </a:lnTo>
                <a:lnTo>
                  <a:pt x="806511" y="236639"/>
                </a:lnTo>
                <a:lnTo>
                  <a:pt x="783735" y="197988"/>
                </a:lnTo>
                <a:lnTo>
                  <a:pt x="756745" y="161416"/>
                </a:lnTo>
                <a:lnTo>
                  <a:pt x="725585" y="127288"/>
                </a:lnTo>
                <a:lnTo>
                  <a:pt x="690303" y="95968"/>
                </a:lnTo>
                <a:lnTo>
                  <a:pt x="651938" y="68508"/>
                </a:lnTo>
                <a:lnTo>
                  <a:pt x="611748" y="45692"/>
                </a:lnTo>
                <a:lnTo>
                  <a:pt x="570099" y="27483"/>
                </a:lnTo>
                <a:lnTo>
                  <a:pt x="527357" y="13846"/>
                </a:lnTo>
                <a:lnTo>
                  <a:pt x="483888" y="4744"/>
                </a:lnTo>
                <a:lnTo>
                  <a:pt x="440060" y="141"/>
                </a:lnTo>
                <a:lnTo>
                  <a:pt x="396238" y="0"/>
                </a:lnTo>
                <a:lnTo>
                  <a:pt x="352788" y="4284"/>
                </a:lnTo>
                <a:lnTo>
                  <a:pt x="310077" y="12959"/>
                </a:lnTo>
                <a:lnTo>
                  <a:pt x="268470" y="25986"/>
                </a:lnTo>
                <a:lnTo>
                  <a:pt x="228336" y="43330"/>
                </a:lnTo>
                <a:lnTo>
                  <a:pt x="190038" y="64955"/>
                </a:lnTo>
                <a:lnTo>
                  <a:pt x="153945" y="90824"/>
                </a:lnTo>
                <a:lnTo>
                  <a:pt x="120422" y="120901"/>
                </a:lnTo>
                <a:lnTo>
                  <a:pt x="89835" y="155150"/>
                </a:lnTo>
                <a:close/>
              </a:path>
            </a:pathLst>
          </a:custGeom>
          <a:ln w="12700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562" y="6858000"/>
                </a:lnTo>
                <a:lnTo>
                  <a:pt x="805656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2738627" y="2157983"/>
            <a:ext cx="4402835" cy="11353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4A21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670" y="3175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4" y="0"/>
                </a:moveTo>
                <a:lnTo>
                  <a:pt x="505" y="0"/>
                </a:lnTo>
                <a:lnTo>
                  <a:pt x="0" y="819150"/>
                </a:lnTo>
                <a:lnTo>
                  <a:pt x="505" y="819150"/>
                </a:lnTo>
                <a:lnTo>
                  <a:pt x="48636" y="817759"/>
                </a:lnTo>
                <a:lnTo>
                  <a:pt x="96034" y="813638"/>
                </a:lnTo>
                <a:lnTo>
                  <a:pt x="142624" y="806864"/>
                </a:lnTo>
                <a:lnTo>
                  <a:pt x="188327" y="797514"/>
                </a:lnTo>
                <a:lnTo>
                  <a:pt x="233067" y="785664"/>
                </a:lnTo>
                <a:lnTo>
                  <a:pt x="276768" y="771391"/>
                </a:lnTo>
                <a:lnTo>
                  <a:pt x="319353" y="754772"/>
                </a:lnTo>
                <a:lnTo>
                  <a:pt x="360744" y="735885"/>
                </a:lnTo>
                <a:lnTo>
                  <a:pt x="400865" y="714805"/>
                </a:lnTo>
                <a:lnTo>
                  <a:pt x="439639" y="691610"/>
                </a:lnTo>
                <a:lnTo>
                  <a:pt x="476989" y="666377"/>
                </a:lnTo>
                <a:lnTo>
                  <a:pt x="512839" y="639182"/>
                </a:lnTo>
                <a:lnTo>
                  <a:pt x="547111" y="610102"/>
                </a:lnTo>
                <a:lnTo>
                  <a:pt x="579729" y="579215"/>
                </a:lnTo>
                <a:lnTo>
                  <a:pt x="610616" y="546596"/>
                </a:lnTo>
                <a:lnTo>
                  <a:pt x="639695" y="512323"/>
                </a:lnTo>
                <a:lnTo>
                  <a:pt x="666889" y="476473"/>
                </a:lnTo>
                <a:lnTo>
                  <a:pt x="692121" y="439123"/>
                </a:lnTo>
                <a:lnTo>
                  <a:pt x="715315" y="400349"/>
                </a:lnTo>
                <a:lnTo>
                  <a:pt x="736394" y="360228"/>
                </a:lnTo>
                <a:lnTo>
                  <a:pt x="755281" y="318837"/>
                </a:lnTo>
                <a:lnTo>
                  <a:pt x="771898" y="276253"/>
                </a:lnTo>
                <a:lnTo>
                  <a:pt x="786170" y="232553"/>
                </a:lnTo>
                <a:lnTo>
                  <a:pt x="798019" y="187814"/>
                </a:lnTo>
                <a:lnTo>
                  <a:pt x="807369" y="142112"/>
                </a:lnTo>
                <a:lnTo>
                  <a:pt x="814143" y="95524"/>
                </a:lnTo>
                <a:lnTo>
                  <a:pt x="818263" y="48128"/>
                </a:lnTo>
                <a:lnTo>
                  <a:pt x="819654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670" y="3175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4" y="0"/>
                </a:moveTo>
                <a:lnTo>
                  <a:pt x="818263" y="48128"/>
                </a:lnTo>
                <a:lnTo>
                  <a:pt x="814143" y="95524"/>
                </a:lnTo>
                <a:lnTo>
                  <a:pt x="807369" y="142112"/>
                </a:lnTo>
                <a:lnTo>
                  <a:pt x="798019" y="187814"/>
                </a:lnTo>
                <a:lnTo>
                  <a:pt x="786170" y="232553"/>
                </a:lnTo>
                <a:lnTo>
                  <a:pt x="771898" y="276253"/>
                </a:lnTo>
                <a:lnTo>
                  <a:pt x="755281" y="318837"/>
                </a:lnTo>
                <a:lnTo>
                  <a:pt x="736394" y="360228"/>
                </a:lnTo>
                <a:lnTo>
                  <a:pt x="715315" y="400349"/>
                </a:lnTo>
                <a:lnTo>
                  <a:pt x="692121" y="439123"/>
                </a:lnTo>
                <a:lnTo>
                  <a:pt x="666889" y="476473"/>
                </a:lnTo>
                <a:lnTo>
                  <a:pt x="639695" y="512323"/>
                </a:lnTo>
                <a:lnTo>
                  <a:pt x="610616" y="546596"/>
                </a:lnTo>
                <a:lnTo>
                  <a:pt x="579729" y="579215"/>
                </a:lnTo>
                <a:lnTo>
                  <a:pt x="547111" y="610102"/>
                </a:lnTo>
                <a:lnTo>
                  <a:pt x="512839" y="639182"/>
                </a:lnTo>
                <a:lnTo>
                  <a:pt x="476989" y="666377"/>
                </a:lnTo>
                <a:lnTo>
                  <a:pt x="439639" y="691610"/>
                </a:lnTo>
                <a:lnTo>
                  <a:pt x="400865" y="714805"/>
                </a:lnTo>
                <a:lnTo>
                  <a:pt x="360744" y="735885"/>
                </a:lnTo>
                <a:lnTo>
                  <a:pt x="319353" y="754772"/>
                </a:lnTo>
                <a:lnTo>
                  <a:pt x="276768" y="771391"/>
                </a:lnTo>
                <a:lnTo>
                  <a:pt x="233067" y="785664"/>
                </a:lnTo>
                <a:lnTo>
                  <a:pt x="188327" y="797514"/>
                </a:lnTo>
                <a:lnTo>
                  <a:pt x="142624" y="806864"/>
                </a:lnTo>
                <a:lnTo>
                  <a:pt x="96034" y="813638"/>
                </a:lnTo>
                <a:lnTo>
                  <a:pt x="48636" y="817759"/>
                </a:lnTo>
                <a:lnTo>
                  <a:pt x="505" y="819150"/>
                </a:lnTo>
                <a:lnTo>
                  <a:pt x="337" y="819150"/>
                </a:lnTo>
                <a:lnTo>
                  <a:pt x="168" y="819150"/>
                </a:lnTo>
                <a:lnTo>
                  <a:pt x="0" y="819150"/>
                </a:lnTo>
                <a:lnTo>
                  <a:pt x="505" y="0"/>
                </a:lnTo>
                <a:lnTo>
                  <a:pt x="819654" y="0"/>
                </a:lnTo>
                <a:close/>
              </a:path>
            </a:pathLst>
          </a:custGeom>
          <a:ln w="12700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26492" y="4572"/>
            <a:ext cx="1786127" cy="17861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68275" y="20700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5" h="1703705">
                <a:moveTo>
                  <a:pt x="0" y="851662"/>
                </a:moveTo>
                <a:lnTo>
                  <a:pt x="1348" y="803329"/>
                </a:lnTo>
                <a:lnTo>
                  <a:pt x="5345" y="755704"/>
                </a:lnTo>
                <a:lnTo>
                  <a:pt x="11918" y="708858"/>
                </a:lnTo>
                <a:lnTo>
                  <a:pt x="20996" y="662865"/>
                </a:lnTo>
                <a:lnTo>
                  <a:pt x="32507" y="617795"/>
                </a:lnTo>
                <a:lnTo>
                  <a:pt x="46379" y="573720"/>
                </a:lnTo>
                <a:lnTo>
                  <a:pt x="62541" y="530713"/>
                </a:lnTo>
                <a:lnTo>
                  <a:pt x="80919" y="488844"/>
                </a:lnTo>
                <a:lnTo>
                  <a:pt x="101442" y="448187"/>
                </a:lnTo>
                <a:lnTo>
                  <a:pt x="124039" y="408812"/>
                </a:lnTo>
                <a:lnTo>
                  <a:pt x="148638" y="370792"/>
                </a:lnTo>
                <a:lnTo>
                  <a:pt x="175166" y="334199"/>
                </a:lnTo>
                <a:lnTo>
                  <a:pt x="203552" y="299104"/>
                </a:lnTo>
                <a:lnTo>
                  <a:pt x="233723" y="265579"/>
                </a:lnTo>
                <a:lnTo>
                  <a:pt x="265609" y="233696"/>
                </a:lnTo>
                <a:lnTo>
                  <a:pt x="299136" y="203527"/>
                </a:lnTo>
                <a:lnTo>
                  <a:pt x="334233" y="175144"/>
                </a:lnTo>
                <a:lnTo>
                  <a:pt x="370829" y="148619"/>
                </a:lnTo>
                <a:lnTo>
                  <a:pt x="408851" y="124023"/>
                </a:lnTo>
                <a:lnTo>
                  <a:pt x="448227" y="101429"/>
                </a:lnTo>
                <a:lnTo>
                  <a:pt x="488886" y="80908"/>
                </a:lnTo>
                <a:lnTo>
                  <a:pt x="530756" y="62532"/>
                </a:lnTo>
                <a:lnTo>
                  <a:pt x="573764" y="46373"/>
                </a:lnTo>
                <a:lnTo>
                  <a:pt x="617839" y="32502"/>
                </a:lnTo>
                <a:lnTo>
                  <a:pt x="662909" y="20993"/>
                </a:lnTo>
                <a:lnTo>
                  <a:pt x="708902" y="11916"/>
                </a:lnTo>
                <a:lnTo>
                  <a:pt x="755746" y="5344"/>
                </a:lnTo>
                <a:lnTo>
                  <a:pt x="803369" y="1348"/>
                </a:lnTo>
                <a:lnTo>
                  <a:pt x="851700" y="0"/>
                </a:lnTo>
                <a:lnTo>
                  <a:pt x="900029" y="1348"/>
                </a:lnTo>
                <a:lnTo>
                  <a:pt x="947652" y="5344"/>
                </a:lnTo>
                <a:lnTo>
                  <a:pt x="994496" y="11916"/>
                </a:lnTo>
                <a:lnTo>
                  <a:pt x="1040489" y="20993"/>
                </a:lnTo>
                <a:lnTo>
                  <a:pt x="1085560" y="32502"/>
                </a:lnTo>
                <a:lnTo>
                  <a:pt x="1129636" y="46373"/>
                </a:lnTo>
                <a:lnTo>
                  <a:pt x="1172646" y="62532"/>
                </a:lnTo>
                <a:lnTo>
                  <a:pt x="1214517" y="80908"/>
                </a:lnTo>
                <a:lnTo>
                  <a:pt x="1255178" y="101429"/>
                </a:lnTo>
                <a:lnTo>
                  <a:pt x="1294557" y="124023"/>
                </a:lnTo>
                <a:lnTo>
                  <a:pt x="1332581" y="148619"/>
                </a:lnTo>
                <a:lnTo>
                  <a:pt x="1369179" y="175144"/>
                </a:lnTo>
                <a:lnTo>
                  <a:pt x="1404280" y="203527"/>
                </a:lnTo>
                <a:lnTo>
                  <a:pt x="1437810" y="233696"/>
                </a:lnTo>
                <a:lnTo>
                  <a:pt x="1469698" y="265579"/>
                </a:lnTo>
                <a:lnTo>
                  <a:pt x="1499873" y="299104"/>
                </a:lnTo>
                <a:lnTo>
                  <a:pt x="1528261" y="334199"/>
                </a:lnTo>
                <a:lnTo>
                  <a:pt x="1554792" y="370792"/>
                </a:lnTo>
                <a:lnTo>
                  <a:pt x="1579394" y="408812"/>
                </a:lnTo>
                <a:lnTo>
                  <a:pt x="1601993" y="448187"/>
                </a:lnTo>
                <a:lnTo>
                  <a:pt x="1622520" y="488844"/>
                </a:lnTo>
                <a:lnTo>
                  <a:pt x="1640900" y="530713"/>
                </a:lnTo>
                <a:lnTo>
                  <a:pt x="1657064" y="573720"/>
                </a:lnTo>
                <a:lnTo>
                  <a:pt x="1670938" y="617795"/>
                </a:lnTo>
                <a:lnTo>
                  <a:pt x="1682450" y="662865"/>
                </a:lnTo>
                <a:lnTo>
                  <a:pt x="1691530" y="708858"/>
                </a:lnTo>
                <a:lnTo>
                  <a:pt x="1698105" y="755704"/>
                </a:lnTo>
                <a:lnTo>
                  <a:pt x="1702102" y="803329"/>
                </a:lnTo>
                <a:lnTo>
                  <a:pt x="1703451" y="851662"/>
                </a:lnTo>
                <a:lnTo>
                  <a:pt x="1702102" y="899994"/>
                </a:lnTo>
                <a:lnTo>
                  <a:pt x="1698105" y="947619"/>
                </a:lnTo>
                <a:lnTo>
                  <a:pt x="1691530" y="994465"/>
                </a:lnTo>
                <a:lnTo>
                  <a:pt x="1682450" y="1040458"/>
                </a:lnTo>
                <a:lnTo>
                  <a:pt x="1670938" y="1085528"/>
                </a:lnTo>
                <a:lnTo>
                  <a:pt x="1657064" y="1129603"/>
                </a:lnTo>
                <a:lnTo>
                  <a:pt x="1640900" y="1172610"/>
                </a:lnTo>
                <a:lnTo>
                  <a:pt x="1622520" y="1214479"/>
                </a:lnTo>
                <a:lnTo>
                  <a:pt x="1601993" y="1255136"/>
                </a:lnTo>
                <a:lnTo>
                  <a:pt x="1579394" y="1294511"/>
                </a:lnTo>
                <a:lnTo>
                  <a:pt x="1554792" y="1332531"/>
                </a:lnTo>
                <a:lnTo>
                  <a:pt x="1528261" y="1369124"/>
                </a:lnTo>
                <a:lnTo>
                  <a:pt x="1499873" y="1404219"/>
                </a:lnTo>
                <a:lnTo>
                  <a:pt x="1469698" y="1437744"/>
                </a:lnTo>
                <a:lnTo>
                  <a:pt x="1437810" y="1469627"/>
                </a:lnTo>
                <a:lnTo>
                  <a:pt x="1404280" y="1499796"/>
                </a:lnTo>
                <a:lnTo>
                  <a:pt x="1369179" y="1528179"/>
                </a:lnTo>
                <a:lnTo>
                  <a:pt x="1332581" y="1554704"/>
                </a:lnTo>
                <a:lnTo>
                  <a:pt x="1294557" y="1579300"/>
                </a:lnTo>
                <a:lnTo>
                  <a:pt x="1255178" y="1601894"/>
                </a:lnTo>
                <a:lnTo>
                  <a:pt x="1214517" y="1622415"/>
                </a:lnTo>
                <a:lnTo>
                  <a:pt x="1172646" y="1640791"/>
                </a:lnTo>
                <a:lnTo>
                  <a:pt x="1129636" y="1656950"/>
                </a:lnTo>
                <a:lnTo>
                  <a:pt x="1085560" y="1670821"/>
                </a:lnTo>
                <a:lnTo>
                  <a:pt x="1040489" y="1682330"/>
                </a:lnTo>
                <a:lnTo>
                  <a:pt x="994496" y="1691407"/>
                </a:lnTo>
                <a:lnTo>
                  <a:pt x="947652" y="1697979"/>
                </a:lnTo>
                <a:lnTo>
                  <a:pt x="900029" y="1701975"/>
                </a:lnTo>
                <a:lnTo>
                  <a:pt x="851700" y="1703324"/>
                </a:lnTo>
                <a:lnTo>
                  <a:pt x="803369" y="1701975"/>
                </a:lnTo>
                <a:lnTo>
                  <a:pt x="755746" y="1697979"/>
                </a:lnTo>
                <a:lnTo>
                  <a:pt x="708902" y="1691407"/>
                </a:lnTo>
                <a:lnTo>
                  <a:pt x="662909" y="1682330"/>
                </a:lnTo>
                <a:lnTo>
                  <a:pt x="617839" y="1670821"/>
                </a:lnTo>
                <a:lnTo>
                  <a:pt x="573764" y="1656950"/>
                </a:lnTo>
                <a:lnTo>
                  <a:pt x="530756" y="1640791"/>
                </a:lnTo>
                <a:lnTo>
                  <a:pt x="488886" y="1622415"/>
                </a:lnTo>
                <a:lnTo>
                  <a:pt x="448227" y="1601894"/>
                </a:lnTo>
                <a:lnTo>
                  <a:pt x="408851" y="1579300"/>
                </a:lnTo>
                <a:lnTo>
                  <a:pt x="370829" y="1554704"/>
                </a:lnTo>
                <a:lnTo>
                  <a:pt x="334233" y="1528179"/>
                </a:lnTo>
                <a:lnTo>
                  <a:pt x="299136" y="1499796"/>
                </a:lnTo>
                <a:lnTo>
                  <a:pt x="265609" y="1469627"/>
                </a:lnTo>
                <a:lnTo>
                  <a:pt x="233723" y="1437744"/>
                </a:lnTo>
                <a:lnTo>
                  <a:pt x="203552" y="1404219"/>
                </a:lnTo>
                <a:lnTo>
                  <a:pt x="175166" y="1369124"/>
                </a:lnTo>
                <a:lnTo>
                  <a:pt x="148638" y="1332531"/>
                </a:lnTo>
                <a:lnTo>
                  <a:pt x="124039" y="1294511"/>
                </a:lnTo>
                <a:lnTo>
                  <a:pt x="101442" y="1255136"/>
                </a:lnTo>
                <a:lnTo>
                  <a:pt x="80919" y="1214479"/>
                </a:lnTo>
                <a:lnTo>
                  <a:pt x="62541" y="1172610"/>
                </a:lnTo>
                <a:lnTo>
                  <a:pt x="46379" y="1129603"/>
                </a:lnTo>
                <a:lnTo>
                  <a:pt x="32507" y="1085528"/>
                </a:lnTo>
                <a:lnTo>
                  <a:pt x="20996" y="1040458"/>
                </a:lnTo>
                <a:lnTo>
                  <a:pt x="11918" y="994465"/>
                </a:lnTo>
                <a:lnTo>
                  <a:pt x="5345" y="947619"/>
                </a:lnTo>
                <a:lnTo>
                  <a:pt x="1348" y="899994"/>
                </a:lnTo>
                <a:lnTo>
                  <a:pt x="0" y="851662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69163" y="1043939"/>
            <a:ext cx="1159764" cy="11536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87318" y="1050633"/>
            <a:ext cx="1116813" cy="11115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87318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7" y="204634"/>
                </a:moveTo>
                <a:lnTo>
                  <a:pt x="149786" y="168741"/>
                </a:lnTo>
                <a:lnTo>
                  <a:pt x="183516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6" y="40547"/>
                </a:lnTo>
                <a:lnTo>
                  <a:pt x="380539" y="25331"/>
                </a:lnTo>
                <a:lnTo>
                  <a:pt x="423971" y="13644"/>
                </a:lnTo>
                <a:lnTo>
                  <a:pt x="468197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8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8" y="50083"/>
                </a:lnTo>
                <a:lnTo>
                  <a:pt x="822331" y="71238"/>
                </a:lnTo>
                <a:lnTo>
                  <a:pt x="863109" y="96162"/>
                </a:lnTo>
                <a:lnTo>
                  <a:pt x="902328" y="124878"/>
                </a:lnTo>
                <a:lnTo>
                  <a:pt x="939023" y="156757"/>
                </a:lnTo>
                <a:lnTo>
                  <a:pt x="972366" y="190998"/>
                </a:lnTo>
                <a:lnTo>
                  <a:pt x="1002326" y="227366"/>
                </a:lnTo>
                <a:lnTo>
                  <a:pt x="1028875" y="265625"/>
                </a:lnTo>
                <a:lnTo>
                  <a:pt x="1051985" y="305541"/>
                </a:lnTo>
                <a:lnTo>
                  <a:pt x="1071627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5" y="611617"/>
                </a:lnTo>
                <a:lnTo>
                  <a:pt x="1109608" y="656333"/>
                </a:lnTo>
                <a:lnTo>
                  <a:pt x="1100474" y="700593"/>
                </a:lnTo>
                <a:lnTo>
                  <a:pt x="1087614" y="744160"/>
                </a:lnTo>
                <a:lnTo>
                  <a:pt x="1070999" y="786801"/>
                </a:lnTo>
                <a:lnTo>
                  <a:pt x="1050601" y="828281"/>
                </a:lnTo>
                <a:lnTo>
                  <a:pt x="1026391" y="868365"/>
                </a:lnTo>
                <a:lnTo>
                  <a:pt x="998340" y="906817"/>
                </a:lnTo>
                <a:lnTo>
                  <a:pt x="967050" y="942711"/>
                </a:lnTo>
                <a:lnTo>
                  <a:pt x="933321" y="975221"/>
                </a:lnTo>
                <a:lnTo>
                  <a:pt x="897386" y="1004323"/>
                </a:lnTo>
                <a:lnTo>
                  <a:pt x="859481" y="1029991"/>
                </a:lnTo>
                <a:lnTo>
                  <a:pt x="819842" y="1052203"/>
                </a:lnTo>
                <a:lnTo>
                  <a:pt x="778703" y="1070934"/>
                </a:lnTo>
                <a:lnTo>
                  <a:pt x="736301" y="1086160"/>
                </a:lnTo>
                <a:lnTo>
                  <a:pt x="692869" y="1097856"/>
                </a:lnTo>
                <a:lnTo>
                  <a:pt x="648644" y="1105999"/>
                </a:lnTo>
                <a:lnTo>
                  <a:pt x="603861" y="1110565"/>
                </a:lnTo>
                <a:lnTo>
                  <a:pt x="558755" y="1111530"/>
                </a:lnTo>
                <a:lnTo>
                  <a:pt x="513561" y="1108869"/>
                </a:lnTo>
                <a:lnTo>
                  <a:pt x="468514" y="1102558"/>
                </a:lnTo>
                <a:lnTo>
                  <a:pt x="423851" y="1092574"/>
                </a:lnTo>
                <a:lnTo>
                  <a:pt x="379805" y="1078891"/>
                </a:lnTo>
                <a:lnTo>
                  <a:pt x="336613" y="1061487"/>
                </a:lnTo>
                <a:lnTo>
                  <a:pt x="294509" y="1040336"/>
                </a:lnTo>
                <a:lnTo>
                  <a:pt x="253729" y="1015415"/>
                </a:lnTo>
                <a:lnTo>
                  <a:pt x="214509" y="986700"/>
                </a:lnTo>
                <a:lnTo>
                  <a:pt x="177813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3" y="806035"/>
                </a:lnTo>
                <a:lnTo>
                  <a:pt x="45198" y="764695"/>
                </a:lnTo>
                <a:lnTo>
                  <a:pt x="29050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1" y="367355"/>
                </a:lnTo>
                <a:lnTo>
                  <a:pt x="45819" y="324701"/>
                </a:lnTo>
                <a:lnTo>
                  <a:pt x="66221" y="283206"/>
                </a:lnTo>
                <a:lnTo>
                  <a:pt x="90438" y="243105"/>
                </a:lnTo>
                <a:lnTo>
                  <a:pt x="118497" y="204634"/>
                </a:lnTo>
                <a:close/>
              </a:path>
            </a:pathLst>
          </a:custGeom>
          <a:ln w="12700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317961" y="1181524"/>
            <a:ext cx="855980" cy="850265"/>
          </a:xfrm>
          <a:custGeom>
            <a:avLst/>
            <a:gdLst/>
            <a:ahLst/>
            <a:cxnLst/>
            <a:rect l="l" t="t" r="r" b="b"/>
            <a:pathLst>
              <a:path w="855980" h="850264">
                <a:moveTo>
                  <a:pt x="89835" y="155150"/>
                </a:moveTo>
                <a:lnTo>
                  <a:pt x="63214" y="192564"/>
                </a:lnTo>
                <a:lnTo>
                  <a:pt x="41313" y="231919"/>
                </a:lnTo>
                <a:lnTo>
                  <a:pt x="24088" y="272849"/>
                </a:lnTo>
                <a:lnTo>
                  <a:pt x="11491" y="314989"/>
                </a:lnTo>
                <a:lnTo>
                  <a:pt x="3477" y="357973"/>
                </a:lnTo>
                <a:lnTo>
                  <a:pt x="0" y="401436"/>
                </a:lnTo>
                <a:lnTo>
                  <a:pt x="1013" y="445012"/>
                </a:lnTo>
                <a:lnTo>
                  <a:pt x="6470" y="488336"/>
                </a:lnTo>
                <a:lnTo>
                  <a:pt x="16327" y="531041"/>
                </a:lnTo>
                <a:lnTo>
                  <a:pt x="30536" y="572763"/>
                </a:lnTo>
                <a:lnTo>
                  <a:pt x="49052" y="613136"/>
                </a:lnTo>
                <a:lnTo>
                  <a:pt x="71828" y="651795"/>
                </a:lnTo>
                <a:lnTo>
                  <a:pt x="98819" y="688373"/>
                </a:lnTo>
                <a:lnTo>
                  <a:pt x="129978" y="722506"/>
                </a:lnTo>
                <a:lnTo>
                  <a:pt x="165260" y="753828"/>
                </a:lnTo>
                <a:lnTo>
                  <a:pt x="203623" y="781288"/>
                </a:lnTo>
                <a:lnTo>
                  <a:pt x="243811" y="804104"/>
                </a:lnTo>
                <a:lnTo>
                  <a:pt x="285458" y="822312"/>
                </a:lnTo>
                <a:lnTo>
                  <a:pt x="328199" y="835949"/>
                </a:lnTo>
                <a:lnTo>
                  <a:pt x="371666" y="845051"/>
                </a:lnTo>
                <a:lnTo>
                  <a:pt x="415493" y="849655"/>
                </a:lnTo>
                <a:lnTo>
                  <a:pt x="459315" y="849796"/>
                </a:lnTo>
                <a:lnTo>
                  <a:pt x="502764" y="845511"/>
                </a:lnTo>
                <a:lnTo>
                  <a:pt x="545475" y="836837"/>
                </a:lnTo>
                <a:lnTo>
                  <a:pt x="587081" y="823809"/>
                </a:lnTo>
                <a:lnTo>
                  <a:pt x="627215" y="806465"/>
                </a:lnTo>
                <a:lnTo>
                  <a:pt x="665512" y="784840"/>
                </a:lnTo>
                <a:lnTo>
                  <a:pt x="701606" y="758971"/>
                </a:lnTo>
                <a:lnTo>
                  <a:pt x="735129" y="728894"/>
                </a:lnTo>
                <a:lnTo>
                  <a:pt x="765716" y="694646"/>
                </a:lnTo>
                <a:lnTo>
                  <a:pt x="792339" y="657209"/>
                </a:lnTo>
                <a:lnTo>
                  <a:pt x="814242" y="617838"/>
                </a:lnTo>
                <a:lnTo>
                  <a:pt x="831469" y="576897"/>
                </a:lnTo>
                <a:lnTo>
                  <a:pt x="844067" y="534752"/>
                </a:lnTo>
                <a:lnTo>
                  <a:pt x="852083" y="491766"/>
                </a:lnTo>
                <a:lnTo>
                  <a:pt x="855561" y="448304"/>
                </a:lnTo>
                <a:lnTo>
                  <a:pt x="854549" y="404733"/>
                </a:lnTo>
                <a:lnTo>
                  <a:pt x="849091" y="361416"/>
                </a:lnTo>
                <a:lnTo>
                  <a:pt x="839236" y="318718"/>
                </a:lnTo>
                <a:lnTo>
                  <a:pt x="825027" y="277004"/>
                </a:lnTo>
                <a:lnTo>
                  <a:pt x="806511" y="236639"/>
                </a:lnTo>
                <a:lnTo>
                  <a:pt x="783735" y="197988"/>
                </a:lnTo>
                <a:lnTo>
                  <a:pt x="756745" y="161416"/>
                </a:lnTo>
                <a:lnTo>
                  <a:pt x="725585" y="127288"/>
                </a:lnTo>
                <a:lnTo>
                  <a:pt x="690303" y="95968"/>
                </a:lnTo>
                <a:lnTo>
                  <a:pt x="651938" y="68508"/>
                </a:lnTo>
                <a:lnTo>
                  <a:pt x="611748" y="45692"/>
                </a:lnTo>
                <a:lnTo>
                  <a:pt x="570099" y="27483"/>
                </a:lnTo>
                <a:lnTo>
                  <a:pt x="527357" y="13846"/>
                </a:lnTo>
                <a:lnTo>
                  <a:pt x="483888" y="4744"/>
                </a:lnTo>
                <a:lnTo>
                  <a:pt x="440060" y="141"/>
                </a:lnTo>
                <a:lnTo>
                  <a:pt x="396238" y="0"/>
                </a:lnTo>
                <a:lnTo>
                  <a:pt x="352788" y="4284"/>
                </a:lnTo>
                <a:lnTo>
                  <a:pt x="310077" y="12959"/>
                </a:lnTo>
                <a:lnTo>
                  <a:pt x="268470" y="25986"/>
                </a:lnTo>
                <a:lnTo>
                  <a:pt x="228336" y="43330"/>
                </a:lnTo>
                <a:lnTo>
                  <a:pt x="190038" y="64955"/>
                </a:lnTo>
                <a:lnTo>
                  <a:pt x="153945" y="90824"/>
                </a:lnTo>
                <a:lnTo>
                  <a:pt x="120422" y="120901"/>
                </a:lnTo>
                <a:lnTo>
                  <a:pt x="89835" y="155150"/>
                </a:lnTo>
                <a:close/>
              </a:path>
            </a:pathLst>
          </a:custGeom>
          <a:ln w="12700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0" y="600075"/>
            <a:ext cx="9144000" cy="57150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670" y="3175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4" y="0"/>
                </a:moveTo>
                <a:lnTo>
                  <a:pt x="505" y="0"/>
                </a:lnTo>
                <a:lnTo>
                  <a:pt x="0" y="819150"/>
                </a:lnTo>
                <a:lnTo>
                  <a:pt x="505" y="819150"/>
                </a:lnTo>
                <a:lnTo>
                  <a:pt x="48636" y="817759"/>
                </a:lnTo>
                <a:lnTo>
                  <a:pt x="96034" y="813638"/>
                </a:lnTo>
                <a:lnTo>
                  <a:pt x="142624" y="806864"/>
                </a:lnTo>
                <a:lnTo>
                  <a:pt x="188327" y="797514"/>
                </a:lnTo>
                <a:lnTo>
                  <a:pt x="233067" y="785664"/>
                </a:lnTo>
                <a:lnTo>
                  <a:pt x="276768" y="771391"/>
                </a:lnTo>
                <a:lnTo>
                  <a:pt x="319353" y="754772"/>
                </a:lnTo>
                <a:lnTo>
                  <a:pt x="360744" y="735885"/>
                </a:lnTo>
                <a:lnTo>
                  <a:pt x="400865" y="714805"/>
                </a:lnTo>
                <a:lnTo>
                  <a:pt x="439639" y="691610"/>
                </a:lnTo>
                <a:lnTo>
                  <a:pt x="476989" y="666377"/>
                </a:lnTo>
                <a:lnTo>
                  <a:pt x="512839" y="639182"/>
                </a:lnTo>
                <a:lnTo>
                  <a:pt x="547111" y="610102"/>
                </a:lnTo>
                <a:lnTo>
                  <a:pt x="579729" y="579215"/>
                </a:lnTo>
                <a:lnTo>
                  <a:pt x="610616" y="546596"/>
                </a:lnTo>
                <a:lnTo>
                  <a:pt x="639695" y="512323"/>
                </a:lnTo>
                <a:lnTo>
                  <a:pt x="666889" y="476473"/>
                </a:lnTo>
                <a:lnTo>
                  <a:pt x="692121" y="439123"/>
                </a:lnTo>
                <a:lnTo>
                  <a:pt x="715315" y="400349"/>
                </a:lnTo>
                <a:lnTo>
                  <a:pt x="736394" y="360228"/>
                </a:lnTo>
                <a:lnTo>
                  <a:pt x="755281" y="318837"/>
                </a:lnTo>
                <a:lnTo>
                  <a:pt x="771898" y="276253"/>
                </a:lnTo>
                <a:lnTo>
                  <a:pt x="786170" y="232553"/>
                </a:lnTo>
                <a:lnTo>
                  <a:pt x="798019" y="187814"/>
                </a:lnTo>
                <a:lnTo>
                  <a:pt x="807369" y="142112"/>
                </a:lnTo>
                <a:lnTo>
                  <a:pt x="814143" y="95524"/>
                </a:lnTo>
                <a:lnTo>
                  <a:pt x="818263" y="48128"/>
                </a:lnTo>
                <a:lnTo>
                  <a:pt x="819654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670" y="3175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654" y="0"/>
                </a:moveTo>
                <a:lnTo>
                  <a:pt x="818263" y="48128"/>
                </a:lnTo>
                <a:lnTo>
                  <a:pt x="814143" y="95524"/>
                </a:lnTo>
                <a:lnTo>
                  <a:pt x="807369" y="142112"/>
                </a:lnTo>
                <a:lnTo>
                  <a:pt x="798019" y="187814"/>
                </a:lnTo>
                <a:lnTo>
                  <a:pt x="786170" y="232553"/>
                </a:lnTo>
                <a:lnTo>
                  <a:pt x="771898" y="276253"/>
                </a:lnTo>
                <a:lnTo>
                  <a:pt x="755281" y="318837"/>
                </a:lnTo>
                <a:lnTo>
                  <a:pt x="736394" y="360228"/>
                </a:lnTo>
                <a:lnTo>
                  <a:pt x="715315" y="400349"/>
                </a:lnTo>
                <a:lnTo>
                  <a:pt x="692121" y="439123"/>
                </a:lnTo>
                <a:lnTo>
                  <a:pt x="666889" y="476473"/>
                </a:lnTo>
                <a:lnTo>
                  <a:pt x="639695" y="512323"/>
                </a:lnTo>
                <a:lnTo>
                  <a:pt x="610616" y="546596"/>
                </a:lnTo>
                <a:lnTo>
                  <a:pt x="579729" y="579215"/>
                </a:lnTo>
                <a:lnTo>
                  <a:pt x="547111" y="610102"/>
                </a:lnTo>
                <a:lnTo>
                  <a:pt x="512839" y="639182"/>
                </a:lnTo>
                <a:lnTo>
                  <a:pt x="476989" y="666377"/>
                </a:lnTo>
                <a:lnTo>
                  <a:pt x="439639" y="691610"/>
                </a:lnTo>
                <a:lnTo>
                  <a:pt x="400865" y="714805"/>
                </a:lnTo>
                <a:lnTo>
                  <a:pt x="360744" y="735885"/>
                </a:lnTo>
                <a:lnTo>
                  <a:pt x="319353" y="754772"/>
                </a:lnTo>
                <a:lnTo>
                  <a:pt x="276768" y="771391"/>
                </a:lnTo>
                <a:lnTo>
                  <a:pt x="233067" y="785664"/>
                </a:lnTo>
                <a:lnTo>
                  <a:pt x="188327" y="797514"/>
                </a:lnTo>
                <a:lnTo>
                  <a:pt x="142624" y="806864"/>
                </a:lnTo>
                <a:lnTo>
                  <a:pt x="96034" y="813638"/>
                </a:lnTo>
                <a:lnTo>
                  <a:pt x="48636" y="817759"/>
                </a:lnTo>
                <a:lnTo>
                  <a:pt x="505" y="819150"/>
                </a:lnTo>
                <a:lnTo>
                  <a:pt x="337" y="819150"/>
                </a:lnTo>
                <a:lnTo>
                  <a:pt x="168" y="819150"/>
                </a:lnTo>
                <a:lnTo>
                  <a:pt x="0" y="819150"/>
                </a:lnTo>
                <a:lnTo>
                  <a:pt x="505" y="0"/>
                </a:lnTo>
                <a:lnTo>
                  <a:pt x="819654" y="0"/>
                </a:lnTo>
                <a:close/>
              </a:path>
            </a:pathLst>
          </a:custGeom>
          <a:ln w="12700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26492" y="4572"/>
            <a:ext cx="1786127" cy="17861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68275" y="20700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5" h="1703705">
                <a:moveTo>
                  <a:pt x="0" y="851662"/>
                </a:moveTo>
                <a:lnTo>
                  <a:pt x="1348" y="803329"/>
                </a:lnTo>
                <a:lnTo>
                  <a:pt x="5345" y="755704"/>
                </a:lnTo>
                <a:lnTo>
                  <a:pt x="11918" y="708858"/>
                </a:lnTo>
                <a:lnTo>
                  <a:pt x="20996" y="662865"/>
                </a:lnTo>
                <a:lnTo>
                  <a:pt x="32507" y="617795"/>
                </a:lnTo>
                <a:lnTo>
                  <a:pt x="46379" y="573720"/>
                </a:lnTo>
                <a:lnTo>
                  <a:pt x="62541" y="530713"/>
                </a:lnTo>
                <a:lnTo>
                  <a:pt x="80919" y="488844"/>
                </a:lnTo>
                <a:lnTo>
                  <a:pt x="101442" y="448187"/>
                </a:lnTo>
                <a:lnTo>
                  <a:pt x="124039" y="408812"/>
                </a:lnTo>
                <a:lnTo>
                  <a:pt x="148638" y="370792"/>
                </a:lnTo>
                <a:lnTo>
                  <a:pt x="175166" y="334199"/>
                </a:lnTo>
                <a:lnTo>
                  <a:pt x="203552" y="299104"/>
                </a:lnTo>
                <a:lnTo>
                  <a:pt x="233723" y="265579"/>
                </a:lnTo>
                <a:lnTo>
                  <a:pt x="265609" y="233696"/>
                </a:lnTo>
                <a:lnTo>
                  <a:pt x="299136" y="203527"/>
                </a:lnTo>
                <a:lnTo>
                  <a:pt x="334233" y="175144"/>
                </a:lnTo>
                <a:lnTo>
                  <a:pt x="370829" y="148619"/>
                </a:lnTo>
                <a:lnTo>
                  <a:pt x="408851" y="124023"/>
                </a:lnTo>
                <a:lnTo>
                  <a:pt x="448227" y="101429"/>
                </a:lnTo>
                <a:lnTo>
                  <a:pt x="488886" y="80908"/>
                </a:lnTo>
                <a:lnTo>
                  <a:pt x="530756" y="62532"/>
                </a:lnTo>
                <a:lnTo>
                  <a:pt x="573764" y="46373"/>
                </a:lnTo>
                <a:lnTo>
                  <a:pt x="617839" y="32502"/>
                </a:lnTo>
                <a:lnTo>
                  <a:pt x="662909" y="20993"/>
                </a:lnTo>
                <a:lnTo>
                  <a:pt x="708902" y="11916"/>
                </a:lnTo>
                <a:lnTo>
                  <a:pt x="755746" y="5344"/>
                </a:lnTo>
                <a:lnTo>
                  <a:pt x="803369" y="1348"/>
                </a:lnTo>
                <a:lnTo>
                  <a:pt x="851700" y="0"/>
                </a:lnTo>
                <a:lnTo>
                  <a:pt x="900029" y="1348"/>
                </a:lnTo>
                <a:lnTo>
                  <a:pt x="947652" y="5344"/>
                </a:lnTo>
                <a:lnTo>
                  <a:pt x="994496" y="11916"/>
                </a:lnTo>
                <a:lnTo>
                  <a:pt x="1040489" y="20993"/>
                </a:lnTo>
                <a:lnTo>
                  <a:pt x="1085560" y="32502"/>
                </a:lnTo>
                <a:lnTo>
                  <a:pt x="1129636" y="46373"/>
                </a:lnTo>
                <a:lnTo>
                  <a:pt x="1172646" y="62532"/>
                </a:lnTo>
                <a:lnTo>
                  <a:pt x="1214517" y="80908"/>
                </a:lnTo>
                <a:lnTo>
                  <a:pt x="1255178" y="101429"/>
                </a:lnTo>
                <a:lnTo>
                  <a:pt x="1294557" y="124023"/>
                </a:lnTo>
                <a:lnTo>
                  <a:pt x="1332581" y="148619"/>
                </a:lnTo>
                <a:lnTo>
                  <a:pt x="1369179" y="175144"/>
                </a:lnTo>
                <a:lnTo>
                  <a:pt x="1404280" y="203527"/>
                </a:lnTo>
                <a:lnTo>
                  <a:pt x="1437810" y="233696"/>
                </a:lnTo>
                <a:lnTo>
                  <a:pt x="1469698" y="265579"/>
                </a:lnTo>
                <a:lnTo>
                  <a:pt x="1499873" y="299104"/>
                </a:lnTo>
                <a:lnTo>
                  <a:pt x="1528261" y="334199"/>
                </a:lnTo>
                <a:lnTo>
                  <a:pt x="1554792" y="370792"/>
                </a:lnTo>
                <a:lnTo>
                  <a:pt x="1579394" y="408812"/>
                </a:lnTo>
                <a:lnTo>
                  <a:pt x="1601993" y="448187"/>
                </a:lnTo>
                <a:lnTo>
                  <a:pt x="1622520" y="488844"/>
                </a:lnTo>
                <a:lnTo>
                  <a:pt x="1640900" y="530713"/>
                </a:lnTo>
                <a:lnTo>
                  <a:pt x="1657064" y="573720"/>
                </a:lnTo>
                <a:lnTo>
                  <a:pt x="1670938" y="617795"/>
                </a:lnTo>
                <a:lnTo>
                  <a:pt x="1682450" y="662865"/>
                </a:lnTo>
                <a:lnTo>
                  <a:pt x="1691530" y="708858"/>
                </a:lnTo>
                <a:lnTo>
                  <a:pt x="1698105" y="755704"/>
                </a:lnTo>
                <a:lnTo>
                  <a:pt x="1702102" y="803329"/>
                </a:lnTo>
                <a:lnTo>
                  <a:pt x="1703451" y="851662"/>
                </a:lnTo>
                <a:lnTo>
                  <a:pt x="1702102" y="899994"/>
                </a:lnTo>
                <a:lnTo>
                  <a:pt x="1698105" y="947619"/>
                </a:lnTo>
                <a:lnTo>
                  <a:pt x="1691530" y="994465"/>
                </a:lnTo>
                <a:lnTo>
                  <a:pt x="1682450" y="1040458"/>
                </a:lnTo>
                <a:lnTo>
                  <a:pt x="1670938" y="1085528"/>
                </a:lnTo>
                <a:lnTo>
                  <a:pt x="1657064" y="1129603"/>
                </a:lnTo>
                <a:lnTo>
                  <a:pt x="1640900" y="1172610"/>
                </a:lnTo>
                <a:lnTo>
                  <a:pt x="1622520" y="1214479"/>
                </a:lnTo>
                <a:lnTo>
                  <a:pt x="1601993" y="1255136"/>
                </a:lnTo>
                <a:lnTo>
                  <a:pt x="1579394" y="1294511"/>
                </a:lnTo>
                <a:lnTo>
                  <a:pt x="1554792" y="1332531"/>
                </a:lnTo>
                <a:lnTo>
                  <a:pt x="1528261" y="1369124"/>
                </a:lnTo>
                <a:lnTo>
                  <a:pt x="1499873" y="1404219"/>
                </a:lnTo>
                <a:lnTo>
                  <a:pt x="1469698" y="1437744"/>
                </a:lnTo>
                <a:lnTo>
                  <a:pt x="1437810" y="1469627"/>
                </a:lnTo>
                <a:lnTo>
                  <a:pt x="1404280" y="1499796"/>
                </a:lnTo>
                <a:lnTo>
                  <a:pt x="1369179" y="1528179"/>
                </a:lnTo>
                <a:lnTo>
                  <a:pt x="1332581" y="1554704"/>
                </a:lnTo>
                <a:lnTo>
                  <a:pt x="1294557" y="1579300"/>
                </a:lnTo>
                <a:lnTo>
                  <a:pt x="1255178" y="1601894"/>
                </a:lnTo>
                <a:lnTo>
                  <a:pt x="1214517" y="1622415"/>
                </a:lnTo>
                <a:lnTo>
                  <a:pt x="1172646" y="1640791"/>
                </a:lnTo>
                <a:lnTo>
                  <a:pt x="1129636" y="1656950"/>
                </a:lnTo>
                <a:lnTo>
                  <a:pt x="1085560" y="1670821"/>
                </a:lnTo>
                <a:lnTo>
                  <a:pt x="1040489" y="1682330"/>
                </a:lnTo>
                <a:lnTo>
                  <a:pt x="994496" y="1691407"/>
                </a:lnTo>
                <a:lnTo>
                  <a:pt x="947652" y="1697979"/>
                </a:lnTo>
                <a:lnTo>
                  <a:pt x="900029" y="1701975"/>
                </a:lnTo>
                <a:lnTo>
                  <a:pt x="851700" y="1703324"/>
                </a:lnTo>
                <a:lnTo>
                  <a:pt x="803369" y="1701975"/>
                </a:lnTo>
                <a:lnTo>
                  <a:pt x="755746" y="1697979"/>
                </a:lnTo>
                <a:lnTo>
                  <a:pt x="708902" y="1691407"/>
                </a:lnTo>
                <a:lnTo>
                  <a:pt x="662909" y="1682330"/>
                </a:lnTo>
                <a:lnTo>
                  <a:pt x="617839" y="1670821"/>
                </a:lnTo>
                <a:lnTo>
                  <a:pt x="573764" y="1656950"/>
                </a:lnTo>
                <a:lnTo>
                  <a:pt x="530756" y="1640791"/>
                </a:lnTo>
                <a:lnTo>
                  <a:pt x="488886" y="1622415"/>
                </a:lnTo>
                <a:lnTo>
                  <a:pt x="448227" y="1601894"/>
                </a:lnTo>
                <a:lnTo>
                  <a:pt x="408851" y="1579300"/>
                </a:lnTo>
                <a:lnTo>
                  <a:pt x="370829" y="1554704"/>
                </a:lnTo>
                <a:lnTo>
                  <a:pt x="334233" y="1528179"/>
                </a:lnTo>
                <a:lnTo>
                  <a:pt x="299136" y="1499796"/>
                </a:lnTo>
                <a:lnTo>
                  <a:pt x="265609" y="1469627"/>
                </a:lnTo>
                <a:lnTo>
                  <a:pt x="233723" y="1437744"/>
                </a:lnTo>
                <a:lnTo>
                  <a:pt x="203552" y="1404219"/>
                </a:lnTo>
                <a:lnTo>
                  <a:pt x="175166" y="1369124"/>
                </a:lnTo>
                <a:lnTo>
                  <a:pt x="148638" y="1332531"/>
                </a:lnTo>
                <a:lnTo>
                  <a:pt x="124039" y="1294511"/>
                </a:lnTo>
                <a:lnTo>
                  <a:pt x="101442" y="1255136"/>
                </a:lnTo>
                <a:lnTo>
                  <a:pt x="80919" y="1214479"/>
                </a:lnTo>
                <a:lnTo>
                  <a:pt x="62541" y="1172610"/>
                </a:lnTo>
                <a:lnTo>
                  <a:pt x="46379" y="1129603"/>
                </a:lnTo>
                <a:lnTo>
                  <a:pt x="32507" y="1085528"/>
                </a:lnTo>
                <a:lnTo>
                  <a:pt x="20996" y="1040458"/>
                </a:lnTo>
                <a:lnTo>
                  <a:pt x="11918" y="994465"/>
                </a:lnTo>
                <a:lnTo>
                  <a:pt x="5345" y="947619"/>
                </a:lnTo>
                <a:lnTo>
                  <a:pt x="1348" y="899994"/>
                </a:lnTo>
                <a:lnTo>
                  <a:pt x="0" y="851662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69163" y="1043939"/>
            <a:ext cx="1159764" cy="11536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87318" y="1050633"/>
            <a:ext cx="1116813" cy="111153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87318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7" y="204634"/>
                </a:moveTo>
                <a:lnTo>
                  <a:pt x="149786" y="168741"/>
                </a:lnTo>
                <a:lnTo>
                  <a:pt x="183516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6" y="40547"/>
                </a:lnTo>
                <a:lnTo>
                  <a:pt x="380539" y="25331"/>
                </a:lnTo>
                <a:lnTo>
                  <a:pt x="423971" y="13644"/>
                </a:lnTo>
                <a:lnTo>
                  <a:pt x="468197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8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8" y="50083"/>
                </a:lnTo>
                <a:lnTo>
                  <a:pt x="822331" y="71238"/>
                </a:lnTo>
                <a:lnTo>
                  <a:pt x="863109" y="96162"/>
                </a:lnTo>
                <a:lnTo>
                  <a:pt x="902328" y="124878"/>
                </a:lnTo>
                <a:lnTo>
                  <a:pt x="939023" y="156757"/>
                </a:lnTo>
                <a:lnTo>
                  <a:pt x="972366" y="190998"/>
                </a:lnTo>
                <a:lnTo>
                  <a:pt x="1002326" y="227366"/>
                </a:lnTo>
                <a:lnTo>
                  <a:pt x="1028875" y="265625"/>
                </a:lnTo>
                <a:lnTo>
                  <a:pt x="1051985" y="305541"/>
                </a:lnTo>
                <a:lnTo>
                  <a:pt x="1071627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5" y="611617"/>
                </a:lnTo>
                <a:lnTo>
                  <a:pt x="1109608" y="656333"/>
                </a:lnTo>
                <a:lnTo>
                  <a:pt x="1100474" y="700593"/>
                </a:lnTo>
                <a:lnTo>
                  <a:pt x="1087614" y="744160"/>
                </a:lnTo>
                <a:lnTo>
                  <a:pt x="1070999" y="786801"/>
                </a:lnTo>
                <a:lnTo>
                  <a:pt x="1050601" y="828281"/>
                </a:lnTo>
                <a:lnTo>
                  <a:pt x="1026391" y="868365"/>
                </a:lnTo>
                <a:lnTo>
                  <a:pt x="998340" y="906817"/>
                </a:lnTo>
                <a:lnTo>
                  <a:pt x="967050" y="942711"/>
                </a:lnTo>
                <a:lnTo>
                  <a:pt x="933321" y="975221"/>
                </a:lnTo>
                <a:lnTo>
                  <a:pt x="897386" y="1004323"/>
                </a:lnTo>
                <a:lnTo>
                  <a:pt x="859481" y="1029991"/>
                </a:lnTo>
                <a:lnTo>
                  <a:pt x="819842" y="1052203"/>
                </a:lnTo>
                <a:lnTo>
                  <a:pt x="778703" y="1070934"/>
                </a:lnTo>
                <a:lnTo>
                  <a:pt x="736301" y="1086160"/>
                </a:lnTo>
                <a:lnTo>
                  <a:pt x="692869" y="1097856"/>
                </a:lnTo>
                <a:lnTo>
                  <a:pt x="648644" y="1105999"/>
                </a:lnTo>
                <a:lnTo>
                  <a:pt x="603861" y="1110565"/>
                </a:lnTo>
                <a:lnTo>
                  <a:pt x="558755" y="1111530"/>
                </a:lnTo>
                <a:lnTo>
                  <a:pt x="513561" y="1108869"/>
                </a:lnTo>
                <a:lnTo>
                  <a:pt x="468514" y="1102558"/>
                </a:lnTo>
                <a:lnTo>
                  <a:pt x="423851" y="1092574"/>
                </a:lnTo>
                <a:lnTo>
                  <a:pt x="379805" y="1078891"/>
                </a:lnTo>
                <a:lnTo>
                  <a:pt x="336613" y="1061487"/>
                </a:lnTo>
                <a:lnTo>
                  <a:pt x="294509" y="1040336"/>
                </a:lnTo>
                <a:lnTo>
                  <a:pt x="253729" y="1015415"/>
                </a:lnTo>
                <a:lnTo>
                  <a:pt x="214509" y="986700"/>
                </a:lnTo>
                <a:lnTo>
                  <a:pt x="177813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3" y="806035"/>
                </a:lnTo>
                <a:lnTo>
                  <a:pt x="45198" y="764695"/>
                </a:lnTo>
                <a:lnTo>
                  <a:pt x="29050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1" y="367355"/>
                </a:lnTo>
                <a:lnTo>
                  <a:pt x="45819" y="324701"/>
                </a:lnTo>
                <a:lnTo>
                  <a:pt x="66221" y="283206"/>
                </a:lnTo>
                <a:lnTo>
                  <a:pt x="90438" y="243105"/>
                </a:lnTo>
                <a:lnTo>
                  <a:pt x="118497" y="204634"/>
                </a:lnTo>
                <a:close/>
              </a:path>
            </a:pathLst>
          </a:custGeom>
          <a:ln w="12700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317961" y="1181524"/>
            <a:ext cx="855980" cy="850265"/>
          </a:xfrm>
          <a:custGeom>
            <a:avLst/>
            <a:gdLst/>
            <a:ahLst/>
            <a:cxnLst/>
            <a:rect l="l" t="t" r="r" b="b"/>
            <a:pathLst>
              <a:path w="855980" h="850264">
                <a:moveTo>
                  <a:pt x="89835" y="155150"/>
                </a:moveTo>
                <a:lnTo>
                  <a:pt x="63214" y="192564"/>
                </a:lnTo>
                <a:lnTo>
                  <a:pt x="41313" y="231919"/>
                </a:lnTo>
                <a:lnTo>
                  <a:pt x="24088" y="272849"/>
                </a:lnTo>
                <a:lnTo>
                  <a:pt x="11491" y="314989"/>
                </a:lnTo>
                <a:lnTo>
                  <a:pt x="3477" y="357973"/>
                </a:lnTo>
                <a:lnTo>
                  <a:pt x="0" y="401436"/>
                </a:lnTo>
                <a:lnTo>
                  <a:pt x="1013" y="445012"/>
                </a:lnTo>
                <a:lnTo>
                  <a:pt x="6470" y="488336"/>
                </a:lnTo>
                <a:lnTo>
                  <a:pt x="16327" y="531041"/>
                </a:lnTo>
                <a:lnTo>
                  <a:pt x="30536" y="572763"/>
                </a:lnTo>
                <a:lnTo>
                  <a:pt x="49052" y="613136"/>
                </a:lnTo>
                <a:lnTo>
                  <a:pt x="71828" y="651795"/>
                </a:lnTo>
                <a:lnTo>
                  <a:pt x="98819" y="688373"/>
                </a:lnTo>
                <a:lnTo>
                  <a:pt x="129978" y="722506"/>
                </a:lnTo>
                <a:lnTo>
                  <a:pt x="165260" y="753828"/>
                </a:lnTo>
                <a:lnTo>
                  <a:pt x="203623" y="781288"/>
                </a:lnTo>
                <a:lnTo>
                  <a:pt x="243811" y="804104"/>
                </a:lnTo>
                <a:lnTo>
                  <a:pt x="285458" y="822312"/>
                </a:lnTo>
                <a:lnTo>
                  <a:pt x="328199" y="835949"/>
                </a:lnTo>
                <a:lnTo>
                  <a:pt x="371666" y="845051"/>
                </a:lnTo>
                <a:lnTo>
                  <a:pt x="415493" y="849655"/>
                </a:lnTo>
                <a:lnTo>
                  <a:pt x="459315" y="849796"/>
                </a:lnTo>
                <a:lnTo>
                  <a:pt x="502764" y="845511"/>
                </a:lnTo>
                <a:lnTo>
                  <a:pt x="545475" y="836837"/>
                </a:lnTo>
                <a:lnTo>
                  <a:pt x="587081" y="823809"/>
                </a:lnTo>
                <a:lnTo>
                  <a:pt x="627215" y="806465"/>
                </a:lnTo>
                <a:lnTo>
                  <a:pt x="665512" y="784840"/>
                </a:lnTo>
                <a:lnTo>
                  <a:pt x="701606" y="758971"/>
                </a:lnTo>
                <a:lnTo>
                  <a:pt x="735129" y="728894"/>
                </a:lnTo>
                <a:lnTo>
                  <a:pt x="765716" y="694646"/>
                </a:lnTo>
                <a:lnTo>
                  <a:pt x="792339" y="657209"/>
                </a:lnTo>
                <a:lnTo>
                  <a:pt x="814242" y="617838"/>
                </a:lnTo>
                <a:lnTo>
                  <a:pt x="831469" y="576897"/>
                </a:lnTo>
                <a:lnTo>
                  <a:pt x="844067" y="534752"/>
                </a:lnTo>
                <a:lnTo>
                  <a:pt x="852083" y="491766"/>
                </a:lnTo>
                <a:lnTo>
                  <a:pt x="855561" y="448304"/>
                </a:lnTo>
                <a:lnTo>
                  <a:pt x="854549" y="404733"/>
                </a:lnTo>
                <a:lnTo>
                  <a:pt x="849091" y="361416"/>
                </a:lnTo>
                <a:lnTo>
                  <a:pt x="839236" y="318718"/>
                </a:lnTo>
                <a:lnTo>
                  <a:pt x="825027" y="277004"/>
                </a:lnTo>
                <a:lnTo>
                  <a:pt x="806511" y="236639"/>
                </a:lnTo>
                <a:lnTo>
                  <a:pt x="783735" y="197988"/>
                </a:lnTo>
                <a:lnTo>
                  <a:pt x="756745" y="161416"/>
                </a:lnTo>
                <a:lnTo>
                  <a:pt x="725585" y="127288"/>
                </a:lnTo>
                <a:lnTo>
                  <a:pt x="690303" y="95968"/>
                </a:lnTo>
                <a:lnTo>
                  <a:pt x="651938" y="68508"/>
                </a:lnTo>
                <a:lnTo>
                  <a:pt x="611748" y="45692"/>
                </a:lnTo>
                <a:lnTo>
                  <a:pt x="570099" y="27483"/>
                </a:lnTo>
                <a:lnTo>
                  <a:pt x="527357" y="13846"/>
                </a:lnTo>
                <a:lnTo>
                  <a:pt x="483888" y="4744"/>
                </a:lnTo>
                <a:lnTo>
                  <a:pt x="440060" y="141"/>
                </a:lnTo>
                <a:lnTo>
                  <a:pt x="396238" y="0"/>
                </a:lnTo>
                <a:lnTo>
                  <a:pt x="352788" y="4284"/>
                </a:lnTo>
                <a:lnTo>
                  <a:pt x="310077" y="12959"/>
                </a:lnTo>
                <a:lnTo>
                  <a:pt x="268470" y="25986"/>
                </a:lnTo>
                <a:lnTo>
                  <a:pt x="228336" y="43330"/>
                </a:lnTo>
                <a:lnTo>
                  <a:pt x="190038" y="64955"/>
                </a:lnTo>
                <a:lnTo>
                  <a:pt x="153945" y="90824"/>
                </a:lnTo>
                <a:lnTo>
                  <a:pt x="120422" y="120901"/>
                </a:lnTo>
                <a:lnTo>
                  <a:pt x="89835" y="155150"/>
                </a:lnTo>
                <a:close/>
              </a:path>
            </a:pathLst>
          </a:custGeom>
          <a:ln w="12700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67583" y="254000"/>
            <a:ext cx="2352040" cy="52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4A210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6205" y="1847570"/>
            <a:ext cx="7371588" cy="1809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562" y="6858000"/>
                </a:lnTo>
                <a:lnTo>
                  <a:pt x="805656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1435" y="1413763"/>
            <a:ext cx="210312" cy="210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5085" y="1338325"/>
            <a:ext cx="312051" cy="2921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3000" y="1143000"/>
            <a:ext cx="7696200" cy="5181600"/>
          </a:xfrm>
          <a:custGeom>
            <a:avLst/>
            <a:gdLst/>
            <a:ahLst/>
            <a:cxnLst/>
            <a:rect l="l" t="t" r="r" b="b"/>
            <a:pathLst>
              <a:path w="7696200" h="5181600">
                <a:moveTo>
                  <a:pt x="0" y="5181600"/>
                </a:moveTo>
                <a:lnTo>
                  <a:pt x="7696200" y="5181600"/>
                </a:lnTo>
                <a:lnTo>
                  <a:pt x="7696200" y="0"/>
                </a:lnTo>
                <a:lnTo>
                  <a:pt x="0" y="0"/>
                </a:lnTo>
                <a:lnTo>
                  <a:pt x="0" y="5181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1872" y="1286255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61872" y="3023616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49476" y="1118362"/>
            <a:ext cx="7065009" cy="42582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46405" indent="264795">
              <a:lnSpc>
                <a:spcPct val="100000"/>
              </a:lnSpc>
              <a:spcBef>
                <a:spcPts val="105"/>
              </a:spcBef>
            </a:pPr>
            <a:r>
              <a:rPr lang="en-US" sz="2600" b="1" dirty="0" smtClean="0">
                <a:latin typeface="Times New Roman"/>
                <a:cs typeface="Times New Roman"/>
              </a:rPr>
              <a:t>What is software testing? </a:t>
            </a:r>
          </a:p>
          <a:p>
            <a:pPr marL="12700" marR="446405" indent="264795">
              <a:lnSpc>
                <a:spcPct val="100000"/>
              </a:lnSpc>
              <a:spcBef>
                <a:spcPts val="105"/>
              </a:spcBef>
            </a:pPr>
            <a:r>
              <a:rPr sz="2600" dirty="0" smtClean="0">
                <a:latin typeface="Times New Roman"/>
                <a:cs typeface="Times New Roman"/>
              </a:rPr>
              <a:t>It </a:t>
            </a:r>
            <a:r>
              <a:rPr sz="2600" dirty="0">
                <a:latin typeface="Times New Roman"/>
                <a:cs typeface="Times New Roman"/>
              </a:rPr>
              <a:t>is the process used to identify </a:t>
            </a:r>
            <a:r>
              <a:rPr sz="2600" spc="-5" dirty="0">
                <a:latin typeface="Times New Roman"/>
                <a:cs typeface="Times New Roman"/>
              </a:rPr>
              <a:t>the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correctness,  completeness </a:t>
            </a:r>
            <a:r>
              <a:rPr sz="2600" dirty="0">
                <a:latin typeface="Times New Roman"/>
                <a:cs typeface="Times New Roman"/>
              </a:rPr>
              <a:t>and quality of developed computer  </a:t>
            </a:r>
            <a:r>
              <a:rPr sz="2600" spc="-5" dirty="0">
                <a:latin typeface="Times New Roman"/>
                <a:cs typeface="Times New Roman"/>
              </a:rPr>
              <a:t>software</a:t>
            </a:r>
            <a:r>
              <a:rPr sz="2600" spc="-5" dirty="0" smtClean="0">
                <a:latin typeface="Times New Roman"/>
                <a:cs typeface="Times New Roman"/>
              </a:rPr>
              <a:t>.</a:t>
            </a:r>
            <a:endParaRPr sz="3750" dirty="0">
              <a:latin typeface="Times New Roman"/>
              <a:cs typeface="Times New Roman"/>
            </a:endParaRPr>
          </a:p>
          <a:p>
            <a:pPr marL="12700" marR="5080" indent="264795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Times New Roman"/>
                <a:cs typeface="Times New Roman"/>
              </a:rPr>
              <a:t>It is the process of executing 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program/application  </a:t>
            </a:r>
            <a:r>
              <a:rPr sz="2600" dirty="0">
                <a:latin typeface="Times New Roman"/>
                <a:cs typeface="Times New Roman"/>
              </a:rPr>
              <a:t>under positive and negative conditions by manual or  </a:t>
            </a:r>
            <a:r>
              <a:rPr sz="2600" spc="-5" dirty="0">
                <a:latin typeface="Times New Roman"/>
                <a:cs typeface="Times New Roman"/>
              </a:rPr>
              <a:t>automated means. </a:t>
            </a:r>
            <a:r>
              <a:rPr sz="2600" dirty="0">
                <a:latin typeface="Times New Roman"/>
                <a:cs typeface="Times New Roman"/>
              </a:rPr>
              <a:t>It checks for 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:-</a:t>
            </a:r>
          </a:p>
          <a:p>
            <a:pPr marL="327660" indent="-314960">
              <a:lnSpc>
                <a:spcPct val="100000"/>
              </a:lnSpc>
              <a:spcBef>
                <a:spcPts val="600"/>
              </a:spcBef>
              <a:buClr>
                <a:srgbClr val="8DC664"/>
              </a:buClr>
              <a:buSzPct val="78846"/>
              <a:buFont typeface="Wingdings"/>
              <a:buChar char=""/>
              <a:tabLst>
                <a:tab pos="328295" algn="l"/>
              </a:tabLst>
            </a:pPr>
            <a:r>
              <a:rPr sz="2600" spc="-5" dirty="0">
                <a:latin typeface="Times New Roman"/>
                <a:cs typeface="Times New Roman"/>
              </a:rPr>
              <a:t>Specification</a:t>
            </a:r>
            <a:endParaRPr sz="2600" dirty="0">
              <a:latin typeface="Times New Roman"/>
              <a:cs typeface="Times New Roman"/>
            </a:endParaRPr>
          </a:p>
          <a:p>
            <a:pPr marL="327660" indent="-314960">
              <a:lnSpc>
                <a:spcPct val="100000"/>
              </a:lnSpc>
              <a:spcBef>
                <a:spcPts val="600"/>
              </a:spcBef>
              <a:buClr>
                <a:srgbClr val="8DC664"/>
              </a:buClr>
              <a:buSzPct val="78846"/>
              <a:buFont typeface="Wingdings"/>
              <a:buChar char=""/>
              <a:tabLst>
                <a:tab pos="328295" algn="l"/>
              </a:tabLst>
            </a:pPr>
            <a:r>
              <a:rPr sz="2600" dirty="0">
                <a:latin typeface="Times New Roman"/>
                <a:cs typeface="Times New Roman"/>
              </a:rPr>
              <a:t>Functionality</a:t>
            </a:r>
          </a:p>
          <a:p>
            <a:pPr marL="327660" indent="-314960">
              <a:lnSpc>
                <a:spcPct val="100000"/>
              </a:lnSpc>
              <a:spcBef>
                <a:spcPts val="605"/>
              </a:spcBef>
              <a:buClr>
                <a:srgbClr val="8DC664"/>
              </a:buClr>
              <a:buSzPct val="78846"/>
              <a:buFont typeface="Wingdings"/>
              <a:buChar char=""/>
              <a:tabLst>
                <a:tab pos="328295" algn="l"/>
              </a:tabLst>
            </a:pPr>
            <a:r>
              <a:rPr sz="2600" dirty="0">
                <a:latin typeface="Times New Roman"/>
                <a:cs typeface="Times New Roman"/>
              </a:rPr>
              <a:t>Performance</a:t>
            </a:r>
          </a:p>
        </p:txBody>
      </p:sp>
      <p:sp>
        <p:nvSpPr>
          <p:cNvPr id="12" name="object 12"/>
          <p:cNvSpPr/>
          <p:nvPr/>
        </p:nvSpPr>
        <p:spPr>
          <a:xfrm>
            <a:off x="2426207" y="85343"/>
            <a:ext cx="4815840" cy="99364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820670" y="234822"/>
            <a:ext cx="40271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45" dirty="0"/>
              <a:t>INTRODUCTION</a:t>
            </a:r>
            <a:endParaRPr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562" y="6858000"/>
                </a:lnTo>
                <a:lnTo>
                  <a:pt x="805656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1435" y="1413763"/>
            <a:ext cx="210312" cy="210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5085" y="1338325"/>
            <a:ext cx="312051" cy="2921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79575" y="286511"/>
            <a:ext cx="7258811" cy="1028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74038" y="435305"/>
            <a:ext cx="64789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70" dirty="0"/>
              <a:t>Error, </a:t>
            </a:r>
            <a:r>
              <a:rPr sz="4800" spc="-455" dirty="0"/>
              <a:t>Bug, </a:t>
            </a:r>
            <a:r>
              <a:rPr sz="4800" spc="-325" dirty="0"/>
              <a:t>Fault </a:t>
            </a:r>
            <a:r>
              <a:rPr sz="4800" spc="-85" dirty="0"/>
              <a:t>&amp;</a:t>
            </a:r>
            <a:r>
              <a:rPr sz="4800" spc="130" dirty="0"/>
              <a:t> </a:t>
            </a:r>
            <a:r>
              <a:rPr sz="4800" spc="-330" dirty="0"/>
              <a:t>Failure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258572" y="1575562"/>
            <a:ext cx="8539480" cy="3394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36980">
              <a:lnSpc>
                <a:spcPct val="100000"/>
              </a:lnSpc>
              <a:spcBef>
                <a:spcPts val="105"/>
              </a:spcBef>
            </a:pPr>
            <a:r>
              <a:rPr sz="2600" b="1" spc="-10" dirty="0">
                <a:latin typeface="Times New Roman"/>
                <a:cs typeface="Times New Roman"/>
              </a:rPr>
              <a:t>Error </a:t>
            </a:r>
            <a:r>
              <a:rPr sz="2600" b="1" dirty="0">
                <a:latin typeface="Times New Roman"/>
                <a:cs typeface="Times New Roman"/>
              </a:rPr>
              <a:t>: </a:t>
            </a:r>
            <a:r>
              <a:rPr sz="2600" dirty="0">
                <a:latin typeface="Times New Roman"/>
                <a:cs typeface="Times New Roman"/>
              </a:rPr>
              <a:t>It is a </a:t>
            </a:r>
            <a:r>
              <a:rPr sz="2600" spc="-5" dirty="0">
                <a:latin typeface="Times New Roman"/>
                <a:cs typeface="Times New Roman"/>
              </a:rPr>
              <a:t>human action </a:t>
            </a:r>
            <a:r>
              <a:rPr sz="2600" dirty="0">
                <a:latin typeface="Times New Roman"/>
                <a:cs typeface="Times New Roman"/>
              </a:rPr>
              <a:t>that produces the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incorrect  result </a:t>
            </a:r>
            <a:r>
              <a:rPr sz="2600" dirty="0">
                <a:latin typeface="Times New Roman"/>
                <a:cs typeface="Times New Roman"/>
              </a:rPr>
              <a:t>that produces a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fault.</a:t>
            </a:r>
            <a:endParaRPr sz="2600">
              <a:latin typeface="Times New Roman"/>
              <a:cs typeface="Times New Roman"/>
            </a:endParaRPr>
          </a:p>
          <a:p>
            <a:pPr marL="12700" marR="806450">
              <a:lnSpc>
                <a:spcPct val="100000"/>
              </a:lnSpc>
              <a:spcBef>
                <a:spcPts val="1560"/>
              </a:spcBef>
            </a:pPr>
            <a:r>
              <a:rPr sz="2600" b="1" dirty="0">
                <a:latin typeface="Times New Roman"/>
                <a:cs typeface="Times New Roman"/>
              </a:rPr>
              <a:t>Bug :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presence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error </a:t>
            </a:r>
            <a:r>
              <a:rPr sz="2600" dirty="0">
                <a:latin typeface="Times New Roman"/>
                <a:cs typeface="Times New Roman"/>
              </a:rPr>
              <a:t>at the </a:t>
            </a:r>
            <a:r>
              <a:rPr sz="2600" spc="-5" dirty="0">
                <a:latin typeface="Times New Roman"/>
                <a:cs typeface="Times New Roman"/>
              </a:rPr>
              <a:t>time </a:t>
            </a:r>
            <a:r>
              <a:rPr sz="2600" dirty="0">
                <a:latin typeface="Times New Roman"/>
                <a:cs typeface="Times New Roman"/>
              </a:rPr>
              <a:t>of execution of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  </a:t>
            </a:r>
            <a:r>
              <a:rPr sz="2600" spc="-5" dirty="0">
                <a:latin typeface="Times New Roman"/>
                <a:cs typeface="Times New Roman"/>
              </a:rPr>
              <a:t>software.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928369" algn="l"/>
              </a:tabLst>
            </a:pPr>
            <a:r>
              <a:rPr sz="2600" b="1" dirty="0">
                <a:latin typeface="Times New Roman"/>
                <a:cs typeface="Times New Roman"/>
              </a:rPr>
              <a:t>Fault	: </a:t>
            </a:r>
            <a:r>
              <a:rPr sz="2600" spc="-5" dirty="0">
                <a:latin typeface="Times New Roman"/>
                <a:cs typeface="Times New Roman"/>
              </a:rPr>
              <a:t>State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caused by 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error.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sz="2600" b="1" spc="-10" dirty="0">
                <a:latin typeface="Times New Roman"/>
                <a:cs typeface="Times New Roman"/>
              </a:rPr>
              <a:t>Failure </a:t>
            </a:r>
            <a:r>
              <a:rPr sz="2600" b="1" dirty="0">
                <a:latin typeface="Times New Roman"/>
                <a:cs typeface="Times New Roman"/>
              </a:rPr>
              <a:t>: </a:t>
            </a:r>
            <a:r>
              <a:rPr sz="2600" dirty="0">
                <a:latin typeface="Times New Roman"/>
                <a:cs typeface="Times New Roman"/>
              </a:rPr>
              <a:t>Deviation of the </a:t>
            </a:r>
            <a:r>
              <a:rPr sz="2600" spc="-5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from </a:t>
            </a:r>
            <a:r>
              <a:rPr sz="2600" spc="-5" dirty="0">
                <a:latin typeface="Times New Roman"/>
                <a:cs typeface="Times New Roman"/>
              </a:rPr>
              <a:t>its </a:t>
            </a:r>
            <a:r>
              <a:rPr sz="2600" dirty="0">
                <a:latin typeface="Times New Roman"/>
                <a:cs typeface="Times New Roman"/>
              </a:rPr>
              <a:t>expected </a:t>
            </a:r>
            <a:r>
              <a:rPr sz="2600" spc="-5" dirty="0">
                <a:latin typeface="Times New Roman"/>
                <a:cs typeface="Times New Roman"/>
              </a:rPr>
              <a:t>result.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is  </a:t>
            </a:r>
            <a:r>
              <a:rPr sz="2600" dirty="0">
                <a:latin typeface="Times New Roman"/>
                <a:cs typeface="Times New Roman"/>
              </a:rPr>
              <a:t>an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event.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45844" y="1971878"/>
            <a:ext cx="7505700" cy="322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244475" algn="l"/>
              </a:tabLst>
            </a:pPr>
            <a:r>
              <a:rPr sz="2600" dirty="0">
                <a:latin typeface="Times New Roman"/>
                <a:cs typeface="Times New Roman"/>
              </a:rPr>
              <a:t>Standard model </a:t>
            </a:r>
            <a:r>
              <a:rPr sz="2600" spc="-5" dirty="0">
                <a:latin typeface="Times New Roman"/>
                <a:cs typeface="Times New Roman"/>
              </a:rPr>
              <a:t>used </a:t>
            </a:r>
            <a:r>
              <a:rPr sz="2600" dirty="0">
                <a:latin typeface="Times New Roman"/>
                <a:cs typeface="Times New Roman"/>
              </a:rPr>
              <a:t>word wide to develop a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software.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har char=""/>
            </a:pPr>
            <a:endParaRPr sz="2850">
              <a:latin typeface="Times New Roman"/>
              <a:cs typeface="Times New Roman"/>
            </a:endParaRPr>
          </a:p>
          <a:p>
            <a:pPr marL="12700" marR="47625">
              <a:lnSpc>
                <a:spcPct val="101200"/>
              </a:lnSpc>
              <a:buSzPct val="107692"/>
              <a:buFont typeface="Wingdings"/>
              <a:buChar char=""/>
              <a:tabLst>
                <a:tab pos="279400" algn="l"/>
              </a:tabLst>
            </a:pP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5" dirty="0">
                <a:latin typeface="Times New Roman"/>
                <a:cs typeface="Times New Roman"/>
              </a:rPr>
              <a:t>framework </a:t>
            </a:r>
            <a:r>
              <a:rPr sz="2600" dirty="0">
                <a:latin typeface="Times New Roman"/>
                <a:cs typeface="Times New Roman"/>
              </a:rPr>
              <a:t>that </a:t>
            </a:r>
            <a:r>
              <a:rPr sz="2600" spc="-5" dirty="0">
                <a:latin typeface="Times New Roman"/>
                <a:cs typeface="Times New Roman"/>
              </a:rPr>
              <a:t>describes 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activities </a:t>
            </a:r>
            <a:r>
              <a:rPr sz="2600" dirty="0">
                <a:latin typeface="Times New Roman"/>
                <a:cs typeface="Times New Roman"/>
              </a:rPr>
              <a:t>performed</a:t>
            </a:r>
            <a:r>
              <a:rPr sz="2600" spc="-2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at  </a:t>
            </a:r>
            <a:r>
              <a:rPr sz="2600" spc="-5" dirty="0">
                <a:latin typeface="Times New Roman"/>
                <a:cs typeface="Times New Roman"/>
              </a:rPr>
              <a:t>each stage </a:t>
            </a:r>
            <a:r>
              <a:rPr sz="2600" dirty="0">
                <a:latin typeface="Times New Roman"/>
                <a:cs typeface="Times New Roman"/>
              </a:rPr>
              <a:t>of a </a:t>
            </a:r>
            <a:r>
              <a:rPr sz="2600" spc="-5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development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project.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"/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Font typeface="Wingdings"/>
              <a:buChar char=""/>
              <a:tabLst>
                <a:tab pos="244475" algn="l"/>
              </a:tabLst>
            </a:pPr>
            <a:r>
              <a:rPr sz="2600" spc="-5" dirty="0">
                <a:latin typeface="Times New Roman"/>
                <a:cs typeface="Times New Roman"/>
              </a:rPr>
              <a:t>Necessary </a:t>
            </a:r>
            <a:r>
              <a:rPr sz="2600" dirty="0">
                <a:latin typeface="Times New Roman"/>
                <a:cs typeface="Times New Roman"/>
              </a:rPr>
              <a:t>to ensure the quality of 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software.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"/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Font typeface="Wingdings"/>
              <a:buChar char=""/>
              <a:tabLst>
                <a:tab pos="244475" algn="l"/>
              </a:tabLst>
            </a:pPr>
            <a:r>
              <a:rPr sz="2600" dirty="0">
                <a:latin typeface="Times New Roman"/>
                <a:cs typeface="Times New Roman"/>
              </a:rPr>
              <a:t>Logical </a:t>
            </a:r>
            <a:r>
              <a:rPr sz="2600" spc="-5" dirty="0">
                <a:latin typeface="Times New Roman"/>
                <a:cs typeface="Times New Roman"/>
              </a:rPr>
              <a:t>steps taken </a:t>
            </a:r>
            <a:r>
              <a:rPr sz="2600" dirty="0">
                <a:latin typeface="Times New Roman"/>
                <a:cs typeface="Times New Roman"/>
              </a:rPr>
              <a:t>to develop a </a:t>
            </a:r>
            <a:r>
              <a:rPr sz="2600" spc="-5" dirty="0">
                <a:latin typeface="Times New Roman"/>
                <a:cs typeface="Times New Roman"/>
              </a:rPr>
              <a:t>software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product</a:t>
            </a:r>
            <a:r>
              <a:rPr sz="180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69644" y="458165"/>
            <a:ext cx="790511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-345" dirty="0"/>
              <a:t>SDLC(Software </a:t>
            </a:r>
            <a:r>
              <a:rPr sz="3800" spc="-235" dirty="0"/>
              <a:t>Development </a:t>
            </a:r>
            <a:r>
              <a:rPr sz="3800" spc="-295" dirty="0"/>
              <a:t>Life</a:t>
            </a:r>
            <a:r>
              <a:rPr sz="3800" spc="-125" dirty="0"/>
              <a:t> </a:t>
            </a:r>
            <a:r>
              <a:rPr sz="3800" spc="-340" dirty="0"/>
              <a:t>Cycle)</a:t>
            </a:r>
            <a:endParaRPr sz="3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200" y="990600"/>
            <a:ext cx="7315200" cy="3962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34642" y="1095502"/>
            <a:ext cx="1065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Feasibility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0194" y="1781302"/>
            <a:ext cx="2433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Requirements </a:t>
            </a:r>
            <a:r>
              <a:rPr sz="1200" spc="-10" dirty="0">
                <a:latin typeface="Times New Roman"/>
                <a:cs typeface="Times New Roman"/>
              </a:rPr>
              <a:t>Analysis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Specification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5451" y="2543683"/>
            <a:ext cx="4552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spc="-15" dirty="0">
                <a:latin typeface="Times New Roman"/>
                <a:cs typeface="Times New Roman"/>
              </a:rPr>
              <a:t>e</a:t>
            </a:r>
            <a:r>
              <a:rPr sz="1200" spc="-5" dirty="0">
                <a:latin typeface="Times New Roman"/>
                <a:cs typeface="Times New Roman"/>
              </a:rPr>
              <a:t>si</a:t>
            </a:r>
            <a:r>
              <a:rPr sz="1200" spc="-15" dirty="0">
                <a:latin typeface="Times New Roman"/>
                <a:cs typeface="Times New Roman"/>
              </a:rPr>
              <a:t>g</a:t>
            </a:r>
            <a:r>
              <a:rPr sz="120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1607" y="3229483"/>
            <a:ext cx="1422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Coding &amp; Unit</a:t>
            </a:r>
            <a:r>
              <a:rPr sz="1200" spc="-10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61228" y="3915536"/>
            <a:ext cx="1821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Integration </a:t>
            </a:r>
            <a:r>
              <a:rPr sz="1200" dirty="0">
                <a:latin typeface="Times New Roman"/>
                <a:cs typeface="Times New Roman"/>
              </a:rPr>
              <a:t>&amp; </a:t>
            </a:r>
            <a:r>
              <a:rPr sz="1200" spc="-10" dirty="0">
                <a:latin typeface="Times New Roman"/>
                <a:cs typeface="Times New Roman"/>
              </a:rPr>
              <a:t>System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Testing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7505" y="4677536"/>
            <a:ext cx="810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Maintenance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18132" y="0"/>
            <a:ext cx="7181088" cy="842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212594" y="0"/>
            <a:ext cx="6389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70" dirty="0"/>
              <a:t>Classical </a:t>
            </a:r>
            <a:r>
              <a:rPr sz="4800" spc="-210" dirty="0"/>
              <a:t>Waterfall</a:t>
            </a:r>
            <a:r>
              <a:rPr sz="4800" spc="-145" dirty="0"/>
              <a:t> </a:t>
            </a:r>
            <a:r>
              <a:rPr sz="4800" spc="-190" dirty="0"/>
              <a:t>Model</a:t>
            </a:r>
            <a:endParaRPr sz="4800"/>
          </a:p>
        </p:txBody>
      </p:sp>
      <p:sp>
        <p:nvSpPr>
          <p:cNvPr id="17" name="object 17"/>
          <p:cNvSpPr txBox="1"/>
          <p:nvPr/>
        </p:nvSpPr>
        <p:spPr>
          <a:xfrm>
            <a:off x="1222044" y="5279542"/>
            <a:ext cx="608520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It is the oldest </a:t>
            </a:r>
            <a:r>
              <a:rPr sz="2600" spc="-5" dirty="0">
                <a:latin typeface="Times New Roman"/>
                <a:cs typeface="Times New Roman"/>
              </a:rPr>
              <a:t>and most </a:t>
            </a:r>
            <a:r>
              <a:rPr sz="2600" dirty="0">
                <a:latin typeface="Times New Roman"/>
                <a:cs typeface="Times New Roman"/>
              </a:rPr>
              <a:t>widely used model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  the </a:t>
            </a:r>
            <a:r>
              <a:rPr sz="2600" spc="-5" dirty="0">
                <a:latin typeface="Times New Roman"/>
                <a:cs typeface="Times New Roman"/>
              </a:rPr>
              <a:t>field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software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00" y="838835"/>
            <a:ext cx="2971800" cy="533400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445"/>
              </a:spcBef>
            </a:pPr>
            <a:r>
              <a:rPr sz="2600" dirty="0">
                <a:latin typeface="Times New Roman"/>
                <a:cs typeface="Times New Roman"/>
              </a:rPr>
              <a:t>Project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Initiation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1025" y="2309495"/>
            <a:ext cx="2266950" cy="0"/>
          </a:xfrm>
          <a:custGeom>
            <a:avLst/>
            <a:gdLst/>
            <a:ahLst/>
            <a:cxnLst/>
            <a:rect l="l" t="t" r="r" b="b"/>
            <a:pathLst>
              <a:path w="2266950">
                <a:moveTo>
                  <a:pt x="0" y="0"/>
                </a:moveTo>
                <a:lnTo>
                  <a:pt x="2266950" y="0"/>
                </a:lnTo>
              </a:path>
            </a:pathLst>
          </a:custGeom>
          <a:ln w="11429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6740" y="1736089"/>
            <a:ext cx="0" cy="567690"/>
          </a:xfrm>
          <a:custGeom>
            <a:avLst/>
            <a:gdLst/>
            <a:ahLst/>
            <a:cxnLst/>
            <a:rect l="l" t="t" r="r" b="b"/>
            <a:pathLst>
              <a:path h="567689">
                <a:moveTo>
                  <a:pt x="0" y="0"/>
                </a:moveTo>
                <a:lnTo>
                  <a:pt x="0" y="567689"/>
                </a:lnTo>
              </a:path>
            </a:pathLst>
          </a:custGeom>
          <a:ln w="11429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1025" y="1730375"/>
            <a:ext cx="2266950" cy="0"/>
          </a:xfrm>
          <a:custGeom>
            <a:avLst/>
            <a:gdLst/>
            <a:ahLst/>
            <a:cxnLst/>
            <a:rect l="l" t="t" r="r" b="b"/>
            <a:pathLst>
              <a:path w="2266950">
                <a:moveTo>
                  <a:pt x="0" y="0"/>
                </a:moveTo>
                <a:lnTo>
                  <a:pt x="2266950" y="0"/>
                </a:lnTo>
              </a:path>
            </a:pathLst>
          </a:custGeom>
          <a:ln w="11430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42260" y="1735454"/>
            <a:ext cx="0" cy="567690"/>
          </a:xfrm>
          <a:custGeom>
            <a:avLst/>
            <a:gdLst/>
            <a:ahLst/>
            <a:cxnLst/>
            <a:rect l="l" t="t" r="r" b="b"/>
            <a:pathLst>
              <a:path h="567689">
                <a:moveTo>
                  <a:pt x="0" y="0"/>
                </a:moveTo>
                <a:lnTo>
                  <a:pt x="0" y="567690"/>
                </a:lnTo>
              </a:path>
            </a:pathLst>
          </a:custGeom>
          <a:ln w="11430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3884" y="2275204"/>
            <a:ext cx="2221230" cy="0"/>
          </a:xfrm>
          <a:custGeom>
            <a:avLst/>
            <a:gdLst/>
            <a:ahLst/>
            <a:cxnLst/>
            <a:rect l="l" t="t" r="r" b="b"/>
            <a:pathLst>
              <a:path w="2221230">
                <a:moveTo>
                  <a:pt x="0" y="0"/>
                </a:moveTo>
                <a:lnTo>
                  <a:pt x="2221229" y="0"/>
                </a:lnTo>
              </a:path>
            </a:pathLst>
          </a:custGeom>
          <a:ln w="34290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1030" y="1781810"/>
            <a:ext cx="0" cy="476250"/>
          </a:xfrm>
          <a:custGeom>
            <a:avLst/>
            <a:gdLst/>
            <a:ahLst/>
            <a:cxnLst/>
            <a:rect l="l" t="t" r="r" b="b"/>
            <a:pathLst>
              <a:path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ln w="34290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3884" y="1764664"/>
            <a:ext cx="2221230" cy="0"/>
          </a:xfrm>
          <a:custGeom>
            <a:avLst/>
            <a:gdLst/>
            <a:ahLst/>
            <a:cxnLst/>
            <a:rect l="l" t="t" r="r" b="b"/>
            <a:pathLst>
              <a:path w="2221230">
                <a:moveTo>
                  <a:pt x="0" y="0"/>
                </a:moveTo>
                <a:lnTo>
                  <a:pt x="2221229" y="0"/>
                </a:lnTo>
              </a:path>
            </a:pathLst>
          </a:custGeom>
          <a:ln w="34289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07970" y="1781175"/>
            <a:ext cx="0" cy="476250"/>
          </a:xfrm>
          <a:custGeom>
            <a:avLst/>
            <a:gdLst/>
            <a:ahLst/>
            <a:cxnLst/>
            <a:rect l="l" t="t" r="r" b="b"/>
            <a:pathLst>
              <a:path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ln w="34289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6790" y="1796542"/>
            <a:ext cx="185356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Study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81600" y="1448435"/>
            <a:ext cx="2819400" cy="533400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445"/>
              </a:spcBef>
            </a:pPr>
            <a:r>
              <a:rPr sz="2600" spc="-5" dirty="0">
                <a:latin typeface="Times New Roman"/>
                <a:cs typeface="Times New Roman"/>
              </a:rPr>
              <a:t>Summary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Reports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24600" y="2362835"/>
            <a:ext cx="2209800" cy="533400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445"/>
              </a:spcBef>
            </a:pPr>
            <a:r>
              <a:rPr sz="2600" dirty="0">
                <a:latin typeface="Times New Roman"/>
                <a:cs typeface="Times New Roman"/>
              </a:rPr>
              <a:t>Analysis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48400" y="3429634"/>
            <a:ext cx="2514600" cy="533400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445"/>
              </a:spcBef>
            </a:pPr>
            <a:r>
              <a:rPr sz="2600" dirty="0">
                <a:latin typeface="Times New Roman"/>
                <a:cs typeface="Times New Roman"/>
              </a:rPr>
              <a:t>Regression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Test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05400" y="4496434"/>
            <a:ext cx="2590800" cy="533400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450"/>
              </a:spcBef>
            </a:pPr>
            <a:r>
              <a:rPr sz="2600" dirty="0">
                <a:latin typeface="Times New Roman"/>
                <a:cs typeface="Times New Roman"/>
              </a:rPr>
              <a:t>Report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Defects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38400" y="5487034"/>
            <a:ext cx="3200400" cy="914400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148590" marR="140970" indent="184150">
              <a:lnSpc>
                <a:spcPct val="100000"/>
              </a:lnSpc>
              <a:spcBef>
                <a:spcPts val="390"/>
              </a:spcBef>
            </a:pPr>
            <a:r>
              <a:rPr sz="2600" dirty="0">
                <a:latin typeface="Times New Roman"/>
                <a:cs typeface="Times New Roman"/>
              </a:rPr>
              <a:t>Execute </a:t>
            </a:r>
            <a:r>
              <a:rPr sz="2600" spc="-50" dirty="0">
                <a:latin typeface="Times New Roman"/>
                <a:cs typeface="Times New Roman"/>
              </a:rPr>
              <a:t>Test </a:t>
            </a:r>
            <a:r>
              <a:rPr sz="2600" spc="-5" dirty="0">
                <a:latin typeface="Times New Roman"/>
                <a:cs typeface="Times New Roman"/>
              </a:rPr>
              <a:t>Cases  </a:t>
            </a:r>
            <a:r>
              <a:rPr sz="2600" dirty="0">
                <a:latin typeface="Times New Roman"/>
                <a:cs typeface="Times New Roman"/>
              </a:rPr>
              <a:t>( manual </a:t>
            </a:r>
            <a:r>
              <a:rPr sz="2600" spc="-5" dirty="0">
                <a:latin typeface="Times New Roman"/>
                <a:cs typeface="Times New Roman"/>
              </a:rPr>
              <a:t>/automated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5800" y="4267834"/>
            <a:ext cx="2895600" cy="533400"/>
          </a:xfrm>
          <a:prstGeom prst="rect">
            <a:avLst/>
          </a:prstGeom>
          <a:solidFill>
            <a:srgbClr val="FFFFFF"/>
          </a:solidFill>
          <a:ln w="34290">
            <a:solidFill>
              <a:srgbClr val="8DC664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450"/>
              </a:spcBef>
            </a:pPr>
            <a:r>
              <a:rPr sz="2600" spc="-5" dirty="0">
                <a:latin typeface="Times New Roman"/>
                <a:cs typeface="Times New Roman"/>
              </a:rPr>
              <a:t>Design </a:t>
            </a:r>
            <a:r>
              <a:rPr sz="2600" spc="-50" dirty="0">
                <a:latin typeface="Times New Roman"/>
                <a:cs typeface="Times New Roman"/>
              </a:rPr>
              <a:t>Test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Cases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1000" y="2896235"/>
            <a:ext cx="1676400" cy="533400"/>
          </a:xfrm>
          <a:prstGeom prst="rect">
            <a:avLst/>
          </a:prstGeom>
          <a:ln w="34289">
            <a:solidFill>
              <a:srgbClr val="8DC664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445"/>
              </a:spcBef>
            </a:pPr>
            <a:r>
              <a:rPr sz="2600" spc="-45" dirty="0">
                <a:latin typeface="Times New Roman"/>
                <a:cs typeface="Times New Roman"/>
              </a:rPr>
              <a:t>Test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Plan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2478404" y="0"/>
            <a:ext cx="4280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0" dirty="0"/>
              <a:t>Testing </a:t>
            </a:r>
            <a:r>
              <a:rPr sz="4800" spc="-370" dirty="0"/>
              <a:t>Life</a:t>
            </a:r>
            <a:r>
              <a:rPr sz="4800" spc="-135" dirty="0"/>
              <a:t> </a:t>
            </a:r>
            <a:r>
              <a:rPr sz="4800" spc="-500" dirty="0"/>
              <a:t>Cycle</a:t>
            </a:r>
            <a:endParaRPr sz="4800"/>
          </a:p>
        </p:txBody>
      </p:sp>
      <p:sp>
        <p:nvSpPr>
          <p:cNvPr id="26" name="object 26"/>
          <p:cNvSpPr/>
          <p:nvPr/>
        </p:nvSpPr>
        <p:spPr>
          <a:xfrm>
            <a:off x="2667000" y="2853689"/>
            <a:ext cx="762000" cy="1296670"/>
          </a:xfrm>
          <a:custGeom>
            <a:avLst/>
            <a:gdLst/>
            <a:ahLst/>
            <a:cxnLst/>
            <a:rect l="l" t="t" r="r" b="b"/>
            <a:pathLst>
              <a:path w="762000" h="1296670">
                <a:moveTo>
                  <a:pt x="0" y="0"/>
                </a:moveTo>
                <a:lnTo>
                  <a:pt x="0" y="411480"/>
                </a:lnTo>
                <a:lnTo>
                  <a:pt x="1676" y="459371"/>
                </a:lnTo>
                <a:lnTo>
                  <a:pt x="6647" y="506591"/>
                </a:lnTo>
                <a:lnTo>
                  <a:pt x="14821" y="553020"/>
                </a:lnTo>
                <a:lnTo>
                  <a:pt x="26110" y="598538"/>
                </a:lnTo>
                <a:lnTo>
                  <a:pt x="40422" y="643026"/>
                </a:lnTo>
                <a:lnTo>
                  <a:pt x="57669" y="686362"/>
                </a:lnTo>
                <a:lnTo>
                  <a:pt x="77760" y="728428"/>
                </a:lnTo>
                <a:lnTo>
                  <a:pt x="100606" y="769103"/>
                </a:lnTo>
                <a:lnTo>
                  <a:pt x="126116" y="808268"/>
                </a:lnTo>
                <a:lnTo>
                  <a:pt x="154201" y="845801"/>
                </a:lnTo>
                <a:lnTo>
                  <a:pt x="184771" y="881584"/>
                </a:lnTo>
                <a:lnTo>
                  <a:pt x="217736" y="915496"/>
                </a:lnTo>
                <a:lnTo>
                  <a:pt x="253006" y="947417"/>
                </a:lnTo>
                <a:lnTo>
                  <a:pt x="290491" y="977228"/>
                </a:lnTo>
                <a:lnTo>
                  <a:pt x="330101" y="1004808"/>
                </a:lnTo>
                <a:lnTo>
                  <a:pt x="371747" y="1030037"/>
                </a:lnTo>
                <a:lnTo>
                  <a:pt x="415339" y="1052796"/>
                </a:lnTo>
                <a:lnTo>
                  <a:pt x="460786" y="1072964"/>
                </a:lnTo>
                <a:lnTo>
                  <a:pt x="508000" y="1090422"/>
                </a:lnTo>
                <a:lnTo>
                  <a:pt x="508000" y="1296162"/>
                </a:lnTo>
                <a:lnTo>
                  <a:pt x="762000" y="925830"/>
                </a:lnTo>
                <a:lnTo>
                  <a:pt x="623454" y="678942"/>
                </a:lnTo>
                <a:lnTo>
                  <a:pt x="508000" y="678942"/>
                </a:lnTo>
                <a:lnTo>
                  <a:pt x="460786" y="661484"/>
                </a:lnTo>
                <a:lnTo>
                  <a:pt x="415339" y="641316"/>
                </a:lnTo>
                <a:lnTo>
                  <a:pt x="371747" y="618557"/>
                </a:lnTo>
                <a:lnTo>
                  <a:pt x="330101" y="593328"/>
                </a:lnTo>
                <a:lnTo>
                  <a:pt x="290491" y="565748"/>
                </a:lnTo>
                <a:lnTo>
                  <a:pt x="253006" y="535937"/>
                </a:lnTo>
                <a:lnTo>
                  <a:pt x="217736" y="504016"/>
                </a:lnTo>
                <a:lnTo>
                  <a:pt x="184771" y="470104"/>
                </a:lnTo>
                <a:lnTo>
                  <a:pt x="154201" y="434321"/>
                </a:lnTo>
                <a:lnTo>
                  <a:pt x="126116" y="396788"/>
                </a:lnTo>
                <a:lnTo>
                  <a:pt x="100606" y="357623"/>
                </a:lnTo>
                <a:lnTo>
                  <a:pt x="77760" y="316948"/>
                </a:lnTo>
                <a:lnTo>
                  <a:pt x="57669" y="274882"/>
                </a:lnTo>
                <a:lnTo>
                  <a:pt x="40422" y="231546"/>
                </a:lnTo>
                <a:lnTo>
                  <a:pt x="26110" y="187058"/>
                </a:lnTo>
                <a:lnTo>
                  <a:pt x="14821" y="141540"/>
                </a:lnTo>
                <a:lnTo>
                  <a:pt x="6647" y="95111"/>
                </a:lnTo>
                <a:lnTo>
                  <a:pt x="1676" y="47891"/>
                </a:lnTo>
                <a:lnTo>
                  <a:pt x="0" y="0"/>
                </a:lnTo>
                <a:close/>
              </a:path>
              <a:path w="762000" h="1296670">
                <a:moveTo>
                  <a:pt x="508000" y="473201"/>
                </a:moveTo>
                <a:lnTo>
                  <a:pt x="508000" y="678942"/>
                </a:lnTo>
                <a:lnTo>
                  <a:pt x="623454" y="678942"/>
                </a:lnTo>
                <a:lnTo>
                  <a:pt x="508000" y="473201"/>
                </a:lnTo>
                <a:close/>
              </a:path>
            </a:pathLst>
          </a:custGeom>
          <a:solidFill>
            <a:srgbClr val="99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67152" y="2133600"/>
            <a:ext cx="762000" cy="925830"/>
          </a:xfrm>
          <a:custGeom>
            <a:avLst/>
            <a:gdLst/>
            <a:ahLst/>
            <a:cxnLst/>
            <a:rect l="l" t="t" r="r" b="b"/>
            <a:pathLst>
              <a:path w="762000" h="925830">
                <a:moveTo>
                  <a:pt x="761847" y="0"/>
                </a:moveTo>
                <a:lnTo>
                  <a:pt x="706636" y="1897"/>
                </a:lnTo>
                <a:lnTo>
                  <a:pt x="651817" y="7556"/>
                </a:lnTo>
                <a:lnTo>
                  <a:pt x="597594" y="16930"/>
                </a:lnTo>
                <a:lnTo>
                  <a:pt x="544169" y="29972"/>
                </a:lnTo>
                <a:lnTo>
                  <a:pt x="496613" y="44971"/>
                </a:lnTo>
                <a:lnTo>
                  <a:pt x="450793" y="62612"/>
                </a:lnTo>
                <a:lnTo>
                  <a:pt x="406777" y="82776"/>
                </a:lnTo>
                <a:lnTo>
                  <a:pt x="364633" y="105344"/>
                </a:lnTo>
                <a:lnTo>
                  <a:pt x="324429" y="130200"/>
                </a:lnTo>
                <a:lnTo>
                  <a:pt x="286231" y="157225"/>
                </a:lnTo>
                <a:lnTo>
                  <a:pt x="250107" y="186300"/>
                </a:lnTo>
                <a:lnTo>
                  <a:pt x="216126" y="217309"/>
                </a:lnTo>
                <a:lnTo>
                  <a:pt x="184353" y="250132"/>
                </a:lnTo>
                <a:lnTo>
                  <a:pt x="154858" y="284652"/>
                </a:lnTo>
                <a:lnTo>
                  <a:pt x="127708" y="320751"/>
                </a:lnTo>
                <a:lnTo>
                  <a:pt x="102969" y="358311"/>
                </a:lnTo>
                <a:lnTo>
                  <a:pt x="80710" y="397214"/>
                </a:lnTo>
                <a:lnTo>
                  <a:pt x="60998" y="437342"/>
                </a:lnTo>
                <a:lnTo>
                  <a:pt x="43901" y="478576"/>
                </a:lnTo>
                <a:lnTo>
                  <a:pt x="29486" y="520799"/>
                </a:lnTo>
                <a:lnTo>
                  <a:pt x="17821" y="563893"/>
                </a:lnTo>
                <a:lnTo>
                  <a:pt x="8973" y="607740"/>
                </a:lnTo>
                <a:lnTo>
                  <a:pt x="3010" y="652221"/>
                </a:lnTo>
                <a:lnTo>
                  <a:pt x="0" y="697219"/>
                </a:lnTo>
                <a:lnTo>
                  <a:pt x="9" y="742616"/>
                </a:lnTo>
                <a:lnTo>
                  <a:pt x="3106" y="788293"/>
                </a:lnTo>
                <a:lnTo>
                  <a:pt x="9358" y="834134"/>
                </a:lnTo>
                <a:lnTo>
                  <a:pt x="18832" y="880018"/>
                </a:lnTo>
                <a:lnTo>
                  <a:pt x="31597" y="925829"/>
                </a:lnTo>
                <a:lnTo>
                  <a:pt x="47523" y="880787"/>
                </a:lnTo>
                <a:lnTo>
                  <a:pt x="66340" y="837269"/>
                </a:lnTo>
                <a:lnTo>
                  <a:pt x="87927" y="795361"/>
                </a:lnTo>
                <a:lnTo>
                  <a:pt x="112164" y="755148"/>
                </a:lnTo>
                <a:lnTo>
                  <a:pt x="138930" y="716714"/>
                </a:lnTo>
                <a:lnTo>
                  <a:pt x="168104" y="680145"/>
                </a:lnTo>
                <a:lnTo>
                  <a:pt x="199567" y="645525"/>
                </a:lnTo>
                <a:lnTo>
                  <a:pt x="233196" y="612940"/>
                </a:lnTo>
                <a:lnTo>
                  <a:pt x="268871" y="582474"/>
                </a:lnTo>
                <a:lnTo>
                  <a:pt x="306473" y="554212"/>
                </a:lnTo>
                <a:lnTo>
                  <a:pt x="345879" y="528238"/>
                </a:lnTo>
                <a:lnTo>
                  <a:pt x="386970" y="504639"/>
                </a:lnTo>
                <a:lnTo>
                  <a:pt x="429624" y="483498"/>
                </a:lnTo>
                <a:lnTo>
                  <a:pt x="473721" y="464900"/>
                </a:lnTo>
                <a:lnTo>
                  <a:pt x="519140" y="448931"/>
                </a:lnTo>
                <a:lnTo>
                  <a:pt x="565761" y="435675"/>
                </a:lnTo>
                <a:lnTo>
                  <a:pt x="613463" y="425217"/>
                </a:lnTo>
                <a:lnTo>
                  <a:pt x="662125" y="417641"/>
                </a:lnTo>
                <a:lnTo>
                  <a:pt x="711627" y="413034"/>
                </a:lnTo>
                <a:lnTo>
                  <a:pt x="761847" y="411479"/>
                </a:lnTo>
                <a:lnTo>
                  <a:pt x="761847" y="0"/>
                </a:lnTo>
                <a:close/>
              </a:path>
            </a:pathLst>
          </a:custGeom>
          <a:solidFill>
            <a:srgbClr val="7ACD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67000" y="2133600"/>
            <a:ext cx="762000" cy="2016760"/>
          </a:xfrm>
          <a:custGeom>
            <a:avLst/>
            <a:gdLst/>
            <a:ahLst/>
            <a:cxnLst/>
            <a:rect l="l" t="t" r="r" b="b"/>
            <a:pathLst>
              <a:path w="762000" h="2016760">
                <a:moveTo>
                  <a:pt x="0" y="720089"/>
                </a:moveTo>
                <a:lnTo>
                  <a:pt x="1676" y="767981"/>
                </a:lnTo>
                <a:lnTo>
                  <a:pt x="6647" y="815201"/>
                </a:lnTo>
                <a:lnTo>
                  <a:pt x="14821" y="861630"/>
                </a:lnTo>
                <a:lnTo>
                  <a:pt x="26110" y="907148"/>
                </a:lnTo>
                <a:lnTo>
                  <a:pt x="40422" y="951636"/>
                </a:lnTo>
                <a:lnTo>
                  <a:pt x="57669" y="994972"/>
                </a:lnTo>
                <a:lnTo>
                  <a:pt x="77760" y="1037038"/>
                </a:lnTo>
                <a:lnTo>
                  <a:pt x="100606" y="1077713"/>
                </a:lnTo>
                <a:lnTo>
                  <a:pt x="126116" y="1116878"/>
                </a:lnTo>
                <a:lnTo>
                  <a:pt x="154201" y="1154411"/>
                </a:lnTo>
                <a:lnTo>
                  <a:pt x="184771" y="1190194"/>
                </a:lnTo>
                <a:lnTo>
                  <a:pt x="217736" y="1224106"/>
                </a:lnTo>
                <a:lnTo>
                  <a:pt x="253006" y="1256027"/>
                </a:lnTo>
                <a:lnTo>
                  <a:pt x="290491" y="1285838"/>
                </a:lnTo>
                <a:lnTo>
                  <a:pt x="330101" y="1313418"/>
                </a:lnTo>
                <a:lnTo>
                  <a:pt x="371747" y="1338647"/>
                </a:lnTo>
                <a:lnTo>
                  <a:pt x="415339" y="1361406"/>
                </a:lnTo>
                <a:lnTo>
                  <a:pt x="460786" y="1381574"/>
                </a:lnTo>
                <a:lnTo>
                  <a:pt x="508000" y="1399032"/>
                </a:lnTo>
                <a:lnTo>
                  <a:pt x="508000" y="1193291"/>
                </a:lnTo>
                <a:lnTo>
                  <a:pt x="762000" y="1645920"/>
                </a:lnTo>
                <a:lnTo>
                  <a:pt x="508000" y="2016252"/>
                </a:lnTo>
                <a:lnTo>
                  <a:pt x="508000" y="1810512"/>
                </a:lnTo>
                <a:lnTo>
                  <a:pt x="460786" y="1793054"/>
                </a:lnTo>
                <a:lnTo>
                  <a:pt x="415339" y="1772886"/>
                </a:lnTo>
                <a:lnTo>
                  <a:pt x="371747" y="1750127"/>
                </a:lnTo>
                <a:lnTo>
                  <a:pt x="330101" y="1724898"/>
                </a:lnTo>
                <a:lnTo>
                  <a:pt x="290491" y="1697318"/>
                </a:lnTo>
                <a:lnTo>
                  <a:pt x="253006" y="1667507"/>
                </a:lnTo>
                <a:lnTo>
                  <a:pt x="217736" y="1635586"/>
                </a:lnTo>
                <a:lnTo>
                  <a:pt x="184771" y="1601674"/>
                </a:lnTo>
                <a:lnTo>
                  <a:pt x="154201" y="1565891"/>
                </a:lnTo>
                <a:lnTo>
                  <a:pt x="126116" y="1528358"/>
                </a:lnTo>
                <a:lnTo>
                  <a:pt x="100606" y="1489193"/>
                </a:lnTo>
                <a:lnTo>
                  <a:pt x="77760" y="1448518"/>
                </a:lnTo>
                <a:lnTo>
                  <a:pt x="57669" y="1406452"/>
                </a:lnTo>
                <a:lnTo>
                  <a:pt x="40422" y="1363116"/>
                </a:lnTo>
                <a:lnTo>
                  <a:pt x="26110" y="1318628"/>
                </a:lnTo>
                <a:lnTo>
                  <a:pt x="14821" y="1273110"/>
                </a:lnTo>
                <a:lnTo>
                  <a:pt x="6647" y="1226681"/>
                </a:lnTo>
                <a:lnTo>
                  <a:pt x="1676" y="1179461"/>
                </a:lnTo>
                <a:lnTo>
                  <a:pt x="0" y="1131570"/>
                </a:lnTo>
                <a:lnTo>
                  <a:pt x="0" y="720089"/>
                </a:lnTo>
                <a:lnTo>
                  <a:pt x="1620" y="672750"/>
                </a:lnTo>
                <a:lnTo>
                  <a:pt x="6415" y="626227"/>
                </a:lnTo>
                <a:lnTo>
                  <a:pt x="14284" y="580615"/>
                </a:lnTo>
                <a:lnTo>
                  <a:pt x="25127" y="536011"/>
                </a:lnTo>
                <a:lnTo>
                  <a:pt x="38843" y="492508"/>
                </a:lnTo>
                <a:lnTo>
                  <a:pt x="55332" y="450201"/>
                </a:lnTo>
                <a:lnTo>
                  <a:pt x="74494" y="409186"/>
                </a:lnTo>
                <a:lnTo>
                  <a:pt x="96228" y="369557"/>
                </a:lnTo>
                <a:lnTo>
                  <a:pt x="120433" y="331410"/>
                </a:lnTo>
                <a:lnTo>
                  <a:pt x="147011" y="294839"/>
                </a:lnTo>
                <a:lnTo>
                  <a:pt x="175859" y="259939"/>
                </a:lnTo>
                <a:lnTo>
                  <a:pt x="206878" y="226805"/>
                </a:lnTo>
                <a:lnTo>
                  <a:pt x="239968" y="195533"/>
                </a:lnTo>
                <a:lnTo>
                  <a:pt x="275027" y="166217"/>
                </a:lnTo>
                <a:lnTo>
                  <a:pt x="311956" y="138952"/>
                </a:lnTo>
                <a:lnTo>
                  <a:pt x="350655" y="113833"/>
                </a:lnTo>
                <a:lnTo>
                  <a:pt x="391022" y="90955"/>
                </a:lnTo>
                <a:lnTo>
                  <a:pt x="432958" y="70412"/>
                </a:lnTo>
                <a:lnTo>
                  <a:pt x="476362" y="52301"/>
                </a:lnTo>
                <a:lnTo>
                  <a:pt x="521134" y="36716"/>
                </a:lnTo>
                <a:lnTo>
                  <a:pt x="567174" y="23751"/>
                </a:lnTo>
                <a:lnTo>
                  <a:pt x="614381" y="13502"/>
                </a:lnTo>
                <a:lnTo>
                  <a:pt x="662654" y="6064"/>
                </a:lnTo>
                <a:lnTo>
                  <a:pt x="711894" y="1531"/>
                </a:lnTo>
                <a:lnTo>
                  <a:pt x="762000" y="0"/>
                </a:lnTo>
                <a:lnTo>
                  <a:pt x="762000" y="411479"/>
                </a:lnTo>
                <a:lnTo>
                  <a:pt x="711779" y="413034"/>
                </a:lnTo>
                <a:lnTo>
                  <a:pt x="662277" y="417641"/>
                </a:lnTo>
                <a:lnTo>
                  <a:pt x="613615" y="425217"/>
                </a:lnTo>
                <a:lnTo>
                  <a:pt x="565914" y="435675"/>
                </a:lnTo>
                <a:lnTo>
                  <a:pt x="519293" y="448931"/>
                </a:lnTo>
                <a:lnTo>
                  <a:pt x="473873" y="464900"/>
                </a:lnTo>
                <a:lnTo>
                  <a:pt x="429776" y="483498"/>
                </a:lnTo>
                <a:lnTo>
                  <a:pt x="387122" y="504639"/>
                </a:lnTo>
                <a:lnTo>
                  <a:pt x="346031" y="528238"/>
                </a:lnTo>
                <a:lnTo>
                  <a:pt x="306625" y="554212"/>
                </a:lnTo>
                <a:lnTo>
                  <a:pt x="269024" y="582474"/>
                </a:lnTo>
                <a:lnTo>
                  <a:pt x="233348" y="612940"/>
                </a:lnTo>
                <a:lnTo>
                  <a:pt x="199719" y="645525"/>
                </a:lnTo>
                <a:lnTo>
                  <a:pt x="168257" y="680145"/>
                </a:lnTo>
                <a:lnTo>
                  <a:pt x="139082" y="716714"/>
                </a:lnTo>
                <a:lnTo>
                  <a:pt x="112316" y="755148"/>
                </a:lnTo>
                <a:lnTo>
                  <a:pt x="88079" y="795361"/>
                </a:lnTo>
                <a:lnTo>
                  <a:pt x="66492" y="837269"/>
                </a:lnTo>
                <a:lnTo>
                  <a:pt x="47675" y="880787"/>
                </a:lnTo>
                <a:lnTo>
                  <a:pt x="31750" y="925829"/>
                </a:lnTo>
              </a:path>
            </a:pathLst>
          </a:custGeom>
          <a:ln w="38100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00200" y="1351407"/>
            <a:ext cx="401320" cy="401320"/>
          </a:xfrm>
          <a:custGeom>
            <a:avLst/>
            <a:gdLst/>
            <a:ahLst/>
            <a:cxnLst/>
            <a:rect l="l" t="t" r="r" b="b"/>
            <a:pathLst>
              <a:path w="401319" h="401319">
                <a:moveTo>
                  <a:pt x="60579" y="219328"/>
                </a:moveTo>
                <a:lnTo>
                  <a:pt x="0" y="401192"/>
                </a:lnTo>
                <a:lnTo>
                  <a:pt x="181863" y="340613"/>
                </a:lnTo>
                <a:lnTo>
                  <a:pt x="161670" y="320420"/>
                </a:lnTo>
                <a:lnTo>
                  <a:pt x="121285" y="320420"/>
                </a:lnTo>
                <a:lnTo>
                  <a:pt x="80772" y="279907"/>
                </a:lnTo>
                <a:lnTo>
                  <a:pt x="100969" y="259719"/>
                </a:lnTo>
                <a:lnTo>
                  <a:pt x="60579" y="219328"/>
                </a:lnTo>
                <a:close/>
              </a:path>
              <a:path w="401319" h="401319">
                <a:moveTo>
                  <a:pt x="100969" y="259719"/>
                </a:moveTo>
                <a:lnTo>
                  <a:pt x="80772" y="279907"/>
                </a:lnTo>
                <a:lnTo>
                  <a:pt x="121285" y="320420"/>
                </a:lnTo>
                <a:lnTo>
                  <a:pt x="141473" y="300223"/>
                </a:lnTo>
                <a:lnTo>
                  <a:pt x="100969" y="259719"/>
                </a:lnTo>
                <a:close/>
              </a:path>
              <a:path w="401319" h="401319">
                <a:moveTo>
                  <a:pt x="141473" y="300223"/>
                </a:moveTo>
                <a:lnTo>
                  <a:pt x="121285" y="320420"/>
                </a:lnTo>
                <a:lnTo>
                  <a:pt x="161670" y="320420"/>
                </a:lnTo>
                <a:lnTo>
                  <a:pt x="141473" y="300223"/>
                </a:lnTo>
                <a:close/>
              </a:path>
              <a:path w="401319" h="401319">
                <a:moveTo>
                  <a:pt x="360806" y="0"/>
                </a:moveTo>
                <a:lnTo>
                  <a:pt x="100969" y="259719"/>
                </a:lnTo>
                <a:lnTo>
                  <a:pt x="141473" y="300223"/>
                </a:lnTo>
                <a:lnTo>
                  <a:pt x="401193" y="40385"/>
                </a:lnTo>
                <a:lnTo>
                  <a:pt x="360806" y="0"/>
                </a:lnTo>
                <a:close/>
              </a:path>
            </a:pathLst>
          </a:custGeom>
          <a:solidFill>
            <a:srgbClr val="AA8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90600" y="2346325"/>
            <a:ext cx="328930" cy="473075"/>
          </a:xfrm>
          <a:custGeom>
            <a:avLst/>
            <a:gdLst/>
            <a:ahLst/>
            <a:cxnLst/>
            <a:rect l="l" t="t" r="r" b="b"/>
            <a:pathLst>
              <a:path w="328930" h="473075">
                <a:moveTo>
                  <a:pt x="23774" y="282828"/>
                </a:moveTo>
                <a:lnTo>
                  <a:pt x="0" y="473075"/>
                </a:lnTo>
                <a:lnTo>
                  <a:pt x="166433" y="377951"/>
                </a:lnTo>
                <a:lnTo>
                  <a:pt x="154624" y="370077"/>
                </a:lnTo>
                <a:lnTo>
                  <a:pt x="103022" y="370077"/>
                </a:lnTo>
                <a:lnTo>
                  <a:pt x="55473" y="338327"/>
                </a:lnTo>
                <a:lnTo>
                  <a:pt x="71333" y="314540"/>
                </a:lnTo>
                <a:lnTo>
                  <a:pt x="23774" y="282828"/>
                </a:lnTo>
                <a:close/>
              </a:path>
              <a:path w="328930" h="473075">
                <a:moveTo>
                  <a:pt x="71333" y="314540"/>
                </a:moveTo>
                <a:lnTo>
                  <a:pt x="55473" y="338327"/>
                </a:lnTo>
                <a:lnTo>
                  <a:pt x="103022" y="370077"/>
                </a:lnTo>
                <a:lnTo>
                  <a:pt x="118900" y="346257"/>
                </a:lnTo>
                <a:lnTo>
                  <a:pt x="71333" y="314540"/>
                </a:lnTo>
                <a:close/>
              </a:path>
              <a:path w="328930" h="473075">
                <a:moveTo>
                  <a:pt x="118900" y="346257"/>
                </a:moveTo>
                <a:lnTo>
                  <a:pt x="103022" y="370077"/>
                </a:lnTo>
                <a:lnTo>
                  <a:pt x="154624" y="370077"/>
                </a:lnTo>
                <a:lnTo>
                  <a:pt x="118900" y="346257"/>
                </a:lnTo>
                <a:close/>
              </a:path>
              <a:path w="328930" h="473075">
                <a:moveTo>
                  <a:pt x="281050" y="0"/>
                </a:moveTo>
                <a:lnTo>
                  <a:pt x="71333" y="314540"/>
                </a:lnTo>
                <a:lnTo>
                  <a:pt x="118900" y="346257"/>
                </a:lnTo>
                <a:lnTo>
                  <a:pt x="328549" y="31750"/>
                </a:lnTo>
                <a:lnTo>
                  <a:pt x="281050" y="0"/>
                </a:lnTo>
                <a:close/>
              </a:path>
            </a:pathLst>
          </a:custGeom>
          <a:solidFill>
            <a:srgbClr val="AA8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64488" y="3493642"/>
            <a:ext cx="339725" cy="697865"/>
          </a:xfrm>
          <a:custGeom>
            <a:avLst/>
            <a:gdLst/>
            <a:ahLst/>
            <a:cxnLst/>
            <a:rect l="l" t="t" r="r" b="b"/>
            <a:pathLst>
              <a:path w="339725" h="697864">
                <a:moveTo>
                  <a:pt x="235168" y="552246"/>
                </a:moveTo>
                <a:lnTo>
                  <a:pt x="182943" y="575437"/>
                </a:lnTo>
                <a:lnTo>
                  <a:pt x="330911" y="697357"/>
                </a:lnTo>
                <a:lnTo>
                  <a:pt x="336356" y="578358"/>
                </a:lnTo>
                <a:lnTo>
                  <a:pt x="246773" y="578358"/>
                </a:lnTo>
                <a:lnTo>
                  <a:pt x="235168" y="552246"/>
                </a:lnTo>
                <a:close/>
              </a:path>
              <a:path w="339725" h="697864">
                <a:moveTo>
                  <a:pt x="287363" y="529069"/>
                </a:moveTo>
                <a:lnTo>
                  <a:pt x="235168" y="552246"/>
                </a:lnTo>
                <a:lnTo>
                  <a:pt x="246773" y="578358"/>
                </a:lnTo>
                <a:lnTo>
                  <a:pt x="298996" y="555244"/>
                </a:lnTo>
                <a:lnTo>
                  <a:pt x="287363" y="529069"/>
                </a:lnTo>
                <a:close/>
              </a:path>
              <a:path w="339725" h="697864">
                <a:moveTo>
                  <a:pt x="339674" y="505841"/>
                </a:moveTo>
                <a:lnTo>
                  <a:pt x="287363" y="529069"/>
                </a:lnTo>
                <a:lnTo>
                  <a:pt x="298996" y="555244"/>
                </a:lnTo>
                <a:lnTo>
                  <a:pt x="246773" y="578358"/>
                </a:lnTo>
                <a:lnTo>
                  <a:pt x="336356" y="578358"/>
                </a:lnTo>
                <a:lnTo>
                  <a:pt x="339674" y="505841"/>
                </a:lnTo>
                <a:close/>
              </a:path>
              <a:path w="339725" h="697864">
                <a:moveTo>
                  <a:pt x="52222" y="0"/>
                </a:moveTo>
                <a:lnTo>
                  <a:pt x="0" y="23114"/>
                </a:lnTo>
                <a:lnTo>
                  <a:pt x="235168" y="552246"/>
                </a:lnTo>
                <a:lnTo>
                  <a:pt x="287363" y="529069"/>
                </a:lnTo>
                <a:lnTo>
                  <a:pt x="52222" y="0"/>
                </a:lnTo>
                <a:close/>
              </a:path>
            </a:pathLst>
          </a:custGeom>
          <a:solidFill>
            <a:srgbClr val="AA8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196973" y="4851272"/>
            <a:ext cx="1080135" cy="559435"/>
          </a:xfrm>
          <a:custGeom>
            <a:avLst/>
            <a:gdLst/>
            <a:ahLst/>
            <a:cxnLst/>
            <a:rect l="l" t="t" r="r" b="b"/>
            <a:pathLst>
              <a:path w="1080135" h="559435">
                <a:moveTo>
                  <a:pt x="913519" y="507813"/>
                </a:moveTo>
                <a:lnTo>
                  <a:pt x="887983" y="558926"/>
                </a:lnTo>
                <a:lnTo>
                  <a:pt x="1079627" y="558926"/>
                </a:lnTo>
                <a:lnTo>
                  <a:pt x="1050837" y="520572"/>
                </a:lnTo>
                <a:lnTo>
                  <a:pt x="939038" y="520572"/>
                </a:lnTo>
                <a:lnTo>
                  <a:pt x="913519" y="507813"/>
                </a:lnTo>
                <a:close/>
              </a:path>
              <a:path w="1080135" h="559435">
                <a:moveTo>
                  <a:pt x="939030" y="456749"/>
                </a:moveTo>
                <a:lnTo>
                  <a:pt x="913519" y="507813"/>
                </a:lnTo>
                <a:lnTo>
                  <a:pt x="939038" y="520572"/>
                </a:lnTo>
                <a:lnTo>
                  <a:pt x="964564" y="469518"/>
                </a:lnTo>
                <a:lnTo>
                  <a:pt x="939030" y="456749"/>
                </a:lnTo>
                <a:close/>
              </a:path>
              <a:path w="1080135" h="559435">
                <a:moveTo>
                  <a:pt x="964564" y="405638"/>
                </a:moveTo>
                <a:lnTo>
                  <a:pt x="939030" y="456749"/>
                </a:lnTo>
                <a:lnTo>
                  <a:pt x="964564" y="469518"/>
                </a:lnTo>
                <a:lnTo>
                  <a:pt x="939038" y="520572"/>
                </a:lnTo>
                <a:lnTo>
                  <a:pt x="1050837" y="520572"/>
                </a:lnTo>
                <a:lnTo>
                  <a:pt x="964564" y="405638"/>
                </a:lnTo>
                <a:close/>
              </a:path>
              <a:path w="1080135" h="559435">
                <a:moveTo>
                  <a:pt x="25653" y="0"/>
                </a:moveTo>
                <a:lnTo>
                  <a:pt x="0" y="51053"/>
                </a:lnTo>
                <a:lnTo>
                  <a:pt x="913519" y="507813"/>
                </a:lnTo>
                <a:lnTo>
                  <a:pt x="939030" y="456749"/>
                </a:lnTo>
                <a:lnTo>
                  <a:pt x="25653" y="0"/>
                </a:lnTo>
                <a:close/>
              </a:path>
            </a:pathLst>
          </a:custGeom>
          <a:solidFill>
            <a:srgbClr val="AA8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75325" y="5105400"/>
            <a:ext cx="930275" cy="633730"/>
          </a:xfrm>
          <a:custGeom>
            <a:avLst/>
            <a:gdLst/>
            <a:ahLst/>
            <a:cxnLst/>
            <a:rect l="l" t="t" r="r" b="b"/>
            <a:pathLst>
              <a:path w="930275" h="633729">
                <a:moveTo>
                  <a:pt x="771768" y="71337"/>
                </a:moveTo>
                <a:lnTo>
                  <a:pt x="0" y="585825"/>
                </a:lnTo>
                <a:lnTo>
                  <a:pt x="31750" y="633374"/>
                </a:lnTo>
                <a:lnTo>
                  <a:pt x="803470" y="118869"/>
                </a:lnTo>
                <a:lnTo>
                  <a:pt x="771768" y="71337"/>
                </a:lnTo>
                <a:close/>
              </a:path>
              <a:path w="930275" h="633729">
                <a:moveTo>
                  <a:pt x="898543" y="55499"/>
                </a:moveTo>
                <a:lnTo>
                  <a:pt x="795527" y="55499"/>
                </a:lnTo>
                <a:lnTo>
                  <a:pt x="827277" y="102997"/>
                </a:lnTo>
                <a:lnTo>
                  <a:pt x="803470" y="118869"/>
                </a:lnTo>
                <a:lnTo>
                  <a:pt x="835151" y="166369"/>
                </a:lnTo>
                <a:lnTo>
                  <a:pt x="898543" y="55499"/>
                </a:lnTo>
                <a:close/>
              </a:path>
              <a:path w="930275" h="633729">
                <a:moveTo>
                  <a:pt x="795527" y="55499"/>
                </a:moveTo>
                <a:lnTo>
                  <a:pt x="771768" y="71337"/>
                </a:lnTo>
                <a:lnTo>
                  <a:pt x="803470" y="118869"/>
                </a:lnTo>
                <a:lnTo>
                  <a:pt x="827277" y="102997"/>
                </a:lnTo>
                <a:lnTo>
                  <a:pt x="795527" y="55499"/>
                </a:lnTo>
                <a:close/>
              </a:path>
              <a:path w="930275" h="633729">
                <a:moveTo>
                  <a:pt x="930275" y="0"/>
                </a:moveTo>
                <a:lnTo>
                  <a:pt x="740028" y="23749"/>
                </a:lnTo>
                <a:lnTo>
                  <a:pt x="771768" y="71337"/>
                </a:lnTo>
                <a:lnTo>
                  <a:pt x="795527" y="55499"/>
                </a:lnTo>
                <a:lnTo>
                  <a:pt x="898543" y="55499"/>
                </a:lnTo>
                <a:lnTo>
                  <a:pt x="930275" y="0"/>
                </a:lnTo>
                <a:close/>
              </a:path>
            </a:pathLst>
          </a:custGeom>
          <a:solidFill>
            <a:srgbClr val="AA8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36510" y="3962400"/>
            <a:ext cx="266700" cy="544830"/>
          </a:xfrm>
          <a:custGeom>
            <a:avLst/>
            <a:gdLst/>
            <a:ahLst/>
            <a:cxnLst/>
            <a:rect l="l" t="t" r="r" b="b"/>
            <a:pathLst>
              <a:path w="266700" h="544829">
                <a:moveTo>
                  <a:pt x="161063" y="146321"/>
                </a:moveTo>
                <a:lnTo>
                  <a:pt x="0" y="522097"/>
                </a:lnTo>
                <a:lnTo>
                  <a:pt x="52578" y="544702"/>
                </a:lnTo>
                <a:lnTo>
                  <a:pt x="213665" y="168871"/>
                </a:lnTo>
                <a:lnTo>
                  <a:pt x="161063" y="146321"/>
                </a:lnTo>
                <a:close/>
              </a:path>
              <a:path w="266700" h="544829">
                <a:moveTo>
                  <a:pt x="261976" y="120014"/>
                </a:moveTo>
                <a:lnTo>
                  <a:pt x="172339" y="120014"/>
                </a:lnTo>
                <a:lnTo>
                  <a:pt x="224917" y="142620"/>
                </a:lnTo>
                <a:lnTo>
                  <a:pt x="213665" y="168871"/>
                </a:lnTo>
                <a:lnTo>
                  <a:pt x="266192" y="191388"/>
                </a:lnTo>
                <a:lnTo>
                  <a:pt x="261976" y="120014"/>
                </a:lnTo>
                <a:close/>
              </a:path>
              <a:path w="266700" h="544829">
                <a:moveTo>
                  <a:pt x="172339" y="120014"/>
                </a:moveTo>
                <a:lnTo>
                  <a:pt x="161063" y="146321"/>
                </a:lnTo>
                <a:lnTo>
                  <a:pt x="213665" y="168871"/>
                </a:lnTo>
                <a:lnTo>
                  <a:pt x="224917" y="142620"/>
                </a:lnTo>
                <a:lnTo>
                  <a:pt x="172339" y="120014"/>
                </a:lnTo>
                <a:close/>
              </a:path>
              <a:path w="266700" h="544829">
                <a:moveTo>
                  <a:pt x="254889" y="0"/>
                </a:moveTo>
                <a:lnTo>
                  <a:pt x="108585" y="123825"/>
                </a:lnTo>
                <a:lnTo>
                  <a:pt x="161063" y="146321"/>
                </a:lnTo>
                <a:lnTo>
                  <a:pt x="172339" y="120014"/>
                </a:lnTo>
                <a:lnTo>
                  <a:pt x="261976" y="120014"/>
                </a:lnTo>
                <a:lnTo>
                  <a:pt x="254889" y="0"/>
                </a:lnTo>
                <a:close/>
              </a:path>
            </a:pathLst>
          </a:custGeom>
          <a:solidFill>
            <a:srgbClr val="AA8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534275" y="2971800"/>
            <a:ext cx="171450" cy="457200"/>
          </a:xfrm>
          <a:custGeom>
            <a:avLst/>
            <a:gdLst/>
            <a:ahLst/>
            <a:cxnLst/>
            <a:rect l="l" t="t" r="r" b="b"/>
            <a:pathLst>
              <a:path w="171450" h="457200">
                <a:moveTo>
                  <a:pt x="114300" y="142875"/>
                </a:moveTo>
                <a:lnTo>
                  <a:pt x="57150" y="142875"/>
                </a:lnTo>
                <a:lnTo>
                  <a:pt x="57150" y="457200"/>
                </a:lnTo>
                <a:lnTo>
                  <a:pt x="114300" y="457200"/>
                </a:lnTo>
                <a:lnTo>
                  <a:pt x="114300" y="142875"/>
                </a:lnTo>
                <a:close/>
              </a:path>
              <a:path w="171450" h="457200">
                <a:moveTo>
                  <a:pt x="85725" y="0"/>
                </a:moveTo>
                <a:lnTo>
                  <a:pt x="0" y="171450"/>
                </a:lnTo>
                <a:lnTo>
                  <a:pt x="57150" y="171450"/>
                </a:lnTo>
                <a:lnTo>
                  <a:pt x="57150" y="142875"/>
                </a:lnTo>
                <a:lnTo>
                  <a:pt x="157162" y="142875"/>
                </a:lnTo>
                <a:lnTo>
                  <a:pt x="85725" y="0"/>
                </a:lnTo>
                <a:close/>
              </a:path>
              <a:path w="171450" h="457200">
                <a:moveTo>
                  <a:pt x="157162" y="142875"/>
                </a:moveTo>
                <a:lnTo>
                  <a:pt x="114300" y="142875"/>
                </a:lnTo>
                <a:lnTo>
                  <a:pt x="114300" y="171450"/>
                </a:lnTo>
                <a:lnTo>
                  <a:pt x="171450" y="171450"/>
                </a:lnTo>
                <a:lnTo>
                  <a:pt x="157162" y="142875"/>
                </a:lnTo>
                <a:close/>
              </a:path>
            </a:pathLst>
          </a:custGeom>
          <a:solidFill>
            <a:srgbClr val="AA89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10400" y="1981200"/>
            <a:ext cx="473075" cy="328930"/>
          </a:xfrm>
          <a:custGeom>
            <a:avLst/>
            <a:gdLst/>
            <a:ahLst/>
            <a:cxnLst/>
            <a:rect l="l" t="t" r="r" b="b"/>
            <a:pathLst>
              <a:path w="473075" h="328930">
                <a:moveTo>
                  <a:pt x="158505" y="71338"/>
                </a:moveTo>
                <a:lnTo>
                  <a:pt x="126804" y="118868"/>
                </a:lnTo>
                <a:lnTo>
                  <a:pt x="441325" y="328549"/>
                </a:lnTo>
                <a:lnTo>
                  <a:pt x="473075" y="281050"/>
                </a:lnTo>
                <a:lnTo>
                  <a:pt x="158505" y="71338"/>
                </a:lnTo>
                <a:close/>
              </a:path>
              <a:path w="473075" h="328930">
                <a:moveTo>
                  <a:pt x="0" y="0"/>
                </a:moveTo>
                <a:lnTo>
                  <a:pt x="95123" y="166370"/>
                </a:lnTo>
                <a:lnTo>
                  <a:pt x="126804" y="118868"/>
                </a:lnTo>
                <a:lnTo>
                  <a:pt x="102997" y="102997"/>
                </a:lnTo>
                <a:lnTo>
                  <a:pt x="134747" y="55499"/>
                </a:lnTo>
                <a:lnTo>
                  <a:pt x="169069" y="55499"/>
                </a:lnTo>
                <a:lnTo>
                  <a:pt x="190246" y="23749"/>
                </a:lnTo>
                <a:lnTo>
                  <a:pt x="0" y="0"/>
                </a:lnTo>
                <a:close/>
              </a:path>
              <a:path w="473075" h="328930">
                <a:moveTo>
                  <a:pt x="134747" y="55499"/>
                </a:moveTo>
                <a:lnTo>
                  <a:pt x="102997" y="102997"/>
                </a:lnTo>
                <a:lnTo>
                  <a:pt x="126804" y="118868"/>
                </a:lnTo>
                <a:lnTo>
                  <a:pt x="158505" y="71338"/>
                </a:lnTo>
                <a:lnTo>
                  <a:pt x="134747" y="55499"/>
                </a:lnTo>
                <a:close/>
              </a:path>
              <a:path w="473075" h="328930">
                <a:moveTo>
                  <a:pt x="169069" y="55499"/>
                </a:moveTo>
                <a:lnTo>
                  <a:pt x="134747" y="55499"/>
                </a:lnTo>
                <a:lnTo>
                  <a:pt x="158505" y="71338"/>
                </a:lnTo>
                <a:lnTo>
                  <a:pt x="169069" y="55499"/>
                </a:lnTo>
                <a:close/>
              </a:path>
            </a:pathLst>
          </a:custGeom>
          <a:solidFill>
            <a:srgbClr val="AA891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56204" y="68580"/>
            <a:ext cx="3194304" cy="11399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551046" y="217678"/>
            <a:ext cx="22675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95" dirty="0"/>
              <a:t>Test</a:t>
            </a:r>
            <a:r>
              <a:rPr sz="4800" spc="-340" dirty="0"/>
              <a:t> </a:t>
            </a:r>
            <a:r>
              <a:rPr sz="4800" spc="-370" dirty="0"/>
              <a:t>Plan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1526794" y="1621282"/>
            <a:ext cx="6257925" cy="20268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5786120" algn="l"/>
              </a:tabLst>
            </a:pPr>
            <a:r>
              <a:rPr sz="2600" dirty="0">
                <a:latin typeface="Times New Roman"/>
                <a:cs typeface="Times New Roman"/>
              </a:rPr>
              <a:t>It is a </a:t>
            </a:r>
            <a:r>
              <a:rPr sz="2600" spc="-5" dirty="0">
                <a:latin typeface="Times New Roman"/>
                <a:cs typeface="Times New Roman"/>
              </a:rPr>
              <a:t>systematic </a:t>
            </a:r>
            <a:r>
              <a:rPr sz="2600" dirty="0">
                <a:latin typeface="Times New Roman"/>
                <a:cs typeface="Times New Roman"/>
              </a:rPr>
              <a:t>approach to </a:t>
            </a:r>
            <a:r>
              <a:rPr sz="2600" spc="-5" dirty="0">
                <a:latin typeface="Times New Roman"/>
                <a:cs typeface="Times New Roman"/>
              </a:rPr>
              <a:t>test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5" dirty="0" err="1" smtClean="0">
                <a:latin typeface="Times New Roman"/>
                <a:cs typeface="Times New Roman"/>
              </a:rPr>
              <a:t>syst</a:t>
            </a:r>
            <a:r>
              <a:rPr sz="2600" spc="-5" dirty="0">
                <a:latin typeface="Times New Roman"/>
                <a:cs typeface="Times New Roman"/>
              </a:rPr>
              <a:t>	i.e.  software. </a:t>
            </a:r>
            <a:endParaRPr lang="en-US" sz="2600" spc="-5" dirty="0" smtClean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5786120" algn="l"/>
              </a:tabLst>
            </a:pPr>
            <a:r>
              <a:rPr sz="2600" spc="5" dirty="0" smtClean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plan </a:t>
            </a:r>
            <a:r>
              <a:rPr sz="2600" spc="-5" dirty="0">
                <a:latin typeface="Times New Roman"/>
                <a:cs typeface="Times New Roman"/>
              </a:rPr>
              <a:t>typically </a:t>
            </a:r>
            <a:r>
              <a:rPr sz="2600" dirty="0">
                <a:latin typeface="Times New Roman"/>
                <a:cs typeface="Times New Roman"/>
              </a:rPr>
              <a:t>contains a</a:t>
            </a:r>
            <a:r>
              <a:rPr sz="2600" spc="-12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detailed  </a:t>
            </a:r>
            <a:r>
              <a:rPr sz="2600" dirty="0">
                <a:latin typeface="Times New Roman"/>
                <a:cs typeface="Times New Roman"/>
              </a:rPr>
              <a:t>understanding of what the eventual </a:t>
            </a:r>
            <a:r>
              <a:rPr sz="2600" spc="-5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workflow will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7435" y="507491"/>
            <a:ext cx="3128772" cy="11384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501644" y="655701"/>
            <a:ext cx="23399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95" dirty="0"/>
              <a:t>Test</a:t>
            </a:r>
            <a:r>
              <a:rPr sz="4800" spc="-335" dirty="0"/>
              <a:t> </a:t>
            </a:r>
            <a:r>
              <a:rPr sz="4800" spc="-565" dirty="0"/>
              <a:t>Case</a:t>
            </a:r>
            <a:endParaRPr sz="4800"/>
          </a:p>
        </p:txBody>
      </p:sp>
      <p:sp>
        <p:nvSpPr>
          <p:cNvPr id="10" name="object 10"/>
          <p:cNvSpPr/>
          <p:nvPr/>
        </p:nvSpPr>
        <p:spPr>
          <a:xfrm>
            <a:off x="1469136" y="3733800"/>
            <a:ext cx="178307" cy="184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69136" y="4126991"/>
            <a:ext cx="178307" cy="184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69136" y="4520184"/>
            <a:ext cx="178307" cy="184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69136" y="4913376"/>
            <a:ext cx="178307" cy="184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56689" y="2075510"/>
            <a:ext cx="6411595" cy="309943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95910" marR="5080" indent="-38100">
              <a:lnSpc>
                <a:spcPts val="2500"/>
              </a:lnSpc>
              <a:spcBef>
                <a:spcPts val="705"/>
              </a:spcBef>
            </a:pPr>
            <a:r>
              <a:rPr sz="2600" dirty="0">
                <a:latin typeface="Times New Roman"/>
                <a:cs typeface="Times New Roman"/>
              </a:rPr>
              <a:t>It is a </a:t>
            </a:r>
            <a:r>
              <a:rPr sz="2600" spc="-5" dirty="0">
                <a:latin typeface="Times New Roman"/>
                <a:cs typeface="Times New Roman"/>
              </a:rPr>
              <a:t>specific </a:t>
            </a:r>
            <a:r>
              <a:rPr sz="2600" dirty="0">
                <a:latin typeface="Times New Roman"/>
                <a:cs typeface="Times New Roman"/>
              </a:rPr>
              <a:t>procedure of </a:t>
            </a:r>
            <a:r>
              <a:rPr sz="2600" spc="-5" dirty="0">
                <a:latin typeface="Times New Roman"/>
                <a:cs typeface="Times New Roman"/>
              </a:rPr>
              <a:t>testing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particular  requirement.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ts val="3110"/>
              </a:lnSpc>
            </a:pPr>
            <a:r>
              <a:rPr sz="2600" dirty="0">
                <a:latin typeface="Times New Roman"/>
                <a:cs typeface="Times New Roman"/>
              </a:rPr>
              <a:t>It will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include:</a:t>
            </a:r>
            <a:endParaRPr sz="2600">
              <a:latin typeface="Times New Roman"/>
              <a:cs typeface="Times New Roman"/>
            </a:endParaRPr>
          </a:p>
          <a:p>
            <a:pPr marL="370840" marR="254000" indent="5715">
              <a:lnSpc>
                <a:spcPts val="3100"/>
              </a:lnSpc>
              <a:spcBef>
                <a:spcPts val="110"/>
              </a:spcBef>
            </a:pPr>
            <a:r>
              <a:rPr sz="2600" spc="-5" dirty="0">
                <a:latin typeface="Times New Roman"/>
                <a:cs typeface="Times New Roman"/>
              </a:rPr>
              <a:t>Identification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specific requirement tested  </a:t>
            </a:r>
            <a:r>
              <a:rPr sz="2600" spc="-50" dirty="0">
                <a:latin typeface="Times New Roman"/>
                <a:cs typeface="Times New Roman"/>
              </a:rPr>
              <a:t>Test </a:t>
            </a:r>
            <a:r>
              <a:rPr sz="2600" spc="-5" dirty="0">
                <a:latin typeface="Times New Roman"/>
                <a:cs typeface="Times New Roman"/>
              </a:rPr>
              <a:t>case success/failure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criteria</a:t>
            </a:r>
            <a:endParaRPr sz="2600">
              <a:latin typeface="Times New Roman"/>
              <a:cs typeface="Times New Roman"/>
            </a:endParaRPr>
          </a:p>
          <a:p>
            <a:pPr marL="376555">
              <a:lnSpc>
                <a:spcPts val="2980"/>
              </a:lnSpc>
            </a:pPr>
            <a:r>
              <a:rPr sz="2600" spc="-5" dirty="0">
                <a:latin typeface="Times New Roman"/>
                <a:cs typeface="Times New Roman"/>
              </a:rPr>
              <a:t>Specific steps </a:t>
            </a:r>
            <a:r>
              <a:rPr sz="2600" spc="-10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execute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test</a:t>
            </a:r>
            <a:endParaRPr sz="2600">
              <a:latin typeface="Times New Roman"/>
              <a:cs typeface="Times New Roman"/>
            </a:endParaRPr>
          </a:p>
          <a:p>
            <a:pPr marL="370840">
              <a:lnSpc>
                <a:spcPts val="3110"/>
              </a:lnSpc>
            </a:pPr>
            <a:r>
              <a:rPr sz="2600" spc="-50" dirty="0">
                <a:latin typeface="Times New Roman"/>
                <a:cs typeface="Times New Roman"/>
              </a:rPr>
              <a:t>Test</a:t>
            </a:r>
            <a:r>
              <a:rPr sz="2600" spc="-5" dirty="0">
                <a:latin typeface="Times New Roman"/>
                <a:cs typeface="Times New Roman"/>
              </a:rPr>
              <a:t> data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330" y="1592961"/>
            <a:ext cx="7895590" cy="218313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477520" marR="850265" indent="-464820">
              <a:lnSpc>
                <a:spcPts val="2900"/>
              </a:lnSpc>
              <a:spcBef>
                <a:spcPts val="384"/>
              </a:spcBef>
              <a:buFont typeface="Arial"/>
              <a:buChar char="•"/>
              <a:tabLst>
                <a:tab pos="476884" algn="l"/>
                <a:tab pos="477520" algn="l"/>
                <a:tab pos="2382520" algn="l"/>
              </a:tabLst>
            </a:pPr>
            <a:r>
              <a:rPr sz="2600" b="1" spc="-20" dirty="0">
                <a:latin typeface="Times New Roman"/>
                <a:cs typeface="Times New Roman"/>
              </a:rPr>
              <a:t>Verification</a:t>
            </a:r>
            <a:r>
              <a:rPr sz="2600" spc="-20" dirty="0">
                <a:latin typeface="Times New Roman"/>
                <a:cs typeface="Times New Roman"/>
              </a:rPr>
              <a:t>:	</a:t>
            </a: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should confirm to </a:t>
            </a:r>
            <a:r>
              <a:rPr sz="2600" spc="-5" dirty="0">
                <a:latin typeface="Times New Roman"/>
                <a:cs typeface="Times New Roman"/>
              </a:rPr>
              <a:t>its  specification </a:t>
            </a:r>
            <a:r>
              <a:rPr sz="2600" dirty="0">
                <a:latin typeface="Times New Roman"/>
                <a:cs typeface="Times New Roman"/>
              </a:rPr>
              <a:t>(Are we building the product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right?)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477520" marR="5080" indent="-4648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76884" algn="l"/>
                <a:tab pos="477520" algn="l"/>
              </a:tabLst>
            </a:pPr>
            <a:r>
              <a:rPr sz="2600" b="1" spc="-20" dirty="0">
                <a:latin typeface="Times New Roman"/>
                <a:cs typeface="Times New Roman"/>
              </a:rPr>
              <a:t>Validation</a:t>
            </a:r>
            <a:r>
              <a:rPr sz="2600" spc="-20" dirty="0">
                <a:latin typeface="Times New Roman"/>
                <a:cs typeface="Times New Roman"/>
              </a:rPr>
              <a:t>: </a:t>
            </a:r>
            <a:r>
              <a:rPr sz="2600" spc="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software should do what the user</a:t>
            </a:r>
            <a:r>
              <a:rPr sz="2600" spc="-21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really  </a:t>
            </a:r>
            <a:r>
              <a:rPr sz="2600" dirty="0">
                <a:latin typeface="Times New Roman"/>
                <a:cs typeface="Times New Roman"/>
              </a:rPr>
              <a:t>requires (Are we building the right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product?)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19860" y="209169"/>
            <a:ext cx="6303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75" dirty="0"/>
              <a:t>Verification </a:t>
            </a:r>
            <a:r>
              <a:rPr sz="4800" spc="-590" dirty="0"/>
              <a:t>vs</a:t>
            </a:r>
            <a:r>
              <a:rPr sz="4800" spc="-270" dirty="0"/>
              <a:t> </a:t>
            </a:r>
            <a:r>
              <a:rPr sz="4800" spc="-280" dirty="0"/>
              <a:t>Validation</a:t>
            </a:r>
            <a:endParaRPr sz="4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51660" y="313943"/>
            <a:ext cx="6662928" cy="9738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51660" y="2044064"/>
            <a:ext cx="4091940" cy="14048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 smtClean="0">
                <a:latin typeface="Times New Roman"/>
                <a:cs typeface="Times New Roman"/>
              </a:rPr>
              <a:t>1. </a:t>
            </a:r>
            <a:r>
              <a:rPr sz="2800" b="1" spc="-5" dirty="0" smtClean="0">
                <a:latin typeface="Times New Roman"/>
                <a:cs typeface="Times New Roman"/>
              </a:rPr>
              <a:t>Black </a:t>
            </a:r>
            <a:r>
              <a:rPr sz="2800" b="1" dirty="0">
                <a:latin typeface="Times New Roman"/>
                <a:cs typeface="Times New Roman"/>
              </a:rPr>
              <a:t>box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testing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3000" b="1" spc="-5" dirty="0" smtClean="0">
                <a:latin typeface="Times New Roman"/>
                <a:cs typeface="Times New Roman"/>
              </a:rPr>
              <a:t>2. </a:t>
            </a:r>
            <a:r>
              <a:rPr sz="3000" b="1" spc="-5" dirty="0" smtClean="0">
                <a:latin typeface="Times New Roman"/>
                <a:cs typeface="Times New Roman"/>
              </a:rPr>
              <a:t>White </a:t>
            </a:r>
            <a:r>
              <a:rPr sz="3000" b="1" spc="-5" dirty="0">
                <a:latin typeface="Times New Roman"/>
                <a:cs typeface="Times New Roman"/>
              </a:rPr>
              <a:t>box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testing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20113" y="1117600"/>
            <a:ext cx="35769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80" dirty="0"/>
              <a:t>Black </a:t>
            </a:r>
            <a:r>
              <a:rPr sz="4000" spc="-360" dirty="0"/>
              <a:t>box</a:t>
            </a:r>
            <a:r>
              <a:rPr sz="4000" spc="-114" dirty="0"/>
              <a:t> </a:t>
            </a:r>
            <a:r>
              <a:rPr sz="4000" spc="-260" dirty="0"/>
              <a:t>testing</a:t>
            </a:r>
            <a:endParaRPr sz="4000" dirty="0"/>
          </a:p>
        </p:txBody>
      </p:sp>
      <p:sp>
        <p:nvSpPr>
          <p:cNvPr id="9" name="object 9"/>
          <p:cNvSpPr txBox="1"/>
          <p:nvPr/>
        </p:nvSpPr>
        <p:spPr>
          <a:xfrm>
            <a:off x="1420113" y="1752600"/>
            <a:ext cx="7080884" cy="50635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24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466725" algn="l"/>
                <a:tab pos="467359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method of software testing that examines the functionality of an application without peering into its internal structures or workings.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1524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466725" algn="l"/>
                <a:tab pos="467359" algn="l"/>
              </a:tabLs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of test can be applied virtually to every level of software testing: unit, integration, system and acceptance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5600" marR="1524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466725" algn="l"/>
                <a:tab pos="467359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software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method in which the internal structure/design/implementation of the item being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not known to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55600" marR="1524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466725" algn="l"/>
                <a:tab pos="467359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can be functional or non-functional, though usually functional.</a:t>
            </a:r>
          </a:p>
          <a:p>
            <a:pPr marL="355600" marR="15240" indent="-3429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466725" algn="l"/>
                <a:tab pos="467359" algn="l"/>
              </a:tabLst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15240" indent="-45720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466725" algn="l"/>
                <a:tab pos="467359" algn="l"/>
              </a:tabLst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51913" y="298145"/>
            <a:ext cx="42868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9" dirty="0"/>
              <a:t>Black </a:t>
            </a:r>
            <a:r>
              <a:rPr sz="4800" spc="-425" dirty="0"/>
              <a:t>box</a:t>
            </a:r>
            <a:r>
              <a:rPr sz="4800" spc="-110" dirty="0"/>
              <a:t> </a:t>
            </a:r>
            <a:r>
              <a:rPr sz="4800" spc="-310" dirty="0"/>
              <a:t>testing</a:t>
            </a:r>
            <a:endParaRPr sz="4800"/>
          </a:p>
        </p:txBody>
      </p:sp>
      <p:sp>
        <p:nvSpPr>
          <p:cNvPr id="9" name="object 9"/>
          <p:cNvSpPr/>
          <p:nvPr/>
        </p:nvSpPr>
        <p:spPr>
          <a:xfrm>
            <a:off x="4429125" y="4381500"/>
            <a:ext cx="800100" cy="15049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72200" y="3371850"/>
            <a:ext cx="2152650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82923" y="3690988"/>
            <a:ext cx="3152775" cy="883285"/>
          </a:xfrm>
          <a:custGeom>
            <a:avLst/>
            <a:gdLst/>
            <a:ahLst/>
            <a:cxnLst/>
            <a:rect l="l" t="t" r="r" b="b"/>
            <a:pathLst>
              <a:path w="3152775" h="883285">
                <a:moveTo>
                  <a:pt x="0" y="882662"/>
                </a:moveTo>
                <a:lnTo>
                  <a:pt x="3152775" y="882662"/>
                </a:lnTo>
                <a:lnTo>
                  <a:pt x="3152775" y="0"/>
                </a:lnTo>
                <a:lnTo>
                  <a:pt x="0" y="0"/>
                </a:lnTo>
                <a:lnTo>
                  <a:pt x="0" y="882662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0926" y="3198876"/>
            <a:ext cx="492125" cy="1374775"/>
          </a:xfrm>
          <a:custGeom>
            <a:avLst/>
            <a:gdLst/>
            <a:ahLst/>
            <a:cxnLst/>
            <a:rect l="l" t="t" r="r" b="b"/>
            <a:pathLst>
              <a:path w="492125" h="1374775">
                <a:moveTo>
                  <a:pt x="0" y="0"/>
                </a:moveTo>
                <a:lnTo>
                  <a:pt x="0" y="882650"/>
                </a:lnTo>
                <a:lnTo>
                  <a:pt x="491998" y="1374775"/>
                </a:lnTo>
                <a:lnTo>
                  <a:pt x="491998" y="491998"/>
                </a:lnTo>
                <a:lnTo>
                  <a:pt x="0" y="0"/>
                </a:lnTo>
                <a:close/>
              </a:path>
            </a:pathLst>
          </a:custGeom>
          <a:solidFill>
            <a:srgbClr val="090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90926" y="3198876"/>
            <a:ext cx="3644900" cy="492125"/>
          </a:xfrm>
          <a:custGeom>
            <a:avLst/>
            <a:gdLst/>
            <a:ahLst/>
            <a:cxnLst/>
            <a:rect l="l" t="t" r="r" b="b"/>
            <a:pathLst>
              <a:path w="3644900" h="492125">
                <a:moveTo>
                  <a:pt x="3152775" y="0"/>
                </a:moveTo>
                <a:lnTo>
                  <a:pt x="0" y="0"/>
                </a:lnTo>
                <a:lnTo>
                  <a:pt x="491998" y="491998"/>
                </a:lnTo>
                <a:lnTo>
                  <a:pt x="3644900" y="491998"/>
                </a:lnTo>
                <a:lnTo>
                  <a:pt x="3152775" y="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90926" y="3198876"/>
            <a:ext cx="3644900" cy="1374775"/>
          </a:xfrm>
          <a:custGeom>
            <a:avLst/>
            <a:gdLst/>
            <a:ahLst/>
            <a:cxnLst/>
            <a:rect l="l" t="t" r="r" b="b"/>
            <a:pathLst>
              <a:path w="3644900" h="1374775">
                <a:moveTo>
                  <a:pt x="3644900" y="491998"/>
                </a:moveTo>
                <a:lnTo>
                  <a:pt x="3152775" y="0"/>
                </a:lnTo>
                <a:lnTo>
                  <a:pt x="0" y="0"/>
                </a:lnTo>
                <a:lnTo>
                  <a:pt x="0" y="882650"/>
                </a:lnTo>
                <a:lnTo>
                  <a:pt x="491998" y="1374775"/>
                </a:lnTo>
                <a:lnTo>
                  <a:pt x="3644900" y="1374775"/>
                </a:lnTo>
                <a:lnTo>
                  <a:pt x="3644900" y="491998"/>
                </a:lnTo>
                <a:close/>
              </a:path>
            </a:pathLst>
          </a:custGeom>
          <a:ln w="38100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90926" y="3198876"/>
            <a:ext cx="3644900" cy="492125"/>
          </a:xfrm>
          <a:custGeom>
            <a:avLst/>
            <a:gdLst/>
            <a:ahLst/>
            <a:cxnLst/>
            <a:rect l="l" t="t" r="r" b="b"/>
            <a:pathLst>
              <a:path w="3644900" h="492125">
                <a:moveTo>
                  <a:pt x="3644900" y="491998"/>
                </a:moveTo>
                <a:lnTo>
                  <a:pt x="491998" y="491998"/>
                </a:lnTo>
                <a:lnTo>
                  <a:pt x="0" y="0"/>
                </a:lnTo>
              </a:path>
            </a:pathLst>
          </a:custGeom>
          <a:ln w="38100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82923" y="3690873"/>
            <a:ext cx="0" cy="883285"/>
          </a:xfrm>
          <a:custGeom>
            <a:avLst/>
            <a:gdLst/>
            <a:ahLst/>
            <a:cxnLst/>
            <a:rect l="l" t="t" r="r" b="b"/>
            <a:pathLst>
              <a:path h="883285">
                <a:moveTo>
                  <a:pt x="0" y="0"/>
                </a:moveTo>
                <a:lnTo>
                  <a:pt x="0" y="882776"/>
                </a:lnTo>
              </a:path>
            </a:pathLst>
          </a:custGeom>
          <a:ln w="38100">
            <a:solidFill>
              <a:srgbClr val="8DC6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85900" y="3371850"/>
            <a:ext cx="1847850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29125" y="1714500"/>
            <a:ext cx="800100" cy="174307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93594" y="2002358"/>
            <a:ext cx="17500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Times New Roman"/>
                <a:cs typeface="Times New Roman"/>
              </a:rPr>
              <a:t>requirements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31594" y="4136516"/>
            <a:ext cx="7061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ut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85028" y="5050916"/>
            <a:ext cx="8705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Times New Roman"/>
                <a:cs typeface="Times New Roman"/>
              </a:rPr>
              <a:t>events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6629" y="2993263"/>
            <a:ext cx="8731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o</a:t>
            </a:r>
            <a:r>
              <a:rPr sz="2600" spc="10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tp</a:t>
            </a:r>
            <a:r>
              <a:rPr sz="2600" spc="5" dirty="0">
                <a:latin typeface="Times New Roman"/>
                <a:cs typeface="Times New Roman"/>
              </a:rPr>
              <a:t>u</a:t>
            </a:r>
            <a:r>
              <a:rPr sz="2600" dirty="0">
                <a:latin typeface="Times New Roman"/>
                <a:cs typeface="Times New Roman"/>
              </a:rPr>
              <a:t>t</a:t>
            </a:r>
            <a:endParaRPr sz="2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007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1"/>
          <p:cNvSpPr txBox="1"/>
          <p:nvPr/>
        </p:nvSpPr>
        <p:spPr>
          <a:xfrm>
            <a:off x="1345428" y="2202923"/>
            <a:ext cx="6636384" cy="3639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marR="5080" indent="-4540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6725" algn="l"/>
                <a:tab pos="467359" algn="l"/>
              </a:tabLst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 a software solution's internal structure, design, and coding. In this type of testing, the code is visible to the tester.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6725" marR="5080" indent="-4540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6725" algn="l"/>
                <a:tab pos="467359" algn="l"/>
              </a:tabLst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primarily on verifying the flow of inputs and outputs through the application, improving design and usability, strengthening security.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6725" marR="5080" indent="-4540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6725" algn="l"/>
                <a:tab pos="467359" algn="l"/>
              </a:tabLst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testing is also known as Clear Box testing,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10"/>
          <p:cNvSpPr txBox="1"/>
          <p:nvPr/>
        </p:nvSpPr>
        <p:spPr>
          <a:xfrm>
            <a:off x="1374457" y="1355598"/>
            <a:ext cx="3741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65" dirty="0">
                <a:solidFill>
                  <a:srgbClr val="4A2103"/>
                </a:solidFill>
                <a:latin typeface="Arial"/>
                <a:cs typeface="Arial"/>
              </a:rPr>
              <a:t>White </a:t>
            </a:r>
            <a:r>
              <a:rPr sz="4000" b="1" spc="-355" dirty="0">
                <a:solidFill>
                  <a:srgbClr val="4A2103"/>
                </a:solidFill>
                <a:latin typeface="Arial"/>
                <a:cs typeface="Arial"/>
              </a:rPr>
              <a:t>box</a:t>
            </a:r>
            <a:r>
              <a:rPr sz="4000" b="1" spc="-330" dirty="0">
                <a:solidFill>
                  <a:srgbClr val="4A2103"/>
                </a:solidFill>
                <a:latin typeface="Arial"/>
                <a:cs typeface="Arial"/>
              </a:rPr>
              <a:t> </a:t>
            </a:r>
            <a:r>
              <a:rPr sz="4000" b="1" spc="-260" dirty="0">
                <a:solidFill>
                  <a:srgbClr val="4A2103"/>
                </a:solidFill>
                <a:latin typeface="Arial"/>
                <a:cs typeface="Arial"/>
              </a:rPr>
              <a:t>testing</a:t>
            </a:r>
            <a:endParaRPr sz="4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319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28164" y="209169"/>
            <a:ext cx="44831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90" dirty="0"/>
              <a:t>White </a:t>
            </a:r>
            <a:r>
              <a:rPr sz="4800" spc="-425" dirty="0"/>
              <a:t>box</a:t>
            </a:r>
            <a:r>
              <a:rPr sz="4800" spc="-415" dirty="0"/>
              <a:t> </a:t>
            </a:r>
            <a:r>
              <a:rPr sz="4800" spc="-315" dirty="0"/>
              <a:t>testing</a:t>
            </a:r>
            <a:endParaRPr sz="4800"/>
          </a:p>
        </p:txBody>
      </p:sp>
      <p:sp>
        <p:nvSpPr>
          <p:cNvPr id="9" name="object 9"/>
          <p:cNvSpPr/>
          <p:nvPr/>
        </p:nvSpPr>
        <p:spPr>
          <a:xfrm>
            <a:off x="2683789" y="4747916"/>
            <a:ext cx="2435225" cy="953769"/>
          </a:xfrm>
          <a:custGeom>
            <a:avLst/>
            <a:gdLst/>
            <a:ahLst/>
            <a:cxnLst/>
            <a:rect l="l" t="t" r="r" b="b"/>
            <a:pathLst>
              <a:path w="2435225" h="953770">
                <a:moveTo>
                  <a:pt x="1956837" y="0"/>
                </a:moveTo>
                <a:lnTo>
                  <a:pt x="478329" y="0"/>
                </a:lnTo>
                <a:lnTo>
                  <a:pt x="429364" y="2455"/>
                </a:lnTo>
                <a:lnTo>
                  <a:pt x="381827" y="9664"/>
                </a:lnTo>
                <a:lnTo>
                  <a:pt x="335956" y="21387"/>
                </a:lnTo>
                <a:lnTo>
                  <a:pt x="291991" y="37388"/>
                </a:lnTo>
                <a:lnTo>
                  <a:pt x="250170" y="57427"/>
                </a:lnTo>
                <a:lnTo>
                  <a:pt x="210733" y="81268"/>
                </a:lnTo>
                <a:lnTo>
                  <a:pt x="173919" y="108672"/>
                </a:lnTo>
                <a:lnTo>
                  <a:pt x="139965" y="139401"/>
                </a:lnTo>
                <a:lnTo>
                  <a:pt x="109111" y="173217"/>
                </a:lnTo>
                <a:lnTo>
                  <a:pt x="81596" y="209883"/>
                </a:lnTo>
                <a:lnTo>
                  <a:pt x="57659" y="249161"/>
                </a:lnTo>
                <a:lnTo>
                  <a:pt x="37539" y="290811"/>
                </a:lnTo>
                <a:lnTo>
                  <a:pt x="21474" y="334598"/>
                </a:lnTo>
                <a:lnTo>
                  <a:pt x="9703" y="380282"/>
                </a:lnTo>
                <a:lnTo>
                  <a:pt x="2465" y="427626"/>
                </a:lnTo>
                <a:lnTo>
                  <a:pt x="0" y="476391"/>
                </a:lnTo>
                <a:lnTo>
                  <a:pt x="0" y="477324"/>
                </a:lnTo>
                <a:lnTo>
                  <a:pt x="2465" y="526091"/>
                </a:lnTo>
                <a:lnTo>
                  <a:pt x="9703" y="573436"/>
                </a:lnTo>
                <a:lnTo>
                  <a:pt x="21474" y="619122"/>
                </a:lnTo>
                <a:lnTo>
                  <a:pt x="37539" y="662910"/>
                </a:lnTo>
                <a:lnTo>
                  <a:pt x="57659" y="704563"/>
                </a:lnTo>
                <a:lnTo>
                  <a:pt x="81596" y="743843"/>
                </a:lnTo>
                <a:lnTo>
                  <a:pt x="109111" y="780512"/>
                </a:lnTo>
                <a:lnTo>
                  <a:pt x="139965" y="814331"/>
                </a:lnTo>
                <a:lnTo>
                  <a:pt x="173919" y="845062"/>
                </a:lnTo>
                <a:lnTo>
                  <a:pt x="210733" y="872469"/>
                </a:lnTo>
                <a:lnTo>
                  <a:pt x="250170" y="896312"/>
                </a:lnTo>
                <a:lnTo>
                  <a:pt x="291991" y="916353"/>
                </a:lnTo>
                <a:lnTo>
                  <a:pt x="335956" y="932356"/>
                </a:lnTo>
                <a:lnTo>
                  <a:pt x="381827" y="944080"/>
                </a:lnTo>
                <a:lnTo>
                  <a:pt x="429364" y="951290"/>
                </a:lnTo>
                <a:lnTo>
                  <a:pt x="478329" y="953746"/>
                </a:lnTo>
                <a:lnTo>
                  <a:pt x="1956837" y="953746"/>
                </a:lnTo>
                <a:lnTo>
                  <a:pt x="2005778" y="951290"/>
                </a:lnTo>
                <a:lnTo>
                  <a:pt x="2053296" y="944080"/>
                </a:lnTo>
                <a:lnTo>
                  <a:pt x="2099153" y="932356"/>
                </a:lnTo>
                <a:lnTo>
                  <a:pt x="2143108" y="916353"/>
                </a:lnTo>
                <a:lnTo>
                  <a:pt x="2184923" y="896312"/>
                </a:lnTo>
                <a:lnTo>
                  <a:pt x="2224357" y="872469"/>
                </a:lnTo>
                <a:lnTo>
                  <a:pt x="2261172" y="845062"/>
                </a:lnTo>
                <a:lnTo>
                  <a:pt x="2295128" y="814331"/>
                </a:lnTo>
                <a:lnTo>
                  <a:pt x="2325986" y="780512"/>
                </a:lnTo>
                <a:lnTo>
                  <a:pt x="2353506" y="743843"/>
                </a:lnTo>
                <a:lnTo>
                  <a:pt x="2377450" y="704563"/>
                </a:lnTo>
                <a:lnTo>
                  <a:pt x="2397576" y="662910"/>
                </a:lnTo>
                <a:lnTo>
                  <a:pt x="2413647" y="619122"/>
                </a:lnTo>
                <a:lnTo>
                  <a:pt x="2425423" y="573436"/>
                </a:lnTo>
                <a:lnTo>
                  <a:pt x="2432664" y="526091"/>
                </a:lnTo>
                <a:lnTo>
                  <a:pt x="2435131" y="477324"/>
                </a:lnTo>
                <a:lnTo>
                  <a:pt x="2435131" y="476391"/>
                </a:lnTo>
                <a:lnTo>
                  <a:pt x="2432664" y="427626"/>
                </a:lnTo>
                <a:lnTo>
                  <a:pt x="2425423" y="380282"/>
                </a:lnTo>
                <a:lnTo>
                  <a:pt x="2413647" y="334598"/>
                </a:lnTo>
                <a:lnTo>
                  <a:pt x="2397576" y="290811"/>
                </a:lnTo>
                <a:lnTo>
                  <a:pt x="2377450" y="249161"/>
                </a:lnTo>
                <a:lnTo>
                  <a:pt x="2353506" y="209883"/>
                </a:lnTo>
                <a:lnTo>
                  <a:pt x="2325986" y="173217"/>
                </a:lnTo>
                <a:lnTo>
                  <a:pt x="2295128" y="139401"/>
                </a:lnTo>
                <a:lnTo>
                  <a:pt x="2261172" y="108672"/>
                </a:lnTo>
                <a:lnTo>
                  <a:pt x="2224357" y="81268"/>
                </a:lnTo>
                <a:lnTo>
                  <a:pt x="2184923" y="57427"/>
                </a:lnTo>
                <a:lnTo>
                  <a:pt x="2143108" y="37388"/>
                </a:lnTo>
                <a:lnTo>
                  <a:pt x="2099153" y="21387"/>
                </a:lnTo>
                <a:lnTo>
                  <a:pt x="2053296" y="9664"/>
                </a:lnTo>
                <a:lnTo>
                  <a:pt x="2005778" y="2455"/>
                </a:lnTo>
                <a:lnTo>
                  <a:pt x="1956837" y="0"/>
                </a:lnTo>
                <a:close/>
              </a:path>
            </a:pathLst>
          </a:custGeom>
          <a:solidFill>
            <a:srgbClr val="6980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25483" y="4747916"/>
            <a:ext cx="2503170" cy="986155"/>
          </a:xfrm>
          <a:custGeom>
            <a:avLst/>
            <a:gdLst/>
            <a:ahLst/>
            <a:cxnLst/>
            <a:rect l="l" t="t" r="r" b="b"/>
            <a:pathLst>
              <a:path w="2503170" h="986154">
                <a:moveTo>
                  <a:pt x="0" y="985873"/>
                </a:moveTo>
                <a:lnTo>
                  <a:pt x="2503095" y="985873"/>
                </a:lnTo>
                <a:lnTo>
                  <a:pt x="2503095" y="0"/>
                </a:lnTo>
                <a:lnTo>
                  <a:pt x="0" y="0"/>
                </a:lnTo>
                <a:lnTo>
                  <a:pt x="0" y="985873"/>
                </a:lnTo>
                <a:close/>
              </a:path>
            </a:pathLst>
          </a:custGeom>
          <a:solidFill>
            <a:srgbClr val="6D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84709" y="2131753"/>
            <a:ext cx="2466975" cy="948690"/>
          </a:xfrm>
          <a:custGeom>
            <a:avLst/>
            <a:gdLst/>
            <a:ahLst/>
            <a:cxnLst/>
            <a:rect l="l" t="t" r="r" b="b"/>
            <a:pathLst>
              <a:path w="2466975" h="948689">
                <a:moveTo>
                  <a:pt x="0" y="948232"/>
                </a:moveTo>
                <a:lnTo>
                  <a:pt x="2466867" y="948232"/>
                </a:lnTo>
                <a:lnTo>
                  <a:pt x="2466867" y="0"/>
                </a:lnTo>
                <a:lnTo>
                  <a:pt x="0" y="0"/>
                </a:lnTo>
                <a:lnTo>
                  <a:pt x="0" y="948232"/>
                </a:lnTo>
                <a:close/>
              </a:path>
            </a:pathLst>
          </a:custGeom>
          <a:solidFill>
            <a:srgbClr val="6D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68913" y="2852347"/>
            <a:ext cx="258445" cy="493395"/>
          </a:xfrm>
          <a:custGeom>
            <a:avLst/>
            <a:gdLst/>
            <a:ahLst/>
            <a:cxnLst/>
            <a:rect l="l" t="t" r="r" b="b"/>
            <a:pathLst>
              <a:path w="258445" h="493395">
                <a:moveTo>
                  <a:pt x="147637" y="0"/>
                </a:moveTo>
                <a:lnTo>
                  <a:pt x="0" y="492918"/>
                </a:lnTo>
                <a:lnTo>
                  <a:pt x="147637" y="379099"/>
                </a:lnTo>
                <a:lnTo>
                  <a:pt x="232641" y="379099"/>
                </a:lnTo>
                <a:lnTo>
                  <a:pt x="147637" y="0"/>
                </a:lnTo>
                <a:close/>
              </a:path>
              <a:path w="258445" h="493395">
                <a:moveTo>
                  <a:pt x="232641" y="379099"/>
                </a:moveTo>
                <a:lnTo>
                  <a:pt x="147637" y="379099"/>
                </a:lnTo>
                <a:lnTo>
                  <a:pt x="258162" y="492918"/>
                </a:lnTo>
                <a:lnTo>
                  <a:pt x="232641" y="379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68913" y="2852347"/>
            <a:ext cx="258445" cy="493395"/>
          </a:xfrm>
          <a:custGeom>
            <a:avLst/>
            <a:gdLst/>
            <a:ahLst/>
            <a:cxnLst/>
            <a:rect l="l" t="t" r="r" b="b"/>
            <a:pathLst>
              <a:path w="258445" h="493395">
                <a:moveTo>
                  <a:pt x="147637" y="379099"/>
                </a:moveTo>
                <a:lnTo>
                  <a:pt x="0" y="492918"/>
                </a:lnTo>
                <a:lnTo>
                  <a:pt x="147637" y="0"/>
                </a:lnTo>
                <a:lnTo>
                  <a:pt x="258162" y="492918"/>
                </a:lnTo>
                <a:lnTo>
                  <a:pt x="147637" y="379099"/>
                </a:lnTo>
              </a:path>
            </a:pathLst>
          </a:custGeom>
          <a:ln w="327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61052" y="4517634"/>
            <a:ext cx="2513574" cy="9966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66437" y="4546119"/>
            <a:ext cx="1555750" cy="8147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91490" marR="5080" indent="-479425">
              <a:lnSpc>
                <a:spcPts val="2990"/>
              </a:lnSpc>
              <a:spcBef>
                <a:spcPts val="390"/>
              </a:spcBef>
            </a:pPr>
            <a:r>
              <a:rPr sz="2650" spc="-30" dirty="0">
                <a:latin typeface="Times New Roman"/>
                <a:cs typeface="Times New Roman"/>
              </a:rPr>
              <a:t>C</a:t>
            </a:r>
            <a:r>
              <a:rPr sz="2650" spc="114" dirty="0">
                <a:latin typeface="Times New Roman"/>
                <a:cs typeface="Times New Roman"/>
              </a:rPr>
              <a:t>o</a:t>
            </a:r>
            <a:r>
              <a:rPr sz="2650" spc="-35" dirty="0">
                <a:latin typeface="Times New Roman"/>
                <a:cs typeface="Times New Roman"/>
              </a:rPr>
              <a:t>m</a:t>
            </a:r>
            <a:r>
              <a:rPr sz="2650" spc="-175" dirty="0">
                <a:latin typeface="Times New Roman"/>
                <a:cs typeface="Times New Roman"/>
              </a:rPr>
              <a:t>p</a:t>
            </a:r>
            <a:r>
              <a:rPr sz="2650" spc="114" dirty="0">
                <a:latin typeface="Times New Roman"/>
                <a:cs typeface="Times New Roman"/>
              </a:rPr>
              <a:t>o</a:t>
            </a:r>
            <a:r>
              <a:rPr sz="2650" spc="-175" dirty="0">
                <a:latin typeface="Times New Roman"/>
                <a:cs typeface="Times New Roman"/>
              </a:rPr>
              <a:t>n</a:t>
            </a:r>
            <a:r>
              <a:rPr sz="2650" spc="-10" dirty="0">
                <a:latin typeface="Times New Roman"/>
                <a:cs typeface="Times New Roman"/>
              </a:rPr>
              <a:t>e</a:t>
            </a:r>
            <a:r>
              <a:rPr sz="2650" spc="-170" dirty="0">
                <a:latin typeface="Times New Roman"/>
                <a:cs typeface="Times New Roman"/>
              </a:rPr>
              <a:t>n</a:t>
            </a:r>
            <a:r>
              <a:rPr sz="2650" spc="-5" dirty="0">
                <a:latin typeface="Times New Roman"/>
                <a:cs typeface="Times New Roman"/>
              </a:rPr>
              <a:t>t  </a:t>
            </a:r>
            <a:r>
              <a:rPr sz="2650" spc="-20" dirty="0">
                <a:latin typeface="Times New Roman"/>
                <a:cs typeface="Times New Roman"/>
              </a:rPr>
              <a:t>code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67393" y="4520263"/>
            <a:ext cx="2503095" cy="9858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67393" y="4520241"/>
            <a:ext cx="2540635" cy="1023619"/>
          </a:xfrm>
          <a:prstGeom prst="rect">
            <a:avLst/>
          </a:prstGeom>
          <a:ln w="32987">
            <a:solidFill>
              <a:srgbClr val="00000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772160" marR="782320" indent="219710">
              <a:lnSpc>
                <a:spcPts val="2990"/>
              </a:lnSpc>
              <a:spcBef>
                <a:spcPts val="590"/>
              </a:spcBef>
            </a:pPr>
            <a:r>
              <a:rPr sz="2650" spc="-90" dirty="0">
                <a:latin typeface="Times New Roman"/>
                <a:cs typeface="Times New Roman"/>
              </a:rPr>
              <a:t>Test  </a:t>
            </a:r>
            <a:r>
              <a:rPr sz="2650" spc="125" dirty="0">
                <a:latin typeface="Times New Roman"/>
                <a:cs typeface="Times New Roman"/>
              </a:rPr>
              <a:t>o</a:t>
            </a:r>
            <a:r>
              <a:rPr sz="2650" spc="-175" dirty="0">
                <a:latin typeface="Times New Roman"/>
                <a:cs typeface="Times New Roman"/>
              </a:rPr>
              <a:t>u</a:t>
            </a:r>
            <a:r>
              <a:rPr sz="2650" spc="130" dirty="0">
                <a:latin typeface="Times New Roman"/>
                <a:cs typeface="Times New Roman"/>
              </a:rPr>
              <a:t>t</a:t>
            </a:r>
            <a:r>
              <a:rPr sz="2650" spc="-170" dirty="0">
                <a:latin typeface="Times New Roman"/>
                <a:cs typeface="Times New Roman"/>
              </a:rPr>
              <a:t>p</a:t>
            </a:r>
            <a:r>
              <a:rPr sz="2650" spc="114" dirty="0">
                <a:latin typeface="Times New Roman"/>
                <a:cs typeface="Times New Roman"/>
              </a:rPr>
              <a:t>u</a:t>
            </a:r>
            <a:r>
              <a:rPr sz="2650" spc="-170" dirty="0">
                <a:latin typeface="Times New Roman"/>
                <a:cs typeface="Times New Roman"/>
              </a:rPr>
              <a:t>t</a:t>
            </a:r>
            <a:r>
              <a:rPr sz="2650" spc="-5" dirty="0">
                <a:latin typeface="Times New Roman"/>
                <a:cs typeface="Times New Roman"/>
              </a:rPr>
              <a:t>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63658" y="1866473"/>
            <a:ext cx="2503095" cy="9858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63658" y="1866473"/>
            <a:ext cx="2539365" cy="1023619"/>
          </a:xfrm>
          <a:custGeom>
            <a:avLst/>
            <a:gdLst/>
            <a:ahLst/>
            <a:cxnLst/>
            <a:rect l="l" t="t" r="r" b="b"/>
            <a:pathLst>
              <a:path w="2539365" h="1023619">
                <a:moveTo>
                  <a:pt x="0" y="0"/>
                </a:moveTo>
                <a:lnTo>
                  <a:pt x="2539287" y="0"/>
                </a:lnTo>
                <a:lnTo>
                  <a:pt x="2539287" y="1023515"/>
                </a:lnTo>
                <a:lnTo>
                  <a:pt x="0" y="1023515"/>
                </a:lnTo>
                <a:lnTo>
                  <a:pt x="0" y="0"/>
                </a:lnTo>
              </a:path>
            </a:pathLst>
          </a:custGeom>
          <a:ln w="329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463658" y="1866473"/>
            <a:ext cx="2539365" cy="1023619"/>
          </a:xfrm>
          <a:prstGeom prst="rect">
            <a:avLst/>
          </a:prstGeom>
          <a:ln w="32987">
            <a:solidFill>
              <a:srgbClr val="000000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663575">
              <a:lnSpc>
                <a:spcPct val="100000"/>
              </a:lnSpc>
              <a:spcBef>
                <a:spcPts val="1525"/>
              </a:spcBef>
            </a:pPr>
            <a:r>
              <a:rPr sz="2650" spc="-165" dirty="0">
                <a:latin typeface="Times New Roman"/>
                <a:cs typeface="Times New Roman"/>
              </a:rPr>
              <a:t>Test</a:t>
            </a:r>
            <a:r>
              <a:rPr sz="2650" spc="45" dirty="0">
                <a:latin typeface="Times New Roman"/>
                <a:cs typeface="Times New Roman"/>
              </a:rPr>
              <a:t> </a:t>
            </a:r>
            <a:r>
              <a:rPr sz="2650" spc="55" dirty="0">
                <a:latin typeface="Times New Roman"/>
                <a:cs typeface="Times New Roman"/>
              </a:rPr>
              <a:t>data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87488" y="3484962"/>
            <a:ext cx="1040765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spc="-185" dirty="0">
                <a:latin typeface="Times New Roman"/>
                <a:cs typeface="Times New Roman"/>
              </a:rPr>
              <a:t>D</a:t>
            </a:r>
            <a:r>
              <a:rPr sz="2650" spc="-10" dirty="0">
                <a:latin typeface="Times New Roman"/>
                <a:cs typeface="Times New Roman"/>
              </a:rPr>
              <a:t>e</a:t>
            </a:r>
            <a:r>
              <a:rPr sz="2650" spc="-25" dirty="0">
                <a:latin typeface="Times New Roman"/>
                <a:cs typeface="Times New Roman"/>
              </a:rPr>
              <a:t>r</a:t>
            </a:r>
            <a:r>
              <a:rPr sz="2650" spc="130" dirty="0">
                <a:latin typeface="Times New Roman"/>
                <a:cs typeface="Times New Roman"/>
              </a:rPr>
              <a:t>i</a:t>
            </a:r>
            <a:r>
              <a:rPr sz="2650" spc="-170" dirty="0">
                <a:latin typeface="Times New Roman"/>
                <a:cs typeface="Times New Roman"/>
              </a:rPr>
              <a:t>v</a:t>
            </a:r>
            <a:r>
              <a:rPr sz="2650" spc="-20" dirty="0">
                <a:latin typeface="Times New Roman"/>
                <a:cs typeface="Times New Roman"/>
              </a:rPr>
              <a:t>e</a:t>
            </a:r>
            <a:r>
              <a:rPr sz="2650" spc="-5" dirty="0">
                <a:latin typeface="Times New Roman"/>
                <a:cs typeface="Times New Roman"/>
              </a:rPr>
              <a:t>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16550" y="3155268"/>
            <a:ext cx="0" cy="379095"/>
          </a:xfrm>
          <a:custGeom>
            <a:avLst/>
            <a:gdLst/>
            <a:ahLst/>
            <a:cxnLst/>
            <a:rect l="l" t="t" r="r" b="b"/>
            <a:pathLst>
              <a:path h="379095">
                <a:moveTo>
                  <a:pt x="0" y="379099"/>
                </a:moveTo>
                <a:lnTo>
                  <a:pt x="0" y="0"/>
                </a:lnTo>
              </a:path>
            </a:pathLst>
          </a:custGeom>
          <a:ln w="3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88425" y="3448253"/>
            <a:ext cx="67183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spc="-459" dirty="0">
                <a:latin typeface="Times New Roman"/>
                <a:cs typeface="Times New Roman"/>
              </a:rPr>
              <a:t>T</a:t>
            </a:r>
            <a:r>
              <a:rPr sz="2650" spc="-25" dirty="0">
                <a:latin typeface="Times New Roman"/>
                <a:cs typeface="Times New Roman"/>
              </a:rPr>
              <a:t>e</a:t>
            </a:r>
            <a:r>
              <a:rPr sz="2650" spc="-165" dirty="0">
                <a:latin typeface="Times New Roman"/>
                <a:cs typeface="Times New Roman"/>
              </a:rPr>
              <a:t>s</a:t>
            </a:r>
            <a:r>
              <a:rPr sz="2650" spc="130" dirty="0">
                <a:latin typeface="Times New Roman"/>
                <a:cs typeface="Times New Roman"/>
              </a:rPr>
              <a:t>t</a:t>
            </a:r>
            <a:r>
              <a:rPr sz="2650" spc="-5" dirty="0">
                <a:latin typeface="Times New Roman"/>
                <a:cs typeface="Times New Roman"/>
              </a:rPr>
              <a:t>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16550" y="3914399"/>
            <a:ext cx="0" cy="606425"/>
          </a:xfrm>
          <a:custGeom>
            <a:avLst/>
            <a:gdLst/>
            <a:ahLst/>
            <a:cxnLst/>
            <a:rect l="l" t="t" r="r" b="b"/>
            <a:pathLst>
              <a:path h="606425">
                <a:moveTo>
                  <a:pt x="0" y="605842"/>
                </a:moveTo>
                <a:lnTo>
                  <a:pt x="0" y="0"/>
                </a:lnTo>
              </a:path>
            </a:pathLst>
          </a:custGeom>
          <a:ln w="326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85329" y="4861736"/>
            <a:ext cx="478790" cy="266700"/>
          </a:xfrm>
          <a:custGeom>
            <a:avLst/>
            <a:gdLst/>
            <a:ahLst/>
            <a:cxnLst/>
            <a:rect l="l" t="t" r="r" b="b"/>
            <a:pathLst>
              <a:path w="478789" h="266700">
                <a:moveTo>
                  <a:pt x="0" y="0"/>
                </a:moveTo>
                <a:lnTo>
                  <a:pt x="109605" y="153288"/>
                </a:lnTo>
                <a:lnTo>
                  <a:pt x="0" y="266212"/>
                </a:lnTo>
                <a:lnTo>
                  <a:pt x="478329" y="1532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85329" y="4861736"/>
            <a:ext cx="478790" cy="266700"/>
          </a:xfrm>
          <a:custGeom>
            <a:avLst/>
            <a:gdLst/>
            <a:ahLst/>
            <a:cxnLst/>
            <a:rect l="l" t="t" r="r" b="b"/>
            <a:pathLst>
              <a:path w="478789" h="266700">
                <a:moveTo>
                  <a:pt x="109605" y="153288"/>
                </a:moveTo>
                <a:lnTo>
                  <a:pt x="0" y="0"/>
                </a:lnTo>
                <a:lnTo>
                  <a:pt x="478329" y="153288"/>
                </a:lnTo>
                <a:lnTo>
                  <a:pt x="0" y="266212"/>
                </a:lnTo>
                <a:lnTo>
                  <a:pt x="109605" y="153288"/>
                </a:lnTo>
              </a:path>
            </a:pathLst>
          </a:custGeom>
          <a:ln w="329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395553" y="2359391"/>
            <a:ext cx="1068705" cy="1175385"/>
          </a:xfrm>
          <a:custGeom>
            <a:avLst/>
            <a:gdLst/>
            <a:ahLst/>
            <a:cxnLst/>
            <a:rect l="l" t="t" r="r" b="b"/>
            <a:pathLst>
              <a:path w="1068705" h="1175385">
                <a:moveTo>
                  <a:pt x="1068105" y="0"/>
                </a:moveTo>
                <a:lnTo>
                  <a:pt x="0" y="0"/>
                </a:lnTo>
                <a:lnTo>
                  <a:pt x="0" y="1174975"/>
                </a:lnTo>
              </a:path>
            </a:pathLst>
          </a:custGeom>
          <a:ln w="328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95553" y="3876757"/>
            <a:ext cx="810260" cy="1138555"/>
          </a:xfrm>
          <a:custGeom>
            <a:avLst/>
            <a:gdLst/>
            <a:ahLst/>
            <a:cxnLst/>
            <a:rect l="l" t="t" r="r" b="b"/>
            <a:pathLst>
              <a:path w="810260" h="1138554">
                <a:moveTo>
                  <a:pt x="0" y="0"/>
                </a:moveTo>
                <a:lnTo>
                  <a:pt x="0" y="1138266"/>
                </a:lnTo>
                <a:lnTo>
                  <a:pt x="809906" y="1138266"/>
                </a:lnTo>
              </a:path>
            </a:pathLst>
          </a:custGeom>
          <a:ln w="327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26323" y="4861736"/>
            <a:ext cx="441325" cy="266700"/>
          </a:xfrm>
          <a:custGeom>
            <a:avLst/>
            <a:gdLst/>
            <a:ahLst/>
            <a:cxnLst/>
            <a:rect l="l" t="t" r="r" b="b"/>
            <a:pathLst>
              <a:path w="441325" h="266700">
                <a:moveTo>
                  <a:pt x="0" y="0"/>
                </a:moveTo>
                <a:lnTo>
                  <a:pt x="73266" y="153288"/>
                </a:lnTo>
                <a:lnTo>
                  <a:pt x="0" y="266212"/>
                </a:lnTo>
                <a:lnTo>
                  <a:pt x="441070" y="1532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26323" y="4861736"/>
            <a:ext cx="441325" cy="266700"/>
          </a:xfrm>
          <a:custGeom>
            <a:avLst/>
            <a:gdLst/>
            <a:ahLst/>
            <a:cxnLst/>
            <a:rect l="l" t="t" r="r" b="b"/>
            <a:pathLst>
              <a:path w="441325" h="266700">
                <a:moveTo>
                  <a:pt x="73266" y="153288"/>
                </a:moveTo>
                <a:lnTo>
                  <a:pt x="0" y="0"/>
                </a:lnTo>
                <a:lnTo>
                  <a:pt x="441070" y="153288"/>
                </a:lnTo>
                <a:lnTo>
                  <a:pt x="0" y="266212"/>
                </a:lnTo>
                <a:lnTo>
                  <a:pt x="73266" y="153288"/>
                </a:lnTo>
              </a:path>
            </a:pathLst>
          </a:custGeom>
          <a:ln w="329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67601" y="5015024"/>
            <a:ext cx="1104900" cy="0"/>
          </a:xfrm>
          <a:custGeom>
            <a:avLst/>
            <a:gdLst/>
            <a:ahLst/>
            <a:cxnLst/>
            <a:rect l="l" t="t" r="r" b="b"/>
            <a:pathLst>
              <a:path w="1104900">
                <a:moveTo>
                  <a:pt x="0" y="0"/>
                </a:moveTo>
                <a:lnTo>
                  <a:pt x="1104518" y="0"/>
                </a:lnTo>
              </a:path>
            </a:pathLst>
          </a:custGeom>
          <a:ln w="33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91357" y="602945"/>
            <a:ext cx="347535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0" dirty="0"/>
              <a:t>Testing</a:t>
            </a:r>
            <a:r>
              <a:rPr sz="4800" spc="-330" dirty="0"/>
              <a:t> </a:t>
            </a:r>
            <a:r>
              <a:rPr sz="4800" spc="-470" dirty="0"/>
              <a:t>Levels</a:t>
            </a:r>
            <a:endParaRPr sz="4800"/>
          </a:p>
        </p:txBody>
      </p:sp>
      <p:sp>
        <p:nvSpPr>
          <p:cNvPr id="9" name="object 9"/>
          <p:cNvSpPr txBox="1"/>
          <p:nvPr/>
        </p:nvSpPr>
        <p:spPr>
          <a:xfrm>
            <a:off x="2246122" y="1543558"/>
            <a:ext cx="3270885" cy="231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5615" indent="-462915">
              <a:lnSpc>
                <a:spcPct val="100000"/>
              </a:lnSpc>
              <a:spcBef>
                <a:spcPts val="100"/>
              </a:spcBef>
              <a:buChar char="•"/>
              <a:tabLst>
                <a:tab pos="475615" algn="l"/>
                <a:tab pos="476250" algn="l"/>
              </a:tabLst>
            </a:pPr>
            <a:r>
              <a:rPr sz="3000" dirty="0">
                <a:latin typeface="Times New Roman"/>
                <a:cs typeface="Times New Roman"/>
              </a:rPr>
              <a:t>Unit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testing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75615" indent="-462915">
              <a:lnSpc>
                <a:spcPct val="100000"/>
              </a:lnSpc>
              <a:buChar char="•"/>
              <a:tabLst>
                <a:tab pos="475615" algn="l"/>
                <a:tab pos="476250" algn="l"/>
              </a:tabLst>
            </a:pPr>
            <a:r>
              <a:rPr sz="3000" spc="-5" dirty="0">
                <a:latin typeface="Times New Roman"/>
                <a:cs typeface="Times New Roman"/>
              </a:rPr>
              <a:t>Integration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testing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3100">
              <a:latin typeface="Times New Roman"/>
              <a:cs typeface="Times New Roman"/>
            </a:endParaRPr>
          </a:p>
          <a:p>
            <a:pPr marL="475615" indent="-462915">
              <a:lnSpc>
                <a:spcPct val="100000"/>
              </a:lnSpc>
              <a:buChar char="•"/>
              <a:tabLst>
                <a:tab pos="475615" algn="l"/>
                <a:tab pos="476250" algn="l"/>
              </a:tabLst>
            </a:pPr>
            <a:r>
              <a:rPr sz="3000" spc="-5" dirty="0">
                <a:latin typeface="Times New Roman"/>
                <a:cs typeface="Times New Roman"/>
              </a:rPr>
              <a:t>System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testing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499" y="6858000"/>
                </a:lnTo>
                <a:lnTo>
                  <a:pt x="805649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736" y="0"/>
            <a:ext cx="155447" cy="685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41473" y="450545"/>
            <a:ext cx="35560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15" dirty="0"/>
              <a:t>UNIT</a:t>
            </a:r>
            <a:r>
              <a:rPr sz="4800" spc="-310" dirty="0"/>
              <a:t> </a:t>
            </a:r>
            <a:r>
              <a:rPr sz="4800" spc="-585" dirty="0"/>
              <a:t>TESTING</a:t>
            </a:r>
            <a:endParaRPr sz="4800" dirty="0"/>
          </a:p>
        </p:txBody>
      </p:sp>
      <p:sp>
        <p:nvSpPr>
          <p:cNvPr id="9" name="object 9"/>
          <p:cNvSpPr/>
          <p:nvPr/>
        </p:nvSpPr>
        <p:spPr>
          <a:xfrm>
            <a:off x="853439" y="2229866"/>
            <a:ext cx="152400" cy="1615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3439" y="2824226"/>
            <a:ext cx="152400" cy="1615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3439" y="3418585"/>
            <a:ext cx="152400" cy="1615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xfrm>
            <a:off x="1224660" y="1517458"/>
            <a:ext cx="7371588" cy="406778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881380" indent="-457200">
              <a:lnSpc>
                <a:spcPct val="100000"/>
              </a:lnSpc>
              <a:spcBef>
                <a:spcPts val="1660"/>
              </a:spcBef>
              <a:buFont typeface="Wingdings" panose="05000000000000000000" pitchFamily="2" charset="2"/>
              <a:buChar char="§"/>
            </a:pPr>
            <a:r>
              <a:rPr lang="en-US" dirty="0"/>
              <a:t>I</a:t>
            </a:r>
            <a:r>
              <a:rPr lang="en-US" dirty="0" smtClean="0"/>
              <a:t>s </a:t>
            </a:r>
            <a:r>
              <a:rPr lang="en-US" dirty="0"/>
              <a:t>a level of software testing where individual units/ components of a software are tested. </a:t>
            </a:r>
            <a:endParaRPr lang="en-US" dirty="0" smtClean="0"/>
          </a:p>
          <a:p>
            <a:pPr marL="881380" indent="-457200">
              <a:lnSpc>
                <a:spcPct val="100000"/>
              </a:lnSpc>
              <a:spcBef>
                <a:spcPts val="1660"/>
              </a:spcBef>
              <a:buFont typeface="Wingdings" panose="05000000000000000000" pitchFamily="2" charset="2"/>
              <a:buChar char="§"/>
            </a:pPr>
            <a:r>
              <a:rPr lang="en-US" dirty="0" smtClean="0"/>
              <a:t>The </a:t>
            </a:r>
            <a:r>
              <a:rPr lang="en-US" dirty="0"/>
              <a:t>purpose is to validate that each unit of the software performs as designed. </a:t>
            </a:r>
            <a:endParaRPr lang="en-US" dirty="0" smtClean="0"/>
          </a:p>
          <a:p>
            <a:pPr marL="881380" indent="-457200">
              <a:lnSpc>
                <a:spcPct val="100000"/>
              </a:lnSpc>
              <a:spcBef>
                <a:spcPts val="1660"/>
              </a:spcBef>
              <a:buFont typeface="Wingdings" panose="05000000000000000000" pitchFamily="2" charset="2"/>
              <a:buChar char="§"/>
            </a:pPr>
            <a:r>
              <a:rPr lang="en-US" dirty="0" smtClean="0"/>
              <a:t>A</a:t>
            </a:r>
            <a:r>
              <a:rPr lang="en-US" dirty="0"/>
              <a:t> unit is the smallest testable part of any software. </a:t>
            </a:r>
            <a:endParaRPr lang="en-US" dirty="0" smtClean="0"/>
          </a:p>
          <a:p>
            <a:pPr marL="881380" indent="-457200">
              <a:lnSpc>
                <a:spcPct val="100000"/>
              </a:lnSpc>
              <a:spcBef>
                <a:spcPts val="1660"/>
              </a:spcBef>
              <a:buFont typeface="Wingdings" panose="05000000000000000000" pitchFamily="2" charset="2"/>
              <a:buChar char="§"/>
            </a:pPr>
            <a:r>
              <a:rPr lang="en-US" dirty="0" smtClean="0"/>
              <a:t>It </a:t>
            </a:r>
            <a:r>
              <a:rPr lang="en-US" dirty="0"/>
              <a:t>usually has one or a few inputs and usually a single output.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562" y="6858000"/>
                </a:lnTo>
                <a:lnTo>
                  <a:pt x="805656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1435" y="1413763"/>
            <a:ext cx="210312" cy="210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5085" y="1338325"/>
            <a:ext cx="312051" cy="2921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74876" y="88392"/>
            <a:ext cx="6563868" cy="9982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9338" y="237185"/>
            <a:ext cx="57759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15" dirty="0"/>
              <a:t>INTEGRATION</a:t>
            </a:r>
            <a:r>
              <a:rPr sz="4800" spc="-320" dirty="0"/>
              <a:t> </a:t>
            </a:r>
            <a:r>
              <a:rPr sz="4800" spc="-585" dirty="0"/>
              <a:t>TESTING</a:t>
            </a:r>
            <a:endParaRPr sz="4800" dirty="0"/>
          </a:p>
        </p:txBody>
      </p:sp>
      <p:sp>
        <p:nvSpPr>
          <p:cNvPr id="10" name="object 10"/>
          <p:cNvSpPr/>
          <p:nvPr/>
        </p:nvSpPr>
        <p:spPr>
          <a:xfrm>
            <a:off x="271272" y="1286255"/>
            <a:ext cx="178308" cy="1844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71272" y="2154935"/>
            <a:ext cx="178308" cy="1844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1272" y="2627376"/>
            <a:ext cx="178308" cy="1844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72639" y="3561588"/>
            <a:ext cx="228600" cy="2316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72639" y="4037076"/>
            <a:ext cx="228600" cy="2316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72639" y="4512564"/>
            <a:ext cx="228600" cy="2316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72639" y="4988052"/>
            <a:ext cx="228600" cy="2316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8572" y="1118362"/>
            <a:ext cx="8046084" cy="4169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9905" indent="264795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Once </a:t>
            </a:r>
            <a:r>
              <a:rPr sz="2600" spc="-5" dirty="0">
                <a:latin typeface="Times New Roman"/>
                <a:cs typeface="Times New Roman"/>
              </a:rPr>
              <a:t>all the </a:t>
            </a:r>
            <a:r>
              <a:rPr sz="2600" dirty="0">
                <a:latin typeface="Times New Roman"/>
                <a:cs typeface="Times New Roman"/>
              </a:rPr>
              <a:t>modules have been unit </a:t>
            </a:r>
            <a:r>
              <a:rPr sz="2600" spc="-5" dirty="0">
                <a:latin typeface="Times New Roman"/>
                <a:cs typeface="Times New Roman"/>
              </a:rPr>
              <a:t>tested,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integration  </a:t>
            </a:r>
            <a:r>
              <a:rPr sz="2600" spc="-5" dirty="0">
                <a:latin typeface="Times New Roman"/>
                <a:cs typeface="Times New Roman"/>
              </a:rPr>
              <a:t>testing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performed.</a:t>
            </a:r>
          </a:p>
          <a:p>
            <a:pPr marL="277495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/>
                <a:cs typeface="Times New Roman"/>
              </a:rPr>
              <a:t>It is </a:t>
            </a:r>
            <a:r>
              <a:rPr sz="2600" spc="-5" dirty="0">
                <a:latin typeface="Times New Roman"/>
                <a:cs typeface="Times New Roman"/>
              </a:rPr>
              <a:t>systematic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testing.</a:t>
            </a:r>
            <a:endParaRPr sz="2600" dirty="0">
              <a:latin typeface="Times New Roman"/>
              <a:cs typeface="Times New Roman"/>
            </a:endParaRPr>
          </a:p>
          <a:p>
            <a:pPr marL="277495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/>
                <a:cs typeface="Times New Roman"/>
              </a:rPr>
              <a:t>Produce </a:t>
            </a:r>
            <a:r>
              <a:rPr sz="2600" spc="-5" dirty="0">
                <a:latin typeface="Times New Roman"/>
                <a:cs typeface="Times New Roman"/>
              </a:rPr>
              <a:t>tests </a:t>
            </a:r>
            <a:r>
              <a:rPr sz="2600" dirty="0">
                <a:latin typeface="Times New Roman"/>
                <a:cs typeface="Times New Roman"/>
              </a:rPr>
              <a:t>to identify </a:t>
            </a:r>
            <a:r>
              <a:rPr sz="2600" spc="-5" dirty="0">
                <a:latin typeface="Times New Roman"/>
                <a:cs typeface="Times New Roman"/>
              </a:rPr>
              <a:t>errors associated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interfacing.</a:t>
            </a:r>
            <a:endParaRPr sz="2600" dirty="0">
              <a:latin typeface="Times New Roman"/>
              <a:cs typeface="Times New Roman"/>
            </a:endParaRPr>
          </a:p>
          <a:p>
            <a:pPr marL="1166495">
              <a:lnSpc>
                <a:spcPct val="100000"/>
              </a:lnSpc>
              <a:spcBef>
                <a:spcPts val="595"/>
              </a:spcBef>
            </a:pPr>
            <a:r>
              <a:rPr sz="2800" b="1" spc="-40" dirty="0">
                <a:latin typeface="Times New Roman"/>
                <a:cs typeface="Times New Roman"/>
              </a:rPr>
              <a:t>Types:</a:t>
            </a:r>
            <a:endParaRPr sz="2800" dirty="0">
              <a:latin typeface="Times New Roman"/>
              <a:cs typeface="Times New Roman"/>
            </a:endParaRPr>
          </a:p>
          <a:p>
            <a:pPr marL="2286635" marR="1775460" indent="4445">
              <a:lnSpc>
                <a:spcPct val="120000"/>
              </a:lnSpc>
              <a:spcBef>
                <a:spcPts val="5"/>
              </a:spcBef>
            </a:pPr>
            <a:r>
              <a:rPr sz="2600" dirty="0">
                <a:latin typeface="Times New Roman"/>
                <a:cs typeface="Times New Roman"/>
              </a:rPr>
              <a:t>Big Bang Integration </a:t>
            </a:r>
            <a:r>
              <a:rPr sz="2600" spc="-5" dirty="0">
                <a:latin typeface="Times New Roman"/>
                <a:cs typeface="Times New Roman"/>
              </a:rPr>
              <a:t>testing  </a:t>
            </a:r>
            <a:r>
              <a:rPr sz="2600" spc="-60" dirty="0">
                <a:latin typeface="Times New Roman"/>
                <a:cs typeface="Times New Roman"/>
              </a:rPr>
              <a:t>Top </a:t>
            </a:r>
            <a:r>
              <a:rPr sz="2600" dirty="0">
                <a:latin typeface="Times New Roman"/>
                <a:cs typeface="Times New Roman"/>
              </a:rPr>
              <a:t>Down Integration </a:t>
            </a:r>
            <a:r>
              <a:rPr sz="2600" spc="-5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Bottom Up Integration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Mixed Integration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testing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71600"/>
            <a:ext cx="7371588" cy="6401753"/>
          </a:xfrm>
        </p:spPr>
        <p:txBody>
          <a:bodyPr/>
          <a:lstStyle/>
          <a:p>
            <a:r>
              <a:rPr lang="en-US" b="1" dirty="0" smtClean="0"/>
              <a:t>Big Bang </a:t>
            </a:r>
            <a:r>
              <a:rPr lang="en-US" dirty="0" smtClean="0"/>
              <a:t>Integration testing: an </a:t>
            </a:r>
            <a:r>
              <a:rPr lang="en-US" dirty="0"/>
              <a:t>integration testing strategy wherein all units are linked at once, resulting in a complete system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Top-Down</a:t>
            </a:r>
            <a:r>
              <a:rPr lang="en-US" dirty="0" smtClean="0"/>
              <a:t> </a:t>
            </a:r>
            <a:r>
              <a:rPr lang="en-US" dirty="0"/>
              <a:t>Integration </a:t>
            </a:r>
            <a:r>
              <a:rPr lang="en-US" dirty="0" smtClean="0"/>
              <a:t>Testing: an </a:t>
            </a:r>
            <a:r>
              <a:rPr lang="en-US" dirty="0"/>
              <a:t>integration testing technique used in order to simulate the behaviour of the lower-level modules that are not yet integrated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Bottom Up </a:t>
            </a:r>
            <a:r>
              <a:rPr lang="en-US" dirty="0" smtClean="0"/>
              <a:t>Integration: Each </a:t>
            </a:r>
            <a:r>
              <a:rPr lang="en-US" dirty="0"/>
              <a:t>component at lower hierarchy is tested individually and then the components that rely upon these components are </a:t>
            </a:r>
            <a:r>
              <a:rPr lang="en-US" dirty="0" smtClean="0"/>
              <a:t>tested</a:t>
            </a:r>
          </a:p>
          <a:p>
            <a:r>
              <a:rPr lang="en-US" b="1" dirty="0"/>
              <a:t>Integration testing</a:t>
            </a:r>
            <a:r>
              <a:rPr lang="en-US" dirty="0"/>
              <a:t> tests integration or interfaces between components, interactions to different parts of the system such as an operating system, file system and hardware or interfaces between systems.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102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562" y="6858000"/>
                </a:lnTo>
                <a:lnTo>
                  <a:pt x="805656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5416" y="278891"/>
            <a:ext cx="2951987" cy="9982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23588" y="278891"/>
            <a:ext cx="2942843" cy="9982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79623" y="428066"/>
            <a:ext cx="42932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670" dirty="0"/>
              <a:t>SYSTEM</a:t>
            </a:r>
            <a:r>
              <a:rPr sz="4800" spc="-295" dirty="0"/>
              <a:t> </a:t>
            </a:r>
            <a:r>
              <a:rPr sz="4800" spc="-585" dirty="0"/>
              <a:t>TESTING</a:t>
            </a:r>
            <a:endParaRPr sz="4800"/>
          </a:p>
        </p:txBody>
      </p:sp>
      <p:sp>
        <p:nvSpPr>
          <p:cNvPr id="9" name="object 9"/>
          <p:cNvSpPr/>
          <p:nvPr/>
        </p:nvSpPr>
        <p:spPr>
          <a:xfrm>
            <a:off x="1234439" y="4678679"/>
            <a:ext cx="228600" cy="2316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34439" y="5074920"/>
            <a:ext cx="228600" cy="2316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34439" y="5471159"/>
            <a:ext cx="228600" cy="2316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34439" y="5867400"/>
            <a:ext cx="228600" cy="2316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22044" y="1240282"/>
            <a:ext cx="6645275" cy="4934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265" marR="69151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14960" algn="l"/>
                <a:tab pos="1845945" algn="l"/>
              </a:tabLst>
            </a:pPr>
            <a:r>
              <a:rPr sz="2600" dirty="0">
                <a:latin typeface="Times New Roman"/>
                <a:cs typeface="Times New Roman"/>
              </a:rPr>
              <a:t>The system as a whole is </a:t>
            </a:r>
            <a:r>
              <a:rPr sz="2600" spc="-5" dirty="0">
                <a:latin typeface="Times New Roman"/>
                <a:cs typeface="Times New Roman"/>
              </a:rPr>
              <a:t>tested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uncover  </a:t>
            </a:r>
            <a:r>
              <a:rPr sz="2600" spc="-5" dirty="0">
                <a:latin typeface="Times New Roman"/>
                <a:cs typeface="Times New Roman"/>
              </a:rPr>
              <a:t>requirement	errors.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"/>
            </a:pPr>
            <a:endParaRPr sz="3550">
              <a:latin typeface="Times New Roman"/>
              <a:cs typeface="Times New Roman"/>
            </a:endParaRPr>
          </a:p>
          <a:p>
            <a:pPr marL="88265" marR="508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314960" algn="l"/>
              </a:tabLst>
            </a:pPr>
            <a:r>
              <a:rPr sz="2600" spc="-40" dirty="0">
                <a:latin typeface="Times New Roman"/>
                <a:cs typeface="Times New Roman"/>
              </a:rPr>
              <a:t>Verifies </a:t>
            </a:r>
            <a:r>
              <a:rPr sz="2600" dirty="0">
                <a:latin typeface="Times New Roman"/>
                <a:cs typeface="Times New Roman"/>
              </a:rPr>
              <a:t>that </a:t>
            </a:r>
            <a:r>
              <a:rPr sz="2600" spc="-5" dirty="0">
                <a:latin typeface="Times New Roman"/>
                <a:cs typeface="Times New Roman"/>
              </a:rPr>
              <a:t>all </a:t>
            </a:r>
            <a:r>
              <a:rPr sz="2600" dirty="0">
                <a:latin typeface="Times New Roman"/>
                <a:cs typeface="Times New Roman"/>
              </a:rPr>
              <a:t>system </a:t>
            </a:r>
            <a:r>
              <a:rPr sz="2600" spc="-5" dirty="0">
                <a:latin typeface="Times New Roman"/>
                <a:cs typeface="Times New Roman"/>
              </a:rPr>
              <a:t>elements </a:t>
            </a:r>
            <a:r>
              <a:rPr sz="2600" dirty="0">
                <a:latin typeface="Times New Roman"/>
                <a:cs typeface="Times New Roman"/>
              </a:rPr>
              <a:t>work properly  and that overall system function and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performance  has been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achieved.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40" dirty="0">
                <a:latin typeface="Times New Roman"/>
                <a:cs typeface="Times New Roman"/>
              </a:rPr>
              <a:t>Types:</a:t>
            </a:r>
            <a:endParaRPr sz="2800">
              <a:latin typeface="Times New Roman"/>
              <a:cs typeface="Times New Roman"/>
            </a:endParaRPr>
          </a:p>
          <a:p>
            <a:pPr marL="489584" marR="4314190" indent="-17145">
              <a:lnSpc>
                <a:spcPct val="100000"/>
              </a:lnSpc>
              <a:spcBef>
                <a:spcPts val="10"/>
              </a:spcBef>
            </a:pPr>
            <a:r>
              <a:rPr sz="2600" dirty="0">
                <a:latin typeface="Times New Roman"/>
                <a:cs typeface="Times New Roman"/>
              </a:rPr>
              <a:t>Alpha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Beta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  <a:p>
            <a:pPr marL="489584" marR="3418204" indent="-17145">
              <a:lnSpc>
                <a:spcPct val="100000"/>
              </a:lnSpc>
            </a:pPr>
            <a:r>
              <a:rPr sz="2600" dirty="0">
                <a:latin typeface="Times New Roman"/>
                <a:cs typeface="Times New Roman"/>
              </a:rPr>
              <a:t>Acceptance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Performance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562" y="6858000"/>
                </a:lnTo>
                <a:lnTo>
                  <a:pt x="805656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1435" y="1413763"/>
            <a:ext cx="210312" cy="210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5085" y="1338325"/>
            <a:ext cx="312051" cy="2921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Alpha</a:t>
            </a:r>
            <a:r>
              <a:rPr spc="-215" dirty="0"/>
              <a:t> </a:t>
            </a:r>
            <a:r>
              <a:rPr spc="-315" dirty="0"/>
              <a:t>Testing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0972" y="769365"/>
            <a:ext cx="8569960" cy="575119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11175" indent="89535">
              <a:lnSpc>
                <a:spcPct val="80000"/>
              </a:lnSpc>
              <a:spcBef>
                <a:spcPts val="800"/>
              </a:spcBef>
            </a:pPr>
            <a:r>
              <a:rPr sz="2900" dirty="0">
                <a:latin typeface="Times New Roman"/>
                <a:cs typeface="Times New Roman"/>
              </a:rPr>
              <a:t>It is </a:t>
            </a:r>
            <a:r>
              <a:rPr sz="2900" spc="-5" dirty="0">
                <a:latin typeface="Times New Roman"/>
                <a:cs typeface="Times New Roman"/>
              </a:rPr>
              <a:t>carried </a:t>
            </a:r>
            <a:r>
              <a:rPr sz="2900" dirty="0">
                <a:latin typeface="Times New Roman"/>
                <a:cs typeface="Times New Roman"/>
              </a:rPr>
              <a:t>out by </a:t>
            </a:r>
            <a:r>
              <a:rPr sz="2900" spc="-5" dirty="0">
                <a:latin typeface="Times New Roman"/>
                <a:cs typeface="Times New Roman"/>
              </a:rPr>
              <a:t>the test team </a:t>
            </a:r>
            <a:r>
              <a:rPr sz="2900" dirty="0">
                <a:latin typeface="Times New Roman"/>
                <a:cs typeface="Times New Roman"/>
              </a:rPr>
              <a:t>within the</a:t>
            </a:r>
            <a:r>
              <a:rPr sz="2900" spc="-1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developing  </a:t>
            </a:r>
            <a:r>
              <a:rPr sz="2900" spc="-5" dirty="0">
                <a:latin typeface="Times New Roman"/>
                <a:cs typeface="Times New Roman"/>
              </a:rPr>
              <a:t>organization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.</a:t>
            </a:r>
            <a:endParaRPr sz="2900">
              <a:latin typeface="Times New Roman"/>
              <a:cs typeface="Times New Roman"/>
            </a:endParaRPr>
          </a:p>
          <a:p>
            <a:pPr marL="2804795">
              <a:lnSpc>
                <a:spcPts val="3929"/>
              </a:lnSpc>
              <a:spcBef>
                <a:spcPts val="2490"/>
              </a:spcBef>
            </a:pPr>
            <a:r>
              <a:rPr sz="3300" b="1" spc="-240" dirty="0">
                <a:solidFill>
                  <a:srgbClr val="4A2103"/>
                </a:solidFill>
                <a:latin typeface="Arial"/>
                <a:cs typeface="Arial"/>
              </a:rPr>
              <a:t>Beta</a:t>
            </a:r>
            <a:r>
              <a:rPr sz="3300" b="1" spc="-155" dirty="0">
                <a:solidFill>
                  <a:srgbClr val="4A2103"/>
                </a:solidFill>
                <a:latin typeface="Arial"/>
                <a:cs typeface="Arial"/>
              </a:rPr>
              <a:t> </a:t>
            </a:r>
            <a:r>
              <a:rPr sz="3300" b="1" spc="-310" dirty="0">
                <a:solidFill>
                  <a:srgbClr val="4A2103"/>
                </a:solidFill>
                <a:latin typeface="Arial"/>
                <a:cs typeface="Arial"/>
              </a:rPr>
              <a:t>Testing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450"/>
              </a:lnSpc>
              <a:tabLst>
                <a:tab pos="5719445" algn="l"/>
              </a:tabLst>
            </a:pPr>
            <a:r>
              <a:rPr sz="2900" dirty="0">
                <a:latin typeface="Times New Roman"/>
                <a:cs typeface="Times New Roman"/>
              </a:rPr>
              <a:t>It is </a:t>
            </a:r>
            <a:r>
              <a:rPr sz="2900" spc="-5" dirty="0">
                <a:latin typeface="Times New Roman"/>
                <a:cs typeface="Times New Roman"/>
              </a:rPr>
              <a:t>performed </a:t>
            </a:r>
            <a:r>
              <a:rPr sz="2900" dirty="0">
                <a:latin typeface="Times New Roman"/>
                <a:cs typeface="Times New Roman"/>
              </a:rPr>
              <a:t>by a </a:t>
            </a:r>
            <a:r>
              <a:rPr sz="2900" spc="-5" dirty="0">
                <a:latin typeface="Times New Roman"/>
                <a:cs typeface="Times New Roman"/>
              </a:rPr>
              <a:t>selected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group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	friendly</a:t>
            </a:r>
            <a:r>
              <a:rPr sz="2900" spc="-105" dirty="0">
                <a:latin typeface="Times New Roman"/>
                <a:cs typeface="Times New Roman"/>
              </a:rPr>
              <a:t> </a:t>
            </a:r>
            <a:r>
              <a:rPr sz="2900" spc="-5" dirty="0">
                <a:latin typeface="Times New Roman"/>
                <a:cs typeface="Times New Roman"/>
              </a:rPr>
              <a:t>customers.</a:t>
            </a:r>
            <a:endParaRPr sz="2900">
              <a:latin typeface="Times New Roman"/>
              <a:cs typeface="Times New Roman"/>
            </a:endParaRPr>
          </a:p>
          <a:p>
            <a:pPr marL="2821940">
              <a:lnSpc>
                <a:spcPts val="3925"/>
              </a:lnSpc>
              <a:spcBef>
                <a:spcPts val="2685"/>
              </a:spcBef>
            </a:pPr>
            <a:r>
              <a:rPr sz="3300" b="1" spc="-280" dirty="0">
                <a:solidFill>
                  <a:srgbClr val="4A2103"/>
                </a:solidFill>
                <a:latin typeface="Arial"/>
                <a:cs typeface="Arial"/>
              </a:rPr>
              <a:t>Acceptance</a:t>
            </a:r>
            <a:r>
              <a:rPr sz="3300" b="1" spc="-165" dirty="0">
                <a:solidFill>
                  <a:srgbClr val="4A2103"/>
                </a:solidFill>
                <a:latin typeface="Arial"/>
                <a:cs typeface="Arial"/>
              </a:rPr>
              <a:t> </a:t>
            </a:r>
            <a:r>
              <a:rPr sz="3300" b="1" spc="-315" dirty="0">
                <a:solidFill>
                  <a:srgbClr val="4A2103"/>
                </a:solidFill>
                <a:latin typeface="Arial"/>
                <a:cs typeface="Arial"/>
              </a:rPr>
              <a:t>Testing</a:t>
            </a:r>
            <a:endParaRPr sz="3300">
              <a:latin typeface="Arial"/>
              <a:cs typeface="Arial"/>
            </a:endParaRPr>
          </a:p>
          <a:p>
            <a:pPr marL="12700" marR="328930">
              <a:lnSpc>
                <a:spcPct val="80000"/>
              </a:lnSpc>
              <a:spcBef>
                <a:spcPts val="660"/>
              </a:spcBef>
            </a:pPr>
            <a:r>
              <a:rPr sz="2900" dirty="0">
                <a:latin typeface="Times New Roman"/>
                <a:cs typeface="Times New Roman"/>
              </a:rPr>
              <a:t>It is </a:t>
            </a:r>
            <a:r>
              <a:rPr sz="2900" spc="-5" dirty="0">
                <a:latin typeface="Times New Roman"/>
                <a:cs typeface="Times New Roman"/>
              </a:rPr>
              <a:t>performed </a:t>
            </a:r>
            <a:r>
              <a:rPr sz="2900" dirty="0">
                <a:latin typeface="Times New Roman"/>
                <a:cs typeface="Times New Roman"/>
              </a:rPr>
              <a:t>by the </a:t>
            </a:r>
            <a:r>
              <a:rPr sz="2900" spc="-10" dirty="0">
                <a:latin typeface="Times New Roman"/>
                <a:cs typeface="Times New Roman"/>
              </a:rPr>
              <a:t>customer </a:t>
            </a:r>
            <a:r>
              <a:rPr sz="2900" dirty="0">
                <a:latin typeface="Times New Roman"/>
                <a:cs typeface="Times New Roman"/>
              </a:rPr>
              <a:t>to </a:t>
            </a:r>
            <a:r>
              <a:rPr sz="2900" spc="-5" dirty="0">
                <a:latin typeface="Times New Roman"/>
                <a:cs typeface="Times New Roman"/>
              </a:rPr>
              <a:t>determine </a:t>
            </a:r>
            <a:r>
              <a:rPr sz="2900" dirty="0">
                <a:latin typeface="Times New Roman"/>
                <a:cs typeface="Times New Roman"/>
              </a:rPr>
              <a:t>whether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to  </a:t>
            </a:r>
            <a:r>
              <a:rPr sz="2900" spc="-5" dirty="0">
                <a:latin typeface="Times New Roman"/>
                <a:cs typeface="Times New Roman"/>
              </a:rPr>
              <a:t>accept </a:t>
            </a:r>
            <a:r>
              <a:rPr sz="2900" dirty="0">
                <a:latin typeface="Times New Roman"/>
                <a:cs typeface="Times New Roman"/>
              </a:rPr>
              <a:t>or </a:t>
            </a:r>
            <a:r>
              <a:rPr sz="2900" spc="-5" dirty="0">
                <a:latin typeface="Times New Roman"/>
                <a:cs typeface="Times New Roman"/>
              </a:rPr>
              <a:t>reject </a:t>
            </a:r>
            <a:r>
              <a:rPr sz="2900" dirty="0">
                <a:latin typeface="Times New Roman"/>
                <a:cs typeface="Times New Roman"/>
              </a:rPr>
              <a:t>the </a:t>
            </a:r>
            <a:r>
              <a:rPr sz="2900" spc="-5" dirty="0">
                <a:latin typeface="Times New Roman"/>
                <a:cs typeface="Times New Roman"/>
              </a:rPr>
              <a:t>delivery </a:t>
            </a:r>
            <a:r>
              <a:rPr sz="2900" dirty="0">
                <a:latin typeface="Times New Roman"/>
                <a:cs typeface="Times New Roman"/>
              </a:rPr>
              <a:t>of the</a:t>
            </a:r>
            <a:r>
              <a:rPr sz="2900" spc="-7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system.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2890520">
              <a:lnSpc>
                <a:spcPts val="3925"/>
              </a:lnSpc>
            </a:pPr>
            <a:r>
              <a:rPr sz="3300" b="1" spc="-235" dirty="0">
                <a:solidFill>
                  <a:srgbClr val="310D04"/>
                </a:solidFill>
                <a:latin typeface="Arial"/>
                <a:cs typeface="Arial"/>
              </a:rPr>
              <a:t>Performance</a:t>
            </a:r>
            <a:r>
              <a:rPr sz="3300" b="1" spc="-165" dirty="0">
                <a:solidFill>
                  <a:srgbClr val="310D04"/>
                </a:solidFill>
                <a:latin typeface="Arial"/>
                <a:cs typeface="Arial"/>
              </a:rPr>
              <a:t> </a:t>
            </a:r>
            <a:r>
              <a:rPr sz="3300" b="1" spc="-315" dirty="0">
                <a:solidFill>
                  <a:srgbClr val="310D04"/>
                </a:solidFill>
                <a:latin typeface="Arial"/>
                <a:cs typeface="Arial"/>
              </a:rPr>
              <a:t>Testing</a:t>
            </a:r>
            <a:endParaRPr sz="3300">
              <a:latin typeface="Arial"/>
              <a:cs typeface="Arial"/>
            </a:endParaRPr>
          </a:p>
          <a:p>
            <a:pPr marL="12700" marR="561975">
              <a:lnSpc>
                <a:spcPts val="2780"/>
              </a:lnSpc>
              <a:spcBef>
                <a:spcPts val="645"/>
              </a:spcBef>
            </a:pPr>
            <a:r>
              <a:rPr sz="2900" dirty="0">
                <a:latin typeface="Times New Roman"/>
                <a:cs typeface="Times New Roman"/>
              </a:rPr>
              <a:t>It is carried out to check whether the </a:t>
            </a:r>
            <a:r>
              <a:rPr sz="2900" spc="-5" dirty="0">
                <a:latin typeface="Times New Roman"/>
                <a:cs typeface="Times New Roman"/>
              </a:rPr>
              <a:t>system </a:t>
            </a:r>
            <a:r>
              <a:rPr sz="2900" spc="-10" dirty="0">
                <a:latin typeface="Times New Roman"/>
                <a:cs typeface="Times New Roman"/>
              </a:rPr>
              <a:t>meets</a:t>
            </a:r>
            <a:r>
              <a:rPr sz="2900" spc="-1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  nonfunctional </a:t>
            </a:r>
            <a:r>
              <a:rPr sz="2900" spc="-5" dirty="0">
                <a:latin typeface="Times New Roman"/>
                <a:cs typeface="Times New Roman"/>
              </a:rPr>
              <a:t>requirements </a:t>
            </a:r>
            <a:r>
              <a:rPr sz="2900" dirty="0">
                <a:latin typeface="Times New Roman"/>
                <a:cs typeface="Times New Roman"/>
              </a:rPr>
              <a:t>identified in the SRS  </a:t>
            </a:r>
            <a:r>
              <a:rPr sz="2900" spc="-5" dirty="0">
                <a:latin typeface="Times New Roman"/>
                <a:cs typeface="Times New Roman"/>
              </a:rPr>
              <a:t>document.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7437" y="0"/>
            <a:ext cx="8056880" cy="6858000"/>
          </a:xfrm>
          <a:custGeom>
            <a:avLst/>
            <a:gdLst/>
            <a:ahLst/>
            <a:cxnLst/>
            <a:rect l="l" t="t" r="r" b="b"/>
            <a:pathLst>
              <a:path w="8056880" h="6858000">
                <a:moveTo>
                  <a:pt x="0" y="6858000"/>
                </a:moveTo>
                <a:lnTo>
                  <a:pt x="8056562" y="6858000"/>
                </a:lnTo>
                <a:lnTo>
                  <a:pt x="805656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736" y="0"/>
            <a:ext cx="155447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7175" y="3387852"/>
            <a:ext cx="82296" cy="8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092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730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1435" y="1413763"/>
            <a:ext cx="210312" cy="2103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5085" y="1338325"/>
            <a:ext cx="312051" cy="2921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69339" y="252425"/>
            <a:ext cx="76041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95" dirty="0"/>
              <a:t>Types </a:t>
            </a:r>
            <a:r>
              <a:rPr sz="4800" spc="-225" dirty="0"/>
              <a:t>of </a:t>
            </a:r>
            <a:r>
              <a:rPr sz="4800" spc="-345" dirty="0"/>
              <a:t>Performance</a:t>
            </a:r>
            <a:r>
              <a:rPr sz="4800" spc="-55" dirty="0"/>
              <a:t> </a:t>
            </a:r>
            <a:r>
              <a:rPr sz="4800" spc="-425" dirty="0"/>
              <a:t>Testing:</a:t>
            </a:r>
            <a:endParaRPr sz="4800"/>
          </a:p>
        </p:txBody>
      </p:sp>
      <p:sp>
        <p:nvSpPr>
          <p:cNvPr id="9" name="object 9"/>
          <p:cNvSpPr/>
          <p:nvPr/>
        </p:nvSpPr>
        <p:spPr>
          <a:xfrm>
            <a:off x="347472" y="1729739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7472" y="2200655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472" y="2673095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7472" y="3145535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7472" y="3617976"/>
            <a:ext cx="178308" cy="184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7472" y="4090415"/>
            <a:ext cx="178308" cy="184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7472" y="4562855"/>
            <a:ext cx="178308" cy="184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7472" y="5035296"/>
            <a:ext cx="178308" cy="184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7472" y="5507735"/>
            <a:ext cx="178308" cy="184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37817" y="1487398"/>
            <a:ext cx="3109595" cy="4276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87325" indent="8890">
              <a:lnSpc>
                <a:spcPct val="119200"/>
              </a:lnSpc>
              <a:spcBef>
                <a:spcPts val="90"/>
              </a:spcBef>
            </a:pPr>
            <a:r>
              <a:rPr sz="2600" spc="-5" dirty="0">
                <a:latin typeface="Times New Roman"/>
                <a:cs typeface="Times New Roman"/>
              </a:rPr>
              <a:t>Stress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spc="-60" dirty="0">
                <a:latin typeface="Times New Roman"/>
                <a:cs typeface="Times New Roman"/>
              </a:rPr>
              <a:t>Volume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Configuration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spc="-5" dirty="0">
                <a:latin typeface="Times New Roman"/>
                <a:cs typeface="Times New Roman"/>
              </a:rPr>
              <a:t>Compatibility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Regression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Recovery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Maintenance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  <a:p>
            <a:pPr marL="18415" marR="5080">
              <a:lnSpc>
                <a:spcPts val="3720"/>
              </a:lnSpc>
              <a:spcBef>
                <a:spcPts val="225"/>
              </a:spcBef>
            </a:pPr>
            <a:r>
              <a:rPr sz="2600" dirty="0">
                <a:latin typeface="Times New Roman"/>
                <a:cs typeface="Times New Roman"/>
              </a:rPr>
              <a:t>Documentation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  </a:t>
            </a:r>
            <a:r>
              <a:rPr sz="2600" dirty="0">
                <a:latin typeface="Times New Roman"/>
                <a:cs typeface="Times New Roman"/>
              </a:rPr>
              <a:t>Usability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Testing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590</Words>
  <Application>Microsoft Office PowerPoint</Application>
  <PresentationFormat>On-screen Show (4:3)</PresentationFormat>
  <Paragraphs>117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INTRODUCTION</vt:lpstr>
      <vt:lpstr>Error, Bug, Fault &amp; Failure</vt:lpstr>
      <vt:lpstr>SDLC(Software Development Life Cycle)</vt:lpstr>
      <vt:lpstr>Classical Waterfall Model</vt:lpstr>
      <vt:lpstr>Testing Life Cycle</vt:lpstr>
      <vt:lpstr>Test Plan</vt:lpstr>
      <vt:lpstr>Test Case</vt:lpstr>
      <vt:lpstr>Verification vs Validation</vt:lpstr>
      <vt:lpstr>PowerPoint Presentation</vt:lpstr>
      <vt:lpstr>Black box testing</vt:lpstr>
      <vt:lpstr>Black box testing</vt:lpstr>
      <vt:lpstr>PowerPoint Presentation</vt:lpstr>
      <vt:lpstr>White box testing</vt:lpstr>
      <vt:lpstr>Testing Levels</vt:lpstr>
      <vt:lpstr>UNIT TESTING</vt:lpstr>
      <vt:lpstr>INTEGRATION TESTING</vt:lpstr>
      <vt:lpstr>PowerPoint Presentation</vt:lpstr>
      <vt:lpstr>SYSTEM TESTING</vt:lpstr>
      <vt:lpstr>Alpha Testing</vt:lpstr>
      <vt:lpstr>Types of Performance Testing: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MR ASADU</cp:lastModifiedBy>
  <cp:revision>10</cp:revision>
  <dcterms:created xsi:type="dcterms:W3CDTF">2019-09-18T08:49:58Z</dcterms:created>
  <dcterms:modified xsi:type="dcterms:W3CDTF">2019-10-31T15:21:12Z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2012-08-10T00:00:00Z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2019-09-18T00:00:00Z</vt:filetime>
  </property>
</Properties>
</file>