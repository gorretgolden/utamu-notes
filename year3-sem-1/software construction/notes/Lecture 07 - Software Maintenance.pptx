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7" r:id="rId4"/>
    <p:sldId id="258" r:id="rId5"/>
    <p:sldId id="278" r:id="rId6"/>
    <p:sldId id="259" r:id="rId7"/>
    <p:sldId id="260" r:id="rId8"/>
    <p:sldId id="282" r:id="rId9"/>
    <p:sldId id="261" r:id="rId10"/>
    <p:sldId id="262" r:id="rId11"/>
    <p:sldId id="263" r:id="rId12"/>
    <p:sldId id="264" r:id="rId13"/>
    <p:sldId id="265" r:id="rId14"/>
    <p:sldId id="266" r:id="rId15"/>
    <p:sldId id="267" r:id="rId16"/>
    <p:sldId id="268" r:id="rId17"/>
    <p:sldId id="269" r:id="rId18"/>
    <p:sldId id="271" r:id="rId19"/>
    <p:sldId id="272" r:id="rId20"/>
    <p:sldId id="274" r:id="rId21"/>
    <p:sldId id="275" r:id="rId22"/>
    <p:sldId id="279" r:id="rId23"/>
    <p:sldId id="280" r:id="rId24"/>
    <p:sldId id="281"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rgbClr val="DD5F00"/>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7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rgbClr val="DD5F00"/>
                </a:solidFill>
                <a:latin typeface="Georgia"/>
                <a:cs typeface="Georg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50" b="0" i="0">
                <a:solidFill>
                  <a:srgbClr val="DD5F00"/>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0" y="0"/>
            <a:ext cx="1981200" cy="6857998"/>
          </a:xfrm>
          <a:prstGeom prst="rect">
            <a:avLst/>
          </a:prstGeom>
          <a:blipFill>
            <a:blip r:embed="rId8" cstate="print"/>
            <a:stretch>
              <a:fillRect/>
            </a:stretch>
          </a:blipFill>
        </p:spPr>
        <p:txBody>
          <a:bodyPr wrap="square" lIns="0" tIns="0" rIns="0" bIns="0" rtlCol="0"/>
          <a:lstStyle/>
          <a:p>
            <a:endParaRPr/>
          </a:p>
        </p:txBody>
      </p:sp>
      <p:sp>
        <p:nvSpPr>
          <p:cNvPr id="18" name="bk object 18"/>
          <p:cNvSpPr/>
          <p:nvPr/>
        </p:nvSpPr>
        <p:spPr>
          <a:xfrm>
            <a:off x="0" y="0"/>
            <a:ext cx="182880" cy="6858000"/>
          </a:xfrm>
          <a:custGeom>
            <a:avLst/>
            <a:gdLst/>
            <a:ahLst/>
            <a:cxnLst/>
            <a:rect l="l" t="t" r="r" b="b"/>
            <a:pathLst>
              <a:path w="182880" h="6858000">
                <a:moveTo>
                  <a:pt x="0" y="6858000"/>
                </a:moveTo>
                <a:lnTo>
                  <a:pt x="182880" y="6858000"/>
                </a:lnTo>
                <a:lnTo>
                  <a:pt x="182880" y="0"/>
                </a:lnTo>
                <a:lnTo>
                  <a:pt x="0" y="0"/>
                </a:lnTo>
                <a:lnTo>
                  <a:pt x="0" y="6858000"/>
                </a:lnTo>
                <a:close/>
              </a:path>
            </a:pathLst>
          </a:custGeom>
          <a:solidFill>
            <a:srgbClr val="505046"/>
          </a:solidFill>
        </p:spPr>
        <p:txBody>
          <a:bodyPr wrap="square" lIns="0" tIns="0" rIns="0" bIns="0" rtlCol="0"/>
          <a:lstStyle/>
          <a:p>
            <a:endParaRPr/>
          </a:p>
        </p:txBody>
      </p:sp>
      <p:sp>
        <p:nvSpPr>
          <p:cNvPr id="19" name="bk object 19"/>
          <p:cNvSpPr/>
          <p:nvPr/>
        </p:nvSpPr>
        <p:spPr>
          <a:xfrm>
            <a:off x="8823959" y="0"/>
            <a:ext cx="320040" cy="6855459"/>
          </a:xfrm>
          <a:custGeom>
            <a:avLst/>
            <a:gdLst/>
            <a:ahLst/>
            <a:cxnLst/>
            <a:rect l="l" t="t" r="r" b="b"/>
            <a:pathLst>
              <a:path w="320040" h="6855459">
                <a:moveTo>
                  <a:pt x="0" y="6854952"/>
                </a:moveTo>
                <a:lnTo>
                  <a:pt x="320040" y="6854952"/>
                </a:lnTo>
                <a:lnTo>
                  <a:pt x="320040" y="0"/>
                </a:lnTo>
                <a:lnTo>
                  <a:pt x="0" y="0"/>
                </a:lnTo>
                <a:lnTo>
                  <a:pt x="0" y="6854952"/>
                </a:lnTo>
                <a:close/>
              </a:path>
            </a:pathLst>
          </a:custGeom>
          <a:solidFill>
            <a:srgbClr val="E84B21"/>
          </a:solidFill>
        </p:spPr>
        <p:txBody>
          <a:bodyPr wrap="square" lIns="0" tIns="0" rIns="0" bIns="0" rtlCol="0"/>
          <a:lstStyle/>
          <a:p>
            <a:endParaRPr/>
          </a:p>
        </p:txBody>
      </p:sp>
      <p:sp>
        <p:nvSpPr>
          <p:cNvPr id="20" name="bk object 20"/>
          <p:cNvSpPr/>
          <p:nvPr/>
        </p:nvSpPr>
        <p:spPr>
          <a:xfrm>
            <a:off x="8823959" y="0"/>
            <a:ext cx="320040" cy="6855459"/>
          </a:xfrm>
          <a:custGeom>
            <a:avLst/>
            <a:gdLst/>
            <a:ahLst/>
            <a:cxnLst/>
            <a:rect l="l" t="t" r="r" b="b"/>
            <a:pathLst>
              <a:path w="320040" h="6855459">
                <a:moveTo>
                  <a:pt x="0" y="6854952"/>
                </a:moveTo>
                <a:lnTo>
                  <a:pt x="320040" y="6854952"/>
                </a:lnTo>
                <a:lnTo>
                  <a:pt x="320040" y="0"/>
                </a:lnTo>
                <a:lnTo>
                  <a:pt x="0" y="0"/>
                </a:lnTo>
                <a:lnTo>
                  <a:pt x="0" y="6854952"/>
                </a:lnTo>
                <a:close/>
              </a:path>
            </a:pathLst>
          </a:custGeom>
          <a:ln w="15240">
            <a:solidFill>
              <a:srgbClr val="AA3516"/>
            </a:solidFill>
          </a:ln>
        </p:spPr>
        <p:txBody>
          <a:bodyPr wrap="square" lIns="0" tIns="0" rIns="0" bIns="0" rtlCol="0"/>
          <a:lstStyle/>
          <a:p>
            <a:endParaRPr/>
          </a:p>
        </p:txBody>
      </p:sp>
      <p:sp>
        <p:nvSpPr>
          <p:cNvPr id="2" name="Holder 2"/>
          <p:cNvSpPr>
            <a:spLocks noGrp="1"/>
          </p:cNvSpPr>
          <p:nvPr>
            <p:ph type="title"/>
          </p:nvPr>
        </p:nvSpPr>
        <p:spPr>
          <a:xfrm>
            <a:off x="3143885" y="1250060"/>
            <a:ext cx="2856229" cy="643889"/>
          </a:xfrm>
          <a:prstGeom prst="rect">
            <a:avLst/>
          </a:prstGeom>
        </p:spPr>
        <p:txBody>
          <a:bodyPr wrap="square" lIns="0" tIns="0" rIns="0" bIns="0">
            <a:spAutoFit/>
          </a:bodyPr>
          <a:lstStyle>
            <a:lvl1pPr>
              <a:defRPr sz="4050" b="0" i="0">
                <a:solidFill>
                  <a:srgbClr val="DD5F00"/>
                </a:solidFill>
                <a:latin typeface="Georgia"/>
                <a:cs typeface="Georgia"/>
              </a:defRPr>
            </a:lvl1pPr>
          </a:lstStyle>
          <a:p>
            <a:endParaRPr/>
          </a:p>
        </p:txBody>
      </p:sp>
      <p:sp>
        <p:nvSpPr>
          <p:cNvPr id="3" name="Holder 3"/>
          <p:cNvSpPr>
            <a:spLocks noGrp="1"/>
          </p:cNvSpPr>
          <p:nvPr>
            <p:ph type="body" idx="1"/>
          </p:nvPr>
        </p:nvSpPr>
        <p:spPr>
          <a:xfrm>
            <a:off x="1210182" y="1683257"/>
            <a:ext cx="6723634" cy="1495425"/>
          </a:xfrm>
          <a:prstGeom prst="rect">
            <a:avLst/>
          </a:prstGeom>
        </p:spPr>
        <p:txBody>
          <a:bodyPr wrap="square" lIns="0" tIns="0" rIns="0" bIns="0">
            <a:spAutoFit/>
          </a:bodyPr>
          <a:lstStyle>
            <a:lvl1pPr>
              <a:defRPr sz="17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a:xfrm>
            <a:off x="6562725" y="6598570"/>
            <a:ext cx="1163954" cy="153670"/>
          </a:xfrm>
          <a:prstGeom prst="rect">
            <a:avLst/>
          </a:prstGeom>
        </p:spPr>
        <p:txBody>
          <a:bodyPr wrap="square" lIns="0" tIns="0" rIns="0" bIns="0">
            <a:spAutoFit/>
          </a:bodyPr>
          <a:lstStyle>
            <a:lvl1pPr>
              <a:defRPr sz="900" b="0" i="0">
                <a:solidFill>
                  <a:srgbClr val="0D0D0D"/>
                </a:solidFill>
                <a:latin typeface="Arial"/>
                <a:cs typeface="Arial"/>
              </a:defRPr>
            </a:lvl1pPr>
          </a:lstStyle>
          <a:p>
            <a:pPr marL="12700">
              <a:lnSpc>
                <a:spcPct val="100000"/>
              </a:lnSpc>
              <a:spcBef>
                <a:spcPts val="15"/>
              </a:spcBef>
            </a:pPr>
            <a:r>
              <a:rPr spc="-5" dirty="0"/>
              <a:t>Software</a:t>
            </a:r>
            <a:r>
              <a:rPr spc="-25" dirty="0"/>
              <a:t> </a:t>
            </a:r>
            <a:r>
              <a:rPr spc="-5" dirty="0"/>
              <a:t>Maintenance</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11/25/2019</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4320631"/>
            <a:ext cx="1371600" cy="782320"/>
          </a:xfrm>
          <a:custGeom>
            <a:avLst/>
            <a:gdLst/>
            <a:ahLst/>
            <a:cxnLst/>
            <a:rect l="l" t="t" r="r" b="b"/>
            <a:pathLst>
              <a:path w="1371600" h="782320">
                <a:moveTo>
                  <a:pt x="0" y="0"/>
                </a:moveTo>
                <a:lnTo>
                  <a:pt x="0" y="780982"/>
                </a:lnTo>
                <a:lnTo>
                  <a:pt x="974623" y="781720"/>
                </a:lnTo>
                <a:lnTo>
                  <a:pt x="984288" y="780912"/>
                </a:lnTo>
                <a:lnTo>
                  <a:pt x="992197" y="778783"/>
                </a:lnTo>
                <a:lnTo>
                  <a:pt x="998347" y="775773"/>
                </a:lnTo>
                <a:lnTo>
                  <a:pt x="1002741" y="772322"/>
                </a:lnTo>
                <a:lnTo>
                  <a:pt x="1002741" y="767623"/>
                </a:lnTo>
                <a:lnTo>
                  <a:pt x="1007427" y="767623"/>
                </a:lnTo>
                <a:lnTo>
                  <a:pt x="1363980" y="411134"/>
                </a:lnTo>
                <a:lnTo>
                  <a:pt x="1369266" y="402564"/>
                </a:lnTo>
                <a:lnTo>
                  <a:pt x="1371028" y="391814"/>
                </a:lnTo>
                <a:lnTo>
                  <a:pt x="1369266" y="380184"/>
                </a:lnTo>
                <a:lnTo>
                  <a:pt x="1363980" y="368970"/>
                </a:lnTo>
                <a:lnTo>
                  <a:pt x="1007427" y="17180"/>
                </a:lnTo>
                <a:lnTo>
                  <a:pt x="1007427" y="12354"/>
                </a:lnTo>
                <a:lnTo>
                  <a:pt x="1002741" y="12354"/>
                </a:lnTo>
                <a:lnTo>
                  <a:pt x="998347" y="8977"/>
                </a:lnTo>
                <a:lnTo>
                  <a:pt x="992197" y="6004"/>
                </a:lnTo>
                <a:lnTo>
                  <a:pt x="984288" y="3889"/>
                </a:lnTo>
                <a:lnTo>
                  <a:pt x="974623" y="3083"/>
                </a:lnTo>
                <a:lnTo>
                  <a:pt x="0" y="0"/>
                </a:lnTo>
                <a:close/>
              </a:path>
            </a:pathLst>
          </a:custGeom>
          <a:solidFill>
            <a:srgbClr val="E84B21"/>
          </a:solidFill>
        </p:spPr>
        <p:txBody>
          <a:bodyPr wrap="square" lIns="0" tIns="0" rIns="0" bIns="0" rtlCol="0"/>
          <a:lstStyle/>
          <a:p>
            <a:endParaRPr/>
          </a:p>
        </p:txBody>
      </p:sp>
      <p:sp>
        <p:nvSpPr>
          <p:cNvPr id="6" name="object 6"/>
          <p:cNvSpPr txBox="1"/>
          <p:nvPr/>
        </p:nvSpPr>
        <p:spPr>
          <a:xfrm>
            <a:off x="762711" y="4540377"/>
            <a:ext cx="167005"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DFFFF"/>
                </a:solidFill>
                <a:latin typeface="Arial"/>
                <a:cs typeface="Arial"/>
              </a:rPr>
              <a:t>1</a:t>
            </a:r>
            <a:endParaRPr sz="2000">
              <a:latin typeface="Arial"/>
              <a:cs typeface="Arial"/>
            </a:endParaRPr>
          </a:p>
        </p:txBody>
      </p:sp>
      <p:sp>
        <p:nvSpPr>
          <p:cNvPr id="8" name="object 8"/>
          <p:cNvSpPr txBox="1"/>
          <p:nvPr/>
        </p:nvSpPr>
        <p:spPr>
          <a:xfrm>
            <a:off x="265582" y="6582867"/>
            <a:ext cx="116395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0D0D0D"/>
                </a:solidFill>
                <a:latin typeface="Arial"/>
                <a:cs typeface="Arial"/>
              </a:rPr>
              <a:t>Software</a:t>
            </a:r>
            <a:r>
              <a:rPr sz="900" spc="-25" dirty="0">
                <a:solidFill>
                  <a:srgbClr val="0D0D0D"/>
                </a:solidFill>
                <a:latin typeface="Arial"/>
                <a:cs typeface="Arial"/>
              </a:rPr>
              <a:t> </a:t>
            </a:r>
            <a:r>
              <a:rPr sz="900" spc="-5" dirty="0">
                <a:solidFill>
                  <a:srgbClr val="0D0D0D"/>
                </a:solidFill>
                <a:latin typeface="Arial"/>
                <a:cs typeface="Arial"/>
              </a:rPr>
              <a:t>Maintenance</a:t>
            </a:r>
            <a:endParaRPr sz="900">
              <a:latin typeface="Arial"/>
              <a:cs typeface="Arial"/>
            </a:endParaRPr>
          </a:p>
        </p:txBody>
      </p:sp>
      <p:sp>
        <p:nvSpPr>
          <p:cNvPr id="9" name="Title 8"/>
          <p:cNvSpPr>
            <a:spLocks noGrp="1"/>
          </p:cNvSpPr>
          <p:nvPr>
            <p:ph type="ctrTitle"/>
          </p:nvPr>
        </p:nvSpPr>
        <p:spPr>
          <a:xfrm>
            <a:off x="846213" y="864261"/>
            <a:ext cx="7772400" cy="623248"/>
          </a:xfrm>
        </p:spPr>
        <p:txBody>
          <a:bodyPr/>
          <a:lstStyle/>
          <a:p>
            <a:r>
              <a:rPr lang="en-US" b="1" dirty="0" smtClean="0">
                <a:solidFill>
                  <a:srgbClr val="FF0000"/>
                </a:solidFill>
              </a:rPr>
              <a:t>SOFTWARE MAINTENANCE</a:t>
            </a:r>
            <a:endParaRPr lang="en-US" b="1" dirty="0">
              <a:solidFill>
                <a:srgbClr val="FF0000"/>
              </a:solidFill>
            </a:endParaRPr>
          </a:p>
        </p:txBody>
      </p:sp>
      <p:sp>
        <p:nvSpPr>
          <p:cNvPr id="10" name="Subtitle 9"/>
          <p:cNvSpPr>
            <a:spLocks noGrp="1"/>
          </p:cNvSpPr>
          <p:nvPr>
            <p:ph type="subTitle" idx="4"/>
          </p:nvPr>
        </p:nvSpPr>
        <p:spPr/>
        <p:txBody>
          <a:bodyPr/>
          <a:lstStyle/>
          <a:p>
            <a:endParaRPr lang="en-US"/>
          </a:p>
        </p:txBody>
      </p:sp>
      <p:pic>
        <p:nvPicPr>
          <p:cNvPr id="11" name="Picture 10"/>
          <p:cNvPicPr>
            <a:picLocks noChangeAspect="1"/>
          </p:cNvPicPr>
          <p:nvPr/>
        </p:nvPicPr>
        <p:blipFill>
          <a:blip r:embed="rId2"/>
          <a:stretch>
            <a:fillRect/>
          </a:stretch>
        </p:blipFill>
        <p:spPr>
          <a:xfrm>
            <a:off x="1371600" y="1602105"/>
            <a:ext cx="7038975" cy="3952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5443348" cy="474489"/>
          </a:xfrm>
          <a:prstGeom prst="rect">
            <a:avLst/>
          </a:prstGeom>
        </p:spPr>
        <p:txBody>
          <a:bodyPr vert="horz" wrap="square" lIns="0" tIns="12700" rIns="0" bIns="0" rtlCol="0">
            <a:spAutoFit/>
          </a:bodyPr>
          <a:lstStyle/>
          <a:p>
            <a:pPr marL="12700">
              <a:lnSpc>
                <a:spcPct val="100000"/>
              </a:lnSpc>
              <a:spcBef>
                <a:spcPts val="100"/>
              </a:spcBef>
            </a:pPr>
            <a:r>
              <a:rPr lang="en-US" sz="3000" b="1" spc="-5" dirty="0" smtClean="0">
                <a:solidFill>
                  <a:srgbClr val="FF0000"/>
                </a:solidFill>
                <a:latin typeface="Times New Roman"/>
                <a:cs typeface="Times New Roman"/>
              </a:rPr>
              <a:t>What is software maintenance?</a:t>
            </a:r>
            <a:endParaRPr sz="3000" b="1" dirty="0">
              <a:solidFill>
                <a:srgbClr val="FF0000"/>
              </a:solidFill>
              <a:latin typeface="Times New Roman"/>
              <a:cs typeface="Times New Roman"/>
            </a:endParaRPr>
          </a:p>
        </p:txBody>
      </p:sp>
      <p:sp>
        <p:nvSpPr>
          <p:cNvPr id="6" name="object 6"/>
          <p:cNvSpPr txBox="1"/>
          <p:nvPr/>
        </p:nvSpPr>
        <p:spPr>
          <a:xfrm>
            <a:off x="1175105" y="1930349"/>
            <a:ext cx="2656840" cy="300355"/>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6235" algn="l"/>
                <a:tab pos="1489075" algn="l"/>
              </a:tabLst>
            </a:pPr>
            <a:r>
              <a:rPr sz="1800" spc="-5" dirty="0">
                <a:solidFill>
                  <a:srgbClr val="404040"/>
                </a:solidFill>
                <a:latin typeface="Times New Roman"/>
                <a:cs typeface="Times New Roman"/>
              </a:rPr>
              <a:t>Software	maintenance</a:t>
            </a:r>
            <a:endParaRPr sz="1800">
              <a:latin typeface="Times New Roman"/>
              <a:cs typeface="Times New Roman"/>
            </a:endParaRPr>
          </a:p>
        </p:txBody>
      </p:sp>
      <p:sp>
        <p:nvSpPr>
          <p:cNvPr id="7" name="object 7"/>
          <p:cNvSpPr txBox="1"/>
          <p:nvPr/>
        </p:nvSpPr>
        <p:spPr>
          <a:xfrm>
            <a:off x="4114038" y="1930349"/>
            <a:ext cx="765810" cy="300355"/>
          </a:xfrm>
          <a:prstGeom prst="rect">
            <a:avLst/>
          </a:prstGeom>
        </p:spPr>
        <p:txBody>
          <a:bodyPr vert="horz" wrap="square" lIns="0" tIns="12700" rIns="0" bIns="0" rtlCol="0">
            <a:spAutoFit/>
          </a:bodyPr>
          <a:lstStyle/>
          <a:p>
            <a:pPr marL="12700">
              <a:lnSpc>
                <a:spcPct val="100000"/>
              </a:lnSpc>
              <a:spcBef>
                <a:spcPts val="100"/>
              </a:spcBef>
              <a:tabLst>
                <a:tab pos="472440" algn="l"/>
              </a:tabLst>
            </a:pPr>
            <a:r>
              <a:rPr sz="1800" dirty="0">
                <a:solidFill>
                  <a:srgbClr val="404040"/>
                </a:solidFill>
                <a:latin typeface="Times New Roman"/>
                <a:cs typeface="Times New Roman"/>
              </a:rPr>
              <a:t>is	the</a:t>
            </a:r>
            <a:endParaRPr sz="1800">
              <a:latin typeface="Times New Roman"/>
              <a:cs typeface="Times New Roman"/>
            </a:endParaRPr>
          </a:p>
        </p:txBody>
      </p:sp>
      <p:sp>
        <p:nvSpPr>
          <p:cNvPr id="8" name="object 8"/>
          <p:cNvSpPr txBox="1"/>
          <p:nvPr/>
        </p:nvSpPr>
        <p:spPr>
          <a:xfrm>
            <a:off x="1518030" y="2205354"/>
            <a:ext cx="3359785" cy="1122680"/>
          </a:xfrm>
          <a:prstGeom prst="rect">
            <a:avLst/>
          </a:prstGeom>
        </p:spPr>
        <p:txBody>
          <a:bodyPr vert="horz" wrap="square" lIns="0" tIns="12700" rIns="0" bIns="0" rtlCol="0">
            <a:spAutoFit/>
          </a:bodyPr>
          <a:lstStyle/>
          <a:p>
            <a:pPr marL="12700" marR="5080" algn="just">
              <a:lnSpc>
                <a:spcPct val="100000"/>
              </a:lnSpc>
              <a:spcBef>
                <a:spcPts val="100"/>
              </a:spcBef>
            </a:pPr>
            <a:r>
              <a:rPr sz="1800" dirty="0">
                <a:solidFill>
                  <a:srgbClr val="404040"/>
                </a:solidFill>
                <a:latin typeface="Times New Roman"/>
                <a:cs typeface="Times New Roman"/>
              </a:rPr>
              <a:t>modification of a software </a:t>
            </a:r>
            <a:r>
              <a:rPr sz="1800" spc="-5" dirty="0">
                <a:solidFill>
                  <a:srgbClr val="404040"/>
                </a:solidFill>
                <a:latin typeface="Times New Roman"/>
                <a:cs typeface="Times New Roman"/>
              </a:rPr>
              <a:t>product  </a:t>
            </a:r>
            <a:r>
              <a:rPr sz="1800" dirty="0">
                <a:solidFill>
                  <a:srgbClr val="404040"/>
                </a:solidFill>
                <a:latin typeface="Times New Roman"/>
                <a:cs typeface="Times New Roman"/>
              </a:rPr>
              <a:t>after </a:t>
            </a:r>
            <a:r>
              <a:rPr sz="1800" spc="-5" dirty="0">
                <a:solidFill>
                  <a:srgbClr val="404040"/>
                </a:solidFill>
                <a:latin typeface="Times New Roman"/>
                <a:cs typeface="Times New Roman"/>
              </a:rPr>
              <a:t>delivery to </a:t>
            </a:r>
            <a:r>
              <a:rPr sz="1800" dirty="0">
                <a:solidFill>
                  <a:srgbClr val="404040"/>
                </a:solidFill>
                <a:latin typeface="Times New Roman"/>
                <a:cs typeface="Times New Roman"/>
              </a:rPr>
              <a:t>correct </a:t>
            </a:r>
            <a:r>
              <a:rPr sz="1800" spc="-5" dirty="0">
                <a:solidFill>
                  <a:srgbClr val="404040"/>
                </a:solidFill>
                <a:latin typeface="Times New Roman"/>
                <a:cs typeface="Times New Roman"/>
              </a:rPr>
              <a:t>faults, </a:t>
            </a:r>
            <a:r>
              <a:rPr sz="1800" dirty="0">
                <a:solidFill>
                  <a:srgbClr val="404040"/>
                </a:solidFill>
                <a:latin typeface="Times New Roman"/>
                <a:cs typeface="Times New Roman"/>
              </a:rPr>
              <a:t>to  improve </a:t>
            </a:r>
            <a:r>
              <a:rPr sz="1800" spc="-5" dirty="0">
                <a:solidFill>
                  <a:srgbClr val="404040"/>
                </a:solidFill>
                <a:latin typeface="Times New Roman"/>
                <a:cs typeface="Times New Roman"/>
              </a:rPr>
              <a:t>performance </a:t>
            </a:r>
            <a:r>
              <a:rPr sz="1800" dirty="0">
                <a:solidFill>
                  <a:srgbClr val="404040"/>
                </a:solidFill>
                <a:latin typeface="Times New Roman"/>
                <a:cs typeface="Times New Roman"/>
              </a:rPr>
              <a:t>or </a:t>
            </a:r>
            <a:r>
              <a:rPr sz="1800" spc="-5" dirty="0">
                <a:solidFill>
                  <a:srgbClr val="404040"/>
                </a:solidFill>
                <a:latin typeface="Times New Roman"/>
                <a:cs typeface="Times New Roman"/>
              </a:rPr>
              <a:t>other  </a:t>
            </a:r>
            <a:r>
              <a:rPr sz="1800" dirty="0">
                <a:solidFill>
                  <a:srgbClr val="404040"/>
                </a:solidFill>
                <a:latin typeface="Times New Roman"/>
                <a:cs typeface="Times New Roman"/>
              </a:rPr>
              <a:t>attributes.</a:t>
            </a:r>
            <a:endParaRPr sz="1800" dirty="0">
              <a:latin typeface="Times New Roman"/>
              <a:cs typeface="Times New Roman"/>
            </a:endParaRPr>
          </a:p>
        </p:txBody>
      </p:sp>
      <p:sp>
        <p:nvSpPr>
          <p:cNvPr id="9" name="object 9"/>
          <p:cNvSpPr txBox="1"/>
          <p:nvPr/>
        </p:nvSpPr>
        <p:spPr>
          <a:xfrm>
            <a:off x="1175105" y="3428822"/>
            <a:ext cx="1730375" cy="300355"/>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6235" algn="l"/>
                <a:tab pos="917575" algn="l"/>
              </a:tabLst>
            </a:pPr>
            <a:r>
              <a:rPr sz="1800" dirty="0">
                <a:solidFill>
                  <a:srgbClr val="404040"/>
                </a:solidFill>
                <a:latin typeface="Times New Roman"/>
                <a:cs typeface="Times New Roman"/>
              </a:rPr>
              <a:t>A	co</a:t>
            </a:r>
            <a:r>
              <a:rPr sz="1800" spc="-10" dirty="0">
                <a:solidFill>
                  <a:srgbClr val="404040"/>
                </a:solidFill>
                <a:latin typeface="Times New Roman"/>
                <a:cs typeface="Times New Roman"/>
              </a:rPr>
              <a:t>m</a:t>
            </a:r>
            <a:r>
              <a:rPr sz="1800" spc="-15" dirty="0">
                <a:solidFill>
                  <a:srgbClr val="404040"/>
                </a:solidFill>
                <a:latin typeface="Times New Roman"/>
                <a:cs typeface="Times New Roman"/>
              </a:rPr>
              <a:t>m</a:t>
            </a:r>
            <a:r>
              <a:rPr sz="1800" dirty="0">
                <a:solidFill>
                  <a:srgbClr val="404040"/>
                </a:solidFill>
                <a:latin typeface="Times New Roman"/>
                <a:cs typeface="Times New Roman"/>
              </a:rPr>
              <a:t>on</a:t>
            </a:r>
            <a:endParaRPr sz="1800" dirty="0">
              <a:latin typeface="Times New Roman"/>
              <a:cs typeface="Times New Roman"/>
            </a:endParaRPr>
          </a:p>
        </p:txBody>
      </p:sp>
      <p:sp>
        <p:nvSpPr>
          <p:cNvPr id="10" name="object 10"/>
          <p:cNvSpPr txBox="1"/>
          <p:nvPr/>
        </p:nvSpPr>
        <p:spPr>
          <a:xfrm>
            <a:off x="3289172" y="3428822"/>
            <a:ext cx="1589405" cy="300355"/>
          </a:xfrm>
          <a:prstGeom prst="rect">
            <a:avLst/>
          </a:prstGeom>
        </p:spPr>
        <p:txBody>
          <a:bodyPr vert="horz" wrap="square" lIns="0" tIns="12700" rIns="0" bIns="0" rtlCol="0">
            <a:spAutoFit/>
          </a:bodyPr>
          <a:lstStyle/>
          <a:p>
            <a:pPr marL="12700">
              <a:lnSpc>
                <a:spcPct val="100000"/>
              </a:lnSpc>
              <a:spcBef>
                <a:spcPts val="100"/>
              </a:spcBef>
              <a:tabLst>
                <a:tab pos="1385570" algn="l"/>
              </a:tabLst>
            </a:pPr>
            <a:r>
              <a:rPr sz="1800" dirty="0">
                <a:solidFill>
                  <a:srgbClr val="404040"/>
                </a:solidFill>
                <a:latin typeface="Times New Roman"/>
                <a:cs typeface="Times New Roman"/>
              </a:rPr>
              <a:t>pe</a:t>
            </a:r>
            <a:r>
              <a:rPr sz="1800" spc="-10" dirty="0">
                <a:solidFill>
                  <a:srgbClr val="404040"/>
                </a:solidFill>
                <a:latin typeface="Times New Roman"/>
                <a:cs typeface="Times New Roman"/>
              </a:rPr>
              <a:t>r</a:t>
            </a:r>
            <a:r>
              <a:rPr sz="1800" dirty="0">
                <a:solidFill>
                  <a:srgbClr val="404040"/>
                </a:solidFill>
                <a:latin typeface="Times New Roman"/>
                <a:cs typeface="Times New Roman"/>
              </a:rPr>
              <a:t>c</a:t>
            </a:r>
            <a:r>
              <a:rPr sz="1800" spc="5" dirty="0">
                <a:solidFill>
                  <a:srgbClr val="404040"/>
                </a:solidFill>
                <a:latin typeface="Times New Roman"/>
                <a:cs typeface="Times New Roman"/>
              </a:rPr>
              <a:t>e</a:t>
            </a:r>
            <a:r>
              <a:rPr sz="1800" dirty="0">
                <a:solidFill>
                  <a:srgbClr val="404040"/>
                </a:solidFill>
                <a:latin typeface="Times New Roman"/>
                <a:cs typeface="Times New Roman"/>
              </a:rPr>
              <a:t>p</a:t>
            </a:r>
            <a:r>
              <a:rPr sz="1800" spc="-15" dirty="0">
                <a:solidFill>
                  <a:srgbClr val="404040"/>
                </a:solidFill>
                <a:latin typeface="Times New Roman"/>
                <a:cs typeface="Times New Roman"/>
              </a:rPr>
              <a:t>t</a:t>
            </a:r>
            <a:r>
              <a:rPr sz="1800" dirty="0">
                <a:solidFill>
                  <a:srgbClr val="404040"/>
                </a:solidFill>
                <a:latin typeface="Times New Roman"/>
                <a:cs typeface="Times New Roman"/>
              </a:rPr>
              <a:t>ion	</a:t>
            </a:r>
            <a:r>
              <a:rPr sz="1800" spc="-5" dirty="0">
                <a:solidFill>
                  <a:srgbClr val="404040"/>
                </a:solidFill>
                <a:latin typeface="Times New Roman"/>
                <a:cs typeface="Times New Roman"/>
              </a:rPr>
              <a:t>of</a:t>
            </a:r>
            <a:endParaRPr sz="1800">
              <a:latin typeface="Times New Roman"/>
              <a:cs typeface="Times New Roman"/>
            </a:endParaRPr>
          </a:p>
        </p:txBody>
      </p:sp>
      <p:sp>
        <p:nvSpPr>
          <p:cNvPr id="11" name="object 11"/>
          <p:cNvSpPr txBox="1"/>
          <p:nvPr/>
        </p:nvSpPr>
        <p:spPr>
          <a:xfrm>
            <a:off x="1518030" y="3703701"/>
            <a:ext cx="1565910" cy="299720"/>
          </a:xfrm>
          <a:prstGeom prst="rect">
            <a:avLst/>
          </a:prstGeom>
        </p:spPr>
        <p:txBody>
          <a:bodyPr vert="horz" wrap="square" lIns="0" tIns="12700" rIns="0" bIns="0" rtlCol="0">
            <a:spAutoFit/>
          </a:bodyPr>
          <a:lstStyle/>
          <a:p>
            <a:pPr marL="12700">
              <a:lnSpc>
                <a:spcPct val="100000"/>
              </a:lnSpc>
              <a:spcBef>
                <a:spcPts val="100"/>
              </a:spcBef>
              <a:tabLst>
                <a:tab pos="1399540" algn="l"/>
              </a:tabLst>
            </a:pPr>
            <a:r>
              <a:rPr sz="1800" spc="-10" dirty="0">
                <a:solidFill>
                  <a:srgbClr val="404040"/>
                </a:solidFill>
                <a:latin typeface="Times New Roman"/>
                <a:cs typeface="Times New Roman"/>
              </a:rPr>
              <a:t>m</a:t>
            </a:r>
            <a:r>
              <a:rPr sz="1800" dirty="0">
                <a:solidFill>
                  <a:srgbClr val="404040"/>
                </a:solidFill>
                <a:latin typeface="Times New Roman"/>
                <a:cs typeface="Times New Roman"/>
              </a:rPr>
              <a:t>a</a:t>
            </a:r>
            <a:r>
              <a:rPr sz="1800" spc="5" dirty="0">
                <a:solidFill>
                  <a:srgbClr val="404040"/>
                </a:solidFill>
                <a:latin typeface="Times New Roman"/>
                <a:cs typeface="Times New Roman"/>
              </a:rPr>
              <a:t>i</a:t>
            </a:r>
            <a:r>
              <a:rPr sz="1800" dirty="0">
                <a:solidFill>
                  <a:srgbClr val="404040"/>
                </a:solidFill>
                <a:latin typeface="Times New Roman"/>
                <a:cs typeface="Times New Roman"/>
              </a:rPr>
              <a:t>nt</a:t>
            </a:r>
            <a:r>
              <a:rPr sz="1800" spc="5" dirty="0">
                <a:solidFill>
                  <a:srgbClr val="404040"/>
                </a:solidFill>
                <a:latin typeface="Times New Roman"/>
                <a:cs typeface="Times New Roman"/>
              </a:rPr>
              <a:t>e</a:t>
            </a:r>
            <a:r>
              <a:rPr sz="1800" dirty="0">
                <a:solidFill>
                  <a:srgbClr val="404040"/>
                </a:solidFill>
                <a:latin typeface="Times New Roman"/>
                <a:cs typeface="Times New Roman"/>
              </a:rPr>
              <a:t>nance	</a:t>
            </a:r>
            <a:r>
              <a:rPr sz="1800" spc="-5" dirty="0">
                <a:solidFill>
                  <a:srgbClr val="404040"/>
                </a:solidFill>
                <a:latin typeface="Times New Roman"/>
                <a:cs typeface="Times New Roman"/>
              </a:rPr>
              <a:t>is</a:t>
            </a:r>
            <a:endParaRPr sz="1800">
              <a:latin typeface="Times New Roman"/>
              <a:cs typeface="Times New Roman"/>
            </a:endParaRPr>
          </a:p>
        </p:txBody>
      </p:sp>
      <p:sp>
        <p:nvSpPr>
          <p:cNvPr id="12" name="object 12"/>
          <p:cNvSpPr txBox="1"/>
          <p:nvPr/>
        </p:nvSpPr>
        <p:spPr>
          <a:xfrm>
            <a:off x="3287648" y="3703701"/>
            <a:ext cx="1589405" cy="299720"/>
          </a:xfrm>
          <a:prstGeom prst="rect">
            <a:avLst/>
          </a:prstGeom>
        </p:spPr>
        <p:txBody>
          <a:bodyPr vert="horz" wrap="square" lIns="0" tIns="12700" rIns="0" bIns="0" rtlCol="0">
            <a:spAutoFit/>
          </a:bodyPr>
          <a:lstStyle/>
          <a:p>
            <a:pPr marL="12700">
              <a:lnSpc>
                <a:spcPct val="100000"/>
              </a:lnSpc>
              <a:spcBef>
                <a:spcPts val="100"/>
              </a:spcBef>
              <a:tabLst>
                <a:tab pos="585470" algn="l"/>
                <a:tab pos="942340" algn="l"/>
              </a:tabLst>
            </a:pPr>
            <a:r>
              <a:rPr sz="1800" dirty="0">
                <a:solidFill>
                  <a:srgbClr val="404040"/>
                </a:solidFill>
                <a:latin typeface="Times New Roman"/>
                <a:cs typeface="Times New Roman"/>
              </a:rPr>
              <a:t>t</a:t>
            </a:r>
            <a:r>
              <a:rPr sz="1800" spc="-10" dirty="0">
                <a:solidFill>
                  <a:srgbClr val="404040"/>
                </a:solidFill>
                <a:latin typeface="Times New Roman"/>
                <a:cs typeface="Times New Roman"/>
              </a:rPr>
              <a:t>h</a:t>
            </a:r>
            <a:r>
              <a:rPr sz="1800" dirty="0">
                <a:solidFill>
                  <a:srgbClr val="404040"/>
                </a:solidFill>
                <a:latin typeface="Times New Roman"/>
                <a:cs typeface="Times New Roman"/>
              </a:rPr>
              <a:t>at	</a:t>
            </a:r>
            <a:r>
              <a:rPr sz="1800" spc="-10" dirty="0">
                <a:solidFill>
                  <a:srgbClr val="404040"/>
                </a:solidFill>
                <a:latin typeface="Times New Roman"/>
                <a:cs typeface="Times New Roman"/>
              </a:rPr>
              <a:t>i</a:t>
            </a:r>
            <a:r>
              <a:rPr sz="1800" dirty="0">
                <a:solidFill>
                  <a:srgbClr val="404040"/>
                </a:solidFill>
                <a:latin typeface="Times New Roman"/>
                <a:cs typeface="Times New Roman"/>
              </a:rPr>
              <a:t>t	</a:t>
            </a:r>
            <a:r>
              <a:rPr sz="1800" spc="-10" dirty="0">
                <a:solidFill>
                  <a:srgbClr val="404040"/>
                </a:solidFill>
                <a:latin typeface="Times New Roman"/>
                <a:cs typeface="Times New Roman"/>
              </a:rPr>
              <a:t>m</a:t>
            </a:r>
            <a:r>
              <a:rPr sz="1800" dirty="0">
                <a:solidFill>
                  <a:srgbClr val="404040"/>
                </a:solidFill>
                <a:latin typeface="Times New Roman"/>
                <a:cs typeface="Times New Roman"/>
              </a:rPr>
              <a:t>er</a:t>
            </a:r>
            <a:r>
              <a:rPr sz="1800" spc="5" dirty="0">
                <a:solidFill>
                  <a:srgbClr val="404040"/>
                </a:solidFill>
                <a:latin typeface="Times New Roman"/>
                <a:cs typeface="Times New Roman"/>
              </a:rPr>
              <a:t>e</a:t>
            </a:r>
            <a:r>
              <a:rPr sz="1800" spc="-10" dirty="0">
                <a:solidFill>
                  <a:srgbClr val="404040"/>
                </a:solidFill>
                <a:latin typeface="Times New Roman"/>
                <a:cs typeface="Times New Roman"/>
              </a:rPr>
              <a:t>l</a:t>
            </a:r>
            <a:r>
              <a:rPr sz="1800" dirty="0">
                <a:solidFill>
                  <a:srgbClr val="404040"/>
                </a:solidFill>
                <a:latin typeface="Times New Roman"/>
                <a:cs typeface="Times New Roman"/>
              </a:rPr>
              <a:t>y</a:t>
            </a:r>
            <a:endParaRPr sz="1800">
              <a:latin typeface="Times New Roman"/>
              <a:cs typeface="Times New Roman"/>
            </a:endParaRPr>
          </a:p>
        </p:txBody>
      </p:sp>
      <p:sp>
        <p:nvSpPr>
          <p:cNvPr id="13" name="object 13"/>
          <p:cNvSpPr txBox="1"/>
          <p:nvPr/>
        </p:nvSpPr>
        <p:spPr>
          <a:xfrm>
            <a:off x="1175105" y="3850004"/>
            <a:ext cx="3704590" cy="1379220"/>
          </a:xfrm>
          <a:prstGeom prst="rect">
            <a:avLst/>
          </a:prstGeom>
        </p:spPr>
        <p:txBody>
          <a:bodyPr vert="horz" wrap="square" lIns="0" tIns="140335" rIns="0" bIns="0" rtlCol="0">
            <a:spAutoFit/>
          </a:bodyPr>
          <a:lstStyle/>
          <a:p>
            <a:pPr marL="355600">
              <a:lnSpc>
                <a:spcPct val="100000"/>
              </a:lnSpc>
              <a:spcBef>
                <a:spcPts val="1105"/>
              </a:spcBef>
            </a:pPr>
            <a:r>
              <a:rPr sz="1800" dirty="0">
                <a:solidFill>
                  <a:srgbClr val="404040"/>
                </a:solidFill>
                <a:latin typeface="Times New Roman"/>
                <a:cs typeface="Times New Roman"/>
              </a:rPr>
              <a:t>involves fixing</a:t>
            </a:r>
            <a:r>
              <a:rPr sz="1800" spc="-20" dirty="0">
                <a:solidFill>
                  <a:srgbClr val="404040"/>
                </a:solidFill>
                <a:latin typeface="Times New Roman"/>
                <a:cs typeface="Times New Roman"/>
              </a:rPr>
              <a:t> </a:t>
            </a:r>
            <a:r>
              <a:rPr sz="1800" dirty="0">
                <a:latin typeface="Times New Roman"/>
                <a:cs typeface="Times New Roman"/>
              </a:rPr>
              <a:t>defects.</a:t>
            </a:r>
          </a:p>
          <a:p>
            <a:pPr marL="355600" marR="5080" indent="-342900" algn="just">
              <a:lnSpc>
                <a:spcPct val="100000"/>
              </a:lnSpc>
              <a:spcBef>
                <a:spcPts val="1010"/>
              </a:spcBef>
              <a:buClr>
                <a:srgbClr val="E84B21"/>
              </a:buClr>
              <a:buFont typeface="Wingdings"/>
              <a:buChar char=""/>
              <a:tabLst>
                <a:tab pos="356235" algn="l"/>
              </a:tabLst>
            </a:pPr>
            <a:r>
              <a:rPr sz="1800" dirty="0">
                <a:solidFill>
                  <a:srgbClr val="404040"/>
                </a:solidFill>
                <a:latin typeface="Times New Roman"/>
                <a:cs typeface="Times New Roman"/>
              </a:rPr>
              <a:t>Software </a:t>
            </a:r>
            <a:r>
              <a:rPr sz="1800" spc="-5" dirty="0">
                <a:solidFill>
                  <a:srgbClr val="404040"/>
                </a:solidFill>
                <a:latin typeface="Times New Roman"/>
                <a:cs typeface="Times New Roman"/>
              </a:rPr>
              <a:t>maintenance is </a:t>
            </a:r>
            <a:r>
              <a:rPr sz="1800" dirty="0">
                <a:solidFill>
                  <a:srgbClr val="404040"/>
                </a:solidFill>
                <a:latin typeface="Times New Roman"/>
                <a:cs typeface="Times New Roman"/>
              </a:rPr>
              <a:t>the </a:t>
            </a:r>
            <a:r>
              <a:rPr sz="1800" spc="-5" dirty="0">
                <a:solidFill>
                  <a:srgbClr val="404040"/>
                </a:solidFill>
                <a:latin typeface="Times New Roman"/>
                <a:cs typeface="Times New Roman"/>
              </a:rPr>
              <a:t>general  process </a:t>
            </a:r>
            <a:r>
              <a:rPr sz="1800" dirty="0">
                <a:solidFill>
                  <a:srgbClr val="404040"/>
                </a:solidFill>
                <a:latin typeface="Times New Roman"/>
                <a:cs typeface="Times New Roman"/>
              </a:rPr>
              <a:t>of </a:t>
            </a:r>
            <a:r>
              <a:rPr sz="1800" spc="-5" dirty="0">
                <a:solidFill>
                  <a:srgbClr val="404040"/>
                </a:solidFill>
                <a:latin typeface="Times New Roman"/>
                <a:cs typeface="Times New Roman"/>
              </a:rPr>
              <a:t>changing </a:t>
            </a:r>
            <a:r>
              <a:rPr sz="1800" dirty="0">
                <a:solidFill>
                  <a:srgbClr val="404040"/>
                </a:solidFill>
                <a:latin typeface="Times New Roman"/>
                <a:cs typeface="Times New Roman"/>
              </a:rPr>
              <a:t>a </a:t>
            </a:r>
            <a:r>
              <a:rPr sz="1800" spc="-5" dirty="0">
                <a:solidFill>
                  <a:srgbClr val="404040"/>
                </a:solidFill>
                <a:latin typeface="Times New Roman"/>
                <a:cs typeface="Times New Roman"/>
              </a:rPr>
              <a:t>system after  </a:t>
            </a:r>
            <a:r>
              <a:rPr sz="1800" dirty="0">
                <a:solidFill>
                  <a:srgbClr val="404040"/>
                </a:solidFill>
                <a:latin typeface="Times New Roman"/>
                <a:cs typeface="Times New Roman"/>
              </a:rPr>
              <a:t>it </a:t>
            </a:r>
            <a:r>
              <a:rPr sz="1800" spc="-5" dirty="0">
                <a:solidFill>
                  <a:srgbClr val="404040"/>
                </a:solidFill>
                <a:latin typeface="Times New Roman"/>
                <a:cs typeface="Times New Roman"/>
              </a:rPr>
              <a:t>has </a:t>
            </a:r>
            <a:r>
              <a:rPr sz="1800" dirty="0">
                <a:solidFill>
                  <a:srgbClr val="404040"/>
                </a:solidFill>
                <a:latin typeface="Times New Roman"/>
                <a:cs typeface="Times New Roman"/>
              </a:rPr>
              <a:t>been</a:t>
            </a:r>
            <a:r>
              <a:rPr sz="1800" spc="-20" dirty="0">
                <a:solidFill>
                  <a:srgbClr val="404040"/>
                </a:solidFill>
                <a:latin typeface="Times New Roman"/>
                <a:cs typeface="Times New Roman"/>
              </a:rPr>
              <a:t> </a:t>
            </a:r>
            <a:r>
              <a:rPr sz="1800" dirty="0">
                <a:solidFill>
                  <a:srgbClr val="404040"/>
                </a:solidFill>
                <a:latin typeface="Times New Roman"/>
                <a:cs typeface="Times New Roman"/>
              </a:rPr>
              <a:t>delivered.</a:t>
            </a:r>
            <a:endParaRPr sz="1800" dirty="0">
              <a:latin typeface="Times New Roman"/>
              <a:cs typeface="Times New Roman"/>
            </a:endParaRPr>
          </a:p>
        </p:txBody>
      </p:sp>
      <p:sp>
        <p:nvSpPr>
          <p:cNvPr id="14" name="object 14"/>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2</a:t>
            </a:r>
            <a:endParaRPr sz="2000">
              <a:latin typeface="Arial"/>
              <a:cs typeface="Arial"/>
            </a:endParaRPr>
          </a:p>
        </p:txBody>
      </p:sp>
      <p:sp>
        <p:nvSpPr>
          <p:cNvPr id="15" name="object 15"/>
          <p:cNvSpPr/>
          <p:nvPr/>
        </p:nvSpPr>
        <p:spPr>
          <a:xfrm>
            <a:off x="4942332" y="4805170"/>
            <a:ext cx="3733800" cy="2052828"/>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4957571" y="2173223"/>
            <a:ext cx="3703320" cy="2642870"/>
          </a:xfrm>
          <a:custGeom>
            <a:avLst/>
            <a:gdLst/>
            <a:ahLst/>
            <a:cxnLst/>
            <a:rect l="l" t="t" r="r" b="b"/>
            <a:pathLst>
              <a:path w="3703320" h="2642870">
                <a:moveTo>
                  <a:pt x="3476244" y="0"/>
                </a:moveTo>
                <a:lnTo>
                  <a:pt x="227075" y="0"/>
                </a:lnTo>
                <a:lnTo>
                  <a:pt x="181329" y="4615"/>
                </a:lnTo>
                <a:lnTo>
                  <a:pt x="138713" y="17853"/>
                </a:lnTo>
                <a:lnTo>
                  <a:pt x="100142" y="38797"/>
                </a:lnTo>
                <a:lnTo>
                  <a:pt x="66532" y="66532"/>
                </a:lnTo>
                <a:lnTo>
                  <a:pt x="38797" y="100142"/>
                </a:lnTo>
                <a:lnTo>
                  <a:pt x="17853" y="138713"/>
                </a:lnTo>
                <a:lnTo>
                  <a:pt x="4615" y="181329"/>
                </a:lnTo>
                <a:lnTo>
                  <a:pt x="0" y="227075"/>
                </a:lnTo>
                <a:lnTo>
                  <a:pt x="0" y="2415540"/>
                </a:lnTo>
                <a:lnTo>
                  <a:pt x="4615" y="2461286"/>
                </a:lnTo>
                <a:lnTo>
                  <a:pt x="17853" y="2503902"/>
                </a:lnTo>
                <a:lnTo>
                  <a:pt x="38797" y="2542473"/>
                </a:lnTo>
                <a:lnTo>
                  <a:pt x="66532" y="2576083"/>
                </a:lnTo>
                <a:lnTo>
                  <a:pt x="100142" y="2603818"/>
                </a:lnTo>
                <a:lnTo>
                  <a:pt x="138713" y="2624762"/>
                </a:lnTo>
                <a:lnTo>
                  <a:pt x="181329" y="2638000"/>
                </a:lnTo>
                <a:lnTo>
                  <a:pt x="227075" y="2642616"/>
                </a:lnTo>
                <a:lnTo>
                  <a:pt x="3476244" y="2642616"/>
                </a:lnTo>
                <a:lnTo>
                  <a:pt x="3521990" y="2638000"/>
                </a:lnTo>
                <a:lnTo>
                  <a:pt x="3564606" y="2624762"/>
                </a:lnTo>
                <a:lnTo>
                  <a:pt x="3603177" y="2603818"/>
                </a:lnTo>
                <a:lnTo>
                  <a:pt x="3636787" y="2576083"/>
                </a:lnTo>
                <a:lnTo>
                  <a:pt x="3664522" y="2542473"/>
                </a:lnTo>
                <a:lnTo>
                  <a:pt x="3685466" y="2503902"/>
                </a:lnTo>
                <a:lnTo>
                  <a:pt x="3698704" y="2461286"/>
                </a:lnTo>
                <a:lnTo>
                  <a:pt x="3703320" y="2415540"/>
                </a:lnTo>
                <a:lnTo>
                  <a:pt x="3703320" y="227075"/>
                </a:lnTo>
                <a:lnTo>
                  <a:pt x="3698704" y="181329"/>
                </a:lnTo>
                <a:lnTo>
                  <a:pt x="3685466" y="138713"/>
                </a:lnTo>
                <a:lnTo>
                  <a:pt x="3664522" y="100142"/>
                </a:lnTo>
                <a:lnTo>
                  <a:pt x="3636787" y="66532"/>
                </a:lnTo>
                <a:lnTo>
                  <a:pt x="3603177" y="38797"/>
                </a:lnTo>
                <a:lnTo>
                  <a:pt x="3564606" y="17853"/>
                </a:lnTo>
                <a:lnTo>
                  <a:pt x="3521990" y="4615"/>
                </a:lnTo>
                <a:lnTo>
                  <a:pt x="3476244" y="0"/>
                </a:lnTo>
                <a:close/>
              </a:path>
            </a:pathLst>
          </a:custGeom>
          <a:solidFill>
            <a:srgbClr val="ECECEC"/>
          </a:solidFill>
        </p:spPr>
        <p:txBody>
          <a:bodyPr wrap="square" lIns="0" tIns="0" rIns="0" bIns="0" rtlCol="0"/>
          <a:lstStyle/>
          <a:p>
            <a:endParaRPr/>
          </a:p>
        </p:txBody>
      </p:sp>
      <p:sp>
        <p:nvSpPr>
          <p:cNvPr id="17" name="object 17"/>
          <p:cNvSpPr/>
          <p:nvPr/>
        </p:nvSpPr>
        <p:spPr>
          <a:xfrm>
            <a:off x="4957571" y="2173223"/>
            <a:ext cx="3703320" cy="2642616"/>
          </a:xfrm>
          <a:prstGeom prst="rect">
            <a:avLst/>
          </a:prstGeom>
          <a:blipFill>
            <a:blip r:embed="rId3" cstate="print"/>
            <a:stretch>
              <a:fillRect/>
            </a:stretch>
          </a:blipFill>
        </p:spPr>
        <p:txBody>
          <a:bodyPr wrap="square" lIns="0" tIns="0" rIns="0" bIns="0" rtlCol="0"/>
          <a:lstStyle/>
          <a:p>
            <a:endParaRPr/>
          </a:p>
        </p:txBody>
      </p:sp>
      <p:sp>
        <p:nvSpPr>
          <p:cNvPr id="18" name="object 18"/>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57400" y="457200"/>
            <a:ext cx="4171314" cy="643889"/>
          </a:xfrm>
        </p:spPr>
        <p:txBody>
          <a:bodyPr/>
          <a:lstStyle/>
          <a:p>
            <a:endParaRPr lang="en-US" dirty="0"/>
          </a:p>
        </p:txBody>
      </p:sp>
      <p:sp>
        <p:nvSpPr>
          <p:cNvPr id="5" name="Text Placeholder 4"/>
          <p:cNvSpPr>
            <a:spLocks noGrp="1"/>
          </p:cNvSpPr>
          <p:nvPr>
            <p:ph type="body" idx="1"/>
          </p:nvPr>
        </p:nvSpPr>
        <p:spPr>
          <a:xfrm>
            <a:off x="914400" y="1371600"/>
            <a:ext cx="7620000" cy="5201424"/>
          </a:xfrm>
        </p:spPr>
        <p:txBody>
          <a:bodyPr/>
          <a:lstStyle/>
          <a:p>
            <a:pPr marL="457200" indent="-457200">
              <a:buFont typeface="Wingdings" panose="05000000000000000000" pitchFamily="2" charset="2"/>
              <a:buChar char="§"/>
            </a:pPr>
            <a:r>
              <a:rPr lang="en-US" sz="2600" dirty="0">
                <a:solidFill>
                  <a:schemeClr val="tx1"/>
                </a:solidFill>
              </a:rPr>
              <a:t>Software maintenance is a part of the Software Development Life Cycle. </a:t>
            </a:r>
            <a:endParaRPr lang="en-US" sz="2600" dirty="0" smtClean="0">
              <a:solidFill>
                <a:schemeClr val="tx1"/>
              </a:solidFill>
            </a:endParaRPr>
          </a:p>
          <a:p>
            <a:pPr marL="457200" indent="-457200">
              <a:buFont typeface="Wingdings" panose="05000000000000000000" pitchFamily="2" charset="2"/>
              <a:buChar char="§"/>
            </a:pPr>
            <a:r>
              <a:rPr lang="en-US" sz="2600" dirty="0" smtClean="0">
                <a:solidFill>
                  <a:schemeClr val="tx1"/>
                </a:solidFill>
              </a:rPr>
              <a:t>Its </a:t>
            </a:r>
            <a:r>
              <a:rPr lang="en-US" sz="2600" dirty="0">
                <a:solidFill>
                  <a:schemeClr val="tx1"/>
                </a:solidFill>
              </a:rPr>
              <a:t>primary goal is to modify and update software application after delivery to correct errors and to improve performance. </a:t>
            </a:r>
            <a:endParaRPr lang="en-US" sz="2600" dirty="0" smtClean="0">
              <a:solidFill>
                <a:schemeClr val="tx1"/>
              </a:solidFill>
            </a:endParaRPr>
          </a:p>
          <a:p>
            <a:pPr marL="457200" indent="-457200">
              <a:buFont typeface="Wingdings" panose="05000000000000000000" pitchFamily="2" charset="2"/>
              <a:buChar char="§"/>
            </a:pPr>
            <a:r>
              <a:rPr lang="en-US" sz="2600" dirty="0" smtClean="0">
                <a:solidFill>
                  <a:schemeClr val="tx1"/>
                </a:solidFill>
              </a:rPr>
              <a:t>Software </a:t>
            </a:r>
            <a:r>
              <a:rPr lang="en-US" sz="2600" dirty="0">
                <a:solidFill>
                  <a:schemeClr val="tx1"/>
                </a:solidFill>
              </a:rPr>
              <a:t>is a model of the real world. </a:t>
            </a:r>
            <a:endParaRPr lang="en-US" sz="2600" dirty="0" smtClean="0">
              <a:solidFill>
                <a:schemeClr val="tx1"/>
              </a:solidFill>
            </a:endParaRPr>
          </a:p>
          <a:p>
            <a:pPr marL="457200" indent="-457200">
              <a:buFont typeface="Wingdings" panose="05000000000000000000" pitchFamily="2" charset="2"/>
              <a:buChar char="§"/>
            </a:pPr>
            <a:r>
              <a:rPr lang="en-US" sz="2600" dirty="0" smtClean="0">
                <a:solidFill>
                  <a:schemeClr val="tx1"/>
                </a:solidFill>
              </a:rPr>
              <a:t>When </a:t>
            </a:r>
            <a:r>
              <a:rPr lang="en-US" sz="2600" dirty="0">
                <a:solidFill>
                  <a:schemeClr val="tx1"/>
                </a:solidFill>
              </a:rPr>
              <a:t>the real world changes, the software require alteration wherever possible.</a:t>
            </a:r>
          </a:p>
          <a:p>
            <a:pPr marL="457200" indent="-457200">
              <a:buFont typeface="Wingdings" panose="05000000000000000000" pitchFamily="2" charset="2"/>
              <a:buChar char="§"/>
            </a:pPr>
            <a:r>
              <a:rPr lang="en-US" sz="2600" dirty="0">
                <a:solidFill>
                  <a:schemeClr val="tx1"/>
                </a:solidFill>
              </a:rPr>
              <a:t>Software Maintenance is an inclusive activity that includes error corrections, enhancement of capabilities, deletion of obsolete capabilities, and optimization.</a:t>
            </a:r>
          </a:p>
          <a:p>
            <a:pPr marL="457200" indent="-457200">
              <a:buFont typeface="Wingdings" panose="05000000000000000000" pitchFamily="2" charset="2"/>
              <a:buChar char="§"/>
            </a:pPr>
            <a:endParaRPr lang="en-US" sz="2600" dirty="0">
              <a:solidFill>
                <a:schemeClr val="tx1"/>
              </a:solidFill>
            </a:endParaRPr>
          </a:p>
        </p:txBody>
      </p:sp>
    </p:spTree>
    <p:extLst>
      <p:ext uri="{BB962C8B-B14F-4D97-AF65-F5344CB8AC3E}">
        <p14:creationId xmlns:p14="http://schemas.microsoft.com/office/powerpoint/2010/main" val="363666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88983" y="1350391"/>
            <a:ext cx="188595" cy="1672589"/>
          </a:xfrm>
          <a:prstGeom prst="rect">
            <a:avLst/>
          </a:prstGeom>
        </p:spPr>
        <p:txBody>
          <a:bodyPr vert="horz" wrap="square" lIns="0" tIns="13335" rIns="0" bIns="0" rtlCol="0">
            <a:spAutoFit/>
          </a:bodyPr>
          <a:lstStyle/>
          <a:p>
            <a:pPr marL="12700" marR="5080" indent="25400" algn="just">
              <a:lnSpc>
                <a:spcPct val="100000"/>
              </a:lnSpc>
              <a:spcBef>
                <a:spcPts val="105"/>
              </a:spcBef>
            </a:pPr>
            <a:r>
              <a:rPr sz="1350" dirty="0">
                <a:solidFill>
                  <a:srgbClr val="FFFFFF"/>
                </a:solidFill>
                <a:latin typeface="Arial"/>
                <a:cs typeface="Arial"/>
              </a:rPr>
              <a:t>S  O  F  T  W  A  R  E</a:t>
            </a:r>
            <a:endParaRPr sz="1350">
              <a:latin typeface="Arial"/>
              <a:cs typeface="Arial"/>
            </a:endParaRPr>
          </a:p>
        </p:txBody>
      </p:sp>
      <p:sp>
        <p:nvSpPr>
          <p:cNvPr id="3" name="object 3"/>
          <p:cNvSpPr txBox="1"/>
          <p:nvPr/>
        </p:nvSpPr>
        <p:spPr>
          <a:xfrm>
            <a:off x="8901176" y="3202304"/>
            <a:ext cx="168910" cy="2290445"/>
          </a:xfrm>
          <a:prstGeom prst="rect">
            <a:avLst/>
          </a:prstGeom>
        </p:spPr>
        <p:txBody>
          <a:bodyPr vert="horz" wrap="square" lIns="0" tIns="13335" rIns="0" bIns="0" rtlCol="0">
            <a:spAutoFit/>
          </a:bodyPr>
          <a:lstStyle/>
          <a:p>
            <a:pPr marL="21590" marR="5080" indent="-9525" algn="just">
              <a:lnSpc>
                <a:spcPct val="100000"/>
              </a:lnSpc>
              <a:spcBef>
                <a:spcPts val="105"/>
              </a:spcBef>
            </a:pPr>
            <a:r>
              <a:rPr sz="1350" dirty="0">
                <a:solidFill>
                  <a:srgbClr val="FFFFFF"/>
                </a:solidFill>
                <a:latin typeface="Arial"/>
                <a:cs typeface="Arial"/>
              </a:rPr>
              <a:t>M  A  I  N  T  E  N  A  N  C  </a:t>
            </a:r>
            <a:r>
              <a:rPr sz="1350" spc="5" dirty="0">
                <a:solidFill>
                  <a:srgbClr val="FFFFFF"/>
                </a:solidFill>
                <a:latin typeface="Arial"/>
                <a:cs typeface="Arial"/>
              </a:rPr>
              <a:t>E</a:t>
            </a:r>
            <a:endParaRPr sz="1350">
              <a:latin typeface="Arial"/>
              <a:cs typeface="Arial"/>
            </a:endParaRPr>
          </a:p>
        </p:txBody>
      </p:sp>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1676399" y="643204"/>
            <a:ext cx="6050279" cy="474489"/>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FF0000"/>
                </a:solidFill>
                <a:latin typeface="Times New Roman"/>
                <a:cs typeface="Times New Roman"/>
              </a:rPr>
              <a:t>Reasons for </a:t>
            </a:r>
            <a:r>
              <a:rPr sz="3000" b="1" spc="-5" dirty="0">
                <a:solidFill>
                  <a:srgbClr val="FF0000"/>
                </a:solidFill>
                <a:latin typeface="Times New Roman"/>
                <a:cs typeface="Times New Roman"/>
              </a:rPr>
              <a:t>maintaining software</a:t>
            </a:r>
            <a:endParaRPr sz="3000" b="1" dirty="0">
              <a:solidFill>
                <a:srgbClr val="FF0000"/>
              </a:solidFill>
              <a:latin typeface="Times New Roman"/>
              <a:cs typeface="Times New Roman"/>
            </a:endParaRPr>
          </a:p>
        </p:txBody>
      </p:sp>
      <p:sp>
        <p:nvSpPr>
          <p:cNvPr id="6" name="object 6"/>
          <p:cNvSpPr txBox="1"/>
          <p:nvPr/>
        </p:nvSpPr>
        <p:spPr>
          <a:xfrm>
            <a:off x="2021585" y="2159634"/>
            <a:ext cx="1198245"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1083945" algn="l"/>
              </a:tabLst>
            </a:pPr>
            <a:r>
              <a:rPr sz="1800" dirty="0">
                <a:latin typeface="Times New Roman"/>
                <a:cs typeface="Times New Roman"/>
              </a:rPr>
              <a:t>Over	a</a:t>
            </a:r>
            <a:endParaRPr sz="1800">
              <a:latin typeface="Times New Roman"/>
              <a:cs typeface="Times New Roman"/>
            </a:endParaRPr>
          </a:p>
        </p:txBody>
      </p:sp>
      <p:sp>
        <p:nvSpPr>
          <p:cNvPr id="7" name="object 7"/>
          <p:cNvSpPr txBox="1"/>
          <p:nvPr/>
        </p:nvSpPr>
        <p:spPr>
          <a:xfrm>
            <a:off x="3466338" y="2159634"/>
            <a:ext cx="6083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p</a:t>
            </a:r>
            <a:r>
              <a:rPr sz="1800" spc="5" dirty="0">
                <a:latin typeface="Times New Roman"/>
                <a:cs typeface="Times New Roman"/>
              </a:rPr>
              <a:t>e</a:t>
            </a:r>
            <a:r>
              <a:rPr sz="1800" spc="-10" dirty="0">
                <a:latin typeface="Times New Roman"/>
                <a:cs typeface="Times New Roman"/>
              </a:rPr>
              <a:t>ri</a:t>
            </a:r>
            <a:r>
              <a:rPr sz="1800" dirty="0">
                <a:latin typeface="Times New Roman"/>
                <a:cs typeface="Times New Roman"/>
              </a:rPr>
              <a:t>od</a:t>
            </a:r>
          </a:p>
        </p:txBody>
      </p:sp>
      <p:sp>
        <p:nvSpPr>
          <p:cNvPr id="8" name="object 8"/>
          <p:cNvSpPr txBox="1"/>
          <p:nvPr/>
        </p:nvSpPr>
        <p:spPr>
          <a:xfrm>
            <a:off x="4320032" y="2159634"/>
            <a:ext cx="892810" cy="299720"/>
          </a:xfrm>
          <a:prstGeom prst="rect">
            <a:avLst/>
          </a:prstGeom>
        </p:spPr>
        <p:txBody>
          <a:bodyPr vert="horz" wrap="square" lIns="0" tIns="12700" rIns="0" bIns="0" rtlCol="0">
            <a:spAutoFit/>
          </a:bodyPr>
          <a:lstStyle/>
          <a:p>
            <a:pPr marL="12700">
              <a:lnSpc>
                <a:spcPct val="100000"/>
              </a:lnSpc>
              <a:spcBef>
                <a:spcPts val="100"/>
              </a:spcBef>
              <a:tabLst>
                <a:tab pos="474345" algn="l"/>
              </a:tabLst>
            </a:pPr>
            <a:r>
              <a:rPr sz="1800" dirty="0">
                <a:latin typeface="Times New Roman"/>
                <a:cs typeface="Times New Roman"/>
              </a:rPr>
              <a:t>of	</a:t>
            </a:r>
            <a:r>
              <a:rPr sz="1800" spc="-10" dirty="0">
                <a:latin typeface="Times New Roman"/>
                <a:cs typeface="Times New Roman"/>
              </a:rPr>
              <a:t>t</a:t>
            </a:r>
            <a:r>
              <a:rPr sz="1800" dirty="0">
                <a:latin typeface="Times New Roman"/>
                <a:cs typeface="Times New Roman"/>
              </a:rPr>
              <a:t>ime</a:t>
            </a:r>
            <a:endParaRPr sz="1800">
              <a:latin typeface="Times New Roman"/>
              <a:cs typeface="Times New Roman"/>
            </a:endParaRPr>
          </a:p>
        </p:txBody>
      </p:sp>
      <p:sp>
        <p:nvSpPr>
          <p:cNvPr id="9" name="object 9"/>
          <p:cNvSpPr txBox="1"/>
          <p:nvPr/>
        </p:nvSpPr>
        <p:spPr>
          <a:xfrm>
            <a:off x="2364485" y="2433954"/>
            <a:ext cx="1690370" cy="574040"/>
          </a:xfrm>
          <a:prstGeom prst="rect">
            <a:avLst/>
          </a:prstGeom>
        </p:spPr>
        <p:txBody>
          <a:bodyPr vert="horz" wrap="square" lIns="0" tIns="12700" rIns="0" bIns="0" rtlCol="0">
            <a:spAutoFit/>
          </a:bodyPr>
          <a:lstStyle/>
          <a:p>
            <a:pPr marL="12700" marR="5080">
              <a:lnSpc>
                <a:spcPct val="100000"/>
              </a:lnSpc>
              <a:spcBef>
                <a:spcPts val="100"/>
              </a:spcBef>
              <a:tabLst>
                <a:tab pos="1285240" algn="l"/>
              </a:tabLst>
            </a:pPr>
            <a:r>
              <a:rPr sz="1800" spc="-15" dirty="0">
                <a:latin typeface="Times New Roman"/>
                <a:cs typeface="Times New Roman"/>
              </a:rPr>
              <a:t>software’s  </a:t>
            </a:r>
            <a:r>
              <a:rPr sz="1800" dirty="0">
                <a:latin typeface="Times New Roman"/>
                <a:cs typeface="Times New Roman"/>
              </a:rPr>
              <a:t>requir</a:t>
            </a:r>
            <a:r>
              <a:rPr sz="1800" spc="5" dirty="0">
                <a:latin typeface="Times New Roman"/>
                <a:cs typeface="Times New Roman"/>
              </a:rPr>
              <a:t>e</a:t>
            </a:r>
            <a:r>
              <a:rPr sz="1800" spc="-10" dirty="0">
                <a:latin typeface="Times New Roman"/>
                <a:cs typeface="Times New Roman"/>
              </a:rPr>
              <a:t>m</a:t>
            </a:r>
            <a:r>
              <a:rPr sz="1800" dirty="0">
                <a:latin typeface="Times New Roman"/>
                <a:cs typeface="Times New Roman"/>
              </a:rPr>
              <a:t>ent	</a:t>
            </a:r>
            <a:r>
              <a:rPr sz="1800" spc="-10" dirty="0">
                <a:latin typeface="Times New Roman"/>
                <a:cs typeface="Times New Roman"/>
              </a:rPr>
              <a:t>ma</a:t>
            </a:r>
            <a:r>
              <a:rPr sz="1800" dirty="0">
                <a:latin typeface="Times New Roman"/>
                <a:cs typeface="Times New Roman"/>
              </a:rPr>
              <a:t>y</a:t>
            </a:r>
            <a:endParaRPr sz="1800">
              <a:latin typeface="Times New Roman"/>
              <a:cs typeface="Times New Roman"/>
            </a:endParaRPr>
          </a:p>
        </p:txBody>
      </p:sp>
      <p:sp>
        <p:nvSpPr>
          <p:cNvPr id="10" name="object 10"/>
          <p:cNvSpPr txBox="1"/>
          <p:nvPr/>
        </p:nvSpPr>
        <p:spPr>
          <a:xfrm>
            <a:off x="4196588" y="2433954"/>
            <a:ext cx="1018540" cy="574040"/>
          </a:xfrm>
          <a:prstGeom prst="rect">
            <a:avLst/>
          </a:prstGeom>
        </p:spPr>
        <p:txBody>
          <a:bodyPr vert="horz" wrap="square" lIns="0" tIns="12700" rIns="0" bIns="0" rtlCol="0">
            <a:spAutoFit/>
          </a:bodyPr>
          <a:lstStyle/>
          <a:p>
            <a:pPr marL="12700" marR="5080" indent="280035">
              <a:lnSpc>
                <a:spcPct val="100000"/>
              </a:lnSpc>
              <a:spcBef>
                <a:spcPts val="100"/>
              </a:spcBef>
              <a:tabLst>
                <a:tab pos="826135" algn="l"/>
              </a:tabLst>
            </a:pPr>
            <a:r>
              <a:rPr sz="1800" dirty="0">
                <a:latin typeface="Times New Roman"/>
                <a:cs typeface="Times New Roman"/>
              </a:rPr>
              <a:t>ori</a:t>
            </a:r>
            <a:r>
              <a:rPr sz="1800" spc="-10" dirty="0">
                <a:latin typeface="Times New Roman"/>
                <a:cs typeface="Times New Roman"/>
              </a:rPr>
              <a:t>g</a:t>
            </a:r>
            <a:r>
              <a:rPr sz="1800" dirty="0">
                <a:latin typeface="Times New Roman"/>
                <a:cs typeface="Times New Roman"/>
              </a:rPr>
              <a:t>in</a:t>
            </a:r>
            <a:r>
              <a:rPr sz="1800" spc="5" dirty="0">
                <a:latin typeface="Times New Roman"/>
                <a:cs typeface="Times New Roman"/>
              </a:rPr>
              <a:t>a</a:t>
            </a:r>
            <a:r>
              <a:rPr sz="1800" dirty="0">
                <a:latin typeface="Times New Roman"/>
                <a:cs typeface="Times New Roman"/>
              </a:rPr>
              <a:t>l  c</a:t>
            </a:r>
            <a:r>
              <a:rPr sz="1800" spc="-10" dirty="0">
                <a:latin typeface="Times New Roman"/>
                <a:cs typeface="Times New Roman"/>
              </a:rPr>
              <a:t>h</a:t>
            </a:r>
            <a:r>
              <a:rPr sz="1800" dirty="0">
                <a:latin typeface="Times New Roman"/>
                <a:cs typeface="Times New Roman"/>
              </a:rPr>
              <a:t>ange	to</a:t>
            </a:r>
          </a:p>
        </p:txBody>
      </p:sp>
      <p:sp>
        <p:nvSpPr>
          <p:cNvPr id="11" name="object 11"/>
          <p:cNvSpPr txBox="1"/>
          <p:nvPr/>
        </p:nvSpPr>
        <p:spPr>
          <a:xfrm>
            <a:off x="2364485" y="2982595"/>
            <a:ext cx="263906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reflect the </a:t>
            </a:r>
            <a:r>
              <a:rPr sz="1800" spc="-5" dirty="0">
                <a:latin typeface="Times New Roman"/>
                <a:cs typeface="Times New Roman"/>
              </a:rPr>
              <a:t>customer’s</a:t>
            </a:r>
            <a:r>
              <a:rPr sz="1800" spc="-60" dirty="0">
                <a:latin typeface="Times New Roman"/>
                <a:cs typeface="Times New Roman"/>
              </a:rPr>
              <a:t> </a:t>
            </a:r>
            <a:r>
              <a:rPr sz="1800" spc="-5" dirty="0">
                <a:latin typeface="Times New Roman"/>
                <a:cs typeface="Times New Roman"/>
              </a:rPr>
              <a:t>needs.</a:t>
            </a:r>
            <a:endParaRPr sz="1800">
              <a:latin typeface="Times New Roman"/>
              <a:cs typeface="Times New Roman"/>
            </a:endParaRPr>
          </a:p>
        </p:txBody>
      </p:sp>
      <p:sp>
        <p:nvSpPr>
          <p:cNvPr id="12" name="object 12"/>
          <p:cNvSpPr txBox="1"/>
          <p:nvPr/>
        </p:nvSpPr>
        <p:spPr>
          <a:xfrm>
            <a:off x="2021585" y="3383407"/>
            <a:ext cx="2263140"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1259205" algn="l"/>
              </a:tabLst>
            </a:pPr>
            <a:r>
              <a:rPr sz="1800" dirty="0">
                <a:latin typeface="Times New Roman"/>
                <a:cs typeface="Times New Roman"/>
              </a:rPr>
              <a:t>Err</a:t>
            </a:r>
            <a:r>
              <a:rPr sz="1800" spc="-5" dirty="0">
                <a:latin typeface="Times New Roman"/>
                <a:cs typeface="Times New Roman"/>
              </a:rPr>
              <a:t>ors	unde</a:t>
            </a:r>
            <a:r>
              <a:rPr sz="1800" spc="5" dirty="0">
                <a:latin typeface="Times New Roman"/>
                <a:cs typeface="Times New Roman"/>
              </a:rPr>
              <a:t>t</a:t>
            </a:r>
            <a:r>
              <a:rPr sz="1800" spc="-10" dirty="0">
                <a:latin typeface="Times New Roman"/>
                <a:cs typeface="Times New Roman"/>
              </a:rPr>
              <a:t>e</a:t>
            </a:r>
            <a:r>
              <a:rPr sz="1800" dirty="0">
                <a:latin typeface="Times New Roman"/>
                <a:cs typeface="Times New Roman"/>
              </a:rPr>
              <a:t>c</a:t>
            </a:r>
            <a:r>
              <a:rPr sz="1800" spc="5" dirty="0">
                <a:latin typeface="Times New Roman"/>
                <a:cs typeface="Times New Roman"/>
              </a:rPr>
              <a:t>t</a:t>
            </a:r>
            <a:r>
              <a:rPr sz="1800" dirty="0">
                <a:latin typeface="Times New Roman"/>
                <a:cs typeface="Times New Roman"/>
              </a:rPr>
              <a:t>ed</a:t>
            </a:r>
            <a:endParaRPr sz="1800">
              <a:latin typeface="Times New Roman"/>
              <a:cs typeface="Times New Roman"/>
            </a:endParaRPr>
          </a:p>
        </p:txBody>
      </p:sp>
      <p:sp>
        <p:nvSpPr>
          <p:cNvPr id="13" name="object 13"/>
          <p:cNvSpPr txBox="1"/>
          <p:nvPr/>
        </p:nvSpPr>
        <p:spPr>
          <a:xfrm>
            <a:off x="4592828" y="3383407"/>
            <a:ext cx="6210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du</a:t>
            </a:r>
            <a:r>
              <a:rPr sz="1800" spc="-15" dirty="0">
                <a:latin typeface="Times New Roman"/>
                <a:cs typeface="Times New Roman"/>
              </a:rPr>
              <a:t>r</a:t>
            </a:r>
            <a:r>
              <a:rPr sz="1800" dirty="0">
                <a:latin typeface="Times New Roman"/>
                <a:cs typeface="Times New Roman"/>
              </a:rPr>
              <a:t>ing</a:t>
            </a:r>
            <a:endParaRPr sz="1800">
              <a:latin typeface="Times New Roman"/>
              <a:cs typeface="Times New Roman"/>
            </a:endParaRPr>
          </a:p>
        </p:txBody>
      </p:sp>
      <p:sp>
        <p:nvSpPr>
          <p:cNvPr id="14" name="object 14"/>
          <p:cNvSpPr txBox="1"/>
          <p:nvPr/>
        </p:nvSpPr>
        <p:spPr>
          <a:xfrm>
            <a:off x="2021585" y="3657980"/>
            <a:ext cx="3192780" cy="2074545"/>
          </a:xfrm>
          <a:prstGeom prst="rect">
            <a:avLst/>
          </a:prstGeom>
        </p:spPr>
        <p:txBody>
          <a:bodyPr vert="horz" wrap="square" lIns="0" tIns="12700" rIns="0" bIns="0" rtlCol="0">
            <a:spAutoFit/>
          </a:bodyPr>
          <a:lstStyle/>
          <a:p>
            <a:pPr marL="355600" marR="5080" algn="just">
              <a:lnSpc>
                <a:spcPct val="100000"/>
              </a:lnSpc>
              <a:spcBef>
                <a:spcPts val="100"/>
              </a:spcBef>
            </a:pPr>
            <a:r>
              <a:rPr sz="1800" spc="-5" dirty="0">
                <a:latin typeface="Times New Roman"/>
                <a:cs typeface="Times New Roman"/>
              </a:rPr>
              <a:t>software development </a:t>
            </a:r>
            <a:r>
              <a:rPr sz="1800" spc="-10" dirty="0">
                <a:latin typeface="Times New Roman"/>
                <a:cs typeface="Times New Roman"/>
              </a:rPr>
              <a:t>may </a:t>
            </a:r>
            <a:r>
              <a:rPr sz="1800" dirty="0">
                <a:latin typeface="Times New Roman"/>
                <a:cs typeface="Times New Roman"/>
              </a:rPr>
              <a:t>be  found during </a:t>
            </a:r>
            <a:r>
              <a:rPr sz="1800" spc="-10" dirty="0">
                <a:latin typeface="Times New Roman"/>
                <a:cs typeface="Times New Roman"/>
              </a:rPr>
              <a:t>use </a:t>
            </a:r>
            <a:r>
              <a:rPr sz="1800" dirty="0">
                <a:latin typeface="Times New Roman"/>
                <a:cs typeface="Times New Roman"/>
              </a:rPr>
              <a:t>and </a:t>
            </a:r>
            <a:r>
              <a:rPr sz="1800" spc="-5" dirty="0">
                <a:latin typeface="Times New Roman"/>
                <a:cs typeface="Times New Roman"/>
              </a:rPr>
              <a:t>require  </a:t>
            </a:r>
            <a:r>
              <a:rPr sz="1800" dirty="0">
                <a:latin typeface="Times New Roman"/>
                <a:cs typeface="Times New Roman"/>
              </a:rPr>
              <a:t>correction.</a:t>
            </a:r>
            <a:endParaRPr sz="1800">
              <a:latin typeface="Times New Roman"/>
              <a:cs typeface="Times New Roman"/>
            </a:endParaRPr>
          </a:p>
          <a:p>
            <a:pPr marL="355600" marR="5080" indent="-342900" algn="just">
              <a:lnSpc>
                <a:spcPct val="100000"/>
              </a:lnSpc>
              <a:spcBef>
                <a:spcPts val="1005"/>
              </a:spcBef>
              <a:buClr>
                <a:srgbClr val="E84B21"/>
              </a:buClr>
              <a:buFont typeface="Wingdings"/>
              <a:buChar char=""/>
              <a:tabLst>
                <a:tab pos="355600" algn="l"/>
              </a:tabLst>
            </a:pPr>
            <a:r>
              <a:rPr sz="1800" spc="-20" dirty="0">
                <a:latin typeface="Times New Roman"/>
                <a:cs typeface="Times New Roman"/>
              </a:rPr>
              <a:t>With </a:t>
            </a:r>
            <a:r>
              <a:rPr sz="1800" spc="-5" dirty="0">
                <a:latin typeface="Times New Roman"/>
                <a:cs typeface="Times New Roman"/>
              </a:rPr>
              <a:t>time </a:t>
            </a:r>
            <a:r>
              <a:rPr sz="1800" dirty="0">
                <a:latin typeface="Times New Roman"/>
                <a:cs typeface="Times New Roman"/>
              </a:rPr>
              <a:t>new technologies  are </a:t>
            </a:r>
            <a:r>
              <a:rPr sz="1800" spc="-5" dirty="0">
                <a:latin typeface="Times New Roman"/>
                <a:cs typeface="Times New Roman"/>
              </a:rPr>
              <a:t>introduced </a:t>
            </a:r>
            <a:r>
              <a:rPr sz="1800" dirty="0">
                <a:latin typeface="Times New Roman"/>
                <a:cs typeface="Times New Roman"/>
              </a:rPr>
              <a:t>such </a:t>
            </a:r>
            <a:r>
              <a:rPr sz="1800" spc="-5" dirty="0">
                <a:latin typeface="Times New Roman"/>
                <a:cs typeface="Times New Roman"/>
              </a:rPr>
              <a:t>as new  </a:t>
            </a:r>
            <a:r>
              <a:rPr sz="1800" dirty="0">
                <a:latin typeface="Times New Roman"/>
                <a:cs typeface="Times New Roman"/>
              </a:rPr>
              <a:t>hardware, operating </a:t>
            </a:r>
            <a:r>
              <a:rPr sz="1800" spc="-5" dirty="0">
                <a:latin typeface="Times New Roman"/>
                <a:cs typeface="Times New Roman"/>
              </a:rPr>
              <a:t>system  </a:t>
            </a:r>
            <a:r>
              <a:rPr sz="1800" dirty="0">
                <a:latin typeface="Times New Roman"/>
                <a:cs typeface="Times New Roman"/>
              </a:rPr>
              <a:t>etc.</a:t>
            </a:r>
            <a:endParaRPr sz="1800">
              <a:latin typeface="Times New Roman"/>
              <a:cs typeface="Times New Roman"/>
            </a:endParaRPr>
          </a:p>
        </p:txBody>
      </p:sp>
      <p:sp>
        <p:nvSpPr>
          <p:cNvPr id="15" name="object 15"/>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3</a:t>
            </a:r>
            <a:endParaRPr sz="2000">
              <a:latin typeface="Arial"/>
              <a:cs typeface="Arial"/>
            </a:endParaRPr>
          </a:p>
        </p:txBody>
      </p:sp>
      <p:sp>
        <p:nvSpPr>
          <p:cNvPr id="16" name="object 16"/>
          <p:cNvSpPr/>
          <p:nvPr/>
        </p:nvSpPr>
        <p:spPr>
          <a:xfrm>
            <a:off x="5704332" y="5237986"/>
            <a:ext cx="2284475" cy="1620012"/>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5719571" y="2133600"/>
            <a:ext cx="2254250" cy="3115310"/>
          </a:xfrm>
          <a:custGeom>
            <a:avLst/>
            <a:gdLst/>
            <a:ahLst/>
            <a:cxnLst/>
            <a:rect l="l" t="t" r="r" b="b"/>
            <a:pathLst>
              <a:path w="2254250" h="3115310">
                <a:moveTo>
                  <a:pt x="2060321" y="0"/>
                </a:moveTo>
                <a:lnTo>
                  <a:pt x="193675" y="0"/>
                </a:lnTo>
                <a:lnTo>
                  <a:pt x="149276" y="5116"/>
                </a:lnTo>
                <a:lnTo>
                  <a:pt x="108514" y="19690"/>
                </a:lnTo>
                <a:lnTo>
                  <a:pt x="72553" y="42557"/>
                </a:lnTo>
                <a:lnTo>
                  <a:pt x="42557" y="72553"/>
                </a:lnTo>
                <a:lnTo>
                  <a:pt x="19690" y="108514"/>
                </a:lnTo>
                <a:lnTo>
                  <a:pt x="5116" y="149276"/>
                </a:lnTo>
                <a:lnTo>
                  <a:pt x="0" y="193675"/>
                </a:lnTo>
                <a:lnTo>
                  <a:pt x="0" y="2921381"/>
                </a:lnTo>
                <a:lnTo>
                  <a:pt x="5116" y="2965779"/>
                </a:lnTo>
                <a:lnTo>
                  <a:pt x="19690" y="3006541"/>
                </a:lnTo>
                <a:lnTo>
                  <a:pt x="42557" y="3042502"/>
                </a:lnTo>
                <a:lnTo>
                  <a:pt x="72553" y="3072498"/>
                </a:lnTo>
                <a:lnTo>
                  <a:pt x="108514" y="3095365"/>
                </a:lnTo>
                <a:lnTo>
                  <a:pt x="149276" y="3109939"/>
                </a:lnTo>
                <a:lnTo>
                  <a:pt x="193675" y="3115056"/>
                </a:lnTo>
                <a:lnTo>
                  <a:pt x="2060321" y="3115056"/>
                </a:lnTo>
                <a:lnTo>
                  <a:pt x="2104719" y="3109939"/>
                </a:lnTo>
                <a:lnTo>
                  <a:pt x="2145481" y="3095365"/>
                </a:lnTo>
                <a:lnTo>
                  <a:pt x="2181442" y="3072498"/>
                </a:lnTo>
                <a:lnTo>
                  <a:pt x="2211438" y="3042502"/>
                </a:lnTo>
                <a:lnTo>
                  <a:pt x="2234305" y="3006541"/>
                </a:lnTo>
                <a:lnTo>
                  <a:pt x="2248879" y="2965779"/>
                </a:lnTo>
                <a:lnTo>
                  <a:pt x="2253996" y="2921381"/>
                </a:lnTo>
                <a:lnTo>
                  <a:pt x="2253996" y="193675"/>
                </a:lnTo>
                <a:lnTo>
                  <a:pt x="2248879" y="149276"/>
                </a:lnTo>
                <a:lnTo>
                  <a:pt x="2234305" y="108514"/>
                </a:lnTo>
                <a:lnTo>
                  <a:pt x="2211438" y="72553"/>
                </a:lnTo>
                <a:lnTo>
                  <a:pt x="2181442" y="42557"/>
                </a:lnTo>
                <a:lnTo>
                  <a:pt x="2145481" y="19690"/>
                </a:lnTo>
                <a:lnTo>
                  <a:pt x="2104719" y="5116"/>
                </a:lnTo>
                <a:lnTo>
                  <a:pt x="2060321" y="0"/>
                </a:lnTo>
                <a:close/>
              </a:path>
            </a:pathLst>
          </a:custGeom>
          <a:solidFill>
            <a:srgbClr val="ECECEC"/>
          </a:solidFill>
        </p:spPr>
        <p:txBody>
          <a:bodyPr wrap="square" lIns="0" tIns="0" rIns="0" bIns="0" rtlCol="0"/>
          <a:lstStyle/>
          <a:p>
            <a:endParaRPr/>
          </a:p>
        </p:txBody>
      </p:sp>
      <p:sp>
        <p:nvSpPr>
          <p:cNvPr id="18" name="object 18"/>
          <p:cNvSpPr/>
          <p:nvPr/>
        </p:nvSpPr>
        <p:spPr>
          <a:xfrm>
            <a:off x="5719571" y="2133600"/>
            <a:ext cx="2253996" cy="3115056"/>
          </a:xfrm>
          <a:prstGeom prst="rect">
            <a:avLst/>
          </a:prstGeom>
          <a:blipFill>
            <a:blip r:embed="rId3" cstate="print"/>
            <a:stretch>
              <a:fillRect/>
            </a:stretch>
          </a:blipFill>
        </p:spPr>
        <p:txBody>
          <a:bodyPr wrap="square" lIns="0" tIns="0" rIns="0" bIns="0" rtlCol="0"/>
          <a:lstStyle/>
          <a:p>
            <a:endParaRPr/>
          </a:p>
        </p:txBody>
      </p:sp>
      <p:sp>
        <p:nvSpPr>
          <p:cNvPr id="19" name="object 19"/>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0182" y="838200"/>
            <a:ext cx="6867018" cy="538609"/>
          </a:xfrm>
        </p:spPr>
        <p:txBody>
          <a:bodyPr/>
          <a:lstStyle/>
          <a:p>
            <a:r>
              <a:rPr lang="en-US" sz="3500" b="1" dirty="0">
                <a:solidFill>
                  <a:srgbClr val="FF0000"/>
                </a:solidFill>
                <a:latin typeface="Times New Roman"/>
                <a:cs typeface="Times New Roman"/>
              </a:rPr>
              <a:t>Reasons for </a:t>
            </a:r>
            <a:r>
              <a:rPr lang="en-US" sz="3500" b="1" spc="-5" dirty="0">
                <a:solidFill>
                  <a:srgbClr val="FF0000"/>
                </a:solidFill>
                <a:latin typeface="Times New Roman"/>
                <a:cs typeface="Times New Roman"/>
              </a:rPr>
              <a:t>maintaining software</a:t>
            </a:r>
            <a:endParaRPr lang="en-US" sz="3500" b="1" dirty="0">
              <a:solidFill>
                <a:srgbClr val="FF0000"/>
              </a:solidFill>
            </a:endParaRPr>
          </a:p>
        </p:txBody>
      </p:sp>
      <p:sp>
        <p:nvSpPr>
          <p:cNvPr id="3" name="Text Placeholder 2"/>
          <p:cNvSpPr>
            <a:spLocks noGrp="1"/>
          </p:cNvSpPr>
          <p:nvPr>
            <p:ph type="body" idx="1"/>
          </p:nvPr>
        </p:nvSpPr>
        <p:spPr>
          <a:xfrm>
            <a:off x="762000" y="1524001"/>
            <a:ext cx="7772400" cy="5170646"/>
          </a:xfrm>
        </p:spPr>
        <p:txBody>
          <a:bodyPr/>
          <a:lstStyle/>
          <a:p>
            <a:pPr marL="342900" indent="-342900">
              <a:buFont typeface="Wingdings" panose="05000000000000000000" pitchFamily="2" charset="2"/>
              <a:buChar char="Ø"/>
            </a:pPr>
            <a:r>
              <a:rPr lang="en-US" sz="2400" b="1" dirty="0">
                <a:solidFill>
                  <a:schemeClr val="tx1"/>
                </a:solidFill>
              </a:rPr>
              <a:t>Market Conditions </a:t>
            </a:r>
            <a:r>
              <a:rPr lang="en-US" sz="2400" dirty="0">
                <a:solidFill>
                  <a:schemeClr val="tx1"/>
                </a:solidFill>
              </a:rPr>
              <a:t>- Policies, which changes over the time, such as taxation and newly introduced constraints like, how to maintain bookkeeping, may trigger need for modification.</a:t>
            </a:r>
          </a:p>
          <a:p>
            <a:pPr marL="342900" indent="-342900">
              <a:buFont typeface="Wingdings" panose="05000000000000000000" pitchFamily="2" charset="2"/>
              <a:buChar char="Ø"/>
            </a:pPr>
            <a:r>
              <a:rPr lang="en-US" sz="2400" b="1" dirty="0">
                <a:solidFill>
                  <a:schemeClr val="tx1"/>
                </a:solidFill>
              </a:rPr>
              <a:t>Client Requirements</a:t>
            </a:r>
            <a:r>
              <a:rPr lang="en-US" sz="2400" dirty="0">
                <a:solidFill>
                  <a:schemeClr val="tx1"/>
                </a:solidFill>
              </a:rPr>
              <a:t> - Over the time, customer may ask for new features or functions in the software.</a:t>
            </a:r>
          </a:p>
          <a:p>
            <a:pPr marL="342900" indent="-342900">
              <a:buFont typeface="Wingdings" panose="05000000000000000000" pitchFamily="2" charset="2"/>
              <a:buChar char="Ø"/>
            </a:pPr>
            <a:r>
              <a:rPr lang="en-US" sz="2400" b="1" dirty="0">
                <a:solidFill>
                  <a:schemeClr val="tx1"/>
                </a:solidFill>
              </a:rPr>
              <a:t>Host Modifications </a:t>
            </a:r>
            <a:r>
              <a:rPr lang="en-US" sz="2400" dirty="0">
                <a:solidFill>
                  <a:schemeClr val="tx1"/>
                </a:solidFill>
              </a:rPr>
              <a:t>- If any of the hardware and/or platform (such as operating system) of the target host changes, software changes are needed to keep adaptability.</a:t>
            </a:r>
          </a:p>
          <a:p>
            <a:pPr marL="342900" indent="-342900">
              <a:buFont typeface="Wingdings" panose="05000000000000000000" pitchFamily="2" charset="2"/>
              <a:buChar char="Ø"/>
            </a:pPr>
            <a:r>
              <a:rPr lang="en-US" sz="2400" b="1" dirty="0">
                <a:solidFill>
                  <a:schemeClr val="tx1"/>
                </a:solidFill>
              </a:rPr>
              <a:t>Organization Changes</a:t>
            </a:r>
            <a:r>
              <a:rPr lang="en-US" sz="2400" dirty="0">
                <a:solidFill>
                  <a:schemeClr val="tx1"/>
                </a:solidFill>
              </a:rPr>
              <a:t> - If there is any business level change at client end, such as reduction of organization strength, acquiring another company, organization venturing into new business, need to modify in the original software may arise.</a:t>
            </a:r>
          </a:p>
          <a:p>
            <a:pPr marL="342900" indent="-342900">
              <a:buFont typeface="Wingdings" panose="05000000000000000000" pitchFamily="2" charset="2"/>
              <a:buChar char="Ø"/>
            </a:pPr>
            <a:endParaRPr lang="en-US" sz="2400" dirty="0">
              <a:solidFill>
                <a:schemeClr val="tx1"/>
              </a:solidFill>
            </a:endParaRPr>
          </a:p>
        </p:txBody>
      </p:sp>
    </p:spTree>
    <p:extLst>
      <p:ext uri="{BB962C8B-B14F-4D97-AF65-F5344CB8AC3E}">
        <p14:creationId xmlns:p14="http://schemas.microsoft.com/office/powerpoint/2010/main" val="41709893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4" name="object 4"/>
          <p:cNvSpPr txBox="1">
            <a:spLocks noGrp="1"/>
          </p:cNvSpPr>
          <p:nvPr>
            <p:ph type="title"/>
          </p:nvPr>
        </p:nvSpPr>
        <p:spPr>
          <a:xfrm>
            <a:off x="2006154" y="1050824"/>
            <a:ext cx="5138548" cy="474489"/>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FF0000"/>
                </a:solidFill>
                <a:latin typeface="Times New Roman"/>
                <a:cs typeface="Times New Roman"/>
              </a:rPr>
              <a:t>Cost </a:t>
            </a:r>
            <a:r>
              <a:rPr sz="3000" b="1" spc="-5" dirty="0">
                <a:solidFill>
                  <a:srgbClr val="FF0000"/>
                </a:solidFill>
                <a:latin typeface="Times New Roman"/>
                <a:cs typeface="Times New Roman"/>
              </a:rPr>
              <a:t>distribution </a:t>
            </a:r>
            <a:r>
              <a:rPr sz="3000" b="1" dirty="0">
                <a:solidFill>
                  <a:srgbClr val="FF0000"/>
                </a:solidFill>
                <a:latin typeface="Times New Roman"/>
                <a:cs typeface="Times New Roman"/>
              </a:rPr>
              <a:t>of</a:t>
            </a:r>
            <a:r>
              <a:rPr sz="3000" b="1" spc="-35" dirty="0">
                <a:solidFill>
                  <a:srgbClr val="FF0000"/>
                </a:solidFill>
                <a:latin typeface="Times New Roman"/>
                <a:cs typeface="Times New Roman"/>
              </a:rPr>
              <a:t> </a:t>
            </a:r>
            <a:r>
              <a:rPr sz="3000" b="1" dirty="0">
                <a:solidFill>
                  <a:srgbClr val="FF0000"/>
                </a:solidFill>
                <a:latin typeface="Times New Roman"/>
                <a:cs typeface="Times New Roman"/>
              </a:rPr>
              <a:t>SDLC</a:t>
            </a:r>
          </a:p>
        </p:txBody>
      </p:sp>
      <p:sp>
        <p:nvSpPr>
          <p:cNvPr id="5" name="object 5"/>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4</a:t>
            </a:r>
            <a:endParaRPr sz="200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pic>
        <p:nvPicPr>
          <p:cNvPr id="8" name="Picture 7"/>
          <p:cNvPicPr>
            <a:picLocks noChangeAspect="1"/>
          </p:cNvPicPr>
          <p:nvPr/>
        </p:nvPicPr>
        <p:blipFill>
          <a:blip r:embed="rId2"/>
          <a:stretch>
            <a:fillRect/>
          </a:stretch>
        </p:blipFill>
        <p:spPr>
          <a:xfrm>
            <a:off x="1995268" y="1905000"/>
            <a:ext cx="5338763" cy="448097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924923"/>
            <a:ext cx="5702427" cy="474489"/>
          </a:xfrm>
          <a:prstGeom prst="rect">
            <a:avLst/>
          </a:prstGeom>
        </p:spPr>
        <p:txBody>
          <a:bodyPr vert="horz" wrap="square" lIns="0" tIns="12700" rIns="0" bIns="0" rtlCol="0">
            <a:spAutoFit/>
          </a:bodyPr>
          <a:lstStyle/>
          <a:p>
            <a:pPr marL="12700">
              <a:lnSpc>
                <a:spcPct val="100000"/>
              </a:lnSpc>
              <a:spcBef>
                <a:spcPts val="100"/>
              </a:spcBef>
            </a:pPr>
            <a:r>
              <a:rPr sz="3000" b="1" spc="-5" dirty="0">
                <a:solidFill>
                  <a:srgbClr val="FF0000"/>
                </a:solidFill>
                <a:latin typeface="Times New Roman"/>
                <a:cs typeface="Times New Roman"/>
              </a:rPr>
              <a:t>Software Maintenance</a:t>
            </a:r>
            <a:r>
              <a:rPr sz="3000" b="1" spc="50" dirty="0">
                <a:solidFill>
                  <a:srgbClr val="FF0000"/>
                </a:solidFill>
                <a:latin typeface="Times New Roman"/>
                <a:cs typeface="Times New Roman"/>
              </a:rPr>
              <a:t> </a:t>
            </a:r>
            <a:r>
              <a:rPr sz="3000" b="1" spc="-5" dirty="0">
                <a:solidFill>
                  <a:srgbClr val="FF0000"/>
                </a:solidFill>
                <a:latin typeface="Times New Roman"/>
                <a:cs typeface="Times New Roman"/>
              </a:rPr>
              <a:t>Problems</a:t>
            </a:r>
            <a:endParaRPr sz="3000" b="1" dirty="0">
              <a:solidFill>
                <a:srgbClr val="FF0000"/>
              </a:solidFill>
              <a:latin typeface="Times New Roman"/>
              <a:cs typeface="Times New Roman"/>
            </a:endParaRPr>
          </a:p>
        </p:txBody>
      </p:sp>
      <p:sp>
        <p:nvSpPr>
          <p:cNvPr id="6" name="object 6"/>
          <p:cNvSpPr txBox="1"/>
          <p:nvPr/>
        </p:nvSpPr>
        <p:spPr>
          <a:xfrm>
            <a:off x="1457325" y="1925573"/>
            <a:ext cx="837565"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Lst>
            </a:pPr>
            <a:r>
              <a:rPr sz="1800" spc="-5" dirty="0">
                <a:solidFill>
                  <a:srgbClr val="404040"/>
                </a:solidFill>
                <a:latin typeface="Times New Roman"/>
                <a:cs typeface="Times New Roman"/>
              </a:rPr>
              <a:t>Mo</a:t>
            </a:r>
            <a:r>
              <a:rPr sz="1800" spc="-15" dirty="0">
                <a:solidFill>
                  <a:srgbClr val="404040"/>
                </a:solidFill>
                <a:latin typeface="Times New Roman"/>
                <a:cs typeface="Times New Roman"/>
              </a:rPr>
              <a:t>s</a:t>
            </a:r>
            <a:r>
              <a:rPr sz="1800" dirty="0">
                <a:solidFill>
                  <a:srgbClr val="404040"/>
                </a:solidFill>
                <a:latin typeface="Times New Roman"/>
                <a:cs typeface="Times New Roman"/>
              </a:rPr>
              <a:t>t</a:t>
            </a:r>
            <a:endParaRPr sz="1800">
              <a:latin typeface="Times New Roman"/>
              <a:cs typeface="Times New Roman"/>
            </a:endParaRPr>
          </a:p>
        </p:txBody>
      </p:sp>
      <p:sp>
        <p:nvSpPr>
          <p:cNvPr id="7" name="object 7"/>
          <p:cNvSpPr txBox="1"/>
          <p:nvPr/>
        </p:nvSpPr>
        <p:spPr>
          <a:xfrm>
            <a:off x="2556129" y="1925573"/>
            <a:ext cx="889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computer</a:t>
            </a:r>
            <a:endParaRPr sz="1800">
              <a:latin typeface="Times New Roman"/>
              <a:cs typeface="Times New Roman"/>
            </a:endParaRPr>
          </a:p>
        </p:txBody>
      </p:sp>
      <p:sp>
        <p:nvSpPr>
          <p:cNvPr id="8" name="object 8"/>
          <p:cNvSpPr txBox="1"/>
          <p:nvPr/>
        </p:nvSpPr>
        <p:spPr>
          <a:xfrm>
            <a:off x="3707129" y="1925573"/>
            <a:ext cx="1454150" cy="299720"/>
          </a:xfrm>
          <a:prstGeom prst="rect">
            <a:avLst/>
          </a:prstGeom>
        </p:spPr>
        <p:txBody>
          <a:bodyPr vert="horz" wrap="square" lIns="0" tIns="12700" rIns="0" bIns="0" rtlCol="0">
            <a:spAutoFit/>
          </a:bodyPr>
          <a:lstStyle/>
          <a:p>
            <a:pPr marL="12700">
              <a:lnSpc>
                <a:spcPct val="100000"/>
              </a:lnSpc>
              <a:spcBef>
                <a:spcPts val="100"/>
              </a:spcBef>
              <a:tabLst>
                <a:tab pos="1161415" algn="l"/>
              </a:tabLst>
            </a:pPr>
            <a:r>
              <a:rPr sz="1800" dirty="0">
                <a:solidFill>
                  <a:srgbClr val="404040"/>
                </a:solidFill>
                <a:latin typeface="Times New Roman"/>
                <a:cs typeface="Times New Roman"/>
              </a:rPr>
              <a:t>progra</a:t>
            </a:r>
            <a:r>
              <a:rPr sz="1800" spc="-10" dirty="0">
                <a:solidFill>
                  <a:srgbClr val="404040"/>
                </a:solidFill>
                <a:latin typeface="Times New Roman"/>
                <a:cs typeface="Times New Roman"/>
              </a:rPr>
              <a:t>m</a:t>
            </a:r>
            <a:r>
              <a:rPr sz="1800" spc="-5" dirty="0">
                <a:solidFill>
                  <a:srgbClr val="404040"/>
                </a:solidFill>
                <a:latin typeface="Times New Roman"/>
                <a:cs typeface="Times New Roman"/>
              </a:rPr>
              <a:t>s</a:t>
            </a:r>
            <a:r>
              <a:rPr sz="1800" dirty="0">
                <a:solidFill>
                  <a:srgbClr val="404040"/>
                </a:solidFill>
                <a:latin typeface="Times New Roman"/>
                <a:cs typeface="Times New Roman"/>
              </a:rPr>
              <a:t>	are</a:t>
            </a:r>
            <a:endParaRPr sz="1800">
              <a:latin typeface="Times New Roman"/>
              <a:cs typeface="Times New Roman"/>
            </a:endParaRPr>
          </a:p>
        </p:txBody>
      </p:sp>
      <p:sp>
        <p:nvSpPr>
          <p:cNvPr id="9" name="object 9"/>
          <p:cNvSpPr txBox="1"/>
          <p:nvPr/>
        </p:nvSpPr>
        <p:spPr>
          <a:xfrm>
            <a:off x="1800225" y="2199894"/>
            <a:ext cx="326834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imes New Roman"/>
                <a:cs typeface="Times New Roman"/>
              </a:rPr>
              <a:t>difficult </a:t>
            </a:r>
            <a:r>
              <a:rPr sz="1800" dirty="0">
                <a:solidFill>
                  <a:srgbClr val="404040"/>
                </a:solidFill>
                <a:latin typeface="Times New Roman"/>
                <a:cs typeface="Times New Roman"/>
              </a:rPr>
              <a:t>and expensive to</a:t>
            </a:r>
            <a:r>
              <a:rPr sz="1800" spc="-85" dirty="0">
                <a:solidFill>
                  <a:srgbClr val="404040"/>
                </a:solidFill>
                <a:latin typeface="Times New Roman"/>
                <a:cs typeface="Times New Roman"/>
              </a:rPr>
              <a:t> </a:t>
            </a:r>
            <a:r>
              <a:rPr sz="1800" dirty="0">
                <a:solidFill>
                  <a:srgbClr val="404040"/>
                </a:solidFill>
                <a:latin typeface="Times New Roman"/>
                <a:cs typeface="Times New Roman"/>
              </a:rPr>
              <a:t>maintain.</a:t>
            </a:r>
            <a:endParaRPr sz="1800">
              <a:latin typeface="Times New Roman"/>
              <a:cs typeface="Times New Roman"/>
            </a:endParaRPr>
          </a:p>
        </p:txBody>
      </p:sp>
      <p:sp>
        <p:nvSpPr>
          <p:cNvPr id="10" name="object 10"/>
          <p:cNvSpPr txBox="1"/>
          <p:nvPr/>
        </p:nvSpPr>
        <p:spPr>
          <a:xfrm>
            <a:off x="1457325" y="2600705"/>
            <a:ext cx="2231390"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1481455" algn="l"/>
              </a:tabLst>
            </a:pPr>
            <a:r>
              <a:rPr sz="1800" dirty="0">
                <a:solidFill>
                  <a:srgbClr val="404040"/>
                </a:solidFill>
                <a:latin typeface="Times New Roman"/>
                <a:cs typeface="Times New Roman"/>
              </a:rPr>
              <a:t>Software	</a:t>
            </a:r>
            <a:r>
              <a:rPr sz="1800" spc="-5" dirty="0">
                <a:solidFill>
                  <a:srgbClr val="404040"/>
                </a:solidFill>
                <a:latin typeface="Times New Roman"/>
                <a:cs typeface="Times New Roman"/>
              </a:rPr>
              <a:t>changes</a:t>
            </a:r>
            <a:endParaRPr sz="1800">
              <a:latin typeface="Times New Roman"/>
              <a:cs typeface="Times New Roman"/>
            </a:endParaRPr>
          </a:p>
        </p:txBody>
      </p:sp>
      <p:sp>
        <p:nvSpPr>
          <p:cNvPr id="11" name="object 11"/>
          <p:cNvSpPr txBox="1"/>
          <p:nvPr/>
        </p:nvSpPr>
        <p:spPr>
          <a:xfrm>
            <a:off x="3961638" y="2600705"/>
            <a:ext cx="1198880" cy="299720"/>
          </a:xfrm>
          <a:prstGeom prst="rect">
            <a:avLst/>
          </a:prstGeom>
        </p:spPr>
        <p:txBody>
          <a:bodyPr vert="horz" wrap="square" lIns="0" tIns="12700" rIns="0" bIns="0" rtlCol="0">
            <a:spAutoFit/>
          </a:bodyPr>
          <a:lstStyle/>
          <a:p>
            <a:pPr marL="12700">
              <a:lnSpc>
                <a:spcPct val="100000"/>
              </a:lnSpc>
              <a:spcBef>
                <a:spcPts val="100"/>
              </a:spcBef>
              <a:tabLst>
                <a:tab pos="591185" algn="l"/>
              </a:tabLst>
            </a:pPr>
            <a:r>
              <a:rPr sz="1800" dirty="0">
                <a:solidFill>
                  <a:srgbClr val="404040"/>
                </a:solidFill>
                <a:latin typeface="Times New Roman"/>
                <a:cs typeface="Times New Roman"/>
              </a:rPr>
              <a:t>a</a:t>
            </a:r>
            <a:r>
              <a:rPr sz="1800" spc="-10" dirty="0">
                <a:solidFill>
                  <a:srgbClr val="404040"/>
                </a:solidFill>
                <a:latin typeface="Times New Roman"/>
                <a:cs typeface="Times New Roman"/>
              </a:rPr>
              <a:t>r</a:t>
            </a:r>
            <a:r>
              <a:rPr sz="1800" dirty="0">
                <a:solidFill>
                  <a:srgbClr val="404040"/>
                </a:solidFill>
                <a:latin typeface="Times New Roman"/>
                <a:cs typeface="Times New Roman"/>
              </a:rPr>
              <a:t>e	po</a:t>
            </a:r>
            <a:r>
              <a:rPr sz="1800" spc="-15" dirty="0">
                <a:solidFill>
                  <a:srgbClr val="404040"/>
                </a:solidFill>
                <a:latin typeface="Times New Roman"/>
                <a:cs typeface="Times New Roman"/>
              </a:rPr>
              <a:t>o</a:t>
            </a:r>
            <a:r>
              <a:rPr sz="1800" dirty="0">
                <a:solidFill>
                  <a:srgbClr val="404040"/>
                </a:solidFill>
                <a:latin typeface="Times New Roman"/>
                <a:cs typeface="Times New Roman"/>
              </a:rPr>
              <a:t>r</a:t>
            </a:r>
            <a:r>
              <a:rPr sz="1800" spc="-10" dirty="0">
                <a:solidFill>
                  <a:srgbClr val="404040"/>
                </a:solidFill>
                <a:latin typeface="Times New Roman"/>
                <a:cs typeface="Times New Roman"/>
              </a:rPr>
              <a:t>l</a:t>
            </a:r>
            <a:r>
              <a:rPr sz="1800" dirty="0">
                <a:solidFill>
                  <a:srgbClr val="404040"/>
                </a:solidFill>
                <a:latin typeface="Times New Roman"/>
                <a:cs typeface="Times New Roman"/>
              </a:rPr>
              <a:t>y</a:t>
            </a:r>
            <a:endParaRPr sz="1800">
              <a:latin typeface="Times New Roman"/>
              <a:cs typeface="Times New Roman"/>
            </a:endParaRPr>
          </a:p>
        </p:txBody>
      </p:sp>
      <p:sp>
        <p:nvSpPr>
          <p:cNvPr id="12" name="object 12"/>
          <p:cNvSpPr txBox="1"/>
          <p:nvPr/>
        </p:nvSpPr>
        <p:spPr>
          <a:xfrm>
            <a:off x="1800225" y="2875279"/>
            <a:ext cx="25355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designed and</a:t>
            </a:r>
            <a:r>
              <a:rPr sz="1800" spc="-90" dirty="0">
                <a:solidFill>
                  <a:srgbClr val="404040"/>
                </a:solidFill>
                <a:latin typeface="Times New Roman"/>
                <a:cs typeface="Times New Roman"/>
              </a:rPr>
              <a:t> </a:t>
            </a:r>
            <a:r>
              <a:rPr sz="1800" dirty="0">
                <a:solidFill>
                  <a:srgbClr val="404040"/>
                </a:solidFill>
                <a:latin typeface="Times New Roman"/>
                <a:cs typeface="Times New Roman"/>
              </a:rPr>
              <a:t>implemented.</a:t>
            </a:r>
            <a:endParaRPr sz="1800">
              <a:latin typeface="Times New Roman"/>
              <a:cs typeface="Times New Roman"/>
            </a:endParaRPr>
          </a:p>
        </p:txBody>
      </p:sp>
      <p:sp>
        <p:nvSpPr>
          <p:cNvPr id="13" name="object 13"/>
          <p:cNvSpPr txBox="1"/>
          <p:nvPr/>
        </p:nvSpPr>
        <p:spPr>
          <a:xfrm>
            <a:off x="1457325" y="3277615"/>
            <a:ext cx="1437640"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891540" algn="l"/>
              </a:tabLst>
            </a:pPr>
            <a:r>
              <a:rPr sz="1800" dirty="0">
                <a:solidFill>
                  <a:srgbClr val="404040"/>
                </a:solidFill>
                <a:latin typeface="Times New Roman"/>
                <a:cs typeface="Times New Roman"/>
              </a:rPr>
              <a:t>The	rep</a:t>
            </a:r>
            <a:r>
              <a:rPr sz="1800" spc="-10" dirty="0">
                <a:solidFill>
                  <a:srgbClr val="404040"/>
                </a:solidFill>
                <a:latin typeface="Times New Roman"/>
                <a:cs typeface="Times New Roman"/>
              </a:rPr>
              <a:t>a</a:t>
            </a:r>
            <a:r>
              <a:rPr sz="1800" dirty="0">
                <a:solidFill>
                  <a:srgbClr val="404040"/>
                </a:solidFill>
                <a:latin typeface="Times New Roman"/>
                <a:cs typeface="Times New Roman"/>
              </a:rPr>
              <a:t>ir</a:t>
            </a:r>
            <a:endParaRPr sz="1800">
              <a:latin typeface="Times New Roman"/>
              <a:cs typeface="Times New Roman"/>
            </a:endParaRPr>
          </a:p>
        </p:txBody>
      </p:sp>
      <p:sp>
        <p:nvSpPr>
          <p:cNvPr id="14" name="object 14"/>
          <p:cNvSpPr txBox="1"/>
          <p:nvPr/>
        </p:nvSpPr>
        <p:spPr>
          <a:xfrm>
            <a:off x="3050285" y="3277615"/>
            <a:ext cx="2112645" cy="299720"/>
          </a:xfrm>
          <a:prstGeom prst="rect">
            <a:avLst/>
          </a:prstGeom>
        </p:spPr>
        <p:txBody>
          <a:bodyPr vert="horz" wrap="square" lIns="0" tIns="12700" rIns="0" bIns="0" rtlCol="0">
            <a:spAutoFit/>
          </a:bodyPr>
          <a:lstStyle/>
          <a:p>
            <a:pPr marL="12700">
              <a:lnSpc>
                <a:spcPct val="100000"/>
              </a:lnSpc>
              <a:spcBef>
                <a:spcPts val="100"/>
              </a:spcBef>
              <a:tabLst>
                <a:tab pos="521334" algn="l"/>
                <a:tab pos="1908175" algn="l"/>
              </a:tabLst>
            </a:pPr>
            <a:r>
              <a:rPr sz="1800" dirty="0">
                <a:solidFill>
                  <a:srgbClr val="404040"/>
                </a:solidFill>
                <a:latin typeface="Times New Roman"/>
                <a:cs typeface="Times New Roman"/>
              </a:rPr>
              <a:t>a</a:t>
            </a:r>
            <a:r>
              <a:rPr sz="1800" spc="-10" dirty="0">
                <a:solidFill>
                  <a:srgbClr val="404040"/>
                </a:solidFill>
                <a:latin typeface="Times New Roman"/>
                <a:cs typeface="Times New Roman"/>
              </a:rPr>
              <a:t>n</a:t>
            </a:r>
            <a:r>
              <a:rPr sz="1800" dirty="0">
                <a:solidFill>
                  <a:srgbClr val="404040"/>
                </a:solidFill>
                <a:latin typeface="Times New Roman"/>
                <a:cs typeface="Times New Roman"/>
              </a:rPr>
              <a:t>d	enh</a:t>
            </a:r>
            <a:r>
              <a:rPr sz="1800" spc="5" dirty="0">
                <a:solidFill>
                  <a:srgbClr val="404040"/>
                </a:solidFill>
                <a:latin typeface="Times New Roman"/>
                <a:cs typeface="Times New Roman"/>
              </a:rPr>
              <a:t>a</a:t>
            </a:r>
            <a:r>
              <a:rPr sz="1800" dirty="0">
                <a:solidFill>
                  <a:srgbClr val="404040"/>
                </a:solidFill>
                <a:latin typeface="Times New Roman"/>
                <a:cs typeface="Times New Roman"/>
              </a:rPr>
              <a:t>nc</a:t>
            </a:r>
            <a:r>
              <a:rPr sz="1800" spc="5" dirty="0">
                <a:solidFill>
                  <a:srgbClr val="404040"/>
                </a:solidFill>
                <a:latin typeface="Times New Roman"/>
                <a:cs typeface="Times New Roman"/>
              </a:rPr>
              <a:t>e</a:t>
            </a:r>
            <a:r>
              <a:rPr sz="1800" spc="-10" dirty="0">
                <a:solidFill>
                  <a:srgbClr val="404040"/>
                </a:solidFill>
                <a:latin typeface="Times New Roman"/>
                <a:cs typeface="Times New Roman"/>
              </a:rPr>
              <a:t>m</a:t>
            </a:r>
            <a:r>
              <a:rPr sz="1800" dirty="0">
                <a:solidFill>
                  <a:srgbClr val="404040"/>
                </a:solidFill>
                <a:latin typeface="Times New Roman"/>
                <a:cs typeface="Times New Roman"/>
              </a:rPr>
              <a:t>ent	of</a:t>
            </a:r>
            <a:endParaRPr sz="1800">
              <a:latin typeface="Times New Roman"/>
              <a:cs typeface="Times New Roman"/>
            </a:endParaRPr>
          </a:p>
        </p:txBody>
      </p:sp>
      <p:sp>
        <p:nvSpPr>
          <p:cNvPr id="15" name="object 15"/>
          <p:cNvSpPr txBox="1"/>
          <p:nvPr/>
        </p:nvSpPr>
        <p:spPr>
          <a:xfrm>
            <a:off x="1457325" y="3551935"/>
            <a:ext cx="3705225" cy="1650364"/>
          </a:xfrm>
          <a:prstGeom prst="rect">
            <a:avLst/>
          </a:prstGeom>
        </p:spPr>
        <p:txBody>
          <a:bodyPr vert="horz" wrap="square" lIns="0" tIns="12700" rIns="0" bIns="0" rtlCol="0">
            <a:spAutoFit/>
          </a:bodyPr>
          <a:lstStyle/>
          <a:p>
            <a:pPr marL="355600" marR="5715">
              <a:lnSpc>
                <a:spcPct val="100000"/>
              </a:lnSpc>
              <a:spcBef>
                <a:spcPts val="100"/>
              </a:spcBef>
            </a:pPr>
            <a:r>
              <a:rPr sz="1800" spc="-5" dirty="0">
                <a:solidFill>
                  <a:srgbClr val="404040"/>
                </a:solidFill>
                <a:latin typeface="Times New Roman"/>
                <a:cs typeface="Times New Roman"/>
              </a:rPr>
              <a:t>software </a:t>
            </a:r>
            <a:r>
              <a:rPr sz="1800" dirty="0">
                <a:solidFill>
                  <a:srgbClr val="404040"/>
                </a:solidFill>
                <a:latin typeface="Times New Roman"/>
                <a:cs typeface="Times New Roman"/>
              </a:rPr>
              <a:t>often injects </a:t>
            </a:r>
            <a:r>
              <a:rPr sz="1800" spc="-10" dirty="0">
                <a:solidFill>
                  <a:srgbClr val="404040"/>
                </a:solidFill>
                <a:latin typeface="Times New Roman"/>
                <a:cs typeface="Times New Roman"/>
              </a:rPr>
              <a:t>new </a:t>
            </a:r>
            <a:r>
              <a:rPr sz="1800" dirty="0">
                <a:solidFill>
                  <a:srgbClr val="404040"/>
                </a:solidFill>
                <a:latin typeface="Times New Roman"/>
                <a:cs typeface="Times New Roman"/>
              </a:rPr>
              <a:t>bugs that  </a:t>
            </a:r>
            <a:r>
              <a:rPr sz="1800" spc="-5" dirty="0">
                <a:solidFill>
                  <a:srgbClr val="404040"/>
                </a:solidFill>
                <a:latin typeface="Times New Roman"/>
                <a:cs typeface="Times New Roman"/>
              </a:rPr>
              <a:t>must </a:t>
            </a:r>
            <a:r>
              <a:rPr sz="1800" dirty="0">
                <a:solidFill>
                  <a:srgbClr val="404040"/>
                </a:solidFill>
                <a:latin typeface="Times New Roman"/>
                <a:cs typeface="Times New Roman"/>
              </a:rPr>
              <a:t>later be</a:t>
            </a:r>
            <a:r>
              <a:rPr sz="1800" spc="-15" dirty="0">
                <a:solidFill>
                  <a:srgbClr val="404040"/>
                </a:solidFill>
                <a:latin typeface="Times New Roman"/>
                <a:cs typeface="Times New Roman"/>
              </a:rPr>
              <a:t> </a:t>
            </a:r>
            <a:r>
              <a:rPr sz="1800" dirty="0">
                <a:solidFill>
                  <a:srgbClr val="404040"/>
                </a:solidFill>
                <a:latin typeface="Times New Roman"/>
                <a:cs typeface="Times New Roman"/>
              </a:rPr>
              <a:t>repaired.</a:t>
            </a:r>
            <a:endParaRPr sz="1800">
              <a:latin typeface="Times New Roman"/>
              <a:cs typeface="Times New Roman"/>
            </a:endParaRPr>
          </a:p>
          <a:p>
            <a:pPr marL="355600" indent="-342900">
              <a:lnSpc>
                <a:spcPct val="100000"/>
              </a:lnSpc>
              <a:spcBef>
                <a:spcPts val="994"/>
              </a:spcBef>
              <a:buClr>
                <a:srgbClr val="E84B21"/>
              </a:buClr>
              <a:buFont typeface="Wingdings"/>
              <a:buChar char=""/>
              <a:tabLst>
                <a:tab pos="354965" algn="l"/>
                <a:tab pos="355600" algn="l"/>
              </a:tabLst>
            </a:pPr>
            <a:r>
              <a:rPr sz="1800" dirty="0">
                <a:solidFill>
                  <a:srgbClr val="404040"/>
                </a:solidFill>
                <a:latin typeface="Times New Roman"/>
                <a:cs typeface="Times New Roman"/>
              </a:rPr>
              <a:t>Changes are often </a:t>
            </a:r>
            <a:r>
              <a:rPr sz="1800" spc="-5" dirty="0">
                <a:solidFill>
                  <a:srgbClr val="404040"/>
                </a:solidFill>
                <a:latin typeface="Times New Roman"/>
                <a:cs typeface="Times New Roman"/>
              </a:rPr>
              <a:t>not</a:t>
            </a:r>
            <a:r>
              <a:rPr sz="1800" spc="-70" dirty="0">
                <a:solidFill>
                  <a:srgbClr val="404040"/>
                </a:solidFill>
                <a:latin typeface="Times New Roman"/>
                <a:cs typeface="Times New Roman"/>
              </a:rPr>
              <a:t> </a:t>
            </a:r>
            <a:r>
              <a:rPr sz="1800" dirty="0">
                <a:solidFill>
                  <a:srgbClr val="404040"/>
                </a:solidFill>
                <a:latin typeface="Times New Roman"/>
                <a:cs typeface="Times New Roman"/>
              </a:rPr>
              <a:t>documented.</a:t>
            </a:r>
            <a:endParaRPr sz="1800">
              <a:latin typeface="Times New Roman"/>
              <a:cs typeface="Times New Roman"/>
            </a:endParaRPr>
          </a:p>
          <a:p>
            <a:pPr marL="355600" marR="5080" indent="-342900">
              <a:lnSpc>
                <a:spcPct val="100000"/>
              </a:lnSpc>
              <a:spcBef>
                <a:spcPts val="1000"/>
              </a:spcBef>
              <a:buClr>
                <a:srgbClr val="E84B21"/>
              </a:buClr>
              <a:buFont typeface="Wingdings"/>
              <a:buChar char=""/>
              <a:tabLst>
                <a:tab pos="354965" algn="l"/>
                <a:tab pos="355600" algn="l"/>
              </a:tabLst>
            </a:pPr>
            <a:r>
              <a:rPr sz="1800" dirty="0">
                <a:solidFill>
                  <a:srgbClr val="404040"/>
                </a:solidFill>
                <a:latin typeface="Times New Roman"/>
                <a:cs typeface="Times New Roman"/>
              </a:rPr>
              <a:t>Changes </a:t>
            </a:r>
            <a:r>
              <a:rPr sz="1800" spc="-5" dirty="0">
                <a:solidFill>
                  <a:srgbClr val="404040"/>
                </a:solidFill>
                <a:latin typeface="Times New Roman"/>
                <a:cs typeface="Times New Roman"/>
              </a:rPr>
              <a:t>often </a:t>
            </a:r>
            <a:r>
              <a:rPr sz="1800" dirty="0">
                <a:solidFill>
                  <a:srgbClr val="404040"/>
                </a:solidFill>
                <a:latin typeface="Times New Roman"/>
                <a:cs typeface="Times New Roman"/>
              </a:rPr>
              <a:t>cause </a:t>
            </a:r>
            <a:r>
              <a:rPr sz="1800" spc="-5" dirty="0">
                <a:solidFill>
                  <a:srgbClr val="404040"/>
                </a:solidFill>
                <a:latin typeface="Times New Roman"/>
                <a:cs typeface="Times New Roman"/>
              </a:rPr>
              <a:t>new faults </a:t>
            </a:r>
            <a:r>
              <a:rPr sz="1800" dirty="0">
                <a:solidFill>
                  <a:srgbClr val="404040"/>
                </a:solidFill>
                <a:latin typeface="Times New Roman"/>
                <a:cs typeface="Times New Roman"/>
              </a:rPr>
              <a:t>in  the</a:t>
            </a:r>
            <a:r>
              <a:rPr sz="1800" spc="-5" dirty="0">
                <a:solidFill>
                  <a:srgbClr val="404040"/>
                </a:solidFill>
                <a:latin typeface="Times New Roman"/>
                <a:cs typeface="Times New Roman"/>
              </a:rPr>
              <a:t> </a:t>
            </a:r>
            <a:r>
              <a:rPr sz="1800" dirty="0">
                <a:solidFill>
                  <a:srgbClr val="404040"/>
                </a:solidFill>
                <a:latin typeface="Times New Roman"/>
                <a:cs typeface="Times New Roman"/>
              </a:rPr>
              <a:t>system.</a:t>
            </a:r>
            <a:endParaRPr sz="1800">
              <a:latin typeface="Times New Roman"/>
              <a:cs typeface="Times New Roman"/>
            </a:endParaRPr>
          </a:p>
        </p:txBody>
      </p:sp>
      <p:sp>
        <p:nvSpPr>
          <p:cNvPr id="16" name="object 16"/>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5</a:t>
            </a:r>
            <a:endParaRPr sz="2000">
              <a:latin typeface="Arial"/>
              <a:cs typeface="Arial"/>
            </a:endParaRPr>
          </a:p>
        </p:txBody>
      </p:sp>
      <p:sp>
        <p:nvSpPr>
          <p:cNvPr id="17" name="object 17"/>
          <p:cNvSpPr/>
          <p:nvPr/>
        </p:nvSpPr>
        <p:spPr>
          <a:xfrm>
            <a:off x="5562600" y="4268723"/>
            <a:ext cx="3116579" cy="2083308"/>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5577840" y="2226564"/>
            <a:ext cx="3086100" cy="2052955"/>
          </a:xfrm>
          <a:custGeom>
            <a:avLst/>
            <a:gdLst/>
            <a:ahLst/>
            <a:cxnLst/>
            <a:rect l="l" t="t" r="r" b="b"/>
            <a:pathLst>
              <a:path w="3086100" h="2052954">
                <a:moveTo>
                  <a:pt x="2909696" y="0"/>
                </a:moveTo>
                <a:lnTo>
                  <a:pt x="176402" y="0"/>
                </a:lnTo>
                <a:lnTo>
                  <a:pt x="129513" y="6302"/>
                </a:lnTo>
                <a:lnTo>
                  <a:pt x="87375" y="24087"/>
                </a:lnTo>
                <a:lnTo>
                  <a:pt x="51673" y="51673"/>
                </a:lnTo>
                <a:lnTo>
                  <a:pt x="24087" y="87376"/>
                </a:lnTo>
                <a:lnTo>
                  <a:pt x="6302" y="129513"/>
                </a:lnTo>
                <a:lnTo>
                  <a:pt x="0" y="176402"/>
                </a:lnTo>
                <a:lnTo>
                  <a:pt x="0" y="1876425"/>
                </a:lnTo>
                <a:lnTo>
                  <a:pt x="6302" y="1923314"/>
                </a:lnTo>
                <a:lnTo>
                  <a:pt x="24087" y="1965452"/>
                </a:lnTo>
                <a:lnTo>
                  <a:pt x="51673" y="2001154"/>
                </a:lnTo>
                <a:lnTo>
                  <a:pt x="87376" y="2028740"/>
                </a:lnTo>
                <a:lnTo>
                  <a:pt x="129513" y="2046525"/>
                </a:lnTo>
                <a:lnTo>
                  <a:pt x="176402" y="2052828"/>
                </a:lnTo>
                <a:lnTo>
                  <a:pt x="2909696" y="2052828"/>
                </a:lnTo>
                <a:lnTo>
                  <a:pt x="2956586" y="2046525"/>
                </a:lnTo>
                <a:lnTo>
                  <a:pt x="2998723" y="2028740"/>
                </a:lnTo>
                <a:lnTo>
                  <a:pt x="3034426" y="2001154"/>
                </a:lnTo>
                <a:lnTo>
                  <a:pt x="3062012" y="1965452"/>
                </a:lnTo>
                <a:lnTo>
                  <a:pt x="3079797" y="1923314"/>
                </a:lnTo>
                <a:lnTo>
                  <a:pt x="3086100" y="1876425"/>
                </a:lnTo>
                <a:lnTo>
                  <a:pt x="3086100" y="176402"/>
                </a:lnTo>
                <a:lnTo>
                  <a:pt x="3079797" y="129513"/>
                </a:lnTo>
                <a:lnTo>
                  <a:pt x="3062012" y="87376"/>
                </a:lnTo>
                <a:lnTo>
                  <a:pt x="3034426" y="51673"/>
                </a:lnTo>
                <a:lnTo>
                  <a:pt x="2998724" y="24087"/>
                </a:lnTo>
                <a:lnTo>
                  <a:pt x="2956586" y="6302"/>
                </a:lnTo>
                <a:lnTo>
                  <a:pt x="2909696" y="0"/>
                </a:lnTo>
                <a:close/>
              </a:path>
            </a:pathLst>
          </a:custGeom>
          <a:solidFill>
            <a:srgbClr val="ECECEC"/>
          </a:solidFill>
        </p:spPr>
        <p:txBody>
          <a:bodyPr wrap="square" lIns="0" tIns="0" rIns="0" bIns="0" rtlCol="0"/>
          <a:lstStyle/>
          <a:p>
            <a:endParaRPr/>
          </a:p>
        </p:txBody>
      </p:sp>
      <p:sp>
        <p:nvSpPr>
          <p:cNvPr id="19" name="object 19"/>
          <p:cNvSpPr/>
          <p:nvPr/>
        </p:nvSpPr>
        <p:spPr>
          <a:xfrm>
            <a:off x="5577840" y="2226564"/>
            <a:ext cx="3086100" cy="2052828"/>
          </a:xfrm>
          <a:prstGeom prst="rect">
            <a:avLst/>
          </a:prstGeom>
          <a:blipFill>
            <a:blip r:embed="rId3" cstate="print"/>
            <a:stretch>
              <a:fillRect/>
            </a:stretch>
          </a:blipFill>
        </p:spPr>
        <p:txBody>
          <a:bodyPr wrap="square" lIns="0" tIns="0" rIns="0" bIns="0" rtlCol="0"/>
          <a:lstStyle/>
          <a:p>
            <a:endParaRPr/>
          </a:p>
        </p:txBody>
      </p:sp>
      <p:sp>
        <p:nvSpPr>
          <p:cNvPr id="20" name="object 20"/>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85800"/>
            <a:ext cx="6248400" cy="523220"/>
          </a:xfrm>
        </p:spPr>
        <p:txBody>
          <a:bodyPr/>
          <a:lstStyle/>
          <a:p>
            <a:r>
              <a:rPr lang="en-US" sz="3400" b="1" dirty="0" smtClean="0">
                <a:solidFill>
                  <a:srgbClr val="FF0000"/>
                </a:solidFill>
                <a:latin typeface="Times New Roman" panose="02020603050405020304" pitchFamily="18" charset="0"/>
                <a:cs typeface="Times New Roman" panose="02020603050405020304" pitchFamily="18" charset="0"/>
              </a:rPr>
              <a:t>Types o software maintenance</a:t>
            </a:r>
            <a:endParaRPr lang="en-US" sz="3400" b="1"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98531" y="1447800"/>
            <a:ext cx="7964469" cy="5066190"/>
          </a:xfrm>
          <a:prstGeom prst="rect">
            <a:avLst/>
          </a:prstGeom>
        </p:spPr>
      </p:pic>
    </p:spTree>
    <p:extLst>
      <p:ext uri="{BB962C8B-B14F-4D97-AF65-F5344CB8AC3E}">
        <p14:creationId xmlns:p14="http://schemas.microsoft.com/office/powerpoint/2010/main" val="1622736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1680"/>
            <a:ext cx="5718810" cy="505267"/>
          </a:xfrm>
          <a:prstGeom prst="rect">
            <a:avLst/>
          </a:prstGeom>
        </p:spPr>
        <p:txBody>
          <a:bodyPr vert="horz" wrap="square" lIns="0" tIns="12700" rIns="0" bIns="0" rtlCol="0">
            <a:spAutoFit/>
          </a:bodyPr>
          <a:lstStyle/>
          <a:p>
            <a:pPr marL="12700">
              <a:lnSpc>
                <a:spcPct val="100000"/>
              </a:lnSpc>
              <a:spcBef>
                <a:spcPts val="100"/>
              </a:spcBef>
            </a:pPr>
            <a:r>
              <a:rPr sz="3200" b="1" spc="-55" dirty="0">
                <a:solidFill>
                  <a:srgbClr val="FF0000"/>
                </a:solidFill>
                <a:latin typeface="Times New Roman"/>
                <a:cs typeface="Times New Roman"/>
              </a:rPr>
              <a:t>Types </a:t>
            </a:r>
            <a:r>
              <a:rPr sz="3200" b="1" dirty="0">
                <a:solidFill>
                  <a:srgbClr val="FF0000"/>
                </a:solidFill>
                <a:latin typeface="Times New Roman"/>
                <a:cs typeface="Times New Roman"/>
              </a:rPr>
              <a:t>of software</a:t>
            </a:r>
            <a:r>
              <a:rPr sz="3200" b="1" spc="15" dirty="0">
                <a:solidFill>
                  <a:srgbClr val="FF0000"/>
                </a:solidFill>
                <a:latin typeface="Times New Roman"/>
                <a:cs typeface="Times New Roman"/>
              </a:rPr>
              <a:t> </a:t>
            </a:r>
            <a:r>
              <a:rPr sz="3200" b="1" spc="-5" dirty="0">
                <a:solidFill>
                  <a:srgbClr val="FF0000"/>
                </a:solidFill>
                <a:latin typeface="Times New Roman"/>
                <a:cs typeface="Times New Roman"/>
              </a:rPr>
              <a:t>maintenance</a:t>
            </a:r>
            <a:endParaRPr sz="3200" b="1" dirty="0">
              <a:solidFill>
                <a:srgbClr val="FF0000"/>
              </a:solidFill>
              <a:latin typeface="Times New Roman"/>
              <a:cs typeface="Times New Roman"/>
            </a:endParaRPr>
          </a:p>
        </p:txBody>
      </p:sp>
      <p:sp>
        <p:nvSpPr>
          <p:cNvPr id="6" name="object 6"/>
          <p:cNvSpPr/>
          <p:nvPr/>
        </p:nvSpPr>
        <p:spPr>
          <a:xfrm>
            <a:off x="515112" y="1883664"/>
            <a:ext cx="3779520" cy="3778250"/>
          </a:xfrm>
          <a:custGeom>
            <a:avLst/>
            <a:gdLst/>
            <a:ahLst/>
            <a:cxnLst/>
            <a:rect l="l" t="t" r="r" b="b"/>
            <a:pathLst>
              <a:path w="3779520" h="3778250">
                <a:moveTo>
                  <a:pt x="1889760" y="0"/>
                </a:moveTo>
                <a:lnTo>
                  <a:pt x="0" y="3777996"/>
                </a:lnTo>
                <a:lnTo>
                  <a:pt x="3779520" y="3777996"/>
                </a:lnTo>
                <a:lnTo>
                  <a:pt x="1889760" y="0"/>
                </a:lnTo>
                <a:close/>
              </a:path>
            </a:pathLst>
          </a:custGeom>
          <a:solidFill>
            <a:srgbClr val="E84B21"/>
          </a:solidFill>
        </p:spPr>
        <p:txBody>
          <a:bodyPr wrap="square" lIns="0" tIns="0" rIns="0" bIns="0" rtlCol="0"/>
          <a:lstStyle/>
          <a:p>
            <a:endParaRPr/>
          </a:p>
        </p:txBody>
      </p:sp>
      <p:sp>
        <p:nvSpPr>
          <p:cNvPr id="7" name="object 7"/>
          <p:cNvSpPr/>
          <p:nvPr/>
        </p:nvSpPr>
        <p:spPr>
          <a:xfrm>
            <a:off x="515112" y="1883664"/>
            <a:ext cx="3779520" cy="3778250"/>
          </a:xfrm>
          <a:custGeom>
            <a:avLst/>
            <a:gdLst/>
            <a:ahLst/>
            <a:cxnLst/>
            <a:rect l="l" t="t" r="r" b="b"/>
            <a:pathLst>
              <a:path w="3779520" h="3778250">
                <a:moveTo>
                  <a:pt x="0" y="3777996"/>
                </a:moveTo>
                <a:lnTo>
                  <a:pt x="1889760" y="0"/>
                </a:lnTo>
                <a:lnTo>
                  <a:pt x="3779520" y="3777996"/>
                </a:lnTo>
                <a:lnTo>
                  <a:pt x="0" y="3777996"/>
                </a:lnTo>
                <a:close/>
              </a:path>
            </a:pathLst>
          </a:custGeom>
          <a:ln w="15240">
            <a:solidFill>
              <a:srgbClr val="FFFFFF"/>
            </a:solidFill>
          </a:ln>
        </p:spPr>
        <p:txBody>
          <a:bodyPr wrap="square" lIns="0" tIns="0" rIns="0" bIns="0" rtlCol="0"/>
          <a:lstStyle/>
          <a:p>
            <a:endParaRPr/>
          </a:p>
        </p:txBody>
      </p:sp>
      <p:sp>
        <p:nvSpPr>
          <p:cNvPr id="8" name="object 8"/>
          <p:cNvSpPr/>
          <p:nvPr/>
        </p:nvSpPr>
        <p:spPr>
          <a:xfrm>
            <a:off x="2220467" y="2261616"/>
            <a:ext cx="2825750" cy="672465"/>
          </a:xfrm>
          <a:custGeom>
            <a:avLst/>
            <a:gdLst/>
            <a:ahLst/>
            <a:cxnLst/>
            <a:rect l="l" t="t" r="r" b="b"/>
            <a:pathLst>
              <a:path w="2825750" h="672464">
                <a:moveTo>
                  <a:pt x="2713482" y="0"/>
                </a:moveTo>
                <a:lnTo>
                  <a:pt x="112013" y="0"/>
                </a:lnTo>
                <a:lnTo>
                  <a:pt x="68419" y="8804"/>
                </a:lnTo>
                <a:lnTo>
                  <a:pt x="32813" y="32813"/>
                </a:lnTo>
                <a:lnTo>
                  <a:pt x="8804" y="68419"/>
                </a:lnTo>
                <a:lnTo>
                  <a:pt x="0" y="112013"/>
                </a:lnTo>
                <a:lnTo>
                  <a:pt x="0" y="560070"/>
                </a:lnTo>
                <a:lnTo>
                  <a:pt x="8804" y="603664"/>
                </a:lnTo>
                <a:lnTo>
                  <a:pt x="32813" y="639270"/>
                </a:lnTo>
                <a:lnTo>
                  <a:pt x="68419" y="663279"/>
                </a:lnTo>
                <a:lnTo>
                  <a:pt x="112013" y="672084"/>
                </a:lnTo>
                <a:lnTo>
                  <a:pt x="2713482" y="672084"/>
                </a:lnTo>
                <a:lnTo>
                  <a:pt x="2757076" y="663279"/>
                </a:lnTo>
                <a:lnTo>
                  <a:pt x="2792682" y="639270"/>
                </a:lnTo>
                <a:lnTo>
                  <a:pt x="2816691" y="603664"/>
                </a:lnTo>
                <a:lnTo>
                  <a:pt x="2825496" y="560070"/>
                </a:lnTo>
                <a:lnTo>
                  <a:pt x="2825496" y="112013"/>
                </a:lnTo>
                <a:lnTo>
                  <a:pt x="2816691" y="68419"/>
                </a:lnTo>
                <a:lnTo>
                  <a:pt x="2792682" y="32813"/>
                </a:lnTo>
                <a:lnTo>
                  <a:pt x="2757076" y="8804"/>
                </a:lnTo>
                <a:lnTo>
                  <a:pt x="2713482" y="0"/>
                </a:lnTo>
                <a:close/>
              </a:path>
            </a:pathLst>
          </a:custGeom>
          <a:solidFill>
            <a:srgbClr val="FFFFFF">
              <a:alpha val="90194"/>
            </a:srgbClr>
          </a:solidFill>
        </p:spPr>
        <p:txBody>
          <a:bodyPr wrap="square" lIns="0" tIns="0" rIns="0" bIns="0" rtlCol="0"/>
          <a:lstStyle/>
          <a:p>
            <a:endParaRPr/>
          </a:p>
        </p:txBody>
      </p:sp>
      <p:sp>
        <p:nvSpPr>
          <p:cNvPr id="9" name="object 9"/>
          <p:cNvSpPr/>
          <p:nvPr/>
        </p:nvSpPr>
        <p:spPr>
          <a:xfrm>
            <a:off x="2220467" y="2261616"/>
            <a:ext cx="2825750" cy="672465"/>
          </a:xfrm>
          <a:custGeom>
            <a:avLst/>
            <a:gdLst/>
            <a:ahLst/>
            <a:cxnLst/>
            <a:rect l="l" t="t" r="r" b="b"/>
            <a:pathLst>
              <a:path w="2825750" h="672464">
                <a:moveTo>
                  <a:pt x="0" y="112013"/>
                </a:moveTo>
                <a:lnTo>
                  <a:pt x="8804" y="68419"/>
                </a:lnTo>
                <a:lnTo>
                  <a:pt x="32813" y="32813"/>
                </a:lnTo>
                <a:lnTo>
                  <a:pt x="68419" y="8804"/>
                </a:lnTo>
                <a:lnTo>
                  <a:pt x="112013" y="0"/>
                </a:lnTo>
                <a:lnTo>
                  <a:pt x="2713482" y="0"/>
                </a:lnTo>
                <a:lnTo>
                  <a:pt x="2757076" y="8804"/>
                </a:lnTo>
                <a:lnTo>
                  <a:pt x="2792682" y="32813"/>
                </a:lnTo>
                <a:lnTo>
                  <a:pt x="2816691" y="68419"/>
                </a:lnTo>
                <a:lnTo>
                  <a:pt x="2825496" y="112013"/>
                </a:lnTo>
                <a:lnTo>
                  <a:pt x="2825496" y="560070"/>
                </a:lnTo>
                <a:lnTo>
                  <a:pt x="2816691" y="603664"/>
                </a:lnTo>
                <a:lnTo>
                  <a:pt x="2792682" y="639270"/>
                </a:lnTo>
                <a:lnTo>
                  <a:pt x="2757076" y="663279"/>
                </a:lnTo>
                <a:lnTo>
                  <a:pt x="2713482" y="672084"/>
                </a:lnTo>
                <a:lnTo>
                  <a:pt x="112013" y="672084"/>
                </a:lnTo>
                <a:lnTo>
                  <a:pt x="68419" y="663279"/>
                </a:lnTo>
                <a:lnTo>
                  <a:pt x="32813" y="639270"/>
                </a:lnTo>
                <a:lnTo>
                  <a:pt x="8804" y="603664"/>
                </a:lnTo>
                <a:lnTo>
                  <a:pt x="0" y="560070"/>
                </a:lnTo>
                <a:lnTo>
                  <a:pt x="0" y="112013"/>
                </a:lnTo>
                <a:close/>
              </a:path>
            </a:pathLst>
          </a:custGeom>
          <a:ln w="15240">
            <a:solidFill>
              <a:srgbClr val="E84B21"/>
            </a:solidFill>
          </a:ln>
        </p:spPr>
        <p:txBody>
          <a:bodyPr wrap="square" lIns="0" tIns="0" rIns="0" bIns="0" rtlCol="0"/>
          <a:lstStyle/>
          <a:p>
            <a:endParaRPr/>
          </a:p>
        </p:txBody>
      </p:sp>
      <p:sp>
        <p:nvSpPr>
          <p:cNvPr id="10" name="object 10"/>
          <p:cNvSpPr txBox="1"/>
          <p:nvPr/>
        </p:nvSpPr>
        <p:spPr>
          <a:xfrm>
            <a:off x="2359279" y="2435732"/>
            <a:ext cx="2546985" cy="285115"/>
          </a:xfrm>
          <a:prstGeom prst="rect">
            <a:avLst/>
          </a:prstGeom>
        </p:spPr>
        <p:txBody>
          <a:bodyPr vert="horz" wrap="square" lIns="0" tIns="13335" rIns="0" bIns="0" rtlCol="0">
            <a:spAutoFit/>
          </a:bodyPr>
          <a:lstStyle/>
          <a:p>
            <a:pPr marL="12700">
              <a:lnSpc>
                <a:spcPct val="100000"/>
              </a:lnSpc>
              <a:spcBef>
                <a:spcPts val="105"/>
              </a:spcBef>
            </a:pPr>
            <a:r>
              <a:rPr sz="1700" dirty="0">
                <a:latin typeface="Arial"/>
                <a:cs typeface="Arial"/>
              </a:rPr>
              <a:t>1. </a:t>
            </a:r>
            <a:r>
              <a:rPr sz="1700" spc="-5" dirty="0">
                <a:latin typeface="Arial"/>
                <a:cs typeface="Arial"/>
              </a:rPr>
              <a:t>Corrective</a:t>
            </a:r>
            <a:r>
              <a:rPr sz="1700" spc="-60" dirty="0">
                <a:latin typeface="Arial"/>
                <a:cs typeface="Arial"/>
              </a:rPr>
              <a:t> </a:t>
            </a:r>
            <a:r>
              <a:rPr sz="1700" dirty="0">
                <a:latin typeface="Arial"/>
                <a:cs typeface="Arial"/>
              </a:rPr>
              <a:t>maintenance</a:t>
            </a:r>
            <a:endParaRPr sz="1700">
              <a:latin typeface="Arial"/>
              <a:cs typeface="Arial"/>
            </a:endParaRPr>
          </a:p>
        </p:txBody>
      </p:sp>
      <p:sp>
        <p:nvSpPr>
          <p:cNvPr id="11" name="object 11"/>
          <p:cNvSpPr/>
          <p:nvPr/>
        </p:nvSpPr>
        <p:spPr>
          <a:xfrm>
            <a:off x="2220467" y="3017520"/>
            <a:ext cx="2825750" cy="672465"/>
          </a:xfrm>
          <a:custGeom>
            <a:avLst/>
            <a:gdLst/>
            <a:ahLst/>
            <a:cxnLst/>
            <a:rect l="l" t="t" r="r" b="b"/>
            <a:pathLst>
              <a:path w="2825750" h="672464">
                <a:moveTo>
                  <a:pt x="2713482" y="0"/>
                </a:moveTo>
                <a:lnTo>
                  <a:pt x="112013" y="0"/>
                </a:lnTo>
                <a:lnTo>
                  <a:pt x="68419" y="8804"/>
                </a:lnTo>
                <a:lnTo>
                  <a:pt x="32813" y="32813"/>
                </a:lnTo>
                <a:lnTo>
                  <a:pt x="8804" y="68419"/>
                </a:lnTo>
                <a:lnTo>
                  <a:pt x="0" y="112013"/>
                </a:lnTo>
                <a:lnTo>
                  <a:pt x="0" y="560069"/>
                </a:lnTo>
                <a:lnTo>
                  <a:pt x="8804" y="603664"/>
                </a:lnTo>
                <a:lnTo>
                  <a:pt x="32813" y="639270"/>
                </a:lnTo>
                <a:lnTo>
                  <a:pt x="68419" y="663279"/>
                </a:lnTo>
                <a:lnTo>
                  <a:pt x="112013" y="672083"/>
                </a:lnTo>
                <a:lnTo>
                  <a:pt x="2713482" y="672083"/>
                </a:lnTo>
                <a:lnTo>
                  <a:pt x="2757076" y="663279"/>
                </a:lnTo>
                <a:lnTo>
                  <a:pt x="2792682" y="639270"/>
                </a:lnTo>
                <a:lnTo>
                  <a:pt x="2816691" y="603664"/>
                </a:lnTo>
                <a:lnTo>
                  <a:pt x="2825496" y="560069"/>
                </a:lnTo>
                <a:lnTo>
                  <a:pt x="2825496" y="112013"/>
                </a:lnTo>
                <a:lnTo>
                  <a:pt x="2816691" y="68419"/>
                </a:lnTo>
                <a:lnTo>
                  <a:pt x="2792682" y="32813"/>
                </a:lnTo>
                <a:lnTo>
                  <a:pt x="2757076" y="8804"/>
                </a:lnTo>
                <a:lnTo>
                  <a:pt x="2713482" y="0"/>
                </a:lnTo>
                <a:close/>
              </a:path>
            </a:pathLst>
          </a:custGeom>
          <a:solidFill>
            <a:srgbClr val="FFFFFF">
              <a:alpha val="90194"/>
            </a:srgbClr>
          </a:solidFill>
        </p:spPr>
        <p:txBody>
          <a:bodyPr wrap="square" lIns="0" tIns="0" rIns="0" bIns="0" rtlCol="0"/>
          <a:lstStyle/>
          <a:p>
            <a:endParaRPr/>
          </a:p>
        </p:txBody>
      </p:sp>
      <p:sp>
        <p:nvSpPr>
          <p:cNvPr id="12" name="object 12"/>
          <p:cNvSpPr/>
          <p:nvPr/>
        </p:nvSpPr>
        <p:spPr>
          <a:xfrm>
            <a:off x="2220467" y="3017520"/>
            <a:ext cx="2825750" cy="672465"/>
          </a:xfrm>
          <a:custGeom>
            <a:avLst/>
            <a:gdLst/>
            <a:ahLst/>
            <a:cxnLst/>
            <a:rect l="l" t="t" r="r" b="b"/>
            <a:pathLst>
              <a:path w="2825750" h="672464">
                <a:moveTo>
                  <a:pt x="0" y="112013"/>
                </a:moveTo>
                <a:lnTo>
                  <a:pt x="8804" y="68419"/>
                </a:lnTo>
                <a:lnTo>
                  <a:pt x="32813" y="32813"/>
                </a:lnTo>
                <a:lnTo>
                  <a:pt x="68419" y="8804"/>
                </a:lnTo>
                <a:lnTo>
                  <a:pt x="112013" y="0"/>
                </a:lnTo>
                <a:lnTo>
                  <a:pt x="2713482" y="0"/>
                </a:lnTo>
                <a:lnTo>
                  <a:pt x="2757076" y="8804"/>
                </a:lnTo>
                <a:lnTo>
                  <a:pt x="2792682" y="32813"/>
                </a:lnTo>
                <a:lnTo>
                  <a:pt x="2816691" y="68419"/>
                </a:lnTo>
                <a:lnTo>
                  <a:pt x="2825496" y="112013"/>
                </a:lnTo>
                <a:lnTo>
                  <a:pt x="2825496" y="560069"/>
                </a:lnTo>
                <a:lnTo>
                  <a:pt x="2816691" y="603664"/>
                </a:lnTo>
                <a:lnTo>
                  <a:pt x="2792682" y="639270"/>
                </a:lnTo>
                <a:lnTo>
                  <a:pt x="2757076" y="663279"/>
                </a:lnTo>
                <a:lnTo>
                  <a:pt x="2713482" y="672083"/>
                </a:lnTo>
                <a:lnTo>
                  <a:pt x="112013" y="672083"/>
                </a:lnTo>
                <a:lnTo>
                  <a:pt x="68419" y="663279"/>
                </a:lnTo>
                <a:lnTo>
                  <a:pt x="32813" y="639270"/>
                </a:lnTo>
                <a:lnTo>
                  <a:pt x="8804" y="603664"/>
                </a:lnTo>
                <a:lnTo>
                  <a:pt x="0" y="560069"/>
                </a:lnTo>
                <a:lnTo>
                  <a:pt x="0" y="112013"/>
                </a:lnTo>
                <a:close/>
              </a:path>
            </a:pathLst>
          </a:custGeom>
          <a:ln w="15239">
            <a:solidFill>
              <a:srgbClr val="E84B21"/>
            </a:solidFill>
          </a:ln>
        </p:spPr>
        <p:txBody>
          <a:bodyPr wrap="square" lIns="0" tIns="0" rIns="0" bIns="0" rtlCol="0"/>
          <a:lstStyle/>
          <a:p>
            <a:endParaRPr/>
          </a:p>
        </p:txBody>
      </p:sp>
      <p:sp>
        <p:nvSpPr>
          <p:cNvPr id="13" name="object 13"/>
          <p:cNvSpPr txBox="1"/>
          <p:nvPr/>
        </p:nvSpPr>
        <p:spPr>
          <a:xfrm>
            <a:off x="2437002" y="3191382"/>
            <a:ext cx="2392045" cy="285115"/>
          </a:xfrm>
          <a:prstGeom prst="rect">
            <a:avLst/>
          </a:prstGeom>
        </p:spPr>
        <p:txBody>
          <a:bodyPr vert="horz" wrap="square" lIns="0" tIns="13335" rIns="0" bIns="0" rtlCol="0">
            <a:spAutoFit/>
          </a:bodyPr>
          <a:lstStyle/>
          <a:p>
            <a:pPr marL="12700">
              <a:lnSpc>
                <a:spcPct val="100000"/>
              </a:lnSpc>
              <a:spcBef>
                <a:spcPts val="105"/>
              </a:spcBef>
            </a:pPr>
            <a:r>
              <a:rPr sz="1700" dirty="0">
                <a:latin typeface="Arial"/>
                <a:cs typeface="Arial"/>
              </a:rPr>
              <a:t>2. Adaptive</a:t>
            </a:r>
            <a:r>
              <a:rPr sz="1700" spc="-190" dirty="0">
                <a:latin typeface="Arial"/>
                <a:cs typeface="Arial"/>
              </a:rPr>
              <a:t> </a:t>
            </a:r>
            <a:r>
              <a:rPr sz="1700" dirty="0">
                <a:latin typeface="Arial"/>
                <a:cs typeface="Arial"/>
              </a:rPr>
              <a:t>maintenance</a:t>
            </a:r>
            <a:endParaRPr sz="1700">
              <a:latin typeface="Arial"/>
              <a:cs typeface="Arial"/>
            </a:endParaRPr>
          </a:p>
        </p:txBody>
      </p:sp>
      <p:sp>
        <p:nvSpPr>
          <p:cNvPr id="14" name="object 14"/>
          <p:cNvSpPr/>
          <p:nvPr/>
        </p:nvSpPr>
        <p:spPr>
          <a:xfrm>
            <a:off x="2220467" y="3773423"/>
            <a:ext cx="2825750" cy="670560"/>
          </a:xfrm>
          <a:custGeom>
            <a:avLst/>
            <a:gdLst/>
            <a:ahLst/>
            <a:cxnLst/>
            <a:rect l="l" t="t" r="r" b="b"/>
            <a:pathLst>
              <a:path w="2825750" h="670560">
                <a:moveTo>
                  <a:pt x="2713735" y="0"/>
                </a:moveTo>
                <a:lnTo>
                  <a:pt x="111759" y="0"/>
                </a:lnTo>
                <a:lnTo>
                  <a:pt x="68258" y="8782"/>
                </a:lnTo>
                <a:lnTo>
                  <a:pt x="32734" y="32734"/>
                </a:lnTo>
                <a:lnTo>
                  <a:pt x="8782" y="68258"/>
                </a:lnTo>
                <a:lnTo>
                  <a:pt x="0" y="111759"/>
                </a:lnTo>
                <a:lnTo>
                  <a:pt x="0" y="558800"/>
                </a:lnTo>
                <a:lnTo>
                  <a:pt x="8782" y="602301"/>
                </a:lnTo>
                <a:lnTo>
                  <a:pt x="32734" y="637825"/>
                </a:lnTo>
                <a:lnTo>
                  <a:pt x="68258" y="661777"/>
                </a:lnTo>
                <a:lnTo>
                  <a:pt x="111759" y="670559"/>
                </a:lnTo>
                <a:lnTo>
                  <a:pt x="2713735" y="670559"/>
                </a:lnTo>
                <a:lnTo>
                  <a:pt x="2757237" y="661777"/>
                </a:lnTo>
                <a:lnTo>
                  <a:pt x="2792761" y="637825"/>
                </a:lnTo>
                <a:lnTo>
                  <a:pt x="2816713" y="602301"/>
                </a:lnTo>
                <a:lnTo>
                  <a:pt x="2825496" y="558800"/>
                </a:lnTo>
                <a:lnTo>
                  <a:pt x="2825496" y="111759"/>
                </a:lnTo>
                <a:lnTo>
                  <a:pt x="2816713" y="68258"/>
                </a:lnTo>
                <a:lnTo>
                  <a:pt x="2792761" y="32734"/>
                </a:lnTo>
                <a:lnTo>
                  <a:pt x="2757237" y="8782"/>
                </a:lnTo>
                <a:lnTo>
                  <a:pt x="2713735" y="0"/>
                </a:lnTo>
                <a:close/>
              </a:path>
            </a:pathLst>
          </a:custGeom>
          <a:solidFill>
            <a:srgbClr val="FFFFFF">
              <a:alpha val="90194"/>
            </a:srgbClr>
          </a:solidFill>
        </p:spPr>
        <p:txBody>
          <a:bodyPr wrap="square" lIns="0" tIns="0" rIns="0" bIns="0" rtlCol="0"/>
          <a:lstStyle/>
          <a:p>
            <a:endParaRPr/>
          </a:p>
        </p:txBody>
      </p:sp>
      <p:sp>
        <p:nvSpPr>
          <p:cNvPr id="15" name="object 15"/>
          <p:cNvSpPr/>
          <p:nvPr/>
        </p:nvSpPr>
        <p:spPr>
          <a:xfrm>
            <a:off x="2220467" y="3773423"/>
            <a:ext cx="2825750" cy="670560"/>
          </a:xfrm>
          <a:custGeom>
            <a:avLst/>
            <a:gdLst/>
            <a:ahLst/>
            <a:cxnLst/>
            <a:rect l="l" t="t" r="r" b="b"/>
            <a:pathLst>
              <a:path w="2825750" h="670560">
                <a:moveTo>
                  <a:pt x="0" y="111759"/>
                </a:moveTo>
                <a:lnTo>
                  <a:pt x="8782" y="68258"/>
                </a:lnTo>
                <a:lnTo>
                  <a:pt x="32734" y="32734"/>
                </a:lnTo>
                <a:lnTo>
                  <a:pt x="68258" y="8782"/>
                </a:lnTo>
                <a:lnTo>
                  <a:pt x="111759" y="0"/>
                </a:lnTo>
                <a:lnTo>
                  <a:pt x="2713735" y="0"/>
                </a:lnTo>
                <a:lnTo>
                  <a:pt x="2757237" y="8782"/>
                </a:lnTo>
                <a:lnTo>
                  <a:pt x="2792761" y="32734"/>
                </a:lnTo>
                <a:lnTo>
                  <a:pt x="2816713" y="68258"/>
                </a:lnTo>
                <a:lnTo>
                  <a:pt x="2825496" y="111759"/>
                </a:lnTo>
                <a:lnTo>
                  <a:pt x="2825496" y="558800"/>
                </a:lnTo>
                <a:lnTo>
                  <a:pt x="2816713" y="602301"/>
                </a:lnTo>
                <a:lnTo>
                  <a:pt x="2792761" y="637825"/>
                </a:lnTo>
                <a:lnTo>
                  <a:pt x="2757237" y="661777"/>
                </a:lnTo>
                <a:lnTo>
                  <a:pt x="2713735" y="670559"/>
                </a:lnTo>
                <a:lnTo>
                  <a:pt x="111759" y="670559"/>
                </a:lnTo>
                <a:lnTo>
                  <a:pt x="68258" y="661777"/>
                </a:lnTo>
                <a:lnTo>
                  <a:pt x="32734" y="637825"/>
                </a:lnTo>
                <a:lnTo>
                  <a:pt x="8782" y="602301"/>
                </a:lnTo>
                <a:lnTo>
                  <a:pt x="0" y="558800"/>
                </a:lnTo>
                <a:lnTo>
                  <a:pt x="0" y="111759"/>
                </a:lnTo>
                <a:close/>
              </a:path>
            </a:pathLst>
          </a:custGeom>
          <a:ln w="15240">
            <a:solidFill>
              <a:srgbClr val="E84B21"/>
            </a:solidFill>
          </a:ln>
        </p:spPr>
        <p:txBody>
          <a:bodyPr wrap="square" lIns="0" tIns="0" rIns="0" bIns="0" rtlCol="0"/>
          <a:lstStyle/>
          <a:p>
            <a:endParaRPr/>
          </a:p>
        </p:txBody>
      </p:sp>
      <p:sp>
        <p:nvSpPr>
          <p:cNvPr id="16" name="object 16"/>
          <p:cNvSpPr txBox="1"/>
          <p:nvPr/>
        </p:nvSpPr>
        <p:spPr>
          <a:xfrm>
            <a:off x="2369947" y="3946905"/>
            <a:ext cx="2524760" cy="285115"/>
          </a:xfrm>
          <a:prstGeom prst="rect">
            <a:avLst/>
          </a:prstGeom>
        </p:spPr>
        <p:txBody>
          <a:bodyPr vert="horz" wrap="square" lIns="0" tIns="12700" rIns="0" bIns="0" rtlCol="0">
            <a:spAutoFit/>
          </a:bodyPr>
          <a:lstStyle/>
          <a:p>
            <a:pPr marL="12700">
              <a:lnSpc>
                <a:spcPct val="100000"/>
              </a:lnSpc>
              <a:spcBef>
                <a:spcPts val="100"/>
              </a:spcBef>
            </a:pPr>
            <a:r>
              <a:rPr sz="1700" dirty="0">
                <a:latin typeface="Arial"/>
                <a:cs typeface="Arial"/>
              </a:rPr>
              <a:t>3. </a:t>
            </a:r>
            <a:r>
              <a:rPr sz="1700" spc="-5" dirty="0">
                <a:latin typeface="Arial"/>
                <a:cs typeface="Arial"/>
              </a:rPr>
              <a:t>Perfective</a:t>
            </a:r>
            <a:r>
              <a:rPr sz="1700" spc="-45" dirty="0">
                <a:latin typeface="Arial"/>
                <a:cs typeface="Arial"/>
              </a:rPr>
              <a:t> </a:t>
            </a:r>
            <a:r>
              <a:rPr sz="1700" dirty="0">
                <a:latin typeface="Arial"/>
                <a:cs typeface="Arial"/>
              </a:rPr>
              <a:t>maintenance</a:t>
            </a:r>
            <a:endParaRPr sz="1700">
              <a:latin typeface="Arial"/>
              <a:cs typeface="Arial"/>
            </a:endParaRPr>
          </a:p>
        </p:txBody>
      </p:sp>
      <p:sp>
        <p:nvSpPr>
          <p:cNvPr id="17" name="object 17"/>
          <p:cNvSpPr/>
          <p:nvPr/>
        </p:nvSpPr>
        <p:spPr>
          <a:xfrm>
            <a:off x="2220467" y="4527803"/>
            <a:ext cx="2825750" cy="672465"/>
          </a:xfrm>
          <a:custGeom>
            <a:avLst/>
            <a:gdLst/>
            <a:ahLst/>
            <a:cxnLst/>
            <a:rect l="l" t="t" r="r" b="b"/>
            <a:pathLst>
              <a:path w="2825750" h="672464">
                <a:moveTo>
                  <a:pt x="2713482" y="0"/>
                </a:moveTo>
                <a:lnTo>
                  <a:pt x="112013" y="0"/>
                </a:lnTo>
                <a:lnTo>
                  <a:pt x="68419" y="8804"/>
                </a:lnTo>
                <a:lnTo>
                  <a:pt x="32813" y="32813"/>
                </a:lnTo>
                <a:lnTo>
                  <a:pt x="8804" y="68419"/>
                </a:lnTo>
                <a:lnTo>
                  <a:pt x="0" y="112014"/>
                </a:lnTo>
                <a:lnTo>
                  <a:pt x="0" y="560070"/>
                </a:lnTo>
                <a:lnTo>
                  <a:pt x="8804" y="603664"/>
                </a:lnTo>
                <a:lnTo>
                  <a:pt x="32813" y="639270"/>
                </a:lnTo>
                <a:lnTo>
                  <a:pt x="68419" y="663279"/>
                </a:lnTo>
                <a:lnTo>
                  <a:pt x="112013" y="672084"/>
                </a:lnTo>
                <a:lnTo>
                  <a:pt x="2713482" y="672084"/>
                </a:lnTo>
                <a:lnTo>
                  <a:pt x="2757076" y="663279"/>
                </a:lnTo>
                <a:lnTo>
                  <a:pt x="2792682" y="639270"/>
                </a:lnTo>
                <a:lnTo>
                  <a:pt x="2816691" y="603664"/>
                </a:lnTo>
                <a:lnTo>
                  <a:pt x="2825496" y="560070"/>
                </a:lnTo>
                <a:lnTo>
                  <a:pt x="2825496" y="112014"/>
                </a:lnTo>
                <a:lnTo>
                  <a:pt x="2816691" y="68419"/>
                </a:lnTo>
                <a:lnTo>
                  <a:pt x="2792682" y="32813"/>
                </a:lnTo>
                <a:lnTo>
                  <a:pt x="2757076" y="8804"/>
                </a:lnTo>
                <a:lnTo>
                  <a:pt x="2713482" y="0"/>
                </a:lnTo>
                <a:close/>
              </a:path>
            </a:pathLst>
          </a:custGeom>
          <a:solidFill>
            <a:srgbClr val="FFFFFF">
              <a:alpha val="90194"/>
            </a:srgbClr>
          </a:solidFill>
        </p:spPr>
        <p:txBody>
          <a:bodyPr wrap="square" lIns="0" tIns="0" rIns="0" bIns="0" rtlCol="0"/>
          <a:lstStyle/>
          <a:p>
            <a:endParaRPr/>
          </a:p>
        </p:txBody>
      </p:sp>
      <p:sp>
        <p:nvSpPr>
          <p:cNvPr id="18" name="object 18"/>
          <p:cNvSpPr/>
          <p:nvPr/>
        </p:nvSpPr>
        <p:spPr>
          <a:xfrm>
            <a:off x="2220467" y="4527803"/>
            <a:ext cx="2825750" cy="672465"/>
          </a:xfrm>
          <a:custGeom>
            <a:avLst/>
            <a:gdLst/>
            <a:ahLst/>
            <a:cxnLst/>
            <a:rect l="l" t="t" r="r" b="b"/>
            <a:pathLst>
              <a:path w="2825750" h="672464">
                <a:moveTo>
                  <a:pt x="0" y="112014"/>
                </a:moveTo>
                <a:lnTo>
                  <a:pt x="8804" y="68419"/>
                </a:lnTo>
                <a:lnTo>
                  <a:pt x="32813" y="32813"/>
                </a:lnTo>
                <a:lnTo>
                  <a:pt x="68419" y="8804"/>
                </a:lnTo>
                <a:lnTo>
                  <a:pt x="112013" y="0"/>
                </a:lnTo>
                <a:lnTo>
                  <a:pt x="2713482" y="0"/>
                </a:lnTo>
                <a:lnTo>
                  <a:pt x="2757076" y="8804"/>
                </a:lnTo>
                <a:lnTo>
                  <a:pt x="2792682" y="32813"/>
                </a:lnTo>
                <a:lnTo>
                  <a:pt x="2816691" y="68419"/>
                </a:lnTo>
                <a:lnTo>
                  <a:pt x="2825496" y="112014"/>
                </a:lnTo>
                <a:lnTo>
                  <a:pt x="2825496" y="560070"/>
                </a:lnTo>
                <a:lnTo>
                  <a:pt x="2816691" y="603664"/>
                </a:lnTo>
                <a:lnTo>
                  <a:pt x="2792682" y="639270"/>
                </a:lnTo>
                <a:lnTo>
                  <a:pt x="2757076" y="663279"/>
                </a:lnTo>
                <a:lnTo>
                  <a:pt x="2713482" y="672084"/>
                </a:lnTo>
                <a:lnTo>
                  <a:pt x="112013" y="672084"/>
                </a:lnTo>
                <a:lnTo>
                  <a:pt x="68419" y="663279"/>
                </a:lnTo>
                <a:lnTo>
                  <a:pt x="32813" y="639270"/>
                </a:lnTo>
                <a:lnTo>
                  <a:pt x="8804" y="603664"/>
                </a:lnTo>
                <a:lnTo>
                  <a:pt x="0" y="560070"/>
                </a:lnTo>
                <a:lnTo>
                  <a:pt x="0" y="112014"/>
                </a:lnTo>
                <a:close/>
              </a:path>
            </a:pathLst>
          </a:custGeom>
          <a:ln w="15239">
            <a:solidFill>
              <a:srgbClr val="E84B21"/>
            </a:solidFill>
          </a:ln>
        </p:spPr>
        <p:txBody>
          <a:bodyPr wrap="square" lIns="0" tIns="0" rIns="0" bIns="0" rtlCol="0"/>
          <a:lstStyle/>
          <a:p>
            <a:endParaRPr/>
          </a:p>
        </p:txBody>
      </p:sp>
      <p:sp>
        <p:nvSpPr>
          <p:cNvPr id="19" name="object 19"/>
          <p:cNvSpPr txBox="1"/>
          <p:nvPr/>
        </p:nvSpPr>
        <p:spPr>
          <a:xfrm>
            <a:off x="2340991" y="4702555"/>
            <a:ext cx="2584450" cy="285115"/>
          </a:xfrm>
          <a:prstGeom prst="rect">
            <a:avLst/>
          </a:prstGeom>
        </p:spPr>
        <p:txBody>
          <a:bodyPr vert="horz" wrap="square" lIns="0" tIns="12700" rIns="0" bIns="0" rtlCol="0">
            <a:spAutoFit/>
          </a:bodyPr>
          <a:lstStyle/>
          <a:p>
            <a:pPr marL="12700">
              <a:lnSpc>
                <a:spcPct val="100000"/>
              </a:lnSpc>
              <a:spcBef>
                <a:spcPts val="100"/>
              </a:spcBef>
            </a:pPr>
            <a:r>
              <a:rPr sz="1700" dirty="0">
                <a:latin typeface="Arial"/>
                <a:cs typeface="Arial"/>
              </a:rPr>
              <a:t>4. Preventive</a:t>
            </a:r>
            <a:r>
              <a:rPr sz="1700" spc="-85" dirty="0">
                <a:latin typeface="Arial"/>
                <a:cs typeface="Arial"/>
              </a:rPr>
              <a:t> </a:t>
            </a:r>
            <a:r>
              <a:rPr sz="1700" dirty="0">
                <a:latin typeface="Arial"/>
                <a:cs typeface="Arial"/>
              </a:rPr>
              <a:t>maintenance</a:t>
            </a:r>
            <a:endParaRPr sz="1700">
              <a:latin typeface="Arial"/>
              <a:cs typeface="Arial"/>
            </a:endParaRPr>
          </a:p>
        </p:txBody>
      </p:sp>
      <p:sp>
        <p:nvSpPr>
          <p:cNvPr id="20" name="object 20"/>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6</a:t>
            </a:r>
            <a:endParaRPr sz="2000">
              <a:latin typeface="Arial"/>
              <a:cs typeface="Arial"/>
            </a:endParaRPr>
          </a:p>
        </p:txBody>
      </p:sp>
      <p:sp>
        <p:nvSpPr>
          <p:cNvPr id="21" name="object 21"/>
          <p:cNvSpPr/>
          <p:nvPr/>
        </p:nvSpPr>
        <p:spPr>
          <a:xfrm>
            <a:off x="8349488" y="3713479"/>
            <a:ext cx="44450" cy="108585"/>
          </a:xfrm>
          <a:custGeom>
            <a:avLst/>
            <a:gdLst/>
            <a:ahLst/>
            <a:cxnLst/>
            <a:rect l="l" t="t" r="r" b="b"/>
            <a:pathLst>
              <a:path w="44450" h="108585">
                <a:moveTo>
                  <a:pt x="43941" y="0"/>
                </a:moveTo>
                <a:lnTo>
                  <a:pt x="27368" y="31720"/>
                </a:lnTo>
                <a:lnTo>
                  <a:pt x="14985" y="59832"/>
                </a:lnTo>
                <a:lnTo>
                  <a:pt x="6794" y="84349"/>
                </a:lnTo>
                <a:lnTo>
                  <a:pt x="2793" y="105283"/>
                </a:lnTo>
                <a:lnTo>
                  <a:pt x="0" y="108585"/>
                </a:lnTo>
                <a:lnTo>
                  <a:pt x="13842" y="108204"/>
                </a:lnTo>
                <a:lnTo>
                  <a:pt x="17045" y="90805"/>
                </a:lnTo>
                <a:lnTo>
                  <a:pt x="14858" y="90805"/>
                </a:lnTo>
                <a:lnTo>
                  <a:pt x="13259" y="78563"/>
                </a:lnTo>
                <a:lnTo>
                  <a:pt x="17589" y="59356"/>
                </a:lnTo>
                <a:lnTo>
                  <a:pt x="27824" y="33172"/>
                </a:lnTo>
                <a:lnTo>
                  <a:pt x="43941" y="0"/>
                </a:lnTo>
                <a:close/>
              </a:path>
              <a:path w="44450" h="108585">
                <a:moveTo>
                  <a:pt x="17652" y="87503"/>
                </a:moveTo>
                <a:lnTo>
                  <a:pt x="14858" y="90805"/>
                </a:lnTo>
                <a:lnTo>
                  <a:pt x="17045" y="90805"/>
                </a:lnTo>
                <a:lnTo>
                  <a:pt x="17652" y="87503"/>
                </a:lnTo>
                <a:close/>
              </a:path>
            </a:pathLst>
          </a:custGeom>
          <a:solidFill>
            <a:srgbClr val="E84B21"/>
          </a:solidFill>
        </p:spPr>
        <p:txBody>
          <a:bodyPr wrap="square" lIns="0" tIns="0" rIns="0" bIns="0" rtlCol="0"/>
          <a:lstStyle/>
          <a:p>
            <a:endParaRPr/>
          </a:p>
        </p:txBody>
      </p:sp>
      <p:sp>
        <p:nvSpPr>
          <p:cNvPr id="22" name="object 22"/>
          <p:cNvSpPr/>
          <p:nvPr/>
        </p:nvSpPr>
        <p:spPr>
          <a:xfrm>
            <a:off x="8349488" y="3713479"/>
            <a:ext cx="44450" cy="108585"/>
          </a:xfrm>
          <a:custGeom>
            <a:avLst/>
            <a:gdLst/>
            <a:ahLst/>
            <a:cxnLst/>
            <a:rect l="l" t="t" r="r" b="b"/>
            <a:pathLst>
              <a:path w="44450" h="108585">
                <a:moveTo>
                  <a:pt x="43941" y="0"/>
                </a:moveTo>
                <a:lnTo>
                  <a:pt x="27368" y="31720"/>
                </a:lnTo>
                <a:lnTo>
                  <a:pt x="14985" y="59832"/>
                </a:lnTo>
                <a:lnTo>
                  <a:pt x="6794" y="84349"/>
                </a:lnTo>
                <a:lnTo>
                  <a:pt x="2793" y="105283"/>
                </a:lnTo>
                <a:lnTo>
                  <a:pt x="0" y="108585"/>
                </a:lnTo>
                <a:lnTo>
                  <a:pt x="13842" y="108204"/>
                </a:lnTo>
                <a:lnTo>
                  <a:pt x="17652" y="87503"/>
                </a:lnTo>
                <a:lnTo>
                  <a:pt x="14858" y="90805"/>
                </a:lnTo>
                <a:lnTo>
                  <a:pt x="13259" y="78563"/>
                </a:lnTo>
                <a:lnTo>
                  <a:pt x="17589" y="59356"/>
                </a:lnTo>
                <a:lnTo>
                  <a:pt x="27824" y="33172"/>
                </a:lnTo>
                <a:lnTo>
                  <a:pt x="43941" y="0"/>
                </a:lnTo>
                <a:close/>
              </a:path>
            </a:pathLst>
          </a:custGeom>
          <a:ln w="15874">
            <a:solidFill>
              <a:srgbClr val="FFFFFF"/>
            </a:solidFill>
          </a:ln>
        </p:spPr>
        <p:txBody>
          <a:bodyPr wrap="square" lIns="0" tIns="0" rIns="0" bIns="0" rtlCol="0"/>
          <a:lstStyle/>
          <a:p>
            <a:endParaRPr/>
          </a:p>
        </p:txBody>
      </p:sp>
      <p:sp>
        <p:nvSpPr>
          <p:cNvPr id="23" name="object 23"/>
          <p:cNvSpPr/>
          <p:nvPr/>
        </p:nvSpPr>
        <p:spPr>
          <a:xfrm>
            <a:off x="6199632" y="3087623"/>
            <a:ext cx="89916" cy="89916"/>
          </a:xfrm>
          <a:prstGeom prst="rect">
            <a:avLst/>
          </a:prstGeom>
          <a:blipFill>
            <a:blip r:embed="rId2" cstate="print"/>
            <a:stretch>
              <a:fillRect/>
            </a:stretch>
          </a:blipFill>
        </p:spPr>
        <p:txBody>
          <a:bodyPr wrap="square" lIns="0" tIns="0" rIns="0" bIns="0" rtlCol="0"/>
          <a:lstStyle/>
          <a:p>
            <a:endParaRPr/>
          </a:p>
        </p:txBody>
      </p:sp>
      <p:sp>
        <p:nvSpPr>
          <p:cNvPr id="24" name="object 24"/>
          <p:cNvSpPr/>
          <p:nvPr/>
        </p:nvSpPr>
        <p:spPr>
          <a:xfrm>
            <a:off x="6854952" y="3727703"/>
            <a:ext cx="91440" cy="89915"/>
          </a:xfrm>
          <a:prstGeom prst="rect">
            <a:avLst/>
          </a:prstGeom>
          <a:blipFill>
            <a:blip r:embed="rId3" cstate="print"/>
            <a:stretch>
              <a:fillRect/>
            </a:stretch>
          </a:blipFill>
        </p:spPr>
        <p:txBody>
          <a:bodyPr wrap="square" lIns="0" tIns="0" rIns="0" bIns="0" rtlCol="0"/>
          <a:lstStyle/>
          <a:p>
            <a:endParaRPr/>
          </a:p>
        </p:txBody>
      </p:sp>
      <p:sp>
        <p:nvSpPr>
          <p:cNvPr id="25" name="object 25"/>
          <p:cNvSpPr txBox="1"/>
          <p:nvPr/>
        </p:nvSpPr>
        <p:spPr>
          <a:xfrm>
            <a:off x="5498084" y="2420493"/>
            <a:ext cx="122745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6FC0"/>
                </a:solidFill>
                <a:latin typeface="Arial"/>
                <a:cs typeface="Arial"/>
              </a:rPr>
              <a:t>Bug</a:t>
            </a:r>
            <a:r>
              <a:rPr sz="2000" spc="-75" dirty="0">
                <a:solidFill>
                  <a:srgbClr val="006FC0"/>
                </a:solidFill>
                <a:latin typeface="Arial"/>
                <a:cs typeface="Arial"/>
              </a:rPr>
              <a:t> </a:t>
            </a:r>
            <a:r>
              <a:rPr sz="2000" dirty="0">
                <a:solidFill>
                  <a:srgbClr val="006FC0"/>
                </a:solidFill>
                <a:latin typeface="Arial"/>
                <a:cs typeface="Arial"/>
              </a:rPr>
              <a:t>Fixing</a:t>
            </a:r>
            <a:endParaRPr sz="2000">
              <a:latin typeface="Arial"/>
              <a:cs typeface="Arial"/>
            </a:endParaRPr>
          </a:p>
        </p:txBody>
      </p:sp>
      <p:sp>
        <p:nvSpPr>
          <p:cNvPr id="26" name="object 26"/>
          <p:cNvSpPr txBox="1"/>
          <p:nvPr/>
        </p:nvSpPr>
        <p:spPr>
          <a:xfrm>
            <a:off x="5495671" y="3212973"/>
            <a:ext cx="2075814" cy="314960"/>
          </a:xfrm>
          <a:prstGeom prst="rect">
            <a:avLst/>
          </a:prstGeom>
        </p:spPr>
        <p:txBody>
          <a:bodyPr vert="horz" wrap="square" lIns="0" tIns="12065" rIns="0" bIns="0" rtlCol="0">
            <a:spAutoFit/>
          </a:bodyPr>
          <a:lstStyle/>
          <a:p>
            <a:pPr marL="12700">
              <a:lnSpc>
                <a:spcPct val="100000"/>
              </a:lnSpc>
              <a:spcBef>
                <a:spcPts val="95"/>
              </a:spcBef>
            </a:pPr>
            <a:r>
              <a:rPr sz="1900" spc="-5" dirty="0">
                <a:solidFill>
                  <a:srgbClr val="006FC0"/>
                </a:solidFill>
                <a:latin typeface="Arial"/>
                <a:cs typeface="Arial"/>
              </a:rPr>
              <a:t>Porting &amp;</a:t>
            </a:r>
            <a:r>
              <a:rPr sz="1900" spc="-30" dirty="0">
                <a:solidFill>
                  <a:srgbClr val="006FC0"/>
                </a:solidFill>
                <a:latin typeface="Arial"/>
                <a:cs typeface="Arial"/>
              </a:rPr>
              <a:t> </a:t>
            </a:r>
            <a:r>
              <a:rPr sz="1900" spc="-5" dirty="0">
                <a:solidFill>
                  <a:srgbClr val="006FC0"/>
                </a:solidFill>
                <a:latin typeface="Arial"/>
                <a:cs typeface="Arial"/>
              </a:rPr>
              <a:t>Migration</a:t>
            </a:r>
            <a:endParaRPr sz="1900">
              <a:latin typeface="Arial"/>
              <a:cs typeface="Arial"/>
            </a:endParaRPr>
          </a:p>
        </p:txBody>
      </p:sp>
      <p:sp>
        <p:nvSpPr>
          <p:cNvPr id="27" name="object 27"/>
          <p:cNvSpPr txBox="1"/>
          <p:nvPr/>
        </p:nvSpPr>
        <p:spPr>
          <a:xfrm>
            <a:off x="5539866" y="3848861"/>
            <a:ext cx="2973705" cy="314960"/>
          </a:xfrm>
          <a:prstGeom prst="rect">
            <a:avLst/>
          </a:prstGeom>
        </p:spPr>
        <p:txBody>
          <a:bodyPr vert="horz" wrap="square" lIns="0" tIns="12065" rIns="0" bIns="0" rtlCol="0">
            <a:spAutoFit/>
          </a:bodyPr>
          <a:lstStyle/>
          <a:p>
            <a:pPr marL="12700">
              <a:lnSpc>
                <a:spcPct val="100000"/>
              </a:lnSpc>
              <a:spcBef>
                <a:spcPts val="95"/>
              </a:spcBef>
            </a:pPr>
            <a:r>
              <a:rPr sz="1900" spc="-5" dirty="0">
                <a:solidFill>
                  <a:srgbClr val="006FC0"/>
                </a:solidFill>
                <a:latin typeface="Arial"/>
                <a:cs typeface="Arial"/>
              </a:rPr>
              <a:t>Enhancements &amp;</a:t>
            </a:r>
            <a:r>
              <a:rPr sz="1900" spc="-10" dirty="0">
                <a:solidFill>
                  <a:srgbClr val="006FC0"/>
                </a:solidFill>
                <a:latin typeface="Arial"/>
                <a:cs typeface="Arial"/>
              </a:rPr>
              <a:t> </a:t>
            </a:r>
            <a:r>
              <a:rPr sz="1900" spc="-5" dirty="0">
                <a:solidFill>
                  <a:srgbClr val="006FC0"/>
                </a:solidFill>
                <a:latin typeface="Arial"/>
                <a:cs typeface="Arial"/>
              </a:rPr>
              <a:t>scalability</a:t>
            </a:r>
            <a:endParaRPr sz="1900">
              <a:latin typeface="Arial"/>
              <a:cs typeface="Arial"/>
            </a:endParaRPr>
          </a:p>
        </p:txBody>
      </p:sp>
      <p:sp>
        <p:nvSpPr>
          <p:cNvPr id="28" name="object 28"/>
          <p:cNvSpPr txBox="1"/>
          <p:nvPr/>
        </p:nvSpPr>
        <p:spPr>
          <a:xfrm>
            <a:off x="5494782" y="4622368"/>
            <a:ext cx="3328670" cy="314960"/>
          </a:xfrm>
          <a:prstGeom prst="rect">
            <a:avLst/>
          </a:prstGeom>
        </p:spPr>
        <p:txBody>
          <a:bodyPr vert="horz" wrap="square" lIns="0" tIns="12065" rIns="0" bIns="0" rtlCol="0">
            <a:spAutoFit/>
          </a:bodyPr>
          <a:lstStyle/>
          <a:p>
            <a:pPr marL="12700">
              <a:lnSpc>
                <a:spcPct val="100000"/>
              </a:lnSpc>
              <a:spcBef>
                <a:spcPts val="95"/>
              </a:spcBef>
            </a:pPr>
            <a:r>
              <a:rPr sz="1900" dirty="0">
                <a:solidFill>
                  <a:srgbClr val="006FC0"/>
                </a:solidFill>
                <a:latin typeface="Arial"/>
                <a:cs typeface="Arial"/>
              </a:rPr>
              <a:t>Documentation</a:t>
            </a:r>
            <a:r>
              <a:rPr sz="1900" spc="-20" dirty="0">
                <a:solidFill>
                  <a:srgbClr val="006FC0"/>
                </a:solidFill>
                <a:latin typeface="Arial"/>
                <a:cs typeface="Arial"/>
              </a:rPr>
              <a:t> </a:t>
            </a:r>
            <a:r>
              <a:rPr sz="1900" spc="-5" dirty="0">
                <a:solidFill>
                  <a:srgbClr val="006FC0"/>
                </a:solidFill>
                <a:latin typeface="Arial"/>
                <a:cs typeface="Arial"/>
              </a:rPr>
              <a:t>Enhancements</a:t>
            </a:r>
            <a:endParaRPr sz="1900">
              <a:latin typeface="Arial"/>
              <a:cs typeface="Arial"/>
            </a:endParaRPr>
          </a:p>
        </p:txBody>
      </p:sp>
      <p:sp>
        <p:nvSpPr>
          <p:cNvPr id="29" name="object 29"/>
          <p:cNvSpPr/>
          <p:nvPr/>
        </p:nvSpPr>
        <p:spPr>
          <a:xfrm>
            <a:off x="5096255" y="2511551"/>
            <a:ext cx="341630" cy="195580"/>
          </a:xfrm>
          <a:custGeom>
            <a:avLst/>
            <a:gdLst/>
            <a:ahLst/>
            <a:cxnLst/>
            <a:rect l="l" t="t" r="r" b="b"/>
            <a:pathLst>
              <a:path w="341629" h="195580">
                <a:moveTo>
                  <a:pt x="243840" y="0"/>
                </a:moveTo>
                <a:lnTo>
                  <a:pt x="243840" y="48768"/>
                </a:lnTo>
                <a:lnTo>
                  <a:pt x="0" y="48768"/>
                </a:lnTo>
                <a:lnTo>
                  <a:pt x="0" y="146303"/>
                </a:lnTo>
                <a:lnTo>
                  <a:pt x="243840" y="146303"/>
                </a:lnTo>
                <a:lnTo>
                  <a:pt x="243840" y="195072"/>
                </a:lnTo>
                <a:lnTo>
                  <a:pt x="341376" y="97536"/>
                </a:lnTo>
                <a:lnTo>
                  <a:pt x="243840" y="0"/>
                </a:lnTo>
                <a:close/>
              </a:path>
            </a:pathLst>
          </a:custGeom>
          <a:solidFill>
            <a:srgbClr val="E84B21"/>
          </a:solidFill>
        </p:spPr>
        <p:txBody>
          <a:bodyPr wrap="square" lIns="0" tIns="0" rIns="0" bIns="0" rtlCol="0"/>
          <a:lstStyle/>
          <a:p>
            <a:endParaRPr/>
          </a:p>
        </p:txBody>
      </p:sp>
      <p:sp>
        <p:nvSpPr>
          <p:cNvPr id="30" name="object 30"/>
          <p:cNvSpPr/>
          <p:nvPr/>
        </p:nvSpPr>
        <p:spPr>
          <a:xfrm>
            <a:off x="5096255" y="2511551"/>
            <a:ext cx="341630" cy="195580"/>
          </a:xfrm>
          <a:custGeom>
            <a:avLst/>
            <a:gdLst/>
            <a:ahLst/>
            <a:cxnLst/>
            <a:rect l="l" t="t" r="r" b="b"/>
            <a:pathLst>
              <a:path w="341629" h="195580">
                <a:moveTo>
                  <a:pt x="0" y="48768"/>
                </a:moveTo>
                <a:lnTo>
                  <a:pt x="243840" y="48768"/>
                </a:lnTo>
                <a:lnTo>
                  <a:pt x="243840" y="0"/>
                </a:lnTo>
                <a:lnTo>
                  <a:pt x="341376" y="97536"/>
                </a:lnTo>
                <a:lnTo>
                  <a:pt x="243840" y="195072"/>
                </a:lnTo>
                <a:lnTo>
                  <a:pt x="243840" y="146303"/>
                </a:lnTo>
                <a:lnTo>
                  <a:pt x="0" y="146303"/>
                </a:lnTo>
                <a:lnTo>
                  <a:pt x="0" y="48768"/>
                </a:lnTo>
                <a:close/>
              </a:path>
            </a:pathLst>
          </a:custGeom>
          <a:ln w="15240">
            <a:solidFill>
              <a:srgbClr val="AA3516"/>
            </a:solidFill>
          </a:ln>
        </p:spPr>
        <p:txBody>
          <a:bodyPr wrap="square" lIns="0" tIns="0" rIns="0" bIns="0" rtlCol="0"/>
          <a:lstStyle/>
          <a:p>
            <a:endParaRPr/>
          </a:p>
        </p:txBody>
      </p:sp>
      <p:sp>
        <p:nvSpPr>
          <p:cNvPr id="31" name="object 31"/>
          <p:cNvSpPr/>
          <p:nvPr/>
        </p:nvSpPr>
        <p:spPr>
          <a:xfrm>
            <a:off x="5096255" y="3294888"/>
            <a:ext cx="341630" cy="195580"/>
          </a:xfrm>
          <a:custGeom>
            <a:avLst/>
            <a:gdLst/>
            <a:ahLst/>
            <a:cxnLst/>
            <a:rect l="l" t="t" r="r" b="b"/>
            <a:pathLst>
              <a:path w="341629" h="195579">
                <a:moveTo>
                  <a:pt x="243840" y="0"/>
                </a:moveTo>
                <a:lnTo>
                  <a:pt x="243840" y="48767"/>
                </a:lnTo>
                <a:lnTo>
                  <a:pt x="0" y="48767"/>
                </a:lnTo>
                <a:lnTo>
                  <a:pt x="0" y="146303"/>
                </a:lnTo>
                <a:lnTo>
                  <a:pt x="243840" y="146303"/>
                </a:lnTo>
                <a:lnTo>
                  <a:pt x="243840" y="195072"/>
                </a:lnTo>
                <a:lnTo>
                  <a:pt x="341376" y="97536"/>
                </a:lnTo>
                <a:lnTo>
                  <a:pt x="243840" y="0"/>
                </a:lnTo>
                <a:close/>
              </a:path>
            </a:pathLst>
          </a:custGeom>
          <a:solidFill>
            <a:srgbClr val="E84B21"/>
          </a:solidFill>
        </p:spPr>
        <p:txBody>
          <a:bodyPr wrap="square" lIns="0" tIns="0" rIns="0" bIns="0" rtlCol="0"/>
          <a:lstStyle/>
          <a:p>
            <a:endParaRPr/>
          </a:p>
        </p:txBody>
      </p:sp>
      <p:sp>
        <p:nvSpPr>
          <p:cNvPr id="32" name="object 32"/>
          <p:cNvSpPr/>
          <p:nvPr/>
        </p:nvSpPr>
        <p:spPr>
          <a:xfrm>
            <a:off x="5096255" y="3294888"/>
            <a:ext cx="341630" cy="195580"/>
          </a:xfrm>
          <a:custGeom>
            <a:avLst/>
            <a:gdLst/>
            <a:ahLst/>
            <a:cxnLst/>
            <a:rect l="l" t="t" r="r" b="b"/>
            <a:pathLst>
              <a:path w="341629" h="195579">
                <a:moveTo>
                  <a:pt x="0" y="48767"/>
                </a:moveTo>
                <a:lnTo>
                  <a:pt x="243840" y="48767"/>
                </a:lnTo>
                <a:lnTo>
                  <a:pt x="243840" y="0"/>
                </a:lnTo>
                <a:lnTo>
                  <a:pt x="341376" y="97536"/>
                </a:lnTo>
                <a:lnTo>
                  <a:pt x="243840" y="195072"/>
                </a:lnTo>
                <a:lnTo>
                  <a:pt x="243840" y="146303"/>
                </a:lnTo>
                <a:lnTo>
                  <a:pt x="0" y="146303"/>
                </a:lnTo>
                <a:lnTo>
                  <a:pt x="0" y="48767"/>
                </a:lnTo>
                <a:close/>
              </a:path>
            </a:pathLst>
          </a:custGeom>
          <a:ln w="15240">
            <a:solidFill>
              <a:srgbClr val="AA3516"/>
            </a:solidFill>
          </a:ln>
        </p:spPr>
        <p:txBody>
          <a:bodyPr wrap="square" lIns="0" tIns="0" rIns="0" bIns="0" rtlCol="0"/>
          <a:lstStyle/>
          <a:p>
            <a:endParaRPr/>
          </a:p>
        </p:txBody>
      </p:sp>
      <p:sp>
        <p:nvSpPr>
          <p:cNvPr id="33" name="object 33"/>
          <p:cNvSpPr/>
          <p:nvPr/>
        </p:nvSpPr>
        <p:spPr>
          <a:xfrm>
            <a:off x="5108447" y="3941064"/>
            <a:ext cx="341630" cy="195580"/>
          </a:xfrm>
          <a:custGeom>
            <a:avLst/>
            <a:gdLst/>
            <a:ahLst/>
            <a:cxnLst/>
            <a:rect l="l" t="t" r="r" b="b"/>
            <a:pathLst>
              <a:path w="341629" h="195579">
                <a:moveTo>
                  <a:pt x="243839" y="0"/>
                </a:moveTo>
                <a:lnTo>
                  <a:pt x="243839" y="48768"/>
                </a:lnTo>
                <a:lnTo>
                  <a:pt x="0" y="48768"/>
                </a:lnTo>
                <a:lnTo>
                  <a:pt x="0" y="146304"/>
                </a:lnTo>
                <a:lnTo>
                  <a:pt x="243839" y="146304"/>
                </a:lnTo>
                <a:lnTo>
                  <a:pt x="243839" y="195072"/>
                </a:lnTo>
                <a:lnTo>
                  <a:pt x="341375" y="97536"/>
                </a:lnTo>
                <a:lnTo>
                  <a:pt x="243839" y="0"/>
                </a:lnTo>
                <a:close/>
              </a:path>
            </a:pathLst>
          </a:custGeom>
          <a:solidFill>
            <a:srgbClr val="E84B21"/>
          </a:solidFill>
        </p:spPr>
        <p:txBody>
          <a:bodyPr wrap="square" lIns="0" tIns="0" rIns="0" bIns="0" rtlCol="0"/>
          <a:lstStyle/>
          <a:p>
            <a:endParaRPr/>
          </a:p>
        </p:txBody>
      </p:sp>
      <p:sp>
        <p:nvSpPr>
          <p:cNvPr id="34" name="object 34"/>
          <p:cNvSpPr/>
          <p:nvPr/>
        </p:nvSpPr>
        <p:spPr>
          <a:xfrm>
            <a:off x="5108447" y="3941064"/>
            <a:ext cx="341630" cy="195580"/>
          </a:xfrm>
          <a:custGeom>
            <a:avLst/>
            <a:gdLst/>
            <a:ahLst/>
            <a:cxnLst/>
            <a:rect l="l" t="t" r="r" b="b"/>
            <a:pathLst>
              <a:path w="341629" h="195579">
                <a:moveTo>
                  <a:pt x="0" y="48768"/>
                </a:moveTo>
                <a:lnTo>
                  <a:pt x="243839" y="48768"/>
                </a:lnTo>
                <a:lnTo>
                  <a:pt x="243839" y="0"/>
                </a:lnTo>
                <a:lnTo>
                  <a:pt x="341375" y="97536"/>
                </a:lnTo>
                <a:lnTo>
                  <a:pt x="243839" y="195072"/>
                </a:lnTo>
                <a:lnTo>
                  <a:pt x="243839" y="146304"/>
                </a:lnTo>
                <a:lnTo>
                  <a:pt x="0" y="146304"/>
                </a:lnTo>
                <a:lnTo>
                  <a:pt x="0" y="48768"/>
                </a:lnTo>
                <a:close/>
              </a:path>
            </a:pathLst>
          </a:custGeom>
          <a:ln w="15240">
            <a:solidFill>
              <a:srgbClr val="AA3516"/>
            </a:solidFill>
          </a:ln>
        </p:spPr>
        <p:txBody>
          <a:bodyPr wrap="square" lIns="0" tIns="0" rIns="0" bIns="0" rtlCol="0"/>
          <a:lstStyle/>
          <a:p>
            <a:endParaRPr/>
          </a:p>
        </p:txBody>
      </p:sp>
      <p:sp>
        <p:nvSpPr>
          <p:cNvPr id="35" name="object 35"/>
          <p:cNvSpPr/>
          <p:nvPr/>
        </p:nvSpPr>
        <p:spPr>
          <a:xfrm>
            <a:off x="5108447" y="4724400"/>
            <a:ext cx="341630" cy="195580"/>
          </a:xfrm>
          <a:custGeom>
            <a:avLst/>
            <a:gdLst/>
            <a:ahLst/>
            <a:cxnLst/>
            <a:rect l="l" t="t" r="r" b="b"/>
            <a:pathLst>
              <a:path w="341629" h="195579">
                <a:moveTo>
                  <a:pt x="243839" y="0"/>
                </a:moveTo>
                <a:lnTo>
                  <a:pt x="243839" y="48768"/>
                </a:lnTo>
                <a:lnTo>
                  <a:pt x="0" y="48768"/>
                </a:lnTo>
                <a:lnTo>
                  <a:pt x="0" y="146304"/>
                </a:lnTo>
                <a:lnTo>
                  <a:pt x="243839" y="146304"/>
                </a:lnTo>
                <a:lnTo>
                  <a:pt x="243839" y="195072"/>
                </a:lnTo>
                <a:lnTo>
                  <a:pt x="341375" y="97536"/>
                </a:lnTo>
                <a:lnTo>
                  <a:pt x="243839" y="0"/>
                </a:lnTo>
                <a:close/>
              </a:path>
            </a:pathLst>
          </a:custGeom>
          <a:solidFill>
            <a:srgbClr val="E84B21"/>
          </a:solidFill>
        </p:spPr>
        <p:txBody>
          <a:bodyPr wrap="square" lIns="0" tIns="0" rIns="0" bIns="0" rtlCol="0"/>
          <a:lstStyle/>
          <a:p>
            <a:endParaRPr/>
          </a:p>
        </p:txBody>
      </p:sp>
      <p:sp>
        <p:nvSpPr>
          <p:cNvPr id="36" name="object 36"/>
          <p:cNvSpPr/>
          <p:nvPr/>
        </p:nvSpPr>
        <p:spPr>
          <a:xfrm>
            <a:off x="5108447" y="4724400"/>
            <a:ext cx="341630" cy="195580"/>
          </a:xfrm>
          <a:custGeom>
            <a:avLst/>
            <a:gdLst/>
            <a:ahLst/>
            <a:cxnLst/>
            <a:rect l="l" t="t" r="r" b="b"/>
            <a:pathLst>
              <a:path w="341629" h="195579">
                <a:moveTo>
                  <a:pt x="0" y="48768"/>
                </a:moveTo>
                <a:lnTo>
                  <a:pt x="243839" y="48768"/>
                </a:lnTo>
                <a:lnTo>
                  <a:pt x="243839" y="0"/>
                </a:lnTo>
                <a:lnTo>
                  <a:pt x="341375" y="97536"/>
                </a:lnTo>
                <a:lnTo>
                  <a:pt x="243839" y="195072"/>
                </a:lnTo>
                <a:lnTo>
                  <a:pt x="243839" y="146304"/>
                </a:lnTo>
                <a:lnTo>
                  <a:pt x="0" y="146304"/>
                </a:lnTo>
                <a:lnTo>
                  <a:pt x="0" y="48768"/>
                </a:lnTo>
                <a:close/>
              </a:path>
            </a:pathLst>
          </a:custGeom>
          <a:ln w="15240">
            <a:solidFill>
              <a:srgbClr val="AA3516"/>
            </a:solidFill>
          </a:ln>
        </p:spPr>
        <p:txBody>
          <a:bodyPr wrap="square" lIns="0" tIns="0" rIns="0" bIns="0" rtlCol="0"/>
          <a:lstStyle/>
          <a:p>
            <a:endParaRPr/>
          </a:p>
        </p:txBody>
      </p:sp>
      <p:sp>
        <p:nvSpPr>
          <p:cNvPr id="37" name="object 37"/>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1680"/>
            <a:ext cx="4886325"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252525"/>
                </a:solidFill>
                <a:latin typeface="Times New Roman"/>
                <a:cs typeface="Times New Roman"/>
              </a:rPr>
              <a:t>1. </a:t>
            </a:r>
            <a:r>
              <a:rPr sz="3600" spc="-5" dirty="0">
                <a:solidFill>
                  <a:srgbClr val="252525"/>
                </a:solidFill>
                <a:latin typeface="Times New Roman"/>
                <a:cs typeface="Times New Roman"/>
              </a:rPr>
              <a:t>Corrective</a:t>
            </a:r>
            <a:r>
              <a:rPr sz="3600" spc="-20" dirty="0">
                <a:solidFill>
                  <a:srgbClr val="252525"/>
                </a:solidFill>
                <a:latin typeface="Times New Roman"/>
                <a:cs typeface="Times New Roman"/>
              </a:rPr>
              <a:t> </a:t>
            </a:r>
            <a:r>
              <a:rPr sz="3600" spc="-5" dirty="0">
                <a:solidFill>
                  <a:srgbClr val="252525"/>
                </a:solidFill>
                <a:latin typeface="Times New Roman"/>
                <a:cs typeface="Times New Roman"/>
              </a:rPr>
              <a:t>Maintenance</a:t>
            </a:r>
            <a:endParaRPr sz="3600" dirty="0">
              <a:latin typeface="Times New Roman"/>
              <a:cs typeface="Times New Roman"/>
            </a:endParaRPr>
          </a:p>
        </p:txBody>
      </p:sp>
      <p:sp>
        <p:nvSpPr>
          <p:cNvPr id="6" name="object 6"/>
          <p:cNvSpPr txBox="1"/>
          <p:nvPr/>
        </p:nvSpPr>
        <p:spPr>
          <a:xfrm>
            <a:off x="2021585" y="2159634"/>
            <a:ext cx="3557904" cy="1397000"/>
          </a:xfrm>
          <a:prstGeom prst="rect">
            <a:avLst/>
          </a:prstGeom>
        </p:spPr>
        <p:txBody>
          <a:bodyPr vert="horz" wrap="square" lIns="0" tIns="12700" rIns="0" bIns="0" rtlCol="0">
            <a:spAutoFit/>
          </a:bodyPr>
          <a:lstStyle/>
          <a:p>
            <a:pPr marL="299085" marR="5080" indent="-286385" algn="just">
              <a:lnSpc>
                <a:spcPct val="100000"/>
              </a:lnSpc>
              <a:spcBef>
                <a:spcPts val="100"/>
              </a:spcBef>
              <a:buClr>
                <a:srgbClr val="E84B21"/>
              </a:buClr>
              <a:buFont typeface="Wingdings"/>
              <a:buChar char=""/>
              <a:tabLst>
                <a:tab pos="299720" algn="l"/>
              </a:tabLst>
            </a:pPr>
            <a:r>
              <a:rPr sz="1800" spc="-20" dirty="0">
                <a:solidFill>
                  <a:srgbClr val="404040"/>
                </a:solidFill>
                <a:latin typeface="Times New Roman"/>
                <a:cs typeface="Times New Roman"/>
              </a:rPr>
              <a:t>Taking </a:t>
            </a:r>
            <a:r>
              <a:rPr sz="1800" spc="-5" dirty="0">
                <a:solidFill>
                  <a:srgbClr val="404040"/>
                </a:solidFill>
                <a:latin typeface="Times New Roman"/>
                <a:cs typeface="Times New Roman"/>
              </a:rPr>
              <a:t>existing </a:t>
            </a:r>
            <a:r>
              <a:rPr sz="1800" dirty="0">
                <a:solidFill>
                  <a:srgbClr val="404040"/>
                </a:solidFill>
                <a:latin typeface="Times New Roman"/>
                <a:cs typeface="Times New Roman"/>
              </a:rPr>
              <a:t>code </a:t>
            </a:r>
            <a:r>
              <a:rPr sz="1800" spc="-5" dirty="0">
                <a:solidFill>
                  <a:srgbClr val="404040"/>
                </a:solidFill>
                <a:latin typeface="Times New Roman"/>
                <a:cs typeface="Times New Roman"/>
              </a:rPr>
              <a:t>and  correcting </a:t>
            </a:r>
            <a:r>
              <a:rPr sz="1800" dirty="0">
                <a:solidFill>
                  <a:srgbClr val="404040"/>
                </a:solidFill>
                <a:latin typeface="Times New Roman"/>
                <a:cs typeface="Times New Roman"/>
              </a:rPr>
              <a:t>a </a:t>
            </a:r>
            <a:r>
              <a:rPr sz="1800" spc="-5" dirty="0">
                <a:solidFill>
                  <a:srgbClr val="404040"/>
                </a:solidFill>
                <a:latin typeface="Times New Roman"/>
                <a:cs typeface="Times New Roman"/>
              </a:rPr>
              <a:t>fault that causes the  </a:t>
            </a:r>
            <a:r>
              <a:rPr sz="1800" dirty="0">
                <a:solidFill>
                  <a:srgbClr val="404040"/>
                </a:solidFill>
                <a:latin typeface="Times New Roman"/>
                <a:cs typeface="Times New Roman"/>
              </a:rPr>
              <a:t>code to </a:t>
            </a:r>
            <a:r>
              <a:rPr sz="1800" spc="-5" dirty="0">
                <a:solidFill>
                  <a:srgbClr val="404040"/>
                </a:solidFill>
                <a:latin typeface="Times New Roman"/>
                <a:cs typeface="Times New Roman"/>
              </a:rPr>
              <a:t>behave </a:t>
            </a:r>
            <a:r>
              <a:rPr sz="1800" dirty="0">
                <a:solidFill>
                  <a:srgbClr val="404040"/>
                </a:solidFill>
                <a:latin typeface="Times New Roman"/>
                <a:cs typeface="Times New Roman"/>
              </a:rPr>
              <a:t>in </a:t>
            </a:r>
            <a:r>
              <a:rPr sz="1800" spc="-5" dirty="0">
                <a:solidFill>
                  <a:srgbClr val="404040"/>
                </a:solidFill>
                <a:latin typeface="Times New Roman"/>
                <a:cs typeface="Times New Roman"/>
              </a:rPr>
              <a:t>some </a:t>
            </a:r>
            <a:r>
              <a:rPr sz="1800" spc="-10" dirty="0">
                <a:solidFill>
                  <a:srgbClr val="404040"/>
                </a:solidFill>
                <a:latin typeface="Times New Roman"/>
                <a:cs typeface="Times New Roman"/>
              </a:rPr>
              <a:t>way </a:t>
            </a:r>
            <a:r>
              <a:rPr sz="1800" spc="-5" dirty="0">
                <a:solidFill>
                  <a:srgbClr val="404040"/>
                </a:solidFill>
                <a:latin typeface="Times New Roman"/>
                <a:cs typeface="Times New Roman"/>
              </a:rPr>
              <a:t>that  </a:t>
            </a:r>
            <a:r>
              <a:rPr sz="1800" dirty="0">
                <a:solidFill>
                  <a:srgbClr val="404040"/>
                </a:solidFill>
                <a:latin typeface="Times New Roman"/>
                <a:cs typeface="Times New Roman"/>
              </a:rPr>
              <a:t>deviates from </a:t>
            </a:r>
            <a:r>
              <a:rPr sz="1800" spc="-5" dirty="0">
                <a:solidFill>
                  <a:srgbClr val="404040"/>
                </a:solidFill>
                <a:latin typeface="Times New Roman"/>
                <a:cs typeface="Times New Roman"/>
              </a:rPr>
              <a:t>its </a:t>
            </a:r>
            <a:r>
              <a:rPr sz="1800" dirty="0">
                <a:solidFill>
                  <a:srgbClr val="404040"/>
                </a:solidFill>
                <a:latin typeface="Times New Roman"/>
                <a:cs typeface="Times New Roman"/>
              </a:rPr>
              <a:t>documented  requirements.</a:t>
            </a:r>
            <a:endParaRPr sz="1800" dirty="0">
              <a:latin typeface="Times New Roman"/>
              <a:cs typeface="Times New Roman"/>
            </a:endParaRPr>
          </a:p>
        </p:txBody>
      </p:sp>
      <p:sp>
        <p:nvSpPr>
          <p:cNvPr id="7" name="object 7"/>
          <p:cNvSpPr txBox="1"/>
          <p:nvPr/>
        </p:nvSpPr>
        <p:spPr>
          <a:xfrm>
            <a:off x="2021585" y="3657980"/>
            <a:ext cx="1104900"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Lst>
            </a:pPr>
            <a:r>
              <a:rPr sz="1800" spc="-5" dirty="0">
                <a:solidFill>
                  <a:srgbClr val="404040"/>
                </a:solidFill>
                <a:latin typeface="Times New Roman"/>
                <a:cs typeface="Times New Roman"/>
              </a:rPr>
              <a:t>Focuses</a:t>
            </a:r>
            <a:endParaRPr sz="1800">
              <a:latin typeface="Times New Roman"/>
              <a:cs typeface="Times New Roman"/>
            </a:endParaRPr>
          </a:p>
        </p:txBody>
      </p:sp>
      <p:sp>
        <p:nvSpPr>
          <p:cNvPr id="8" name="object 8"/>
          <p:cNvSpPr txBox="1"/>
          <p:nvPr/>
        </p:nvSpPr>
        <p:spPr>
          <a:xfrm>
            <a:off x="3352038" y="3657980"/>
            <a:ext cx="2225040" cy="299720"/>
          </a:xfrm>
          <a:prstGeom prst="rect">
            <a:avLst/>
          </a:prstGeom>
        </p:spPr>
        <p:txBody>
          <a:bodyPr vert="horz" wrap="square" lIns="0" tIns="12700" rIns="0" bIns="0" rtlCol="0">
            <a:spAutoFit/>
          </a:bodyPr>
          <a:lstStyle/>
          <a:p>
            <a:pPr marL="12700">
              <a:lnSpc>
                <a:spcPct val="100000"/>
              </a:lnSpc>
              <a:spcBef>
                <a:spcPts val="100"/>
              </a:spcBef>
              <a:tabLst>
                <a:tab pos="490855" algn="l"/>
                <a:tab pos="1085215" algn="l"/>
                <a:tab pos="1882775" algn="l"/>
              </a:tabLst>
            </a:pPr>
            <a:r>
              <a:rPr sz="1800" dirty="0">
                <a:solidFill>
                  <a:srgbClr val="404040"/>
                </a:solidFill>
                <a:latin typeface="Times New Roman"/>
                <a:cs typeface="Times New Roman"/>
              </a:rPr>
              <a:t>on	bug	fix</a:t>
            </a:r>
            <a:r>
              <a:rPr sz="1800" spc="5" dirty="0">
                <a:solidFill>
                  <a:srgbClr val="404040"/>
                </a:solidFill>
                <a:latin typeface="Times New Roman"/>
                <a:cs typeface="Times New Roman"/>
              </a:rPr>
              <a:t>i</a:t>
            </a:r>
            <a:r>
              <a:rPr sz="1800" dirty="0">
                <a:solidFill>
                  <a:srgbClr val="404040"/>
                </a:solidFill>
                <a:latin typeface="Times New Roman"/>
                <a:cs typeface="Times New Roman"/>
              </a:rPr>
              <a:t>ng	</a:t>
            </a:r>
            <a:r>
              <a:rPr sz="1800" spc="-10" dirty="0">
                <a:solidFill>
                  <a:srgbClr val="404040"/>
                </a:solidFill>
                <a:latin typeface="Times New Roman"/>
                <a:cs typeface="Times New Roman"/>
              </a:rPr>
              <a:t>a</a:t>
            </a:r>
            <a:r>
              <a:rPr sz="1800" dirty="0">
                <a:solidFill>
                  <a:srgbClr val="404040"/>
                </a:solidFill>
                <a:latin typeface="Times New Roman"/>
                <a:cs typeface="Times New Roman"/>
              </a:rPr>
              <a:t>nd</a:t>
            </a:r>
            <a:endParaRPr sz="1800">
              <a:latin typeface="Times New Roman"/>
              <a:cs typeface="Times New Roman"/>
            </a:endParaRPr>
          </a:p>
        </p:txBody>
      </p:sp>
      <p:sp>
        <p:nvSpPr>
          <p:cNvPr id="9" name="object 9"/>
          <p:cNvSpPr txBox="1"/>
          <p:nvPr/>
        </p:nvSpPr>
        <p:spPr>
          <a:xfrm>
            <a:off x="2021585" y="3804285"/>
            <a:ext cx="3556000" cy="1104900"/>
          </a:xfrm>
          <a:prstGeom prst="rect">
            <a:avLst/>
          </a:prstGeom>
        </p:spPr>
        <p:txBody>
          <a:bodyPr vert="horz" wrap="square" lIns="0" tIns="140335" rIns="0" bIns="0" rtlCol="0">
            <a:spAutoFit/>
          </a:bodyPr>
          <a:lstStyle/>
          <a:p>
            <a:pPr marL="355600">
              <a:lnSpc>
                <a:spcPct val="100000"/>
              </a:lnSpc>
              <a:spcBef>
                <a:spcPts val="1105"/>
              </a:spcBef>
            </a:pPr>
            <a:r>
              <a:rPr sz="1800" dirty="0">
                <a:solidFill>
                  <a:srgbClr val="404040"/>
                </a:solidFill>
                <a:latin typeface="Times New Roman"/>
                <a:cs typeface="Times New Roman"/>
              </a:rPr>
              <a:t>reporting </a:t>
            </a:r>
            <a:r>
              <a:rPr sz="1800" spc="-5" dirty="0">
                <a:solidFill>
                  <a:srgbClr val="404040"/>
                </a:solidFill>
                <a:latin typeface="Times New Roman"/>
                <a:cs typeface="Times New Roman"/>
              </a:rPr>
              <a:t>errors</a:t>
            </a:r>
            <a:r>
              <a:rPr sz="1800" spc="-20" dirty="0">
                <a:solidFill>
                  <a:srgbClr val="404040"/>
                </a:solidFill>
                <a:latin typeface="Times New Roman"/>
                <a:cs typeface="Times New Roman"/>
              </a:rPr>
              <a:t> </a:t>
            </a:r>
            <a:r>
              <a:rPr sz="1800" dirty="0">
                <a:solidFill>
                  <a:srgbClr val="404040"/>
                </a:solidFill>
                <a:latin typeface="Times New Roman"/>
                <a:cs typeface="Times New Roman"/>
              </a:rPr>
              <a:t>fixing.</a:t>
            </a:r>
            <a:endParaRPr sz="1800">
              <a:latin typeface="Times New Roman"/>
              <a:cs typeface="Times New Roman"/>
            </a:endParaRPr>
          </a:p>
          <a:p>
            <a:pPr marL="355600" marR="5080" indent="-342900">
              <a:lnSpc>
                <a:spcPct val="100000"/>
              </a:lnSpc>
              <a:spcBef>
                <a:spcPts val="1010"/>
              </a:spcBef>
              <a:buClr>
                <a:srgbClr val="E84B21"/>
              </a:buClr>
              <a:buFont typeface="Wingdings"/>
              <a:buChar char=""/>
              <a:tabLst>
                <a:tab pos="419100" algn="l"/>
                <a:tab pos="419734" algn="l"/>
              </a:tabLst>
            </a:pPr>
            <a:r>
              <a:rPr sz="1800" spc="-5" dirty="0">
                <a:solidFill>
                  <a:srgbClr val="404040"/>
                </a:solidFill>
                <a:latin typeface="Times New Roman"/>
                <a:cs typeface="Times New Roman"/>
              </a:rPr>
              <a:t>i.e. defects generally need </a:t>
            </a:r>
            <a:r>
              <a:rPr sz="1800" dirty="0">
                <a:solidFill>
                  <a:srgbClr val="404040"/>
                </a:solidFill>
                <a:latin typeface="Times New Roman"/>
                <a:cs typeface="Times New Roman"/>
              </a:rPr>
              <a:t>to </a:t>
            </a:r>
            <a:r>
              <a:rPr sz="1800" spc="-15" dirty="0">
                <a:solidFill>
                  <a:srgbClr val="404040"/>
                </a:solidFill>
                <a:latin typeface="Times New Roman"/>
                <a:cs typeface="Times New Roman"/>
              </a:rPr>
              <a:t>be  </a:t>
            </a:r>
            <a:r>
              <a:rPr sz="1800" spc="-5" dirty="0">
                <a:solidFill>
                  <a:srgbClr val="404040"/>
                </a:solidFill>
                <a:latin typeface="Times New Roman"/>
                <a:cs typeface="Times New Roman"/>
              </a:rPr>
              <a:t>corrected </a:t>
            </a:r>
            <a:r>
              <a:rPr sz="1800" dirty="0">
                <a:solidFill>
                  <a:srgbClr val="404040"/>
                </a:solidFill>
                <a:latin typeface="Times New Roman"/>
                <a:cs typeface="Times New Roman"/>
              </a:rPr>
              <a:t>either </a:t>
            </a:r>
            <a:r>
              <a:rPr sz="1800" spc="-5" dirty="0">
                <a:solidFill>
                  <a:srgbClr val="404040"/>
                </a:solidFill>
                <a:latin typeface="Times New Roman"/>
                <a:cs typeface="Times New Roman"/>
              </a:rPr>
              <a:t>immediately </a:t>
            </a:r>
            <a:r>
              <a:rPr sz="1800" dirty="0">
                <a:solidFill>
                  <a:srgbClr val="404040"/>
                </a:solidFill>
                <a:latin typeface="Times New Roman"/>
                <a:cs typeface="Times New Roman"/>
              </a:rPr>
              <a:t>or</a:t>
            </a:r>
            <a:r>
              <a:rPr sz="1800" spc="160" dirty="0">
                <a:solidFill>
                  <a:srgbClr val="404040"/>
                </a:solidFill>
                <a:latin typeface="Times New Roman"/>
                <a:cs typeface="Times New Roman"/>
              </a:rPr>
              <a:t> </a:t>
            </a:r>
            <a:r>
              <a:rPr sz="1800" spc="-10" dirty="0">
                <a:solidFill>
                  <a:srgbClr val="404040"/>
                </a:solidFill>
                <a:latin typeface="Times New Roman"/>
                <a:cs typeface="Times New Roman"/>
              </a:rPr>
              <a:t>in</a:t>
            </a:r>
            <a:endParaRPr sz="1800">
              <a:latin typeface="Times New Roman"/>
              <a:cs typeface="Times New Roman"/>
            </a:endParaRPr>
          </a:p>
        </p:txBody>
      </p:sp>
      <p:sp>
        <p:nvSpPr>
          <p:cNvPr id="10" name="object 10"/>
          <p:cNvSpPr txBox="1"/>
          <p:nvPr/>
        </p:nvSpPr>
        <p:spPr>
          <a:xfrm>
            <a:off x="2364485" y="4883277"/>
            <a:ext cx="1532255" cy="299720"/>
          </a:xfrm>
          <a:prstGeom prst="rect">
            <a:avLst/>
          </a:prstGeom>
        </p:spPr>
        <p:txBody>
          <a:bodyPr vert="horz" wrap="square" lIns="0" tIns="12700" rIns="0" bIns="0" rtlCol="0">
            <a:spAutoFit/>
          </a:bodyPr>
          <a:lstStyle/>
          <a:p>
            <a:pPr marL="12700">
              <a:lnSpc>
                <a:spcPct val="100000"/>
              </a:lnSpc>
              <a:spcBef>
                <a:spcPts val="100"/>
              </a:spcBef>
              <a:tabLst>
                <a:tab pos="914400" algn="l"/>
              </a:tabLst>
            </a:pPr>
            <a:r>
              <a:rPr sz="1800" dirty="0">
                <a:solidFill>
                  <a:srgbClr val="404040"/>
                </a:solidFill>
                <a:latin typeface="Times New Roman"/>
                <a:cs typeface="Times New Roman"/>
              </a:rPr>
              <a:t>the ne</a:t>
            </a:r>
            <a:r>
              <a:rPr sz="1800" spc="5" dirty="0">
                <a:solidFill>
                  <a:srgbClr val="404040"/>
                </a:solidFill>
                <a:latin typeface="Times New Roman"/>
                <a:cs typeface="Times New Roman"/>
              </a:rPr>
              <a:t>a</a:t>
            </a:r>
            <a:r>
              <a:rPr sz="1800" dirty="0">
                <a:solidFill>
                  <a:srgbClr val="404040"/>
                </a:solidFill>
                <a:latin typeface="Times New Roman"/>
                <a:cs typeface="Times New Roman"/>
              </a:rPr>
              <a:t>r	futur</a:t>
            </a:r>
            <a:r>
              <a:rPr sz="1800" spc="10" dirty="0">
                <a:solidFill>
                  <a:srgbClr val="404040"/>
                </a:solidFill>
                <a:latin typeface="Times New Roman"/>
                <a:cs typeface="Times New Roman"/>
              </a:rPr>
              <a:t>e</a:t>
            </a:r>
            <a:r>
              <a:rPr sz="1800" dirty="0">
                <a:solidFill>
                  <a:srgbClr val="404040"/>
                </a:solidFill>
                <a:latin typeface="Times New Roman"/>
                <a:cs typeface="Times New Roman"/>
              </a:rPr>
              <a:t>.</a:t>
            </a:r>
            <a:endParaRPr sz="1800">
              <a:latin typeface="Times New Roman"/>
              <a:cs typeface="Times New Roman"/>
            </a:endParaRPr>
          </a:p>
        </p:txBody>
      </p:sp>
      <p:sp>
        <p:nvSpPr>
          <p:cNvPr id="11" name="object 11"/>
          <p:cNvSpPr txBox="1"/>
          <p:nvPr/>
        </p:nvSpPr>
        <p:spPr>
          <a:xfrm>
            <a:off x="2021585" y="5284470"/>
            <a:ext cx="3557904" cy="848360"/>
          </a:xfrm>
          <a:prstGeom prst="rect">
            <a:avLst/>
          </a:prstGeom>
        </p:spPr>
        <p:txBody>
          <a:bodyPr vert="horz" wrap="square" lIns="0" tIns="12700" rIns="0" bIns="0" rtlCol="0">
            <a:spAutoFit/>
          </a:bodyPr>
          <a:lstStyle/>
          <a:p>
            <a:pPr marL="299085" marR="5080" indent="-286385" algn="just">
              <a:lnSpc>
                <a:spcPct val="100000"/>
              </a:lnSpc>
              <a:spcBef>
                <a:spcPts val="100"/>
              </a:spcBef>
              <a:buClr>
                <a:srgbClr val="E84B21"/>
              </a:buClr>
              <a:buFont typeface="Wingdings"/>
              <a:buChar char=""/>
              <a:tabLst>
                <a:tab pos="299720" algn="l"/>
              </a:tabLst>
            </a:pPr>
            <a:r>
              <a:rPr sz="1800" dirty="0">
                <a:solidFill>
                  <a:srgbClr val="404040"/>
                </a:solidFill>
                <a:latin typeface="Times New Roman"/>
                <a:cs typeface="Times New Roman"/>
              </a:rPr>
              <a:t>Fixing a </a:t>
            </a:r>
            <a:r>
              <a:rPr sz="1800" spc="-5" dirty="0">
                <a:solidFill>
                  <a:srgbClr val="404040"/>
                </a:solidFill>
                <a:latin typeface="Times New Roman"/>
                <a:cs typeface="Times New Roman"/>
              </a:rPr>
              <a:t>fault has </a:t>
            </a:r>
            <a:r>
              <a:rPr sz="1800" dirty="0">
                <a:solidFill>
                  <a:srgbClr val="404040"/>
                </a:solidFill>
                <a:latin typeface="Times New Roman"/>
                <a:cs typeface="Times New Roman"/>
              </a:rPr>
              <a:t>20 to 50 %  chances of introducing </a:t>
            </a:r>
            <a:r>
              <a:rPr sz="1800" spc="-5" dirty="0">
                <a:solidFill>
                  <a:srgbClr val="404040"/>
                </a:solidFill>
                <a:latin typeface="Times New Roman"/>
                <a:cs typeface="Times New Roman"/>
              </a:rPr>
              <a:t>another  </a:t>
            </a:r>
            <a:r>
              <a:rPr sz="1800" dirty="0">
                <a:solidFill>
                  <a:srgbClr val="404040"/>
                </a:solidFill>
                <a:latin typeface="Times New Roman"/>
                <a:cs typeface="Times New Roman"/>
              </a:rPr>
              <a:t>fault.</a:t>
            </a:r>
            <a:endParaRPr sz="1800">
              <a:latin typeface="Times New Roman"/>
              <a:cs typeface="Times New Roman"/>
            </a:endParaRPr>
          </a:p>
        </p:txBody>
      </p:sp>
      <p:sp>
        <p:nvSpPr>
          <p:cNvPr id="12" name="object 12"/>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7</a:t>
            </a:r>
            <a:endParaRPr sz="2000">
              <a:latin typeface="Arial"/>
              <a:cs typeface="Arial"/>
            </a:endParaRPr>
          </a:p>
        </p:txBody>
      </p:sp>
      <p:sp>
        <p:nvSpPr>
          <p:cNvPr id="13" name="object 13"/>
          <p:cNvSpPr/>
          <p:nvPr/>
        </p:nvSpPr>
        <p:spPr>
          <a:xfrm>
            <a:off x="5239511" y="2133600"/>
            <a:ext cx="3648455" cy="3648455"/>
          </a:xfrm>
          <a:prstGeom prst="rect">
            <a:avLst/>
          </a:prstGeom>
          <a:blipFill>
            <a:blip r:embed="rId2" cstate="print"/>
            <a:stretch>
              <a:fillRect/>
            </a:stretch>
          </a:blipFill>
        </p:spPr>
        <p:txBody>
          <a:bodyPr wrap="square" lIns="0" tIns="0" rIns="0" bIns="0" rtlCol="0"/>
          <a:lstStyle/>
          <a:p>
            <a:endParaRPr/>
          </a:p>
        </p:txBody>
      </p:sp>
      <p:sp>
        <p:nvSpPr>
          <p:cNvPr id="14" name="object 1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3844925"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2. </a:t>
            </a:r>
            <a:r>
              <a:rPr sz="3000" spc="-5" dirty="0">
                <a:solidFill>
                  <a:srgbClr val="252525"/>
                </a:solidFill>
                <a:latin typeface="Times New Roman"/>
                <a:cs typeface="Times New Roman"/>
              </a:rPr>
              <a:t>Adaptive</a:t>
            </a:r>
            <a:r>
              <a:rPr sz="3000" spc="-190" dirty="0">
                <a:solidFill>
                  <a:srgbClr val="252525"/>
                </a:solidFill>
                <a:latin typeface="Times New Roman"/>
                <a:cs typeface="Times New Roman"/>
              </a:rPr>
              <a:t> </a:t>
            </a:r>
            <a:r>
              <a:rPr sz="3000" spc="-5" dirty="0">
                <a:solidFill>
                  <a:srgbClr val="252525"/>
                </a:solidFill>
                <a:latin typeface="Times New Roman"/>
                <a:cs typeface="Times New Roman"/>
              </a:rPr>
              <a:t>Maintenance</a:t>
            </a:r>
            <a:endParaRPr sz="3000">
              <a:latin typeface="Times New Roman"/>
              <a:cs typeface="Times New Roman"/>
            </a:endParaRPr>
          </a:p>
        </p:txBody>
      </p:sp>
      <p:sp>
        <p:nvSpPr>
          <p:cNvPr id="6" name="object 6"/>
          <p:cNvSpPr txBox="1"/>
          <p:nvPr/>
        </p:nvSpPr>
        <p:spPr>
          <a:xfrm>
            <a:off x="2021585" y="2133726"/>
            <a:ext cx="3229610" cy="285115"/>
          </a:xfrm>
          <a:prstGeom prst="rect">
            <a:avLst/>
          </a:prstGeom>
        </p:spPr>
        <p:txBody>
          <a:bodyPr vert="horz" wrap="square" lIns="0" tIns="13335" rIns="0" bIns="0" rtlCol="0">
            <a:spAutoFit/>
          </a:bodyPr>
          <a:lstStyle/>
          <a:p>
            <a:pPr marL="299085" indent="-286385">
              <a:lnSpc>
                <a:spcPct val="100000"/>
              </a:lnSpc>
              <a:spcBef>
                <a:spcPts val="105"/>
              </a:spcBef>
              <a:buClr>
                <a:srgbClr val="E84B21"/>
              </a:buClr>
              <a:buFont typeface="Wingdings"/>
              <a:buChar char=""/>
              <a:tabLst>
                <a:tab pos="299720" algn="l"/>
                <a:tab pos="1202690" algn="l"/>
                <a:tab pos="2192020" algn="l"/>
                <a:tab pos="2905125" algn="l"/>
              </a:tabLst>
            </a:pPr>
            <a:r>
              <a:rPr sz="1700" spc="-120" dirty="0">
                <a:solidFill>
                  <a:srgbClr val="404040"/>
                </a:solidFill>
                <a:latin typeface="Times New Roman"/>
                <a:cs typeface="Times New Roman"/>
              </a:rPr>
              <a:t>T</a:t>
            </a:r>
            <a:r>
              <a:rPr sz="1700" dirty="0">
                <a:solidFill>
                  <a:srgbClr val="404040"/>
                </a:solidFill>
                <a:latin typeface="Times New Roman"/>
                <a:cs typeface="Times New Roman"/>
              </a:rPr>
              <a:t>ak</a:t>
            </a:r>
            <a:r>
              <a:rPr sz="1700" spc="-10" dirty="0">
                <a:solidFill>
                  <a:srgbClr val="404040"/>
                </a:solidFill>
                <a:latin typeface="Times New Roman"/>
                <a:cs typeface="Times New Roman"/>
              </a:rPr>
              <a:t>i</a:t>
            </a:r>
            <a:r>
              <a:rPr sz="1700" dirty="0">
                <a:solidFill>
                  <a:srgbClr val="404040"/>
                </a:solidFill>
                <a:latin typeface="Times New Roman"/>
                <a:cs typeface="Times New Roman"/>
              </a:rPr>
              <a:t>ng	</a:t>
            </a:r>
            <a:r>
              <a:rPr sz="1700" spc="-15" dirty="0">
                <a:solidFill>
                  <a:srgbClr val="404040"/>
                </a:solidFill>
                <a:latin typeface="Times New Roman"/>
                <a:cs typeface="Times New Roman"/>
              </a:rPr>
              <a:t>e</a:t>
            </a:r>
            <a:r>
              <a:rPr sz="1700" dirty="0">
                <a:solidFill>
                  <a:srgbClr val="404040"/>
                </a:solidFill>
                <a:latin typeface="Times New Roman"/>
                <a:cs typeface="Times New Roman"/>
              </a:rPr>
              <a:t>x</a:t>
            </a:r>
            <a:r>
              <a:rPr sz="1700" spc="-10" dirty="0">
                <a:solidFill>
                  <a:srgbClr val="404040"/>
                </a:solidFill>
                <a:latin typeface="Times New Roman"/>
                <a:cs typeface="Times New Roman"/>
              </a:rPr>
              <a:t>i</a:t>
            </a:r>
            <a:r>
              <a:rPr sz="1700" dirty="0">
                <a:solidFill>
                  <a:srgbClr val="404040"/>
                </a:solidFill>
                <a:latin typeface="Times New Roman"/>
                <a:cs typeface="Times New Roman"/>
              </a:rPr>
              <a:t>s</a:t>
            </a:r>
            <a:r>
              <a:rPr sz="1700" spc="-10" dirty="0">
                <a:solidFill>
                  <a:srgbClr val="404040"/>
                </a:solidFill>
                <a:latin typeface="Times New Roman"/>
                <a:cs typeface="Times New Roman"/>
              </a:rPr>
              <a:t>t</a:t>
            </a:r>
            <a:r>
              <a:rPr sz="1700" spc="-5" dirty="0">
                <a:solidFill>
                  <a:srgbClr val="404040"/>
                </a:solidFill>
                <a:latin typeface="Times New Roman"/>
                <a:cs typeface="Times New Roman"/>
              </a:rPr>
              <a:t>i</a:t>
            </a:r>
            <a:r>
              <a:rPr sz="1700" spc="10" dirty="0">
                <a:solidFill>
                  <a:srgbClr val="404040"/>
                </a:solidFill>
                <a:latin typeface="Times New Roman"/>
                <a:cs typeface="Times New Roman"/>
              </a:rPr>
              <a:t>n</a:t>
            </a:r>
            <a:r>
              <a:rPr sz="1700" dirty="0">
                <a:solidFill>
                  <a:srgbClr val="404040"/>
                </a:solidFill>
                <a:latin typeface="Times New Roman"/>
                <a:cs typeface="Times New Roman"/>
              </a:rPr>
              <a:t>g	co</a:t>
            </a:r>
            <a:r>
              <a:rPr sz="1700" spc="-15" dirty="0">
                <a:solidFill>
                  <a:srgbClr val="404040"/>
                </a:solidFill>
                <a:latin typeface="Times New Roman"/>
                <a:cs typeface="Times New Roman"/>
              </a:rPr>
              <a:t>d</a:t>
            </a:r>
            <a:r>
              <a:rPr sz="1700" dirty="0">
                <a:solidFill>
                  <a:srgbClr val="404040"/>
                </a:solidFill>
                <a:latin typeface="Times New Roman"/>
                <a:cs typeface="Times New Roman"/>
              </a:rPr>
              <a:t>e	a</a:t>
            </a:r>
            <a:r>
              <a:rPr sz="1700" spc="-15" dirty="0">
                <a:solidFill>
                  <a:srgbClr val="404040"/>
                </a:solidFill>
                <a:latin typeface="Times New Roman"/>
                <a:cs typeface="Times New Roman"/>
              </a:rPr>
              <a:t>n</a:t>
            </a:r>
            <a:r>
              <a:rPr sz="1700" dirty="0">
                <a:solidFill>
                  <a:srgbClr val="404040"/>
                </a:solidFill>
                <a:latin typeface="Times New Roman"/>
                <a:cs typeface="Times New Roman"/>
              </a:rPr>
              <a:t>d</a:t>
            </a:r>
            <a:endParaRPr sz="1700">
              <a:latin typeface="Times New Roman"/>
              <a:cs typeface="Times New Roman"/>
            </a:endParaRPr>
          </a:p>
        </p:txBody>
      </p:sp>
      <p:sp>
        <p:nvSpPr>
          <p:cNvPr id="7" name="object 7"/>
          <p:cNvSpPr txBox="1"/>
          <p:nvPr/>
        </p:nvSpPr>
        <p:spPr>
          <a:xfrm>
            <a:off x="2308098" y="2366899"/>
            <a:ext cx="2941955" cy="285115"/>
          </a:xfrm>
          <a:prstGeom prst="rect">
            <a:avLst/>
          </a:prstGeom>
        </p:spPr>
        <p:txBody>
          <a:bodyPr vert="horz" wrap="square" lIns="0" tIns="13335" rIns="0" bIns="0" rtlCol="0">
            <a:spAutoFit/>
          </a:bodyPr>
          <a:lstStyle/>
          <a:p>
            <a:pPr marL="12700">
              <a:lnSpc>
                <a:spcPct val="100000"/>
              </a:lnSpc>
              <a:spcBef>
                <a:spcPts val="105"/>
              </a:spcBef>
              <a:tabLst>
                <a:tab pos="974090" algn="l"/>
                <a:tab pos="1311275" algn="l"/>
                <a:tab pos="1694814" algn="l"/>
                <a:tab pos="2569845" algn="l"/>
              </a:tabLst>
            </a:pPr>
            <a:r>
              <a:rPr sz="1700" dirty="0">
                <a:solidFill>
                  <a:srgbClr val="404040"/>
                </a:solidFill>
                <a:latin typeface="Times New Roman"/>
                <a:cs typeface="Times New Roman"/>
              </a:rPr>
              <a:t>adap</a:t>
            </a:r>
            <a:r>
              <a:rPr sz="1700" spc="-10" dirty="0">
                <a:solidFill>
                  <a:srgbClr val="404040"/>
                </a:solidFill>
                <a:latin typeface="Times New Roman"/>
                <a:cs typeface="Times New Roman"/>
              </a:rPr>
              <a:t>t</a:t>
            </a:r>
            <a:r>
              <a:rPr sz="1700" spc="-5" dirty="0">
                <a:solidFill>
                  <a:srgbClr val="404040"/>
                </a:solidFill>
                <a:latin typeface="Times New Roman"/>
                <a:cs typeface="Times New Roman"/>
              </a:rPr>
              <a:t>i</a:t>
            </a:r>
            <a:r>
              <a:rPr sz="1700" dirty="0">
                <a:solidFill>
                  <a:srgbClr val="404040"/>
                </a:solidFill>
                <a:latin typeface="Times New Roman"/>
                <a:cs typeface="Times New Roman"/>
              </a:rPr>
              <a:t>ng	</a:t>
            </a:r>
            <a:r>
              <a:rPr sz="1700" spc="-10" dirty="0">
                <a:solidFill>
                  <a:srgbClr val="404040"/>
                </a:solidFill>
                <a:latin typeface="Times New Roman"/>
                <a:cs typeface="Times New Roman"/>
              </a:rPr>
              <a:t>i</a:t>
            </a:r>
            <a:r>
              <a:rPr sz="1700" dirty="0">
                <a:solidFill>
                  <a:srgbClr val="404040"/>
                </a:solidFill>
                <a:latin typeface="Times New Roman"/>
                <a:cs typeface="Times New Roman"/>
              </a:rPr>
              <a:t>t	</a:t>
            </a:r>
            <a:r>
              <a:rPr sz="1700" spc="-10" dirty="0">
                <a:solidFill>
                  <a:srgbClr val="404040"/>
                </a:solidFill>
                <a:latin typeface="Times New Roman"/>
                <a:cs typeface="Times New Roman"/>
              </a:rPr>
              <a:t>t</a:t>
            </a:r>
            <a:r>
              <a:rPr sz="1700" dirty="0">
                <a:solidFill>
                  <a:srgbClr val="404040"/>
                </a:solidFill>
                <a:latin typeface="Times New Roman"/>
                <a:cs typeface="Times New Roman"/>
              </a:rPr>
              <a:t>o	prov</a:t>
            </a:r>
            <a:r>
              <a:rPr sz="1700" spc="-10" dirty="0">
                <a:solidFill>
                  <a:srgbClr val="404040"/>
                </a:solidFill>
                <a:latin typeface="Times New Roman"/>
                <a:cs typeface="Times New Roman"/>
              </a:rPr>
              <a:t>i</a:t>
            </a:r>
            <a:r>
              <a:rPr sz="1700" spc="-15" dirty="0">
                <a:solidFill>
                  <a:srgbClr val="404040"/>
                </a:solidFill>
                <a:latin typeface="Times New Roman"/>
                <a:cs typeface="Times New Roman"/>
              </a:rPr>
              <a:t>d</a:t>
            </a:r>
            <a:r>
              <a:rPr sz="1700" dirty="0">
                <a:solidFill>
                  <a:srgbClr val="404040"/>
                </a:solidFill>
                <a:latin typeface="Times New Roman"/>
                <a:cs typeface="Times New Roman"/>
              </a:rPr>
              <a:t>e	n</a:t>
            </a:r>
            <a:r>
              <a:rPr sz="1700" spc="-15" dirty="0">
                <a:solidFill>
                  <a:srgbClr val="404040"/>
                </a:solidFill>
                <a:latin typeface="Times New Roman"/>
                <a:cs typeface="Times New Roman"/>
              </a:rPr>
              <a:t>e</a:t>
            </a:r>
            <a:r>
              <a:rPr sz="1700" dirty="0">
                <a:solidFill>
                  <a:srgbClr val="404040"/>
                </a:solidFill>
                <a:latin typeface="Times New Roman"/>
                <a:cs typeface="Times New Roman"/>
              </a:rPr>
              <a:t>w</a:t>
            </a:r>
            <a:endParaRPr sz="1700">
              <a:latin typeface="Times New Roman"/>
              <a:cs typeface="Times New Roman"/>
            </a:endParaRPr>
          </a:p>
        </p:txBody>
      </p:sp>
      <p:sp>
        <p:nvSpPr>
          <p:cNvPr id="8" name="object 8"/>
          <p:cNvSpPr txBox="1"/>
          <p:nvPr/>
        </p:nvSpPr>
        <p:spPr>
          <a:xfrm>
            <a:off x="2308098" y="2600070"/>
            <a:ext cx="2943225" cy="285115"/>
          </a:xfrm>
          <a:prstGeom prst="rect">
            <a:avLst/>
          </a:prstGeom>
        </p:spPr>
        <p:txBody>
          <a:bodyPr vert="horz" wrap="square" lIns="0" tIns="13335" rIns="0" bIns="0" rtlCol="0">
            <a:spAutoFit/>
          </a:bodyPr>
          <a:lstStyle/>
          <a:p>
            <a:pPr marL="12700">
              <a:lnSpc>
                <a:spcPct val="100000"/>
              </a:lnSpc>
              <a:spcBef>
                <a:spcPts val="105"/>
              </a:spcBef>
            </a:pPr>
            <a:r>
              <a:rPr sz="1700" spc="-5" dirty="0">
                <a:solidFill>
                  <a:srgbClr val="404040"/>
                </a:solidFill>
                <a:latin typeface="Times New Roman"/>
                <a:cs typeface="Times New Roman"/>
              </a:rPr>
              <a:t>features and </a:t>
            </a:r>
            <a:r>
              <a:rPr sz="1700" spc="-10" dirty="0">
                <a:solidFill>
                  <a:srgbClr val="404040"/>
                </a:solidFill>
                <a:latin typeface="Times New Roman"/>
                <a:cs typeface="Times New Roman"/>
              </a:rPr>
              <a:t>functionality.</a:t>
            </a:r>
            <a:r>
              <a:rPr sz="1700" spc="-45" dirty="0">
                <a:solidFill>
                  <a:srgbClr val="404040"/>
                </a:solidFill>
                <a:latin typeface="Times New Roman"/>
                <a:cs typeface="Times New Roman"/>
              </a:rPr>
              <a:t> </a:t>
            </a:r>
            <a:r>
              <a:rPr sz="1700" spc="-5" dirty="0">
                <a:solidFill>
                  <a:srgbClr val="404040"/>
                </a:solidFill>
                <a:latin typeface="Times New Roman"/>
                <a:cs typeface="Times New Roman"/>
              </a:rPr>
              <a:t>These</a:t>
            </a:r>
            <a:endParaRPr sz="1700" dirty="0">
              <a:latin typeface="Times New Roman"/>
              <a:cs typeface="Times New Roman"/>
            </a:endParaRPr>
          </a:p>
        </p:txBody>
      </p:sp>
      <p:sp>
        <p:nvSpPr>
          <p:cNvPr id="9" name="object 9"/>
          <p:cNvSpPr txBox="1"/>
          <p:nvPr/>
        </p:nvSpPr>
        <p:spPr>
          <a:xfrm>
            <a:off x="2308098" y="2833243"/>
            <a:ext cx="2943860" cy="751840"/>
          </a:xfrm>
          <a:prstGeom prst="rect">
            <a:avLst/>
          </a:prstGeom>
        </p:spPr>
        <p:txBody>
          <a:bodyPr vert="horz" wrap="square" lIns="0" tIns="41910" rIns="0" bIns="0" rtlCol="0">
            <a:spAutoFit/>
          </a:bodyPr>
          <a:lstStyle/>
          <a:p>
            <a:pPr marL="12700" marR="5080" algn="just">
              <a:lnSpc>
                <a:spcPts val="1839"/>
              </a:lnSpc>
              <a:spcBef>
                <a:spcPts val="330"/>
              </a:spcBef>
            </a:pPr>
            <a:r>
              <a:rPr sz="1700" dirty="0">
                <a:solidFill>
                  <a:srgbClr val="404040"/>
                </a:solidFill>
                <a:latin typeface="Times New Roman"/>
                <a:cs typeface="Times New Roman"/>
              </a:rPr>
              <a:t>are </a:t>
            </a:r>
            <a:r>
              <a:rPr sz="1700" spc="-5" dirty="0">
                <a:solidFill>
                  <a:srgbClr val="404040"/>
                </a:solidFill>
                <a:latin typeface="Times New Roman"/>
                <a:cs typeface="Times New Roman"/>
              </a:rPr>
              <a:t>typically </a:t>
            </a:r>
            <a:r>
              <a:rPr sz="1700" dirty="0">
                <a:solidFill>
                  <a:srgbClr val="404040"/>
                </a:solidFill>
                <a:latin typeface="Times New Roman"/>
                <a:cs typeface="Times New Roman"/>
              </a:rPr>
              <a:t>part of a </a:t>
            </a:r>
            <a:r>
              <a:rPr sz="1700" spc="-5" dirty="0">
                <a:solidFill>
                  <a:srgbClr val="404040"/>
                </a:solidFill>
                <a:latin typeface="Times New Roman"/>
                <a:cs typeface="Times New Roman"/>
              </a:rPr>
              <a:t>new </a:t>
            </a:r>
            <a:r>
              <a:rPr sz="1700" spc="-10" dirty="0">
                <a:solidFill>
                  <a:srgbClr val="404040"/>
                </a:solidFill>
                <a:latin typeface="Times New Roman"/>
                <a:cs typeface="Times New Roman"/>
              </a:rPr>
              <a:t>release  </a:t>
            </a:r>
            <a:r>
              <a:rPr sz="1700" dirty="0">
                <a:solidFill>
                  <a:srgbClr val="404040"/>
                </a:solidFill>
                <a:latin typeface="Times New Roman"/>
                <a:cs typeface="Times New Roman"/>
              </a:rPr>
              <a:t>of the </a:t>
            </a:r>
            <a:r>
              <a:rPr sz="1700" spc="-5" dirty="0">
                <a:solidFill>
                  <a:srgbClr val="404040"/>
                </a:solidFill>
                <a:latin typeface="Times New Roman"/>
                <a:cs typeface="Times New Roman"/>
              </a:rPr>
              <a:t>code </a:t>
            </a:r>
            <a:r>
              <a:rPr sz="1700" dirty="0">
                <a:solidFill>
                  <a:srgbClr val="404040"/>
                </a:solidFill>
                <a:latin typeface="Times New Roman"/>
                <a:cs typeface="Times New Roman"/>
              </a:rPr>
              <a:t>and part of a </a:t>
            </a:r>
            <a:r>
              <a:rPr sz="1700" spc="-10" dirty="0">
                <a:solidFill>
                  <a:srgbClr val="404040"/>
                </a:solidFill>
                <a:latin typeface="Times New Roman"/>
                <a:cs typeface="Times New Roman"/>
              </a:rPr>
              <a:t>larger  </a:t>
            </a:r>
            <a:r>
              <a:rPr sz="1700" dirty="0">
                <a:solidFill>
                  <a:srgbClr val="404040"/>
                </a:solidFill>
                <a:latin typeface="Times New Roman"/>
                <a:cs typeface="Times New Roman"/>
              </a:rPr>
              <a:t>development</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effort.</a:t>
            </a:r>
            <a:endParaRPr sz="1700">
              <a:latin typeface="Times New Roman"/>
              <a:cs typeface="Times New Roman"/>
            </a:endParaRPr>
          </a:p>
        </p:txBody>
      </p:sp>
      <p:sp>
        <p:nvSpPr>
          <p:cNvPr id="10" name="object 10"/>
          <p:cNvSpPr txBox="1"/>
          <p:nvPr/>
        </p:nvSpPr>
        <p:spPr>
          <a:xfrm>
            <a:off x="2021585" y="3659504"/>
            <a:ext cx="3226435" cy="285115"/>
          </a:xfrm>
          <a:prstGeom prst="rect">
            <a:avLst/>
          </a:prstGeom>
        </p:spPr>
        <p:txBody>
          <a:bodyPr vert="horz" wrap="square" lIns="0" tIns="12700" rIns="0" bIns="0" rtlCol="0">
            <a:spAutoFit/>
          </a:bodyPr>
          <a:lstStyle/>
          <a:p>
            <a:pPr marL="299085" indent="-286385">
              <a:lnSpc>
                <a:spcPct val="100000"/>
              </a:lnSpc>
              <a:spcBef>
                <a:spcPts val="100"/>
              </a:spcBef>
              <a:buClr>
                <a:srgbClr val="E84B21"/>
              </a:buClr>
              <a:buFont typeface="Wingdings"/>
              <a:buChar char=""/>
              <a:tabLst>
                <a:tab pos="299720" algn="l"/>
                <a:tab pos="1203960" algn="l"/>
                <a:tab pos="2129155" algn="l"/>
                <a:tab pos="2530475" algn="l"/>
              </a:tabLst>
            </a:pPr>
            <a:r>
              <a:rPr sz="1700" dirty="0">
                <a:solidFill>
                  <a:srgbClr val="404040"/>
                </a:solidFill>
                <a:latin typeface="Times New Roman"/>
                <a:cs typeface="Times New Roman"/>
              </a:rPr>
              <a:t>Making	</a:t>
            </a:r>
            <a:r>
              <a:rPr sz="1700" spc="-5" dirty="0">
                <a:solidFill>
                  <a:srgbClr val="404040"/>
                </a:solidFill>
                <a:latin typeface="Times New Roman"/>
                <a:cs typeface="Times New Roman"/>
              </a:rPr>
              <a:t>changes	in	existing</a:t>
            </a:r>
            <a:endParaRPr sz="1700">
              <a:latin typeface="Times New Roman"/>
              <a:cs typeface="Times New Roman"/>
            </a:endParaRPr>
          </a:p>
        </p:txBody>
      </p:sp>
      <p:sp>
        <p:nvSpPr>
          <p:cNvPr id="11" name="object 11"/>
          <p:cNvSpPr txBox="1"/>
          <p:nvPr/>
        </p:nvSpPr>
        <p:spPr>
          <a:xfrm>
            <a:off x="2308098" y="3892677"/>
            <a:ext cx="2943225" cy="285115"/>
          </a:xfrm>
          <a:prstGeom prst="rect">
            <a:avLst/>
          </a:prstGeom>
        </p:spPr>
        <p:txBody>
          <a:bodyPr vert="horz" wrap="square" lIns="0" tIns="12700" rIns="0" bIns="0" rtlCol="0">
            <a:spAutoFit/>
          </a:bodyPr>
          <a:lstStyle/>
          <a:p>
            <a:pPr marL="12700">
              <a:lnSpc>
                <a:spcPct val="100000"/>
              </a:lnSpc>
              <a:spcBef>
                <a:spcPts val="100"/>
              </a:spcBef>
              <a:tabLst>
                <a:tab pos="993775" algn="l"/>
                <a:tab pos="1399540" algn="l"/>
                <a:tab pos="2833370" algn="l"/>
              </a:tabLst>
            </a:pPr>
            <a:r>
              <a:rPr sz="1700" dirty="0">
                <a:solidFill>
                  <a:srgbClr val="404040"/>
                </a:solidFill>
                <a:latin typeface="Times New Roman"/>
                <a:cs typeface="Times New Roman"/>
              </a:rPr>
              <a:t>so</a:t>
            </a:r>
            <a:r>
              <a:rPr sz="1700" spc="-10" dirty="0">
                <a:solidFill>
                  <a:srgbClr val="404040"/>
                </a:solidFill>
                <a:latin typeface="Times New Roman"/>
                <a:cs typeface="Times New Roman"/>
              </a:rPr>
              <a:t>f</a:t>
            </a:r>
            <a:r>
              <a:rPr sz="1700" spc="-5" dirty="0">
                <a:solidFill>
                  <a:srgbClr val="404040"/>
                </a:solidFill>
                <a:latin typeface="Times New Roman"/>
                <a:cs typeface="Times New Roman"/>
              </a:rPr>
              <a:t>t</a:t>
            </a:r>
            <a:r>
              <a:rPr sz="1700" dirty="0">
                <a:solidFill>
                  <a:srgbClr val="404040"/>
                </a:solidFill>
                <a:latin typeface="Times New Roman"/>
                <a:cs typeface="Times New Roman"/>
              </a:rPr>
              <a:t>wa</a:t>
            </a:r>
            <a:r>
              <a:rPr sz="1700" spc="-20" dirty="0">
                <a:solidFill>
                  <a:srgbClr val="404040"/>
                </a:solidFill>
                <a:latin typeface="Times New Roman"/>
                <a:cs typeface="Times New Roman"/>
              </a:rPr>
              <a:t>r</a:t>
            </a:r>
            <a:r>
              <a:rPr sz="1700" dirty="0">
                <a:solidFill>
                  <a:srgbClr val="404040"/>
                </a:solidFill>
                <a:latin typeface="Times New Roman"/>
                <a:cs typeface="Times New Roman"/>
              </a:rPr>
              <a:t>e	</a:t>
            </a:r>
            <a:r>
              <a:rPr sz="1700" spc="-10" dirty="0">
                <a:solidFill>
                  <a:srgbClr val="404040"/>
                </a:solidFill>
                <a:latin typeface="Times New Roman"/>
                <a:cs typeface="Times New Roman"/>
              </a:rPr>
              <a:t>t</a:t>
            </a:r>
            <a:r>
              <a:rPr sz="1700" dirty="0">
                <a:solidFill>
                  <a:srgbClr val="404040"/>
                </a:solidFill>
                <a:latin typeface="Times New Roman"/>
                <a:cs typeface="Times New Roman"/>
              </a:rPr>
              <a:t>o	</a:t>
            </a:r>
            <a:r>
              <a:rPr sz="1700" spc="-15" dirty="0">
                <a:solidFill>
                  <a:srgbClr val="404040"/>
                </a:solidFill>
                <a:latin typeface="Times New Roman"/>
                <a:cs typeface="Times New Roman"/>
              </a:rPr>
              <a:t>a</a:t>
            </a:r>
            <a:r>
              <a:rPr sz="1700" dirty="0">
                <a:solidFill>
                  <a:srgbClr val="404040"/>
                </a:solidFill>
                <a:latin typeface="Times New Roman"/>
                <a:cs typeface="Times New Roman"/>
              </a:rPr>
              <a:t>cco</a:t>
            </a:r>
            <a:r>
              <a:rPr sz="1700" spc="-10" dirty="0">
                <a:solidFill>
                  <a:srgbClr val="404040"/>
                </a:solidFill>
                <a:latin typeface="Times New Roman"/>
                <a:cs typeface="Times New Roman"/>
              </a:rPr>
              <a:t>m</a:t>
            </a:r>
            <a:r>
              <a:rPr sz="1700" spc="-5" dirty="0">
                <a:solidFill>
                  <a:srgbClr val="404040"/>
                </a:solidFill>
                <a:latin typeface="Times New Roman"/>
                <a:cs typeface="Times New Roman"/>
              </a:rPr>
              <a:t>m</a:t>
            </a:r>
            <a:r>
              <a:rPr sz="1700" dirty="0">
                <a:solidFill>
                  <a:srgbClr val="404040"/>
                </a:solidFill>
                <a:latin typeface="Times New Roman"/>
                <a:cs typeface="Times New Roman"/>
              </a:rPr>
              <a:t>oda</a:t>
            </a:r>
            <a:r>
              <a:rPr sz="1700" spc="-10" dirty="0">
                <a:solidFill>
                  <a:srgbClr val="404040"/>
                </a:solidFill>
                <a:latin typeface="Times New Roman"/>
                <a:cs typeface="Times New Roman"/>
              </a:rPr>
              <a:t>t</a:t>
            </a:r>
            <a:r>
              <a:rPr sz="1700" dirty="0">
                <a:solidFill>
                  <a:srgbClr val="404040"/>
                </a:solidFill>
                <a:latin typeface="Times New Roman"/>
                <a:cs typeface="Times New Roman"/>
              </a:rPr>
              <a:t>e	a</a:t>
            </a:r>
            <a:endParaRPr sz="1700">
              <a:latin typeface="Times New Roman"/>
              <a:cs typeface="Times New Roman"/>
            </a:endParaRPr>
          </a:p>
        </p:txBody>
      </p:sp>
      <p:sp>
        <p:nvSpPr>
          <p:cNvPr id="12" name="object 12"/>
          <p:cNvSpPr txBox="1"/>
          <p:nvPr/>
        </p:nvSpPr>
        <p:spPr>
          <a:xfrm>
            <a:off x="2308098" y="4125848"/>
            <a:ext cx="1962150" cy="285115"/>
          </a:xfrm>
          <a:prstGeom prst="rect">
            <a:avLst/>
          </a:prstGeom>
        </p:spPr>
        <p:txBody>
          <a:bodyPr vert="horz" wrap="square" lIns="0" tIns="12700" rIns="0" bIns="0" rtlCol="0">
            <a:spAutoFit/>
          </a:bodyPr>
          <a:lstStyle/>
          <a:p>
            <a:pPr marL="12700">
              <a:lnSpc>
                <a:spcPct val="100000"/>
              </a:lnSpc>
              <a:spcBef>
                <a:spcPts val="100"/>
              </a:spcBef>
            </a:pPr>
            <a:r>
              <a:rPr sz="1700" dirty="0">
                <a:solidFill>
                  <a:srgbClr val="404040"/>
                </a:solidFill>
                <a:latin typeface="Times New Roman"/>
                <a:cs typeface="Times New Roman"/>
              </a:rPr>
              <a:t>changing</a:t>
            </a:r>
            <a:r>
              <a:rPr sz="1700" spc="-95" dirty="0">
                <a:solidFill>
                  <a:srgbClr val="404040"/>
                </a:solidFill>
                <a:latin typeface="Times New Roman"/>
                <a:cs typeface="Times New Roman"/>
              </a:rPr>
              <a:t> </a:t>
            </a:r>
            <a:r>
              <a:rPr sz="1700" dirty="0">
                <a:solidFill>
                  <a:srgbClr val="404040"/>
                </a:solidFill>
                <a:latin typeface="Times New Roman"/>
                <a:cs typeface="Times New Roman"/>
              </a:rPr>
              <a:t>environment</a:t>
            </a:r>
            <a:endParaRPr sz="1700">
              <a:latin typeface="Times New Roman"/>
              <a:cs typeface="Times New Roman"/>
            </a:endParaRPr>
          </a:p>
        </p:txBody>
      </p:sp>
      <p:sp>
        <p:nvSpPr>
          <p:cNvPr id="13" name="object 13"/>
          <p:cNvSpPr txBox="1"/>
          <p:nvPr/>
        </p:nvSpPr>
        <p:spPr>
          <a:xfrm>
            <a:off x="2021585" y="4487036"/>
            <a:ext cx="3228975" cy="518795"/>
          </a:xfrm>
          <a:prstGeom prst="rect">
            <a:avLst/>
          </a:prstGeom>
        </p:spPr>
        <p:txBody>
          <a:bodyPr vert="horz" wrap="square" lIns="0" tIns="41910" rIns="0" bIns="0" rtlCol="0">
            <a:spAutoFit/>
          </a:bodyPr>
          <a:lstStyle/>
          <a:p>
            <a:pPr marL="299085" marR="5080" indent="-286385">
              <a:lnSpc>
                <a:spcPts val="1839"/>
              </a:lnSpc>
              <a:spcBef>
                <a:spcPts val="330"/>
              </a:spcBef>
              <a:buClr>
                <a:srgbClr val="E84B21"/>
              </a:buClr>
              <a:buFont typeface="Wingdings"/>
              <a:buChar char=""/>
              <a:tabLst>
                <a:tab pos="299720" algn="l"/>
              </a:tabLst>
            </a:pPr>
            <a:r>
              <a:rPr sz="1700" spc="-5" dirty="0">
                <a:solidFill>
                  <a:srgbClr val="404040"/>
                </a:solidFill>
                <a:latin typeface="Times New Roman"/>
                <a:cs typeface="Times New Roman"/>
              </a:rPr>
              <a:t>includes all work related to how  </a:t>
            </a:r>
            <a:r>
              <a:rPr sz="1700" dirty="0">
                <a:solidFill>
                  <a:srgbClr val="404040"/>
                </a:solidFill>
                <a:latin typeface="Times New Roman"/>
                <a:cs typeface="Times New Roman"/>
              </a:rPr>
              <a:t>the </a:t>
            </a:r>
            <a:r>
              <a:rPr sz="1700" spc="-5" dirty="0">
                <a:solidFill>
                  <a:srgbClr val="404040"/>
                </a:solidFill>
                <a:latin typeface="Times New Roman"/>
                <a:cs typeface="Times New Roman"/>
              </a:rPr>
              <a:t>software</a:t>
            </a:r>
            <a:r>
              <a:rPr sz="1700" spc="-35" dirty="0">
                <a:solidFill>
                  <a:srgbClr val="404040"/>
                </a:solidFill>
                <a:latin typeface="Times New Roman"/>
                <a:cs typeface="Times New Roman"/>
              </a:rPr>
              <a:t> </a:t>
            </a:r>
            <a:r>
              <a:rPr sz="1700" spc="-5" dirty="0">
                <a:solidFill>
                  <a:srgbClr val="404040"/>
                </a:solidFill>
                <a:latin typeface="Times New Roman"/>
                <a:cs typeface="Times New Roman"/>
              </a:rPr>
              <a:t>functions.</a:t>
            </a:r>
            <a:endParaRPr sz="1700">
              <a:latin typeface="Times New Roman"/>
              <a:cs typeface="Times New Roman"/>
            </a:endParaRPr>
          </a:p>
        </p:txBody>
      </p:sp>
      <p:sp>
        <p:nvSpPr>
          <p:cNvPr id="14" name="object 14"/>
          <p:cNvSpPr txBox="1"/>
          <p:nvPr/>
        </p:nvSpPr>
        <p:spPr>
          <a:xfrm>
            <a:off x="2021585" y="5079568"/>
            <a:ext cx="3229610" cy="519430"/>
          </a:xfrm>
          <a:prstGeom prst="rect">
            <a:avLst/>
          </a:prstGeom>
        </p:spPr>
        <p:txBody>
          <a:bodyPr vert="horz" wrap="square" lIns="0" tIns="13335" rIns="0" bIns="0" rtlCol="0">
            <a:spAutoFit/>
          </a:bodyPr>
          <a:lstStyle/>
          <a:p>
            <a:pPr marL="840105" indent="-827405">
              <a:lnSpc>
                <a:spcPts val="1939"/>
              </a:lnSpc>
              <a:spcBef>
                <a:spcPts val="105"/>
              </a:spcBef>
              <a:buClr>
                <a:srgbClr val="E84B21"/>
              </a:buClr>
              <a:buFont typeface="Wingdings"/>
              <a:buChar char=""/>
              <a:tabLst>
                <a:tab pos="840105" algn="l"/>
                <a:tab pos="840740" algn="l"/>
                <a:tab pos="1269365" algn="l"/>
                <a:tab pos="1997075" algn="l"/>
                <a:tab pos="2330450" algn="l"/>
              </a:tabLst>
            </a:pPr>
            <a:r>
              <a:rPr sz="1700" spc="-10" dirty="0">
                <a:solidFill>
                  <a:srgbClr val="404040"/>
                </a:solidFill>
                <a:latin typeface="Times New Roman"/>
                <a:cs typeface="Times New Roman"/>
              </a:rPr>
              <a:t>i</a:t>
            </a:r>
            <a:r>
              <a:rPr sz="1700" spc="5" dirty="0">
                <a:solidFill>
                  <a:srgbClr val="404040"/>
                </a:solidFill>
                <a:latin typeface="Times New Roman"/>
                <a:cs typeface="Times New Roman"/>
              </a:rPr>
              <a:t>.</a:t>
            </a:r>
            <a:r>
              <a:rPr sz="1700" spc="-15" dirty="0">
                <a:solidFill>
                  <a:srgbClr val="404040"/>
                </a:solidFill>
                <a:latin typeface="Times New Roman"/>
                <a:cs typeface="Times New Roman"/>
              </a:rPr>
              <a:t>e</a:t>
            </a:r>
            <a:r>
              <a:rPr sz="1700" dirty="0">
                <a:solidFill>
                  <a:srgbClr val="404040"/>
                </a:solidFill>
                <a:latin typeface="Times New Roman"/>
                <a:cs typeface="Times New Roman"/>
              </a:rPr>
              <a:t>.	</a:t>
            </a:r>
            <a:r>
              <a:rPr sz="1700" spc="-20" dirty="0">
                <a:solidFill>
                  <a:srgbClr val="404040"/>
                </a:solidFill>
                <a:latin typeface="Times New Roman"/>
                <a:cs typeface="Times New Roman"/>
              </a:rPr>
              <a:t>r</a:t>
            </a:r>
            <a:r>
              <a:rPr sz="1700" dirty="0">
                <a:solidFill>
                  <a:srgbClr val="404040"/>
                </a:solidFill>
                <a:latin typeface="Times New Roman"/>
                <a:cs typeface="Times New Roman"/>
              </a:rPr>
              <a:t>e</a:t>
            </a:r>
            <a:r>
              <a:rPr sz="1700" spc="-10" dirty="0">
                <a:solidFill>
                  <a:srgbClr val="404040"/>
                </a:solidFill>
                <a:latin typeface="Times New Roman"/>
                <a:cs typeface="Times New Roman"/>
              </a:rPr>
              <a:t>l</a:t>
            </a:r>
            <a:r>
              <a:rPr sz="1700" dirty="0">
                <a:solidFill>
                  <a:srgbClr val="404040"/>
                </a:solidFill>
                <a:latin typeface="Times New Roman"/>
                <a:cs typeface="Times New Roman"/>
              </a:rPr>
              <a:t>a</a:t>
            </a:r>
            <a:r>
              <a:rPr sz="1700" spc="-10" dirty="0">
                <a:solidFill>
                  <a:srgbClr val="404040"/>
                </a:solidFill>
                <a:latin typeface="Times New Roman"/>
                <a:cs typeface="Times New Roman"/>
              </a:rPr>
              <a:t>t</a:t>
            </a:r>
            <a:r>
              <a:rPr sz="1700" dirty="0">
                <a:solidFill>
                  <a:srgbClr val="404040"/>
                </a:solidFill>
                <a:latin typeface="Times New Roman"/>
                <a:cs typeface="Times New Roman"/>
              </a:rPr>
              <a:t>es	</a:t>
            </a:r>
            <a:r>
              <a:rPr sz="1700" spc="-10" dirty="0">
                <a:solidFill>
                  <a:srgbClr val="404040"/>
                </a:solidFill>
                <a:latin typeface="Times New Roman"/>
                <a:cs typeface="Times New Roman"/>
              </a:rPr>
              <a:t>t</a:t>
            </a:r>
            <a:r>
              <a:rPr sz="1700" dirty="0">
                <a:solidFill>
                  <a:srgbClr val="404040"/>
                </a:solidFill>
                <a:latin typeface="Times New Roman"/>
                <a:cs typeface="Times New Roman"/>
              </a:rPr>
              <a:t>o	en</a:t>
            </a:r>
            <a:r>
              <a:rPr sz="1700" spc="-20" dirty="0">
                <a:solidFill>
                  <a:srgbClr val="404040"/>
                </a:solidFill>
                <a:latin typeface="Times New Roman"/>
                <a:cs typeface="Times New Roman"/>
              </a:rPr>
              <a:t>h</a:t>
            </a:r>
            <a:r>
              <a:rPr sz="1700" dirty="0">
                <a:solidFill>
                  <a:srgbClr val="404040"/>
                </a:solidFill>
                <a:latin typeface="Times New Roman"/>
                <a:cs typeface="Times New Roman"/>
              </a:rPr>
              <a:t>anc</a:t>
            </a:r>
            <a:r>
              <a:rPr sz="1700" spc="-15" dirty="0">
                <a:solidFill>
                  <a:srgbClr val="404040"/>
                </a:solidFill>
                <a:latin typeface="Times New Roman"/>
                <a:cs typeface="Times New Roman"/>
              </a:rPr>
              <a:t>in</a:t>
            </a:r>
            <a:r>
              <a:rPr sz="1700" dirty="0">
                <a:solidFill>
                  <a:srgbClr val="404040"/>
                </a:solidFill>
                <a:latin typeface="Times New Roman"/>
                <a:cs typeface="Times New Roman"/>
              </a:rPr>
              <a:t>g</a:t>
            </a:r>
            <a:endParaRPr sz="1700">
              <a:latin typeface="Times New Roman"/>
              <a:cs typeface="Times New Roman"/>
            </a:endParaRPr>
          </a:p>
          <a:p>
            <a:pPr marL="299085">
              <a:lnSpc>
                <a:spcPts val="1939"/>
              </a:lnSpc>
            </a:pPr>
            <a:r>
              <a:rPr sz="1700" spc="-5" dirty="0">
                <a:solidFill>
                  <a:srgbClr val="404040"/>
                </a:solidFill>
                <a:latin typeface="Times New Roman"/>
                <a:cs typeface="Times New Roman"/>
              </a:rPr>
              <a:t>software</a:t>
            </a:r>
            <a:r>
              <a:rPr sz="1700" spc="-25" dirty="0">
                <a:solidFill>
                  <a:srgbClr val="404040"/>
                </a:solidFill>
                <a:latin typeface="Times New Roman"/>
                <a:cs typeface="Times New Roman"/>
              </a:rPr>
              <a:t> </a:t>
            </a:r>
            <a:r>
              <a:rPr sz="1700" spc="-10" dirty="0">
                <a:solidFill>
                  <a:srgbClr val="404040"/>
                </a:solidFill>
                <a:latin typeface="Times New Roman"/>
                <a:cs typeface="Times New Roman"/>
              </a:rPr>
              <a:t>functionality.</a:t>
            </a:r>
            <a:endParaRPr sz="1700">
              <a:latin typeface="Times New Roman"/>
              <a:cs typeface="Times New Roman"/>
            </a:endParaRPr>
          </a:p>
        </p:txBody>
      </p:sp>
      <p:sp>
        <p:nvSpPr>
          <p:cNvPr id="15" name="object 15"/>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8</a:t>
            </a:r>
            <a:endParaRPr sz="2000">
              <a:latin typeface="Arial"/>
              <a:cs typeface="Arial"/>
            </a:endParaRPr>
          </a:p>
        </p:txBody>
      </p:sp>
      <p:sp>
        <p:nvSpPr>
          <p:cNvPr id="16" name="object 16"/>
          <p:cNvSpPr/>
          <p:nvPr/>
        </p:nvSpPr>
        <p:spPr>
          <a:xfrm>
            <a:off x="5637276" y="5061202"/>
            <a:ext cx="2810255" cy="1796796"/>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5652515" y="2292095"/>
            <a:ext cx="2780030" cy="2780030"/>
          </a:xfrm>
          <a:custGeom>
            <a:avLst/>
            <a:gdLst/>
            <a:ahLst/>
            <a:cxnLst/>
            <a:rect l="l" t="t" r="r" b="b"/>
            <a:pathLst>
              <a:path w="2780029" h="2780029">
                <a:moveTo>
                  <a:pt x="2540889" y="0"/>
                </a:moveTo>
                <a:lnTo>
                  <a:pt x="238887" y="0"/>
                </a:lnTo>
                <a:lnTo>
                  <a:pt x="190737" y="4852"/>
                </a:lnTo>
                <a:lnTo>
                  <a:pt x="145893" y="18770"/>
                </a:lnTo>
                <a:lnTo>
                  <a:pt x="105314" y="40793"/>
                </a:lnTo>
                <a:lnTo>
                  <a:pt x="69961" y="69961"/>
                </a:lnTo>
                <a:lnTo>
                  <a:pt x="40793" y="105314"/>
                </a:lnTo>
                <a:lnTo>
                  <a:pt x="18770" y="145893"/>
                </a:lnTo>
                <a:lnTo>
                  <a:pt x="4852" y="190737"/>
                </a:lnTo>
                <a:lnTo>
                  <a:pt x="0" y="238887"/>
                </a:lnTo>
                <a:lnTo>
                  <a:pt x="0" y="2540889"/>
                </a:lnTo>
                <a:lnTo>
                  <a:pt x="4852" y="2589038"/>
                </a:lnTo>
                <a:lnTo>
                  <a:pt x="18770" y="2633882"/>
                </a:lnTo>
                <a:lnTo>
                  <a:pt x="40793" y="2674461"/>
                </a:lnTo>
                <a:lnTo>
                  <a:pt x="69961" y="2709814"/>
                </a:lnTo>
                <a:lnTo>
                  <a:pt x="105314" y="2738982"/>
                </a:lnTo>
                <a:lnTo>
                  <a:pt x="145893" y="2761005"/>
                </a:lnTo>
                <a:lnTo>
                  <a:pt x="190737" y="2774923"/>
                </a:lnTo>
                <a:lnTo>
                  <a:pt x="238887" y="2779776"/>
                </a:lnTo>
                <a:lnTo>
                  <a:pt x="2540889" y="2779776"/>
                </a:lnTo>
                <a:lnTo>
                  <a:pt x="2589038" y="2774923"/>
                </a:lnTo>
                <a:lnTo>
                  <a:pt x="2633882" y="2761005"/>
                </a:lnTo>
                <a:lnTo>
                  <a:pt x="2674461" y="2738982"/>
                </a:lnTo>
                <a:lnTo>
                  <a:pt x="2709814" y="2709814"/>
                </a:lnTo>
                <a:lnTo>
                  <a:pt x="2738982" y="2674461"/>
                </a:lnTo>
                <a:lnTo>
                  <a:pt x="2761005" y="2633882"/>
                </a:lnTo>
                <a:lnTo>
                  <a:pt x="2774923" y="2589038"/>
                </a:lnTo>
                <a:lnTo>
                  <a:pt x="2779776" y="2540889"/>
                </a:lnTo>
                <a:lnTo>
                  <a:pt x="2779776" y="238887"/>
                </a:lnTo>
                <a:lnTo>
                  <a:pt x="2774923" y="190737"/>
                </a:lnTo>
                <a:lnTo>
                  <a:pt x="2761005" y="145893"/>
                </a:lnTo>
                <a:lnTo>
                  <a:pt x="2738982" y="105314"/>
                </a:lnTo>
                <a:lnTo>
                  <a:pt x="2709814" y="69961"/>
                </a:lnTo>
                <a:lnTo>
                  <a:pt x="2674461" y="40793"/>
                </a:lnTo>
                <a:lnTo>
                  <a:pt x="2633882" y="18770"/>
                </a:lnTo>
                <a:lnTo>
                  <a:pt x="2589038" y="4852"/>
                </a:lnTo>
                <a:lnTo>
                  <a:pt x="2540889" y="0"/>
                </a:lnTo>
                <a:close/>
              </a:path>
            </a:pathLst>
          </a:custGeom>
          <a:solidFill>
            <a:srgbClr val="ECECEC"/>
          </a:solidFill>
        </p:spPr>
        <p:txBody>
          <a:bodyPr wrap="square" lIns="0" tIns="0" rIns="0" bIns="0" rtlCol="0"/>
          <a:lstStyle/>
          <a:p>
            <a:endParaRPr/>
          </a:p>
        </p:txBody>
      </p:sp>
      <p:sp>
        <p:nvSpPr>
          <p:cNvPr id="18" name="object 18"/>
          <p:cNvSpPr/>
          <p:nvPr/>
        </p:nvSpPr>
        <p:spPr>
          <a:xfrm>
            <a:off x="5652515" y="2292095"/>
            <a:ext cx="2779776" cy="2779776"/>
          </a:xfrm>
          <a:prstGeom prst="rect">
            <a:avLst/>
          </a:prstGeom>
          <a:blipFill>
            <a:blip r:embed="rId3" cstate="print"/>
            <a:stretch>
              <a:fillRect/>
            </a:stretch>
          </a:blipFill>
        </p:spPr>
        <p:txBody>
          <a:bodyPr wrap="square" lIns="0" tIns="0" rIns="0" bIns="0" rtlCol="0"/>
          <a:lstStyle/>
          <a:p>
            <a:endParaRPr/>
          </a:p>
        </p:txBody>
      </p:sp>
      <p:sp>
        <p:nvSpPr>
          <p:cNvPr id="19" name="object 19"/>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4015740"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3. </a:t>
            </a:r>
            <a:r>
              <a:rPr sz="3000" spc="-5" dirty="0">
                <a:solidFill>
                  <a:srgbClr val="252525"/>
                </a:solidFill>
                <a:latin typeface="Times New Roman"/>
                <a:cs typeface="Times New Roman"/>
              </a:rPr>
              <a:t>Perfective</a:t>
            </a:r>
            <a:r>
              <a:rPr sz="3000" spc="5" dirty="0">
                <a:solidFill>
                  <a:srgbClr val="252525"/>
                </a:solidFill>
                <a:latin typeface="Times New Roman"/>
                <a:cs typeface="Times New Roman"/>
              </a:rPr>
              <a:t> </a:t>
            </a:r>
            <a:r>
              <a:rPr sz="3000" spc="-5" dirty="0">
                <a:solidFill>
                  <a:srgbClr val="252525"/>
                </a:solidFill>
                <a:latin typeface="Times New Roman"/>
                <a:cs typeface="Times New Roman"/>
              </a:rPr>
              <a:t>Maintenance</a:t>
            </a:r>
            <a:endParaRPr sz="3000">
              <a:latin typeface="Times New Roman"/>
              <a:cs typeface="Times New Roman"/>
            </a:endParaRPr>
          </a:p>
        </p:txBody>
      </p:sp>
      <p:sp>
        <p:nvSpPr>
          <p:cNvPr id="6" name="object 6"/>
          <p:cNvSpPr txBox="1"/>
          <p:nvPr/>
        </p:nvSpPr>
        <p:spPr>
          <a:xfrm>
            <a:off x="2021585" y="2133726"/>
            <a:ext cx="3204845" cy="285115"/>
          </a:xfrm>
          <a:prstGeom prst="rect">
            <a:avLst/>
          </a:prstGeom>
        </p:spPr>
        <p:txBody>
          <a:bodyPr vert="horz" wrap="square" lIns="0" tIns="13335" rIns="0" bIns="0" rtlCol="0">
            <a:spAutoFit/>
          </a:bodyPr>
          <a:lstStyle/>
          <a:p>
            <a:pPr marL="355600" indent="-342900">
              <a:lnSpc>
                <a:spcPct val="100000"/>
              </a:lnSpc>
              <a:spcBef>
                <a:spcPts val="105"/>
              </a:spcBef>
              <a:buClr>
                <a:srgbClr val="E84B21"/>
              </a:buClr>
              <a:buFont typeface="Wingdings"/>
              <a:buChar char=""/>
              <a:tabLst>
                <a:tab pos="354965" algn="l"/>
                <a:tab pos="355600" algn="l"/>
              </a:tabLst>
            </a:pPr>
            <a:r>
              <a:rPr sz="1700" spc="-5" dirty="0">
                <a:solidFill>
                  <a:srgbClr val="404040"/>
                </a:solidFill>
                <a:latin typeface="Times New Roman"/>
                <a:cs typeface="Times New Roman"/>
              </a:rPr>
              <a:t>Implementing </a:t>
            </a:r>
            <a:r>
              <a:rPr sz="1700" dirty="0">
                <a:solidFill>
                  <a:srgbClr val="404040"/>
                </a:solidFill>
                <a:latin typeface="Times New Roman"/>
                <a:cs typeface="Times New Roman"/>
              </a:rPr>
              <a:t>new or</a:t>
            </a:r>
            <a:r>
              <a:rPr sz="1700" spc="315" dirty="0">
                <a:solidFill>
                  <a:srgbClr val="404040"/>
                </a:solidFill>
                <a:latin typeface="Times New Roman"/>
                <a:cs typeface="Times New Roman"/>
              </a:rPr>
              <a:t> </a:t>
            </a:r>
            <a:r>
              <a:rPr sz="1700" spc="-5" dirty="0">
                <a:solidFill>
                  <a:srgbClr val="404040"/>
                </a:solidFill>
                <a:latin typeface="Times New Roman"/>
                <a:cs typeface="Times New Roman"/>
              </a:rPr>
              <a:t>changed</a:t>
            </a:r>
            <a:endParaRPr sz="1700">
              <a:latin typeface="Times New Roman"/>
              <a:cs typeface="Times New Roman"/>
            </a:endParaRPr>
          </a:p>
        </p:txBody>
      </p:sp>
      <p:sp>
        <p:nvSpPr>
          <p:cNvPr id="7" name="object 7"/>
          <p:cNvSpPr txBox="1"/>
          <p:nvPr/>
        </p:nvSpPr>
        <p:spPr>
          <a:xfrm>
            <a:off x="2364485" y="2366899"/>
            <a:ext cx="2861945" cy="285115"/>
          </a:xfrm>
          <a:prstGeom prst="rect">
            <a:avLst/>
          </a:prstGeom>
        </p:spPr>
        <p:txBody>
          <a:bodyPr vert="horz" wrap="square" lIns="0" tIns="13335" rIns="0" bIns="0" rtlCol="0">
            <a:spAutoFit/>
          </a:bodyPr>
          <a:lstStyle/>
          <a:p>
            <a:pPr marL="12700">
              <a:lnSpc>
                <a:spcPct val="100000"/>
              </a:lnSpc>
              <a:spcBef>
                <a:spcPts val="105"/>
              </a:spcBef>
              <a:tabLst>
                <a:tab pos="784860" algn="l"/>
                <a:tab pos="2319655" algn="l"/>
              </a:tabLst>
            </a:pPr>
            <a:r>
              <a:rPr sz="1700" dirty="0">
                <a:solidFill>
                  <a:srgbClr val="404040"/>
                </a:solidFill>
                <a:latin typeface="Times New Roman"/>
                <a:cs typeface="Times New Roman"/>
              </a:rPr>
              <a:t>user	</a:t>
            </a:r>
            <a:r>
              <a:rPr sz="1700" spc="-5" dirty="0">
                <a:solidFill>
                  <a:srgbClr val="404040"/>
                </a:solidFill>
                <a:latin typeface="Times New Roman"/>
                <a:cs typeface="Times New Roman"/>
              </a:rPr>
              <a:t>requirements	which</a:t>
            </a:r>
            <a:endParaRPr sz="1700">
              <a:latin typeface="Times New Roman"/>
              <a:cs typeface="Times New Roman"/>
            </a:endParaRPr>
          </a:p>
        </p:txBody>
      </p:sp>
      <p:sp>
        <p:nvSpPr>
          <p:cNvPr id="8" name="object 8"/>
          <p:cNvSpPr txBox="1"/>
          <p:nvPr/>
        </p:nvSpPr>
        <p:spPr>
          <a:xfrm>
            <a:off x="2364485" y="2600070"/>
            <a:ext cx="2861310" cy="285115"/>
          </a:xfrm>
          <a:prstGeom prst="rect">
            <a:avLst/>
          </a:prstGeom>
        </p:spPr>
        <p:txBody>
          <a:bodyPr vert="horz" wrap="square" lIns="0" tIns="13335" rIns="0" bIns="0" rtlCol="0">
            <a:spAutoFit/>
          </a:bodyPr>
          <a:lstStyle/>
          <a:p>
            <a:pPr marL="12700">
              <a:lnSpc>
                <a:spcPct val="100000"/>
              </a:lnSpc>
              <a:spcBef>
                <a:spcPts val="105"/>
              </a:spcBef>
              <a:tabLst>
                <a:tab pos="1974214" algn="l"/>
              </a:tabLst>
            </a:pPr>
            <a:r>
              <a:rPr sz="1700" spc="-5" dirty="0">
                <a:solidFill>
                  <a:srgbClr val="404040"/>
                </a:solidFill>
                <a:latin typeface="Times New Roman"/>
                <a:cs typeface="Times New Roman"/>
              </a:rPr>
              <a:t>concern	functional</a:t>
            </a:r>
            <a:endParaRPr sz="1700">
              <a:latin typeface="Times New Roman"/>
              <a:cs typeface="Times New Roman"/>
            </a:endParaRPr>
          </a:p>
        </p:txBody>
      </p:sp>
      <p:sp>
        <p:nvSpPr>
          <p:cNvPr id="9" name="object 9"/>
          <p:cNvSpPr txBox="1"/>
          <p:nvPr/>
        </p:nvSpPr>
        <p:spPr>
          <a:xfrm>
            <a:off x="2364485" y="2833243"/>
            <a:ext cx="2639060" cy="285115"/>
          </a:xfrm>
          <a:prstGeom prst="rect">
            <a:avLst/>
          </a:prstGeom>
        </p:spPr>
        <p:txBody>
          <a:bodyPr vert="horz" wrap="square" lIns="0" tIns="13335" rIns="0" bIns="0" rtlCol="0">
            <a:spAutoFit/>
          </a:bodyPr>
          <a:lstStyle/>
          <a:p>
            <a:pPr marL="12700">
              <a:lnSpc>
                <a:spcPct val="100000"/>
              </a:lnSpc>
              <a:spcBef>
                <a:spcPts val="105"/>
              </a:spcBef>
            </a:pPr>
            <a:r>
              <a:rPr sz="1700" spc="-5" dirty="0">
                <a:solidFill>
                  <a:srgbClr val="404040"/>
                </a:solidFill>
                <a:latin typeface="Times New Roman"/>
                <a:cs typeface="Times New Roman"/>
              </a:rPr>
              <a:t>enhancements to </a:t>
            </a:r>
            <a:r>
              <a:rPr sz="1700" dirty="0">
                <a:solidFill>
                  <a:srgbClr val="404040"/>
                </a:solidFill>
                <a:latin typeface="Times New Roman"/>
                <a:cs typeface="Times New Roman"/>
              </a:rPr>
              <a:t>the</a:t>
            </a:r>
            <a:r>
              <a:rPr sz="1700" spc="-45" dirty="0">
                <a:solidFill>
                  <a:srgbClr val="404040"/>
                </a:solidFill>
                <a:latin typeface="Times New Roman"/>
                <a:cs typeface="Times New Roman"/>
              </a:rPr>
              <a:t> </a:t>
            </a:r>
            <a:r>
              <a:rPr sz="1700" spc="-5" dirty="0">
                <a:solidFill>
                  <a:srgbClr val="404040"/>
                </a:solidFill>
                <a:latin typeface="Times New Roman"/>
                <a:cs typeface="Times New Roman"/>
              </a:rPr>
              <a:t>software.</a:t>
            </a:r>
            <a:endParaRPr sz="1700">
              <a:latin typeface="Times New Roman"/>
              <a:cs typeface="Times New Roman"/>
            </a:endParaRPr>
          </a:p>
        </p:txBody>
      </p:sp>
      <p:sp>
        <p:nvSpPr>
          <p:cNvPr id="10" name="object 10"/>
          <p:cNvSpPr txBox="1"/>
          <p:nvPr/>
        </p:nvSpPr>
        <p:spPr>
          <a:xfrm>
            <a:off x="2021585" y="3192907"/>
            <a:ext cx="3204210" cy="285115"/>
          </a:xfrm>
          <a:prstGeom prst="rect">
            <a:avLst/>
          </a:prstGeom>
        </p:spPr>
        <p:txBody>
          <a:bodyPr vert="horz" wrap="square" lIns="0" tIns="13335" rIns="0" bIns="0" rtlCol="0">
            <a:spAutoFit/>
          </a:bodyPr>
          <a:lstStyle/>
          <a:p>
            <a:pPr marL="355600" indent="-342900">
              <a:lnSpc>
                <a:spcPct val="100000"/>
              </a:lnSpc>
              <a:spcBef>
                <a:spcPts val="105"/>
              </a:spcBef>
              <a:buClr>
                <a:srgbClr val="E84B21"/>
              </a:buClr>
              <a:buFont typeface="Wingdings"/>
              <a:buChar char=""/>
              <a:tabLst>
                <a:tab pos="354965" algn="l"/>
                <a:tab pos="355600" algn="l"/>
                <a:tab pos="1038225" algn="l"/>
                <a:tab pos="1467485" algn="l"/>
                <a:tab pos="2388235" algn="l"/>
                <a:tab pos="3023870" algn="l"/>
              </a:tabLst>
            </a:pPr>
            <a:r>
              <a:rPr sz="1700" dirty="0">
                <a:solidFill>
                  <a:srgbClr val="404040"/>
                </a:solidFill>
                <a:latin typeface="Times New Roman"/>
                <a:cs typeface="Times New Roman"/>
              </a:rPr>
              <a:t>The</a:t>
            </a:r>
            <a:r>
              <a:rPr sz="1700" spc="-15" dirty="0">
                <a:solidFill>
                  <a:srgbClr val="404040"/>
                </a:solidFill>
                <a:latin typeface="Times New Roman"/>
                <a:cs typeface="Times New Roman"/>
              </a:rPr>
              <a:t>s</a:t>
            </a:r>
            <a:r>
              <a:rPr sz="1700" dirty="0">
                <a:solidFill>
                  <a:srgbClr val="404040"/>
                </a:solidFill>
                <a:latin typeface="Times New Roman"/>
                <a:cs typeface="Times New Roman"/>
              </a:rPr>
              <a:t>e	a</a:t>
            </a:r>
            <a:r>
              <a:rPr sz="1700" spc="-20" dirty="0">
                <a:solidFill>
                  <a:srgbClr val="404040"/>
                </a:solidFill>
                <a:latin typeface="Times New Roman"/>
                <a:cs typeface="Times New Roman"/>
              </a:rPr>
              <a:t>r</a:t>
            </a:r>
            <a:r>
              <a:rPr sz="1700" dirty="0">
                <a:solidFill>
                  <a:srgbClr val="404040"/>
                </a:solidFill>
                <a:latin typeface="Times New Roman"/>
                <a:cs typeface="Times New Roman"/>
              </a:rPr>
              <a:t>e	</a:t>
            </a:r>
            <a:r>
              <a:rPr sz="1700" spc="-5" dirty="0">
                <a:solidFill>
                  <a:srgbClr val="404040"/>
                </a:solidFill>
                <a:latin typeface="Times New Roman"/>
                <a:cs typeface="Times New Roman"/>
              </a:rPr>
              <a:t>t</a:t>
            </a:r>
            <a:r>
              <a:rPr sz="1700" dirty="0">
                <a:solidFill>
                  <a:srgbClr val="404040"/>
                </a:solidFill>
                <a:latin typeface="Times New Roman"/>
                <a:cs typeface="Times New Roman"/>
              </a:rPr>
              <a:t>ypi</a:t>
            </a:r>
            <a:r>
              <a:rPr sz="1700" spc="-15" dirty="0">
                <a:solidFill>
                  <a:srgbClr val="404040"/>
                </a:solidFill>
                <a:latin typeface="Times New Roman"/>
                <a:cs typeface="Times New Roman"/>
              </a:rPr>
              <a:t>c</a:t>
            </a:r>
            <a:r>
              <a:rPr sz="1700" dirty="0">
                <a:solidFill>
                  <a:srgbClr val="404040"/>
                </a:solidFill>
                <a:latin typeface="Times New Roman"/>
                <a:cs typeface="Times New Roman"/>
              </a:rPr>
              <a:t>al</a:t>
            </a:r>
            <a:r>
              <a:rPr sz="1700" spc="-15" dirty="0">
                <a:solidFill>
                  <a:srgbClr val="404040"/>
                </a:solidFill>
                <a:latin typeface="Times New Roman"/>
                <a:cs typeface="Times New Roman"/>
              </a:rPr>
              <a:t>l</a:t>
            </a:r>
            <a:r>
              <a:rPr sz="1700" dirty="0">
                <a:solidFill>
                  <a:srgbClr val="404040"/>
                </a:solidFill>
                <a:latin typeface="Times New Roman"/>
                <a:cs typeface="Times New Roman"/>
              </a:rPr>
              <a:t>y	</a:t>
            </a:r>
            <a:r>
              <a:rPr sz="1700" spc="-5" dirty="0">
                <a:solidFill>
                  <a:srgbClr val="404040"/>
                </a:solidFill>
                <a:latin typeface="Times New Roman"/>
                <a:cs typeface="Times New Roman"/>
              </a:rPr>
              <a:t>m</a:t>
            </a:r>
            <a:r>
              <a:rPr sz="1700" dirty="0">
                <a:solidFill>
                  <a:srgbClr val="404040"/>
                </a:solidFill>
                <a:latin typeface="Times New Roman"/>
                <a:cs typeface="Times New Roman"/>
              </a:rPr>
              <a:t>ade	</a:t>
            </a:r>
            <a:r>
              <a:rPr sz="1700" spc="-10" dirty="0">
                <a:solidFill>
                  <a:srgbClr val="404040"/>
                </a:solidFill>
                <a:latin typeface="Times New Roman"/>
                <a:cs typeface="Times New Roman"/>
              </a:rPr>
              <a:t>to</a:t>
            </a:r>
            <a:endParaRPr sz="1700">
              <a:latin typeface="Times New Roman"/>
              <a:cs typeface="Times New Roman"/>
            </a:endParaRPr>
          </a:p>
        </p:txBody>
      </p:sp>
      <p:sp>
        <p:nvSpPr>
          <p:cNvPr id="11" name="object 11"/>
          <p:cNvSpPr txBox="1"/>
          <p:nvPr/>
        </p:nvSpPr>
        <p:spPr>
          <a:xfrm>
            <a:off x="2364485" y="3425774"/>
            <a:ext cx="2860675" cy="519430"/>
          </a:xfrm>
          <a:prstGeom prst="rect">
            <a:avLst/>
          </a:prstGeom>
        </p:spPr>
        <p:txBody>
          <a:bodyPr vert="horz" wrap="square" lIns="0" tIns="13335" rIns="0" bIns="0" rtlCol="0">
            <a:spAutoFit/>
          </a:bodyPr>
          <a:lstStyle/>
          <a:p>
            <a:pPr marL="12700">
              <a:lnSpc>
                <a:spcPts val="1939"/>
              </a:lnSpc>
              <a:spcBef>
                <a:spcPts val="105"/>
              </a:spcBef>
            </a:pPr>
            <a:r>
              <a:rPr sz="1700" spc="-5" dirty="0">
                <a:solidFill>
                  <a:srgbClr val="404040"/>
                </a:solidFill>
                <a:latin typeface="Times New Roman"/>
                <a:cs typeface="Times New Roman"/>
              </a:rPr>
              <a:t>improve  the  maintainability </a:t>
            </a:r>
            <a:r>
              <a:rPr sz="1700" spc="330" dirty="0">
                <a:solidFill>
                  <a:srgbClr val="404040"/>
                </a:solidFill>
                <a:latin typeface="Times New Roman"/>
                <a:cs typeface="Times New Roman"/>
              </a:rPr>
              <a:t> </a:t>
            </a:r>
            <a:r>
              <a:rPr sz="1700" spc="-5" dirty="0">
                <a:solidFill>
                  <a:srgbClr val="404040"/>
                </a:solidFill>
                <a:latin typeface="Times New Roman"/>
                <a:cs typeface="Times New Roman"/>
              </a:rPr>
              <a:t>of</a:t>
            </a:r>
            <a:endParaRPr sz="1700">
              <a:latin typeface="Times New Roman"/>
              <a:cs typeface="Times New Roman"/>
            </a:endParaRPr>
          </a:p>
          <a:p>
            <a:pPr marL="12700">
              <a:lnSpc>
                <a:spcPts val="1939"/>
              </a:lnSpc>
            </a:pPr>
            <a:r>
              <a:rPr sz="1700" dirty="0">
                <a:solidFill>
                  <a:srgbClr val="404040"/>
                </a:solidFill>
                <a:latin typeface="Times New Roman"/>
                <a:cs typeface="Times New Roman"/>
              </a:rPr>
              <a:t>the </a:t>
            </a:r>
            <a:r>
              <a:rPr sz="1700" spc="-5" dirty="0">
                <a:solidFill>
                  <a:srgbClr val="404040"/>
                </a:solidFill>
                <a:latin typeface="Times New Roman"/>
                <a:cs typeface="Times New Roman"/>
              </a:rPr>
              <a:t>code </a:t>
            </a:r>
            <a:r>
              <a:rPr sz="1700" dirty="0">
                <a:solidFill>
                  <a:srgbClr val="404040"/>
                </a:solidFill>
                <a:latin typeface="Times New Roman"/>
                <a:cs typeface="Times New Roman"/>
              </a:rPr>
              <a:t>such </a:t>
            </a:r>
            <a:r>
              <a:rPr sz="1700" spc="-5" dirty="0">
                <a:solidFill>
                  <a:srgbClr val="404040"/>
                </a:solidFill>
                <a:latin typeface="Times New Roman"/>
                <a:cs typeface="Times New Roman"/>
              </a:rPr>
              <a:t>as</a:t>
            </a:r>
            <a:r>
              <a:rPr sz="1700" spc="310" dirty="0">
                <a:solidFill>
                  <a:srgbClr val="404040"/>
                </a:solidFill>
                <a:latin typeface="Times New Roman"/>
                <a:cs typeface="Times New Roman"/>
              </a:rPr>
              <a:t> </a:t>
            </a:r>
            <a:r>
              <a:rPr sz="1700" spc="-5" dirty="0">
                <a:solidFill>
                  <a:srgbClr val="404040"/>
                </a:solidFill>
                <a:latin typeface="Times New Roman"/>
                <a:cs typeface="Times New Roman"/>
              </a:rPr>
              <a:t>restructuring  </a:t>
            </a:r>
            <a:r>
              <a:rPr sz="1700" spc="-10" dirty="0">
                <a:solidFill>
                  <a:srgbClr val="404040"/>
                </a:solidFill>
                <a:latin typeface="Times New Roman"/>
                <a:cs typeface="Times New Roman"/>
              </a:rPr>
              <a:t>it</a:t>
            </a:r>
            <a:endParaRPr sz="1700">
              <a:latin typeface="Times New Roman"/>
              <a:cs typeface="Times New Roman"/>
            </a:endParaRPr>
          </a:p>
        </p:txBody>
      </p:sp>
      <p:sp>
        <p:nvSpPr>
          <p:cNvPr id="12" name="object 12"/>
          <p:cNvSpPr txBox="1"/>
          <p:nvPr/>
        </p:nvSpPr>
        <p:spPr>
          <a:xfrm>
            <a:off x="2364485" y="3892677"/>
            <a:ext cx="2860675" cy="285115"/>
          </a:xfrm>
          <a:prstGeom prst="rect">
            <a:avLst/>
          </a:prstGeom>
        </p:spPr>
        <p:txBody>
          <a:bodyPr vert="horz" wrap="square" lIns="0" tIns="12700" rIns="0" bIns="0" rtlCol="0">
            <a:spAutoFit/>
          </a:bodyPr>
          <a:lstStyle/>
          <a:p>
            <a:pPr marL="12700">
              <a:lnSpc>
                <a:spcPct val="100000"/>
              </a:lnSpc>
              <a:spcBef>
                <a:spcPts val="100"/>
              </a:spcBef>
              <a:tabLst>
                <a:tab pos="464820" algn="l"/>
                <a:tab pos="1216660" algn="l"/>
                <a:tab pos="1618615" algn="l"/>
                <a:tab pos="2345690" algn="l"/>
              </a:tabLst>
            </a:pPr>
            <a:r>
              <a:rPr sz="1700" spc="-10" dirty="0">
                <a:solidFill>
                  <a:srgbClr val="404040"/>
                </a:solidFill>
                <a:latin typeface="Times New Roman"/>
                <a:cs typeface="Times New Roman"/>
              </a:rPr>
              <a:t>t</a:t>
            </a:r>
            <a:r>
              <a:rPr sz="1700" dirty="0">
                <a:solidFill>
                  <a:srgbClr val="404040"/>
                </a:solidFill>
                <a:latin typeface="Times New Roman"/>
                <a:cs typeface="Times New Roman"/>
              </a:rPr>
              <a:t>o	</a:t>
            </a:r>
            <a:r>
              <a:rPr sz="1700" spc="-5" dirty="0">
                <a:solidFill>
                  <a:srgbClr val="404040"/>
                </a:solidFill>
                <a:latin typeface="Times New Roman"/>
                <a:cs typeface="Times New Roman"/>
              </a:rPr>
              <a:t>m</a:t>
            </a:r>
            <a:r>
              <a:rPr sz="1700" dirty="0">
                <a:solidFill>
                  <a:srgbClr val="404040"/>
                </a:solidFill>
                <a:latin typeface="Times New Roman"/>
                <a:cs typeface="Times New Roman"/>
              </a:rPr>
              <a:t>ake	</a:t>
            </a:r>
            <a:r>
              <a:rPr sz="1700" spc="-10" dirty="0">
                <a:solidFill>
                  <a:srgbClr val="404040"/>
                </a:solidFill>
                <a:latin typeface="Times New Roman"/>
                <a:cs typeface="Times New Roman"/>
              </a:rPr>
              <a:t>i</a:t>
            </a:r>
            <a:r>
              <a:rPr sz="1700" dirty="0">
                <a:solidFill>
                  <a:srgbClr val="404040"/>
                </a:solidFill>
                <a:latin typeface="Times New Roman"/>
                <a:cs typeface="Times New Roman"/>
              </a:rPr>
              <a:t>t	</a:t>
            </a:r>
            <a:r>
              <a:rPr sz="1700" spc="-5" dirty="0">
                <a:solidFill>
                  <a:srgbClr val="404040"/>
                </a:solidFill>
                <a:latin typeface="Times New Roman"/>
                <a:cs typeface="Times New Roman"/>
              </a:rPr>
              <a:t>m</a:t>
            </a:r>
            <a:r>
              <a:rPr sz="1700" dirty="0">
                <a:solidFill>
                  <a:srgbClr val="404040"/>
                </a:solidFill>
                <a:latin typeface="Times New Roman"/>
                <a:cs typeface="Times New Roman"/>
              </a:rPr>
              <a:t>ore	</a:t>
            </a:r>
            <a:r>
              <a:rPr sz="1700" spc="-15" dirty="0">
                <a:solidFill>
                  <a:srgbClr val="404040"/>
                </a:solidFill>
                <a:latin typeface="Times New Roman"/>
                <a:cs typeface="Times New Roman"/>
              </a:rPr>
              <a:t>e</a:t>
            </a:r>
            <a:r>
              <a:rPr sz="1700" dirty="0">
                <a:solidFill>
                  <a:srgbClr val="404040"/>
                </a:solidFill>
                <a:latin typeface="Times New Roman"/>
                <a:cs typeface="Times New Roman"/>
              </a:rPr>
              <a:t>as</a:t>
            </a:r>
            <a:r>
              <a:rPr sz="1700" spc="-10" dirty="0">
                <a:solidFill>
                  <a:srgbClr val="404040"/>
                </a:solidFill>
                <a:latin typeface="Times New Roman"/>
                <a:cs typeface="Times New Roman"/>
              </a:rPr>
              <a:t>i</a:t>
            </a:r>
            <a:r>
              <a:rPr sz="1700" spc="-5" dirty="0">
                <a:solidFill>
                  <a:srgbClr val="404040"/>
                </a:solidFill>
                <a:latin typeface="Times New Roman"/>
                <a:cs typeface="Times New Roman"/>
              </a:rPr>
              <a:t>l</a:t>
            </a:r>
            <a:r>
              <a:rPr sz="1700" dirty="0">
                <a:solidFill>
                  <a:srgbClr val="404040"/>
                </a:solidFill>
                <a:latin typeface="Times New Roman"/>
                <a:cs typeface="Times New Roman"/>
              </a:rPr>
              <a:t>y</a:t>
            </a:r>
            <a:endParaRPr sz="1700">
              <a:latin typeface="Times New Roman"/>
              <a:cs typeface="Times New Roman"/>
            </a:endParaRPr>
          </a:p>
        </p:txBody>
      </p:sp>
      <p:sp>
        <p:nvSpPr>
          <p:cNvPr id="13" name="object 13"/>
          <p:cNvSpPr txBox="1"/>
          <p:nvPr/>
        </p:nvSpPr>
        <p:spPr>
          <a:xfrm>
            <a:off x="2364485" y="4125848"/>
            <a:ext cx="2861945" cy="518795"/>
          </a:xfrm>
          <a:prstGeom prst="rect">
            <a:avLst/>
          </a:prstGeom>
        </p:spPr>
        <p:txBody>
          <a:bodyPr vert="horz" wrap="square" lIns="0" tIns="41910" rIns="0" bIns="0" rtlCol="0">
            <a:spAutoFit/>
          </a:bodyPr>
          <a:lstStyle/>
          <a:p>
            <a:pPr marL="12700" marR="5080">
              <a:lnSpc>
                <a:spcPts val="1839"/>
              </a:lnSpc>
              <a:spcBef>
                <a:spcPts val="330"/>
              </a:spcBef>
              <a:tabLst>
                <a:tab pos="1266825" algn="l"/>
                <a:tab pos="1740535" algn="l"/>
                <a:tab pos="2202815" algn="l"/>
              </a:tabLst>
            </a:pPr>
            <a:r>
              <a:rPr sz="1700" dirty="0">
                <a:solidFill>
                  <a:srgbClr val="404040"/>
                </a:solidFill>
                <a:latin typeface="Times New Roman"/>
                <a:cs typeface="Times New Roman"/>
              </a:rPr>
              <a:t>under</a:t>
            </a:r>
            <a:r>
              <a:rPr sz="1700" spc="-10" dirty="0">
                <a:solidFill>
                  <a:srgbClr val="404040"/>
                </a:solidFill>
                <a:latin typeface="Times New Roman"/>
                <a:cs typeface="Times New Roman"/>
              </a:rPr>
              <a:t>s</a:t>
            </a:r>
            <a:r>
              <a:rPr sz="1700" spc="-5" dirty="0">
                <a:solidFill>
                  <a:srgbClr val="404040"/>
                </a:solidFill>
                <a:latin typeface="Times New Roman"/>
                <a:cs typeface="Times New Roman"/>
              </a:rPr>
              <a:t>t</a:t>
            </a:r>
            <a:r>
              <a:rPr sz="1700" dirty="0">
                <a:solidFill>
                  <a:srgbClr val="404040"/>
                </a:solidFill>
                <a:latin typeface="Times New Roman"/>
                <a:cs typeface="Times New Roman"/>
              </a:rPr>
              <a:t>ood	or	</a:t>
            </a:r>
            <a:r>
              <a:rPr sz="1700" spc="-10" dirty="0">
                <a:solidFill>
                  <a:srgbClr val="404040"/>
                </a:solidFill>
                <a:latin typeface="Times New Roman"/>
                <a:cs typeface="Times New Roman"/>
              </a:rPr>
              <a:t>t</a:t>
            </a:r>
            <a:r>
              <a:rPr sz="1700" dirty="0">
                <a:solidFill>
                  <a:srgbClr val="404040"/>
                </a:solidFill>
                <a:latin typeface="Times New Roman"/>
                <a:cs typeface="Times New Roman"/>
              </a:rPr>
              <a:t>o	re</a:t>
            </a:r>
            <a:r>
              <a:rPr sz="1700" spc="-15" dirty="0">
                <a:solidFill>
                  <a:srgbClr val="404040"/>
                </a:solidFill>
                <a:latin typeface="Times New Roman"/>
                <a:cs typeface="Times New Roman"/>
              </a:rPr>
              <a:t>m</a:t>
            </a:r>
            <a:r>
              <a:rPr sz="1700" dirty="0">
                <a:solidFill>
                  <a:srgbClr val="404040"/>
                </a:solidFill>
                <a:latin typeface="Times New Roman"/>
                <a:cs typeface="Times New Roman"/>
              </a:rPr>
              <a:t>o</a:t>
            </a:r>
            <a:r>
              <a:rPr sz="1700" spc="-15" dirty="0">
                <a:solidFill>
                  <a:srgbClr val="404040"/>
                </a:solidFill>
                <a:latin typeface="Times New Roman"/>
                <a:cs typeface="Times New Roman"/>
              </a:rPr>
              <a:t>v</a:t>
            </a:r>
            <a:r>
              <a:rPr sz="1700" dirty="0">
                <a:solidFill>
                  <a:srgbClr val="404040"/>
                </a:solidFill>
                <a:latin typeface="Times New Roman"/>
                <a:cs typeface="Times New Roman"/>
              </a:rPr>
              <a:t>e  </a:t>
            </a:r>
            <a:r>
              <a:rPr sz="1700" spc="-5" dirty="0">
                <a:solidFill>
                  <a:srgbClr val="404040"/>
                </a:solidFill>
                <a:latin typeface="Times New Roman"/>
                <a:cs typeface="Times New Roman"/>
              </a:rPr>
              <a:t>ambiguities.</a:t>
            </a:r>
            <a:endParaRPr sz="1700">
              <a:latin typeface="Times New Roman"/>
              <a:cs typeface="Times New Roman"/>
            </a:endParaRPr>
          </a:p>
        </p:txBody>
      </p:sp>
      <p:sp>
        <p:nvSpPr>
          <p:cNvPr id="14" name="object 14"/>
          <p:cNvSpPr txBox="1"/>
          <p:nvPr/>
        </p:nvSpPr>
        <p:spPr>
          <a:xfrm>
            <a:off x="2021585" y="4720209"/>
            <a:ext cx="3204210" cy="1111885"/>
          </a:xfrm>
          <a:prstGeom prst="rect">
            <a:avLst/>
          </a:prstGeom>
        </p:spPr>
        <p:txBody>
          <a:bodyPr vert="horz" wrap="square" lIns="0" tIns="41910" rIns="0" bIns="0" rtlCol="0">
            <a:spAutoFit/>
          </a:bodyPr>
          <a:lstStyle/>
          <a:p>
            <a:pPr marL="355600" marR="5080" indent="-342900">
              <a:lnSpc>
                <a:spcPts val="1839"/>
              </a:lnSpc>
              <a:spcBef>
                <a:spcPts val="330"/>
              </a:spcBef>
              <a:buClr>
                <a:srgbClr val="E84B21"/>
              </a:buClr>
              <a:buFont typeface="Wingdings"/>
              <a:buChar char=""/>
              <a:tabLst>
                <a:tab pos="354965" algn="l"/>
                <a:tab pos="355600" algn="l"/>
              </a:tabLst>
            </a:pPr>
            <a:r>
              <a:rPr sz="1700" spc="-5" dirty="0">
                <a:solidFill>
                  <a:srgbClr val="404040"/>
                </a:solidFill>
                <a:latin typeface="Times New Roman"/>
                <a:cs typeface="Times New Roman"/>
              </a:rPr>
              <a:t>includes all </a:t>
            </a:r>
            <a:r>
              <a:rPr sz="1700" spc="-10" dirty="0">
                <a:solidFill>
                  <a:srgbClr val="404040"/>
                </a:solidFill>
                <a:latin typeface="Times New Roman"/>
                <a:cs typeface="Times New Roman"/>
              </a:rPr>
              <a:t>efforts </a:t>
            </a:r>
            <a:r>
              <a:rPr sz="1700" spc="-5" dirty="0">
                <a:solidFill>
                  <a:srgbClr val="404040"/>
                </a:solidFill>
                <a:latin typeface="Times New Roman"/>
                <a:cs typeface="Times New Roman"/>
              </a:rPr>
              <a:t>to </a:t>
            </a:r>
            <a:r>
              <a:rPr sz="1700" dirty="0">
                <a:solidFill>
                  <a:srgbClr val="404040"/>
                </a:solidFill>
                <a:latin typeface="Times New Roman"/>
                <a:cs typeface="Times New Roman"/>
              </a:rPr>
              <a:t>improve  the </a:t>
            </a:r>
            <a:r>
              <a:rPr sz="1700" spc="-5" dirty="0">
                <a:solidFill>
                  <a:srgbClr val="404040"/>
                </a:solidFill>
                <a:latin typeface="Times New Roman"/>
                <a:cs typeface="Times New Roman"/>
              </a:rPr>
              <a:t>quality </a:t>
            </a:r>
            <a:r>
              <a:rPr sz="1700" dirty="0">
                <a:solidFill>
                  <a:srgbClr val="404040"/>
                </a:solidFill>
                <a:latin typeface="Times New Roman"/>
                <a:cs typeface="Times New Roman"/>
              </a:rPr>
              <a:t>of the</a:t>
            </a:r>
            <a:r>
              <a:rPr sz="1700" spc="-15" dirty="0">
                <a:solidFill>
                  <a:srgbClr val="404040"/>
                </a:solidFill>
                <a:latin typeface="Times New Roman"/>
                <a:cs typeface="Times New Roman"/>
              </a:rPr>
              <a:t> </a:t>
            </a:r>
            <a:r>
              <a:rPr sz="1700" spc="-5" dirty="0">
                <a:solidFill>
                  <a:srgbClr val="404040"/>
                </a:solidFill>
                <a:latin typeface="Times New Roman"/>
                <a:cs typeface="Times New Roman"/>
              </a:rPr>
              <a:t>software.</a:t>
            </a:r>
            <a:endParaRPr sz="1700">
              <a:latin typeface="Times New Roman"/>
              <a:cs typeface="Times New Roman"/>
            </a:endParaRPr>
          </a:p>
          <a:p>
            <a:pPr marL="355600" marR="5080" indent="-342900">
              <a:lnSpc>
                <a:spcPts val="1839"/>
              </a:lnSpc>
              <a:spcBef>
                <a:spcPts val="990"/>
              </a:spcBef>
              <a:buClr>
                <a:srgbClr val="E84B21"/>
              </a:buClr>
              <a:buFont typeface="Wingdings"/>
              <a:buChar char=""/>
              <a:tabLst>
                <a:tab pos="354965" algn="l"/>
                <a:tab pos="355600" algn="l"/>
              </a:tabLst>
            </a:pPr>
            <a:r>
              <a:rPr sz="1700" spc="-5" dirty="0">
                <a:solidFill>
                  <a:srgbClr val="404040"/>
                </a:solidFill>
                <a:latin typeface="Times New Roman"/>
                <a:cs typeface="Times New Roman"/>
              </a:rPr>
              <a:t>Includes improving reliability </a:t>
            </a:r>
            <a:r>
              <a:rPr sz="1700" dirty="0">
                <a:solidFill>
                  <a:srgbClr val="404040"/>
                </a:solidFill>
                <a:latin typeface="Times New Roman"/>
                <a:cs typeface="Times New Roman"/>
              </a:rPr>
              <a:t>or  </a:t>
            </a:r>
            <a:r>
              <a:rPr sz="1700" spc="-15" dirty="0">
                <a:solidFill>
                  <a:srgbClr val="404040"/>
                </a:solidFill>
                <a:latin typeface="Times New Roman"/>
                <a:cs typeface="Times New Roman"/>
              </a:rPr>
              <a:t>efficiency.</a:t>
            </a:r>
            <a:endParaRPr sz="1700">
              <a:latin typeface="Times New Roman"/>
              <a:cs typeface="Times New Roman"/>
            </a:endParaRPr>
          </a:p>
        </p:txBody>
      </p:sp>
      <p:sp>
        <p:nvSpPr>
          <p:cNvPr id="15" name="object 15"/>
          <p:cNvSpPr txBox="1"/>
          <p:nvPr/>
        </p:nvSpPr>
        <p:spPr>
          <a:xfrm>
            <a:off x="850798" y="797813"/>
            <a:ext cx="16700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9</a:t>
            </a:r>
            <a:endParaRPr sz="2000">
              <a:latin typeface="Arial"/>
              <a:cs typeface="Arial"/>
            </a:endParaRPr>
          </a:p>
        </p:txBody>
      </p:sp>
      <p:sp>
        <p:nvSpPr>
          <p:cNvPr id="16" name="object 16"/>
          <p:cNvSpPr/>
          <p:nvPr/>
        </p:nvSpPr>
        <p:spPr>
          <a:xfrm>
            <a:off x="5500115" y="5181598"/>
            <a:ext cx="3049524" cy="1676400"/>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5515355" y="2133600"/>
            <a:ext cx="3019425" cy="3058795"/>
          </a:xfrm>
          <a:custGeom>
            <a:avLst/>
            <a:gdLst/>
            <a:ahLst/>
            <a:cxnLst/>
            <a:rect l="l" t="t" r="r" b="b"/>
            <a:pathLst>
              <a:path w="3019425" h="3058795">
                <a:moveTo>
                  <a:pt x="2759583" y="0"/>
                </a:moveTo>
                <a:lnTo>
                  <a:pt x="259461" y="0"/>
                </a:lnTo>
                <a:lnTo>
                  <a:pt x="212833" y="4181"/>
                </a:lnTo>
                <a:lnTo>
                  <a:pt x="168942" y="16237"/>
                </a:lnTo>
                <a:lnTo>
                  <a:pt x="128524" y="35433"/>
                </a:lnTo>
                <a:lnTo>
                  <a:pt x="92310" y="61035"/>
                </a:lnTo>
                <a:lnTo>
                  <a:pt x="61035" y="92310"/>
                </a:lnTo>
                <a:lnTo>
                  <a:pt x="35433" y="128524"/>
                </a:lnTo>
                <a:lnTo>
                  <a:pt x="16237" y="168942"/>
                </a:lnTo>
                <a:lnTo>
                  <a:pt x="4181" y="212833"/>
                </a:lnTo>
                <a:lnTo>
                  <a:pt x="0" y="259461"/>
                </a:lnTo>
                <a:lnTo>
                  <a:pt x="0" y="2799207"/>
                </a:lnTo>
                <a:lnTo>
                  <a:pt x="4181" y="2845834"/>
                </a:lnTo>
                <a:lnTo>
                  <a:pt x="16237" y="2889725"/>
                </a:lnTo>
                <a:lnTo>
                  <a:pt x="35433" y="2930144"/>
                </a:lnTo>
                <a:lnTo>
                  <a:pt x="61035" y="2966357"/>
                </a:lnTo>
                <a:lnTo>
                  <a:pt x="92310" y="2997632"/>
                </a:lnTo>
                <a:lnTo>
                  <a:pt x="128524" y="3023235"/>
                </a:lnTo>
                <a:lnTo>
                  <a:pt x="168942" y="3042430"/>
                </a:lnTo>
                <a:lnTo>
                  <a:pt x="212833" y="3054486"/>
                </a:lnTo>
                <a:lnTo>
                  <a:pt x="259461" y="3058668"/>
                </a:lnTo>
                <a:lnTo>
                  <a:pt x="2759583" y="3058668"/>
                </a:lnTo>
                <a:lnTo>
                  <a:pt x="2806210" y="3054486"/>
                </a:lnTo>
                <a:lnTo>
                  <a:pt x="2850101" y="3042430"/>
                </a:lnTo>
                <a:lnTo>
                  <a:pt x="2890519" y="3023235"/>
                </a:lnTo>
                <a:lnTo>
                  <a:pt x="2926733" y="2997632"/>
                </a:lnTo>
                <a:lnTo>
                  <a:pt x="2958008" y="2966357"/>
                </a:lnTo>
                <a:lnTo>
                  <a:pt x="2983610" y="2930144"/>
                </a:lnTo>
                <a:lnTo>
                  <a:pt x="3002806" y="2889725"/>
                </a:lnTo>
                <a:lnTo>
                  <a:pt x="3014862" y="2845834"/>
                </a:lnTo>
                <a:lnTo>
                  <a:pt x="3019044" y="2799207"/>
                </a:lnTo>
                <a:lnTo>
                  <a:pt x="3019044" y="259461"/>
                </a:lnTo>
                <a:lnTo>
                  <a:pt x="3014862" y="212833"/>
                </a:lnTo>
                <a:lnTo>
                  <a:pt x="3002806" y="168942"/>
                </a:lnTo>
                <a:lnTo>
                  <a:pt x="2983611" y="128524"/>
                </a:lnTo>
                <a:lnTo>
                  <a:pt x="2958008" y="92310"/>
                </a:lnTo>
                <a:lnTo>
                  <a:pt x="2926733" y="61035"/>
                </a:lnTo>
                <a:lnTo>
                  <a:pt x="2890520" y="35433"/>
                </a:lnTo>
                <a:lnTo>
                  <a:pt x="2850101" y="16237"/>
                </a:lnTo>
                <a:lnTo>
                  <a:pt x="2806210" y="4181"/>
                </a:lnTo>
                <a:lnTo>
                  <a:pt x="2759583" y="0"/>
                </a:lnTo>
                <a:close/>
              </a:path>
            </a:pathLst>
          </a:custGeom>
          <a:solidFill>
            <a:srgbClr val="ECECEC"/>
          </a:solidFill>
        </p:spPr>
        <p:txBody>
          <a:bodyPr wrap="square" lIns="0" tIns="0" rIns="0" bIns="0" rtlCol="0"/>
          <a:lstStyle/>
          <a:p>
            <a:endParaRPr/>
          </a:p>
        </p:txBody>
      </p:sp>
      <p:sp>
        <p:nvSpPr>
          <p:cNvPr id="18" name="object 18"/>
          <p:cNvSpPr/>
          <p:nvPr/>
        </p:nvSpPr>
        <p:spPr>
          <a:xfrm>
            <a:off x="5515355" y="2133600"/>
            <a:ext cx="3019044" cy="3058668"/>
          </a:xfrm>
          <a:prstGeom prst="rect">
            <a:avLst/>
          </a:prstGeom>
          <a:blipFill>
            <a:blip r:embed="rId3" cstate="print"/>
            <a:stretch>
              <a:fillRect/>
            </a:stretch>
          </a:blipFill>
        </p:spPr>
        <p:txBody>
          <a:bodyPr wrap="square" lIns="0" tIns="0" rIns="0" bIns="0" rtlCol="0"/>
          <a:lstStyle/>
          <a:p>
            <a:endParaRPr/>
          </a:p>
        </p:txBody>
      </p:sp>
      <p:sp>
        <p:nvSpPr>
          <p:cNvPr id="19" name="object 19"/>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4099560"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4. </a:t>
            </a:r>
            <a:r>
              <a:rPr sz="3000" spc="-5" dirty="0">
                <a:solidFill>
                  <a:srgbClr val="252525"/>
                </a:solidFill>
                <a:latin typeface="Times New Roman"/>
                <a:cs typeface="Times New Roman"/>
              </a:rPr>
              <a:t>Preventive Maintenance</a:t>
            </a:r>
            <a:endParaRPr sz="3000">
              <a:latin typeface="Times New Roman"/>
              <a:cs typeface="Times New Roman"/>
            </a:endParaRPr>
          </a:p>
        </p:txBody>
      </p:sp>
      <p:sp>
        <p:nvSpPr>
          <p:cNvPr id="6" name="object 6"/>
          <p:cNvSpPr txBox="1"/>
          <p:nvPr/>
        </p:nvSpPr>
        <p:spPr>
          <a:xfrm>
            <a:off x="3467861" y="2159634"/>
            <a:ext cx="110680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imes New Roman"/>
                <a:cs typeface="Times New Roman"/>
              </a:rPr>
              <a:t>a</a:t>
            </a:r>
            <a:r>
              <a:rPr sz="1800" spc="-10" dirty="0">
                <a:solidFill>
                  <a:srgbClr val="404040"/>
                </a:solidFill>
                <a:latin typeface="Times New Roman"/>
                <a:cs typeface="Times New Roman"/>
              </a:rPr>
              <a:t>n</a:t>
            </a:r>
            <a:r>
              <a:rPr sz="1800" dirty="0">
                <a:solidFill>
                  <a:srgbClr val="404040"/>
                </a:solidFill>
                <a:latin typeface="Times New Roman"/>
                <a:cs typeface="Times New Roman"/>
              </a:rPr>
              <a:t>t</a:t>
            </a:r>
            <a:r>
              <a:rPr sz="1800" spc="5" dirty="0">
                <a:solidFill>
                  <a:srgbClr val="404040"/>
                </a:solidFill>
                <a:latin typeface="Times New Roman"/>
                <a:cs typeface="Times New Roman"/>
              </a:rPr>
              <a:t>i</a:t>
            </a:r>
            <a:r>
              <a:rPr sz="1800" dirty="0">
                <a:solidFill>
                  <a:srgbClr val="404040"/>
                </a:solidFill>
                <a:latin typeface="Times New Roman"/>
                <a:cs typeface="Times New Roman"/>
              </a:rPr>
              <a:t>cip</a:t>
            </a:r>
            <a:r>
              <a:rPr sz="1800" spc="5" dirty="0">
                <a:solidFill>
                  <a:srgbClr val="404040"/>
                </a:solidFill>
                <a:latin typeface="Times New Roman"/>
                <a:cs typeface="Times New Roman"/>
              </a:rPr>
              <a:t>a</a:t>
            </a:r>
            <a:r>
              <a:rPr sz="1800" dirty="0">
                <a:solidFill>
                  <a:srgbClr val="404040"/>
                </a:solidFill>
                <a:latin typeface="Times New Roman"/>
                <a:cs typeface="Times New Roman"/>
              </a:rPr>
              <a:t>t</a:t>
            </a:r>
            <a:r>
              <a:rPr sz="1800" spc="5" dirty="0">
                <a:solidFill>
                  <a:srgbClr val="404040"/>
                </a:solidFill>
                <a:latin typeface="Times New Roman"/>
                <a:cs typeface="Times New Roman"/>
              </a:rPr>
              <a:t>i</a:t>
            </a:r>
            <a:r>
              <a:rPr sz="1800" dirty="0">
                <a:solidFill>
                  <a:srgbClr val="404040"/>
                </a:solidFill>
                <a:latin typeface="Times New Roman"/>
                <a:cs typeface="Times New Roman"/>
              </a:rPr>
              <a:t>ng</a:t>
            </a:r>
            <a:endParaRPr sz="1800">
              <a:latin typeface="Times New Roman"/>
              <a:cs typeface="Times New Roman"/>
            </a:endParaRPr>
          </a:p>
        </p:txBody>
      </p:sp>
      <p:sp>
        <p:nvSpPr>
          <p:cNvPr id="7" name="object 7"/>
          <p:cNvSpPr txBox="1"/>
          <p:nvPr/>
        </p:nvSpPr>
        <p:spPr>
          <a:xfrm>
            <a:off x="4874767" y="2159634"/>
            <a:ext cx="57086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futu</a:t>
            </a:r>
            <a:r>
              <a:rPr sz="1800" spc="-10" dirty="0">
                <a:solidFill>
                  <a:srgbClr val="404040"/>
                </a:solidFill>
                <a:latin typeface="Times New Roman"/>
                <a:cs typeface="Times New Roman"/>
              </a:rPr>
              <a:t>r</a:t>
            </a:r>
            <a:r>
              <a:rPr sz="1800" dirty="0">
                <a:solidFill>
                  <a:srgbClr val="404040"/>
                </a:solidFill>
                <a:latin typeface="Times New Roman"/>
                <a:cs typeface="Times New Roman"/>
              </a:rPr>
              <a:t>e</a:t>
            </a:r>
            <a:endParaRPr sz="1800">
              <a:latin typeface="Times New Roman"/>
              <a:cs typeface="Times New Roman"/>
            </a:endParaRPr>
          </a:p>
        </p:txBody>
      </p:sp>
      <p:sp>
        <p:nvSpPr>
          <p:cNvPr id="8" name="object 8"/>
          <p:cNvSpPr txBox="1"/>
          <p:nvPr/>
        </p:nvSpPr>
        <p:spPr>
          <a:xfrm>
            <a:off x="2021585" y="2159634"/>
            <a:ext cx="1713864" cy="57404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Lst>
            </a:pPr>
            <a:r>
              <a:rPr sz="1800" dirty="0">
                <a:solidFill>
                  <a:srgbClr val="404040"/>
                </a:solidFill>
                <a:latin typeface="Times New Roman"/>
                <a:cs typeface="Times New Roman"/>
              </a:rPr>
              <a:t>Includes</a:t>
            </a:r>
            <a:endParaRPr sz="1800">
              <a:latin typeface="Times New Roman"/>
              <a:cs typeface="Times New Roman"/>
            </a:endParaRPr>
          </a:p>
          <a:p>
            <a:pPr marL="355600">
              <a:lnSpc>
                <a:spcPct val="100000"/>
              </a:lnSpc>
              <a:tabLst>
                <a:tab pos="1370330" algn="l"/>
              </a:tabLst>
            </a:pPr>
            <a:r>
              <a:rPr sz="1800" dirty="0">
                <a:solidFill>
                  <a:srgbClr val="404040"/>
                </a:solidFill>
                <a:latin typeface="Times New Roman"/>
                <a:cs typeface="Times New Roman"/>
              </a:rPr>
              <a:t>probl</a:t>
            </a:r>
            <a:r>
              <a:rPr sz="1800" spc="5" dirty="0">
                <a:solidFill>
                  <a:srgbClr val="404040"/>
                </a:solidFill>
                <a:latin typeface="Times New Roman"/>
                <a:cs typeface="Times New Roman"/>
              </a:rPr>
              <a:t>e</a:t>
            </a:r>
            <a:r>
              <a:rPr sz="1800" spc="-10" dirty="0">
                <a:solidFill>
                  <a:srgbClr val="404040"/>
                </a:solidFill>
                <a:latin typeface="Times New Roman"/>
                <a:cs typeface="Times New Roman"/>
              </a:rPr>
              <a:t>m</a:t>
            </a:r>
            <a:r>
              <a:rPr sz="1800" spc="-5" dirty="0">
                <a:solidFill>
                  <a:srgbClr val="404040"/>
                </a:solidFill>
                <a:latin typeface="Times New Roman"/>
                <a:cs typeface="Times New Roman"/>
              </a:rPr>
              <a:t>s</a:t>
            </a:r>
            <a:r>
              <a:rPr sz="1800" dirty="0">
                <a:solidFill>
                  <a:srgbClr val="404040"/>
                </a:solidFill>
                <a:latin typeface="Times New Roman"/>
                <a:cs typeface="Times New Roman"/>
              </a:rPr>
              <a:t>	and</a:t>
            </a:r>
            <a:endParaRPr sz="1800">
              <a:latin typeface="Times New Roman"/>
              <a:cs typeface="Times New Roman"/>
            </a:endParaRPr>
          </a:p>
        </p:txBody>
      </p:sp>
      <p:sp>
        <p:nvSpPr>
          <p:cNvPr id="9" name="object 9"/>
          <p:cNvSpPr txBox="1"/>
          <p:nvPr/>
        </p:nvSpPr>
        <p:spPr>
          <a:xfrm>
            <a:off x="3873500" y="2433954"/>
            <a:ext cx="1571625" cy="299720"/>
          </a:xfrm>
          <a:prstGeom prst="rect">
            <a:avLst/>
          </a:prstGeom>
        </p:spPr>
        <p:txBody>
          <a:bodyPr vert="horz" wrap="square" lIns="0" tIns="12700" rIns="0" bIns="0" rtlCol="0">
            <a:spAutoFit/>
          </a:bodyPr>
          <a:lstStyle/>
          <a:p>
            <a:pPr marL="12700">
              <a:lnSpc>
                <a:spcPct val="100000"/>
              </a:lnSpc>
              <a:spcBef>
                <a:spcPts val="100"/>
              </a:spcBef>
              <a:tabLst>
                <a:tab pos="354965" algn="l"/>
                <a:tab pos="1280160" algn="l"/>
              </a:tabLst>
            </a:pPr>
            <a:r>
              <a:rPr sz="1800" dirty="0">
                <a:solidFill>
                  <a:srgbClr val="404040"/>
                </a:solidFill>
                <a:latin typeface="Times New Roman"/>
                <a:cs typeface="Times New Roman"/>
              </a:rPr>
              <a:t>to	improve	t</a:t>
            </a:r>
            <a:r>
              <a:rPr sz="1800" spc="-10" dirty="0">
                <a:solidFill>
                  <a:srgbClr val="404040"/>
                </a:solidFill>
                <a:latin typeface="Times New Roman"/>
                <a:cs typeface="Times New Roman"/>
              </a:rPr>
              <a:t>h</a:t>
            </a:r>
            <a:r>
              <a:rPr sz="1800" dirty="0">
                <a:solidFill>
                  <a:srgbClr val="404040"/>
                </a:solidFill>
                <a:latin typeface="Times New Roman"/>
                <a:cs typeface="Times New Roman"/>
              </a:rPr>
              <a:t>e</a:t>
            </a:r>
            <a:endParaRPr sz="1800">
              <a:latin typeface="Times New Roman"/>
              <a:cs typeface="Times New Roman"/>
            </a:endParaRPr>
          </a:p>
        </p:txBody>
      </p:sp>
      <p:sp>
        <p:nvSpPr>
          <p:cNvPr id="10" name="object 10"/>
          <p:cNvSpPr txBox="1"/>
          <p:nvPr/>
        </p:nvSpPr>
        <p:spPr>
          <a:xfrm>
            <a:off x="2364485" y="2708275"/>
            <a:ext cx="308102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imes New Roman"/>
                <a:cs typeface="Times New Roman"/>
              </a:rPr>
              <a:t>maintainability </a:t>
            </a:r>
            <a:r>
              <a:rPr sz="1800" dirty="0">
                <a:solidFill>
                  <a:srgbClr val="404040"/>
                </a:solidFill>
                <a:latin typeface="Times New Roman"/>
                <a:cs typeface="Times New Roman"/>
              </a:rPr>
              <a:t>using</a:t>
            </a:r>
            <a:r>
              <a:rPr sz="1800" spc="220" dirty="0">
                <a:solidFill>
                  <a:srgbClr val="404040"/>
                </a:solidFill>
                <a:latin typeface="Times New Roman"/>
                <a:cs typeface="Times New Roman"/>
              </a:rPr>
              <a:t> </a:t>
            </a:r>
            <a:r>
              <a:rPr sz="1800" spc="-5" dirty="0">
                <a:solidFill>
                  <a:srgbClr val="404040"/>
                </a:solidFill>
                <a:latin typeface="Times New Roman"/>
                <a:cs typeface="Times New Roman"/>
              </a:rPr>
              <a:t>techniques</a:t>
            </a:r>
            <a:endParaRPr sz="1800">
              <a:latin typeface="Times New Roman"/>
              <a:cs typeface="Times New Roman"/>
            </a:endParaRPr>
          </a:p>
        </p:txBody>
      </p:sp>
      <p:sp>
        <p:nvSpPr>
          <p:cNvPr id="11" name="object 11"/>
          <p:cNvSpPr txBox="1"/>
          <p:nvPr/>
        </p:nvSpPr>
        <p:spPr>
          <a:xfrm>
            <a:off x="2364485" y="2982595"/>
            <a:ext cx="3079115" cy="848994"/>
          </a:xfrm>
          <a:prstGeom prst="rect">
            <a:avLst/>
          </a:prstGeom>
        </p:spPr>
        <p:txBody>
          <a:bodyPr vert="horz" wrap="square" lIns="0" tIns="12700" rIns="0" bIns="0" rtlCol="0">
            <a:spAutoFit/>
          </a:bodyPr>
          <a:lstStyle/>
          <a:p>
            <a:pPr marL="12700" marR="5080" algn="just">
              <a:lnSpc>
                <a:spcPct val="100000"/>
              </a:lnSpc>
              <a:spcBef>
                <a:spcPts val="100"/>
              </a:spcBef>
            </a:pPr>
            <a:r>
              <a:rPr sz="1800" dirty="0">
                <a:solidFill>
                  <a:srgbClr val="404040"/>
                </a:solidFill>
                <a:latin typeface="Times New Roman"/>
                <a:cs typeface="Times New Roman"/>
              </a:rPr>
              <a:t>like </a:t>
            </a:r>
            <a:r>
              <a:rPr sz="1800" spc="-5" dirty="0">
                <a:solidFill>
                  <a:srgbClr val="404040"/>
                </a:solidFill>
                <a:latin typeface="Times New Roman"/>
                <a:cs typeface="Times New Roman"/>
              </a:rPr>
              <a:t>documenting, commenting  </a:t>
            </a:r>
            <a:r>
              <a:rPr sz="1800" dirty="0">
                <a:solidFill>
                  <a:srgbClr val="404040"/>
                </a:solidFill>
                <a:latin typeface="Times New Roman"/>
                <a:cs typeface="Times New Roman"/>
              </a:rPr>
              <a:t>or </a:t>
            </a:r>
            <a:r>
              <a:rPr sz="1800" spc="-5" dirty="0">
                <a:solidFill>
                  <a:srgbClr val="404040"/>
                </a:solidFill>
                <a:latin typeface="Times New Roman"/>
                <a:cs typeface="Times New Roman"/>
              </a:rPr>
              <a:t>even re-implementing some  </a:t>
            </a:r>
            <a:r>
              <a:rPr sz="1800" dirty="0">
                <a:solidFill>
                  <a:srgbClr val="404040"/>
                </a:solidFill>
                <a:latin typeface="Times New Roman"/>
                <a:cs typeface="Times New Roman"/>
              </a:rPr>
              <a:t>part </a:t>
            </a:r>
            <a:r>
              <a:rPr sz="1800" spc="-5" dirty="0">
                <a:solidFill>
                  <a:srgbClr val="404040"/>
                </a:solidFill>
                <a:latin typeface="Times New Roman"/>
                <a:cs typeface="Times New Roman"/>
              </a:rPr>
              <a:t>of</a:t>
            </a:r>
            <a:r>
              <a:rPr sz="1800" spc="-25" dirty="0">
                <a:solidFill>
                  <a:srgbClr val="404040"/>
                </a:solidFill>
                <a:latin typeface="Times New Roman"/>
                <a:cs typeface="Times New Roman"/>
              </a:rPr>
              <a:t> </a:t>
            </a:r>
            <a:r>
              <a:rPr sz="1800" dirty="0">
                <a:solidFill>
                  <a:srgbClr val="404040"/>
                </a:solidFill>
                <a:latin typeface="Times New Roman"/>
                <a:cs typeface="Times New Roman"/>
              </a:rPr>
              <a:t>documenting.</a:t>
            </a:r>
            <a:endParaRPr sz="1800">
              <a:latin typeface="Times New Roman"/>
              <a:cs typeface="Times New Roman"/>
            </a:endParaRPr>
          </a:p>
        </p:txBody>
      </p:sp>
      <p:sp>
        <p:nvSpPr>
          <p:cNvPr id="12" name="object 12"/>
          <p:cNvSpPr txBox="1"/>
          <p:nvPr/>
        </p:nvSpPr>
        <p:spPr>
          <a:xfrm>
            <a:off x="2021585" y="3932301"/>
            <a:ext cx="2096770"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1108075" algn="l"/>
              </a:tabLst>
            </a:pPr>
            <a:r>
              <a:rPr sz="1800" dirty="0">
                <a:solidFill>
                  <a:srgbClr val="404040"/>
                </a:solidFill>
                <a:latin typeface="Times New Roman"/>
                <a:cs typeface="Times New Roman"/>
              </a:rPr>
              <a:t>More	com</a:t>
            </a:r>
            <a:r>
              <a:rPr sz="1800" spc="-15" dirty="0">
                <a:solidFill>
                  <a:srgbClr val="404040"/>
                </a:solidFill>
                <a:latin typeface="Times New Roman"/>
                <a:cs typeface="Times New Roman"/>
              </a:rPr>
              <a:t>m</a:t>
            </a:r>
            <a:r>
              <a:rPr sz="1800" dirty="0">
                <a:solidFill>
                  <a:srgbClr val="404040"/>
                </a:solidFill>
                <a:latin typeface="Times New Roman"/>
                <a:cs typeface="Times New Roman"/>
              </a:rPr>
              <a:t>on</a:t>
            </a:r>
            <a:r>
              <a:rPr sz="1800" spc="-10" dirty="0">
                <a:solidFill>
                  <a:srgbClr val="404040"/>
                </a:solidFill>
                <a:latin typeface="Times New Roman"/>
                <a:cs typeface="Times New Roman"/>
              </a:rPr>
              <a:t>l</a:t>
            </a:r>
            <a:r>
              <a:rPr sz="1800" dirty="0">
                <a:solidFill>
                  <a:srgbClr val="404040"/>
                </a:solidFill>
                <a:latin typeface="Times New Roman"/>
                <a:cs typeface="Times New Roman"/>
              </a:rPr>
              <a:t>y</a:t>
            </a:r>
            <a:endParaRPr sz="1800">
              <a:latin typeface="Times New Roman"/>
              <a:cs typeface="Times New Roman"/>
            </a:endParaRPr>
          </a:p>
        </p:txBody>
      </p:sp>
      <p:sp>
        <p:nvSpPr>
          <p:cNvPr id="13" name="object 13"/>
          <p:cNvSpPr txBox="1"/>
          <p:nvPr/>
        </p:nvSpPr>
        <p:spPr>
          <a:xfrm>
            <a:off x="4352035" y="3932301"/>
            <a:ext cx="1095375" cy="299720"/>
          </a:xfrm>
          <a:prstGeom prst="rect">
            <a:avLst/>
          </a:prstGeom>
        </p:spPr>
        <p:txBody>
          <a:bodyPr vert="horz" wrap="square" lIns="0" tIns="12700" rIns="0" bIns="0" rtlCol="0">
            <a:spAutoFit/>
          </a:bodyPr>
          <a:lstStyle/>
          <a:p>
            <a:pPr marL="12700">
              <a:lnSpc>
                <a:spcPct val="100000"/>
              </a:lnSpc>
              <a:spcBef>
                <a:spcPts val="100"/>
              </a:spcBef>
              <a:tabLst>
                <a:tab pos="890269" algn="l"/>
              </a:tabLst>
            </a:pPr>
            <a:r>
              <a:rPr sz="1800" spc="-5" dirty="0">
                <a:solidFill>
                  <a:srgbClr val="404040"/>
                </a:solidFill>
                <a:latin typeface="Times New Roman"/>
                <a:cs typeface="Times New Roman"/>
              </a:rPr>
              <a:t>known	as</a:t>
            </a:r>
            <a:endParaRPr sz="1800">
              <a:latin typeface="Times New Roman"/>
              <a:cs typeface="Times New Roman"/>
            </a:endParaRPr>
          </a:p>
        </p:txBody>
      </p:sp>
      <p:sp>
        <p:nvSpPr>
          <p:cNvPr id="14" name="object 14"/>
          <p:cNvSpPr txBox="1"/>
          <p:nvPr/>
        </p:nvSpPr>
        <p:spPr>
          <a:xfrm>
            <a:off x="2364485" y="4206620"/>
            <a:ext cx="237807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imes New Roman"/>
                <a:cs typeface="Times New Roman"/>
              </a:rPr>
              <a:t>Software</a:t>
            </a:r>
            <a:r>
              <a:rPr sz="1800" spc="-40" dirty="0">
                <a:solidFill>
                  <a:srgbClr val="404040"/>
                </a:solidFill>
                <a:latin typeface="Times New Roman"/>
                <a:cs typeface="Times New Roman"/>
              </a:rPr>
              <a:t> </a:t>
            </a:r>
            <a:r>
              <a:rPr sz="1800" dirty="0">
                <a:solidFill>
                  <a:srgbClr val="404040"/>
                </a:solidFill>
                <a:latin typeface="Times New Roman"/>
                <a:cs typeface="Times New Roman"/>
              </a:rPr>
              <a:t>Re-engineering.</a:t>
            </a:r>
            <a:endParaRPr sz="1800">
              <a:latin typeface="Times New Roman"/>
              <a:cs typeface="Times New Roman"/>
            </a:endParaRPr>
          </a:p>
        </p:txBody>
      </p:sp>
      <p:sp>
        <p:nvSpPr>
          <p:cNvPr id="15" name="object 15"/>
          <p:cNvSpPr txBox="1"/>
          <p:nvPr/>
        </p:nvSpPr>
        <p:spPr>
          <a:xfrm>
            <a:off x="2021585" y="4608957"/>
            <a:ext cx="1673225"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 pos="1024255" algn="l"/>
              </a:tabLst>
            </a:pPr>
            <a:r>
              <a:rPr sz="1800" spc="-5" dirty="0">
                <a:solidFill>
                  <a:srgbClr val="404040"/>
                </a:solidFill>
                <a:latin typeface="Times New Roman"/>
                <a:cs typeface="Times New Roman"/>
              </a:rPr>
              <a:t>Old	</a:t>
            </a:r>
            <a:r>
              <a:rPr sz="1800" spc="-25" dirty="0">
                <a:solidFill>
                  <a:srgbClr val="404040"/>
                </a:solidFill>
                <a:latin typeface="Times New Roman"/>
                <a:cs typeface="Times New Roman"/>
              </a:rPr>
              <a:t>s</a:t>
            </a:r>
            <a:r>
              <a:rPr sz="1800" spc="20" dirty="0">
                <a:solidFill>
                  <a:srgbClr val="404040"/>
                </a:solidFill>
                <a:latin typeface="Times New Roman"/>
                <a:cs typeface="Times New Roman"/>
              </a:rPr>
              <a:t>y</a:t>
            </a:r>
            <a:r>
              <a:rPr sz="1800" dirty="0">
                <a:solidFill>
                  <a:srgbClr val="404040"/>
                </a:solidFill>
                <a:latin typeface="Times New Roman"/>
                <a:cs typeface="Times New Roman"/>
              </a:rPr>
              <a:t>stem</a:t>
            </a:r>
            <a:endParaRPr sz="1800">
              <a:latin typeface="Times New Roman"/>
              <a:cs typeface="Times New Roman"/>
            </a:endParaRPr>
          </a:p>
        </p:txBody>
      </p:sp>
      <p:sp>
        <p:nvSpPr>
          <p:cNvPr id="16" name="object 16"/>
          <p:cNvSpPr txBox="1"/>
          <p:nvPr/>
        </p:nvSpPr>
        <p:spPr>
          <a:xfrm>
            <a:off x="3993896" y="4608957"/>
            <a:ext cx="1451610" cy="299720"/>
          </a:xfrm>
          <a:prstGeom prst="rect">
            <a:avLst/>
          </a:prstGeom>
        </p:spPr>
        <p:txBody>
          <a:bodyPr vert="horz" wrap="square" lIns="0" tIns="12700" rIns="0" bIns="0" rtlCol="0">
            <a:spAutoFit/>
          </a:bodyPr>
          <a:lstStyle/>
          <a:p>
            <a:pPr marL="12700">
              <a:lnSpc>
                <a:spcPct val="100000"/>
              </a:lnSpc>
              <a:spcBef>
                <a:spcPts val="100"/>
              </a:spcBef>
              <a:tabLst>
                <a:tab pos="819785" algn="l"/>
                <a:tab pos="1336675" algn="l"/>
              </a:tabLst>
            </a:pPr>
            <a:r>
              <a:rPr sz="1800" spc="-5" dirty="0">
                <a:solidFill>
                  <a:srgbClr val="404040"/>
                </a:solidFill>
                <a:latin typeface="Times New Roman"/>
                <a:cs typeface="Times New Roman"/>
              </a:rPr>
              <a:t>star</a:t>
            </a:r>
            <a:r>
              <a:rPr sz="1800" dirty="0">
                <a:solidFill>
                  <a:srgbClr val="404040"/>
                </a:solidFill>
                <a:latin typeface="Times New Roman"/>
                <a:cs typeface="Times New Roman"/>
              </a:rPr>
              <a:t>t</a:t>
            </a:r>
            <a:r>
              <a:rPr sz="1800" spc="-5" dirty="0">
                <a:solidFill>
                  <a:srgbClr val="404040"/>
                </a:solidFill>
                <a:latin typeface="Times New Roman"/>
                <a:cs typeface="Times New Roman"/>
              </a:rPr>
              <a:t>s</a:t>
            </a:r>
            <a:r>
              <a:rPr sz="1800" dirty="0">
                <a:solidFill>
                  <a:srgbClr val="404040"/>
                </a:solidFill>
                <a:latin typeface="Times New Roman"/>
                <a:cs typeface="Times New Roman"/>
              </a:rPr>
              <a:t>	</a:t>
            </a:r>
            <a:r>
              <a:rPr sz="1800" spc="-5" dirty="0">
                <a:solidFill>
                  <a:srgbClr val="404040"/>
                </a:solidFill>
                <a:latin typeface="Times New Roman"/>
                <a:cs typeface="Times New Roman"/>
              </a:rPr>
              <a:t>as</a:t>
            </a:r>
            <a:r>
              <a:rPr sz="1800" dirty="0">
                <a:solidFill>
                  <a:srgbClr val="404040"/>
                </a:solidFill>
                <a:latin typeface="Times New Roman"/>
                <a:cs typeface="Times New Roman"/>
              </a:rPr>
              <a:t>	a</a:t>
            </a:r>
            <a:endParaRPr sz="1800">
              <a:latin typeface="Times New Roman"/>
              <a:cs typeface="Times New Roman"/>
            </a:endParaRPr>
          </a:p>
        </p:txBody>
      </p:sp>
      <p:sp>
        <p:nvSpPr>
          <p:cNvPr id="17" name="object 17"/>
          <p:cNvSpPr txBox="1"/>
          <p:nvPr/>
        </p:nvSpPr>
        <p:spPr>
          <a:xfrm>
            <a:off x="2364485" y="4883277"/>
            <a:ext cx="270764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Times New Roman"/>
                <a:cs typeface="Times New Roman"/>
              </a:rPr>
              <a:t>specification </a:t>
            </a:r>
            <a:r>
              <a:rPr sz="1800" spc="-5" dirty="0">
                <a:solidFill>
                  <a:srgbClr val="404040"/>
                </a:solidFill>
                <a:latin typeface="Times New Roman"/>
                <a:cs typeface="Times New Roman"/>
              </a:rPr>
              <a:t>for new</a:t>
            </a:r>
            <a:r>
              <a:rPr sz="1800" spc="-60" dirty="0">
                <a:solidFill>
                  <a:srgbClr val="404040"/>
                </a:solidFill>
                <a:latin typeface="Times New Roman"/>
                <a:cs typeface="Times New Roman"/>
              </a:rPr>
              <a:t> </a:t>
            </a:r>
            <a:r>
              <a:rPr sz="1800" dirty="0">
                <a:solidFill>
                  <a:srgbClr val="404040"/>
                </a:solidFill>
                <a:latin typeface="Times New Roman"/>
                <a:cs typeface="Times New Roman"/>
              </a:rPr>
              <a:t>system.</a:t>
            </a:r>
            <a:endParaRPr sz="1800">
              <a:latin typeface="Times New Roman"/>
              <a:cs typeface="Times New Roman"/>
            </a:endParaRPr>
          </a:p>
        </p:txBody>
      </p:sp>
      <p:sp>
        <p:nvSpPr>
          <p:cNvPr id="18" name="object 18"/>
          <p:cNvSpPr txBox="1"/>
          <p:nvPr/>
        </p:nvSpPr>
        <p:spPr>
          <a:xfrm>
            <a:off x="2021585" y="5284470"/>
            <a:ext cx="3423285" cy="574040"/>
          </a:xfrm>
          <a:prstGeom prst="rect">
            <a:avLst/>
          </a:prstGeom>
        </p:spPr>
        <p:txBody>
          <a:bodyPr vert="horz" wrap="square" lIns="0" tIns="12700" rIns="0" bIns="0" rtlCol="0">
            <a:spAutoFit/>
          </a:bodyPr>
          <a:lstStyle/>
          <a:p>
            <a:pPr marL="355600" marR="5080" indent="-342900">
              <a:lnSpc>
                <a:spcPct val="100000"/>
              </a:lnSpc>
              <a:spcBef>
                <a:spcPts val="100"/>
              </a:spcBef>
              <a:buClr>
                <a:srgbClr val="E84B21"/>
              </a:buClr>
              <a:buFont typeface="Wingdings"/>
              <a:buChar char=""/>
              <a:tabLst>
                <a:tab pos="354965" algn="l"/>
                <a:tab pos="355600" algn="l"/>
                <a:tab pos="1819910" algn="l"/>
                <a:tab pos="2623185" algn="l"/>
              </a:tabLst>
            </a:pPr>
            <a:r>
              <a:rPr sz="1800" dirty="0">
                <a:solidFill>
                  <a:srgbClr val="404040"/>
                </a:solidFill>
                <a:latin typeface="Times New Roman"/>
                <a:cs typeface="Times New Roman"/>
              </a:rPr>
              <a:t>in</a:t>
            </a:r>
            <a:r>
              <a:rPr sz="1800" spc="5" dirty="0">
                <a:solidFill>
                  <a:srgbClr val="404040"/>
                </a:solidFill>
                <a:latin typeface="Times New Roman"/>
                <a:cs typeface="Times New Roman"/>
              </a:rPr>
              <a:t>c</a:t>
            </a:r>
            <a:r>
              <a:rPr sz="1800" dirty="0">
                <a:solidFill>
                  <a:srgbClr val="404040"/>
                </a:solidFill>
                <a:latin typeface="Times New Roman"/>
                <a:cs typeface="Times New Roman"/>
              </a:rPr>
              <a:t>re</a:t>
            </a:r>
            <a:r>
              <a:rPr sz="1800" spc="5" dirty="0">
                <a:solidFill>
                  <a:srgbClr val="404040"/>
                </a:solidFill>
                <a:latin typeface="Times New Roman"/>
                <a:cs typeface="Times New Roman"/>
              </a:rPr>
              <a:t>a</a:t>
            </a:r>
            <a:r>
              <a:rPr sz="1800" dirty="0">
                <a:solidFill>
                  <a:srgbClr val="404040"/>
                </a:solidFill>
                <a:latin typeface="Times New Roman"/>
                <a:cs typeface="Times New Roman"/>
              </a:rPr>
              <a:t>sing	</a:t>
            </a:r>
            <a:r>
              <a:rPr sz="1800" spc="-10" dirty="0">
                <a:solidFill>
                  <a:srgbClr val="404040"/>
                </a:solidFill>
                <a:latin typeface="Times New Roman"/>
                <a:cs typeface="Times New Roman"/>
              </a:rPr>
              <a:t>t</a:t>
            </a:r>
            <a:r>
              <a:rPr sz="1800" dirty="0">
                <a:solidFill>
                  <a:srgbClr val="404040"/>
                </a:solidFill>
                <a:latin typeface="Times New Roman"/>
                <a:cs typeface="Times New Roman"/>
              </a:rPr>
              <a:t>he	</a:t>
            </a:r>
            <a:r>
              <a:rPr sz="1800" spc="-20" dirty="0">
                <a:solidFill>
                  <a:srgbClr val="404040"/>
                </a:solidFill>
                <a:latin typeface="Times New Roman"/>
                <a:cs typeface="Times New Roman"/>
              </a:rPr>
              <a:t>s</a:t>
            </a:r>
            <a:r>
              <a:rPr sz="1800" spc="20" dirty="0">
                <a:solidFill>
                  <a:srgbClr val="404040"/>
                </a:solidFill>
                <a:latin typeface="Times New Roman"/>
                <a:cs typeface="Times New Roman"/>
              </a:rPr>
              <a:t>y</a:t>
            </a:r>
            <a:r>
              <a:rPr sz="1800" spc="-5" dirty="0">
                <a:solidFill>
                  <a:srgbClr val="404040"/>
                </a:solidFill>
                <a:latin typeface="Times New Roman"/>
                <a:cs typeface="Times New Roman"/>
              </a:rPr>
              <a:t>s</a:t>
            </a:r>
            <a:r>
              <a:rPr sz="1800" spc="-15" dirty="0">
                <a:solidFill>
                  <a:srgbClr val="404040"/>
                </a:solidFill>
                <a:latin typeface="Times New Roman"/>
                <a:cs typeface="Times New Roman"/>
              </a:rPr>
              <a:t>t</a:t>
            </a:r>
            <a:r>
              <a:rPr sz="1800" dirty="0">
                <a:solidFill>
                  <a:srgbClr val="404040"/>
                </a:solidFill>
                <a:latin typeface="Times New Roman"/>
                <a:cs typeface="Times New Roman"/>
              </a:rPr>
              <a:t>em</a:t>
            </a:r>
            <a:r>
              <a:rPr sz="1800" spc="-100" dirty="0">
                <a:solidFill>
                  <a:srgbClr val="404040"/>
                </a:solidFill>
                <a:latin typeface="Times New Roman"/>
                <a:cs typeface="Times New Roman"/>
              </a:rPr>
              <a:t>’</a:t>
            </a:r>
            <a:r>
              <a:rPr sz="1800" dirty="0">
                <a:solidFill>
                  <a:srgbClr val="404040"/>
                </a:solidFill>
                <a:latin typeface="Times New Roman"/>
                <a:cs typeface="Times New Roman"/>
              </a:rPr>
              <a:t>s  </a:t>
            </a:r>
            <a:r>
              <a:rPr sz="1800" spc="-10" dirty="0">
                <a:solidFill>
                  <a:srgbClr val="404040"/>
                </a:solidFill>
                <a:latin typeface="Times New Roman"/>
                <a:cs typeface="Times New Roman"/>
              </a:rPr>
              <a:t>maintainability.</a:t>
            </a:r>
            <a:endParaRPr sz="1800">
              <a:latin typeface="Times New Roman"/>
              <a:cs typeface="Times New Roman"/>
            </a:endParaRPr>
          </a:p>
        </p:txBody>
      </p:sp>
      <p:sp>
        <p:nvSpPr>
          <p:cNvPr id="19" name="object 19"/>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10</a:t>
            </a:r>
            <a:endParaRPr sz="2000">
              <a:latin typeface="Arial"/>
              <a:cs typeface="Arial"/>
            </a:endParaRPr>
          </a:p>
        </p:txBody>
      </p:sp>
      <p:sp>
        <p:nvSpPr>
          <p:cNvPr id="20" name="object 20"/>
          <p:cNvSpPr/>
          <p:nvPr/>
        </p:nvSpPr>
        <p:spPr>
          <a:xfrm>
            <a:off x="5522976" y="2389632"/>
            <a:ext cx="3247644" cy="2904744"/>
          </a:xfrm>
          <a:prstGeom prst="rect">
            <a:avLst/>
          </a:prstGeom>
          <a:blipFill>
            <a:blip r:embed="rId2" cstate="print"/>
            <a:stretch>
              <a:fillRect/>
            </a:stretch>
          </a:blipFill>
        </p:spPr>
        <p:txBody>
          <a:bodyPr wrap="square" lIns="0" tIns="0" rIns="0" bIns="0" rtlCol="0"/>
          <a:lstStyle/>
          <a:p>
            <a:endParaRPr/>
          </a:p>
        </p:txBody>
      </p:sp>
      <p:sp>
        <p:nvSpPr>
          <p:cNvPr id="21" name="object 21"/>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4" name="object 4"/>
          <p:cNvSpPr txBox="1">
            <a:spLocks noGrp="1"/>
          </p:cNvSpPr>
          <p:nvPr>
            <p:ph type="title"/>
          </p:nvPr>
        </p:nvSpPr>
        <p:spPr>
          <a:xfrm>
            <a:off x="2092604" y="1113146"/>
            <a:ext cx="5367148" cy="474489"/>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FF0000"/>
                </a:solidFill>
                <a:latin typeface="Times New Roman"/>
                <a:cs typeface="Times New Roman"/>
              </a:rPr>
              <a:t>Cost of </a:t>
            </a:r>
            <a:r>
              <a:rPr sz="3000" b="1" spc="-5" dirty="0">
                <a:solidFill>
                  <a:srgbClr val="FF0000"/>
                </a:solidFill>
                <a:latin typeface="Times New Roman"/>
                <a:cs typeface="Times New Roman"/>
              </a:rPr>
              <a:t>software</a:t>
            </a:r>
            <a:r>
              <a:rPr sz="3000" b="1" spc="-15" dirty="0">
                <a:solidFill>
                  <a:srgbClr val="FF0000"/>
                </a:solidFill>
                <a:latin typeface="Times New Roman"/>
                <a:cs typeface="Times New Roman"/>
              </a:rPr>
              <a:t> </a:t>
            </a:r>
            <a:r>
              <a:rPr sz="3000" b="1" spc="-5" dirty="0">
                <a:solidFill>
                  <a:srgbClr val="FF0000"/>
                </a:solidFill>
                <a:latin typeface="Times New Roman"/>
                <a:cs typeface="Times New Roman"/>
              </a:rPr>
              <a:t>maintenance</a:t>
            </a:r>
            <a:endParaRPr sz="3000" b="1" dirty="0">
              <a:solidFill>
                <a:srgbClr val="FF0000"/>
              </a:solidFill>
              <a:latin typeface="Times New Roman"/>
              <a:cs typeface="Times New Roman"/>
            </a:endParaRPr>
          </a:p>
        </p:txBody>
      </p:sp>
      <p:sp>
        <p:nvSpPr>
          <p:cNvPr id="5" name="object 5"/>
          <p:cNvSpPr/>
          <p:nvPr/>
        </p:nvSpPr>
        <p:spPr>
          <a:xfrm>
            <a:off x="1281683" y="2250948"/>
            <a:ext cx="7095744" cy="3564636"/>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727354" y="797813"/>
            <a:ext cx="278130" cy="330835"/>
          </a:xfrm>
          <a:prstGeom prst="rect">
            <a:avLst/>
          </a:prstGeom>
        </p:spPr>
        <p:txBody>
          <a:bodyPr vert="horz" wrap="square" lIns="0" tIns="13335" rIns="0" bIns="0" rtlCol="0">
            <a:spAutoFit/>
          </a:bodyPr>
          <a:lstStyle/>
          <a:p>
            <a:pPr marL="12700">
              <a:lnSpc>
                <a:spcPct val="100000"/>
              </a:lnSpc>
              <a:spcBef>
                <a:spcPts val="105"/>
              </a:spcBef>
            </a:pPr>
            <a:r>
              <a:rPr sz="2000" spc="-145" dirty="0">
                <a:solidFill>
                  <a:srgbClr val="FDFFFF"/>
                </a:solidFill>
                <a:latin typeface="Arial"/>
                <a:cs typeface="Arial"/>
              </a:rPr>
              <a:t>11</a:t>
            </a:r>
            <a:endParaRPr sz="200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4664075" cy="483234"/>
          </a:xfrm>
          <a:prstGeom prst="rect">
            <a:avLst/>
          </a:prstGeom>
        </p:spPr>
        <p:txBody>
          <a:bodyPr vert="horz" wrap="square" lIns="0" tIns="12700" rIns="0" bIns="0" rtlCol="0">
            <a:spAutoFit/>
          </a:bodyPr>
          <a:lstStyle/>
          <a:p>
            <a:pPr marL="12700">
              <a:lnSpc>
                <a:spcPct val="100000"/>
              </a:lnSpc>
              <a:spcBef>
                <a:spcPts val="100"/>
              </a:spcBef>
            </a:pPr>
            <a:r>
              <a:rPr sz="3000" spc="-5" dirty="0">
                <a:solidFill>
                  <a:srgbClr val="252525"/>
                </a:solidFill>
                <a:latin typeface="Times New Roman"/>
                <a:cs typeface="Times New Roman"/>
              </a:rPr>
              <a:t>Software Maintenance</a:t>
            </a:r>
            <a:r>
              <a:rPr sz="3000" spc="45" dirty="0">
                <a:solidFill>
                  <a:srgbClr val="252525"/>
                </a:solidFill>
                <a:latin typeface="Times New Roman"/>
                <a:cs typeface="Times New Roman"/>
              </a:rPr>
              <a:t> </a:t>
            </a:r>
            <a:r>
              <a:rPr sz="3000" spc="-5" dirty="0">
                <a:solidFill>
                  <a:srgbClr val="252525"/>
                </a:solidFill>
                <a:latin typeface="Times New Roman"/>
                <a:cs typeface="Times New Roman"/>
              </a:rPr>
              <a:t>models</a:t>
            </a:r>
            <a:endParaRPr sz="3000" dirty="0">
              <a:latin typeface="Times New Roman"/>
              <a:cs typeface="Times New Roman"/>
            </a:endParaRPr>
          </a:p>
        </p:txBody>
      </p:sp>
      <p:sp>
        <p:nvSpPr>
          <p:cNvPr id="6" name="object 6"/>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12</a:t>
            </a:r>
            <a:endParaRPr sz="2000">
              <a:latin typeface="Arial"/>
              <a:cs typeface="Arial"/>
            </a:endParaRPr>
          </a:p>
        </p:txBody>
      </p:sp>
      <p:sp>
        <p:nvSpPr>
          <p:cNvPr id="7" name="object 7"/>
          <p:cNvSpPr/>
          <p:nvPr/>
        </p:nvSpPr>
        <p:spPr>
          <a:xfrm>
            <a:off x="2121789" y="1859660"/>
            <a:ext cx="816610" cy="3870325"/>
          </a:xfrm>
          <a:custGeom>
            <a:avLst/>
            <a:gdLst/>
            <a:ahLst/>
            <a:cxnLst/>
            <a:rect l="l" t="t" r="r" b="b"/>
            <a:pathLst>
              <a:path w="816610" h="3870325">
                <a:moveTo>
                  <a:pt x="15240" y="0"/>
                </a:moveTo>
                <a:lnTo>
                  <a:pt x="48972" y="34335"/>
                </a:lnTo>
                <a:lnTo>
                  <a:pt x="81980" y="69111"/>
                </a:lnTo>
                <a:lnTo>
                  <a:pt x="114261" y="104319"/>
                </a:lnTo>
                <a:lnTo>
                  <a:pt x="145818" y="139949"/>
                </a:lnTo>
                <a:lnTo>
                  <a:pt x="176649" y="175992"/>
                </a:lnTo>
                <a:lnTo>
                  <a:pt x="206754" y="212437"/>
                </a:lnTo>
                <a:lnTo>
                  <a:pt x="236134" y="249275"/>
                </a:lnTo>
                <a:lnTo>
                  <a:pt x="264789" y="286496"/>
                </a:lnTo>
                <a:lnTo>
                  <a:pt x="292718" y="324092"/>
                </a:lnTo>
                <a:lnTo>
                  <a:pt x="319922" y="362052"/>
                </a:lnTo>
                <a:lnTo>
                  <a:pt x="346401" y="400367"/>
                </a:lnTo>
                <a:lnTo>
                  <a:pt x="372154" y="439027"/>
                </a:lnTo>
                <a:lnTo>
                  <a:pt x="397181" y="478023"/>
                </a:lnTo>
                <a:lnTo>
                  <a:pt x="421483" y="517344"/>
                </a:lnTo>
                <a:lnTo>
                  <a:pt x="445060" y="556982"/>
                </a:lnTo>
                <a:lnTo>
                  <a:pt x="467911" y="596927"/>
                </a:lnTo>
                <a:lnTo>
                  <a:pt x="490037" y="637170"/>
                </a:lnTo>
                <a:lnTo>
                  <a:pt x="511437" y="677700"/>
                </a:lnTo>
                <a:lnTo>
                  <a:pt x="532112" y="718508"/>
                </a:lnTo>
                <a:lnTo>
                  <a:pt x="552061" y="759584"/>
                </a:lnTo>
                <a:lnTo>
                  <a:pt x="571285" y="800920"/>
                </a:lnTo>
                <a:lnTo>
                  <a:pt x="589784" y="842504"/>
                </a:lnTo>
                <a:lnTo>
                  <a:pt x="607557" y="884329"/>
                </a:lnTo>
                <a:lnTo>
                  <a:pt x="624605" y="926383"/>
                </a:lnTo>
                <a:lnTo>
                  <a:pt x="640927" y="968659"/>
                </a:lnTo>
                <a:lnTo>
                  <a:pt x="656524" y="1011145"/>
                </a:lnTo>
                <a:lnTo>
                  <a:pt x="671395" y="1053832"/>
                </a:lnTo>
                <a:lnTo>
                  <a:pt x="685541" y="1096712"/>
                </a:lnTo>
                <a:lnTo>
                  <a:pt x="698962" y="1139773"/>
                </a:lnTo>
                <a:lnTo>
                  <a:pt x="711657" y="1183007"/>
                </a:lnTo>
                <a:lnTo>
                  <a:pt x="723627" y="1226404"/>
                </a:lnTo>
                <a:lnTo>
                  <a:pt x="734871" y="1269955"/>
                </a:lnTo>
                <a:lnTo>
                  <a:pt x="745390" y="1313650"/>
                </a:lnTo>
                <a:lnTo>
                  <a:pt x="755183" y="1357478"/>
                </a:lnTo>
                <a:lnTo>
                  <a:pt x="764251" y="1401432"/>
                </a:lnTo>
                <a:lnTo>
                  <a:pt x="772594" y="1445500"/>
                </a:lnTo>
                <a:lnTo>
                  <a:pt x="780211" y="1489674"/>
                </a:lnTo>
                <a:lnTo>
                  <a:pt x="787102" y="1533944"/>
                </a:lnTo>
                <a:lnTo>
                  <a:pt x="793269" y="1578300"/>
                </a:lnTo>
                <a:lnTo>
                  <a:pt x="798709" y="1622733"/>
                </a:lnTo>
                <a:lnTo>
                  <a:pt x="803425" y="1667233"/>
                </a:lnTo>
                <a:lnTo>
                  <a:pt x="807415" y="1711791"/>
                </a:lnTo>
                <a:lnTo>
                  <a:pt x="810679" y="1756396"/>
                </a:lnTo>
                <a:lnTo>
                  <a:pt x="813218" y="1801040"/>
                </a:lnTo>
                <a:lnTo>
                  <a:pt x="815032" y="1845713"/>
                </a:lnTo>
                <a:lnTo>
                  <a:pt x="816120" y="1890405"/>
                </a:lnTo>
                <a:lnTo>
                  <a:pt x="816482" y="1935106"/>
                </a:lnTo>
                <a:lnTo>
                  <a:pt x="816120" y="1979808"/>
                </a:lnTo>
                <a:lnTo>
                  <a:pt x="815032" y="2024500"/>
                </a:lnTo>
                <a:lnTo>
                  <a:pt x="813218" y="2069173"/>
                </a:lnTo>
                <a:lnTo>
                  <a:pt x="810679" y="2113817"/>
                </a:lnTo>
                <a:lnTo>
                  <a:pt x="807415" y="2158423"/>
                </a:lnTo>
                <a:lnTo>
                  <a:pt x="803425" y="2202981"/>
                </a:lnTo>
                <a:lnTo>
                  <a:pt x="798709" y="2247481"/>
                </a:lnTo>
                <a:lnTo>
                  <a:pt x="793269" y="2291914"/>
                </a:lnTo>
                <a:lnTo>
                  <a:pt x="787102" y="2336271"/>
                </a:lnTo>
                <a:lnTo>
                  <a:pt x="780211" y="2380541"/>
                </a:lnTo>
                <a:lnTo>
                  <a:pt x="772594" y="2424715"/>
                </a:lnTo>
                <a:lnTo>
                  <a:pt x="764251" y="2468784"/>
                </a:lnTo>
                <a:lnTo>
                  <a:pt x="755183" y="2512738"/>
                </a:lnTo>
                <a:lnTo>
                  <a:pt x="745390" y="2556568"/>
                </a:lnTo>
                <a:lnTo>
                  <a:pt x="734871" y="2600263"/>
                </a:lnTo>
                <a:lnTo>
                  <a:pt x="723627" y="2643814"/>
                </a:lnTo>
                <a:lnTo>
                  <a:pt x="711657" y="2687212"/>
                </a:lnTo>
                <a:lnTo>
                  <a:pt x="698962" y="2730447"/>
                </a:lnTo>
                <a:lnTo>
                  <a:pt x="685541" y="2773509"/>
                </a:lnTo>
                <a:lnTo>
                  <a:pt x="671395" y="2816389"/>
                </a:lnTo>
                <a:lnTo>
                  <a:pt x="656524" y="2859078"/>
                </a:lnTo>
                <a:lnTo>
                  <a:pt x="640927" y="2901565"/>
                </a:lnTo>
                <a:lnTo>
                  <a:pt x="624605" y="2943841"/>
                </a:lnTo>
                <a:lnTo>
                  <a:pt x="607557" y="2985897"/>
                </a:lnTo>
                <a:lnTo>
                  <a:pt x="589784" y="3027722"/>
                </a:lnTo>
                <a:lnTo>
                  <a:pt x="571285" y="3069308"/>
                </a:lnTo>
                <a:lnTo>
                  <a:pt x="552061" y="3110644"/>
                </a:lnTo>
                <a:lnTo>
                  <a:pt x="532112" y="3151722"/>
                </a:lnTo>
                <a:lnTo>
                  <a:pt x="511437" y="3192531"/>
                </a:lnTo>
                <a:lnTo>
                  <a:pt x="490037" y="3233063"/>
                </a:lnTo>
                <a:lnTo>
                  <a:pt x="467911" y="3273306"/>
                </a:lnTo>
                <a:lnTo>
                  <a:pt x="445060" y="3313253"/>
                </a:lnTo>
                <a:lnTo>
                  <a:pt x="421483" y="3352892"/>
                </a:lnTo>
                <a:lnTo>
                  <a:pt x="397181" y="3392215"/>
                </a:lnTo>
                <a:lnTo>
                  <a:pt x="372154" y="3431212"/>
                </a:lnTo>
                <a:lnTo>
                  <a:pt x="346401" y="3469874"/>
                </a:lnTo>
                <a:lnTo>
                  <a:pt x="319922" y="3508190"/>
                </a:lnTo>
                <a:lnTo>
                  <a:pt x="292718" y="3546152"/>
                </a:lnTo>
                <a:lnTo>
                  <a:pt x="264789" y="3583749"/>
                </a:lnTo>
                <a:lnTo>
                  <a:pt x="236134" y="3620973"/>
                </a:lnTo>
                <a:lnTo>
                  <a:pt x="206754" y="3657813"/>
                </a:lnTo>
                <a:lnTo>
                  <a:pt x="176649" y="3694259"/>
                </a:lnTo>
                <a:lnTo>
                  <a:pt x="145818" y="3730303"/>
                </a:lnTo>
                <a:lnTo>
                  <a:pt x="114261" y="3765935"/>
                </a:lnTo>
                <a:lnTo>
                  <a:pt x="81980" y="3801145"/>
                </a:lnTo>
                <a:lnTo>
                  <a:pt x="48972" y="3835924"/>
                </a:lnTo>
                <a:lnTo>
                  <a:pt x="15240" y="3870261"/>
                </a:lnTo>
                <a:lnTo>
                  <a:pt x="0" y="3854970"/>
                </a:lnTo>
                <a:lnTo>
                  <a:pt x="33819" y="3820535"/>
                </a:lnTo>
                <a:lnTo>
                  <a:pt x="66904" y="3785653"/>
                </a:lnTo>
                <a:lnTo>
                  <a:pt x="99254" y="3750334"/>
                </a:lnTo>
                <a:lnTo>
                  <a:pt x="130868" y="3714587"/>
                </a:lnTo>
                <a:lnTo>
                  <a:pt x="161747" y="3678424"/>
                </a:lnTo>
                <a:lnTo>
                  <a:pt x="191891" y="3641852"/>
                </a:lnTo>
                <a:lnTo>
                  <a:pt x="221300" y="3604883"/>
                </a:lnTo>
                <a:lnTo>
                  <a:pt x="249973" y="3567526"/>
                </a:lnTo>
                <a:lnTo>
                  <a:pt x="277911" y="3529790"/>
                </a:lnTo>
                <a:lnTo>
                  <a:pt x="305114" y="3491687"/>
                </a:lnTo>
                <a:lnTo>
                  <a:pt x="331582" y="3453225"/>
                </a:lnTo>
                <a:lnTo>
                  <a:pt x="357315" y="3414414"/>
                </a:lnTo>
                <a:lnTo>
                  <a:pt x="382312" y="3375264"/>
                </a:lnTo>
                <a:lnTo>
                  <a:pt x="406574" y="3335785"/>
                </a:lnTo>
                <a:lnTo>
                  <a:pt x="430101" y="3295987"/>
                </a:lnTo>
                <a:lnTo>
                  <a:pt x="452893" y="3255880"/>
                </a:lnTo>
                <a:lnTo>
                  <a:pt x="474950" y="3215473"/>
                </a:lnTo>
                <a:lnTo>
                  <a:pt x="496271" y="3174777"/>
                </a:lnTo>
                <a:lnTo>
                  <a:pt x="516857" y="3133800"/>
                </a:lnTo>
                <a:lnTo>
                  <a:pt x="536708" y="3092554"/>
                </a:lnTo>
                <a:lnTo>
                  <a:pt x="555823" y="3051047"/>
                </a:lnTo>
                <a:lnTo>
                  <a:pt x="574204" y="3009289"/>
                </a:lnTo>
                <a:lnTo>
                  <a:pt x="591849" y="2967291"/>
                </a:lnTo>
                <a:lnTo>
                  <a:pt x="608759" y="2925063"/>
                </a:lnTo>
                <a:lnTo>
                  <a:pt x="624934" y="2882613"/>
                </a:lnTo>
                <a:lnTo>
                  <a:pt x="640373" y="2839952"/>
                </a:lnTo>
                <a:lnTo>
                  <a:pt x="655078" y="2797089"/>
                </a:lnTo>
                <a:lnTo>
                  <a:pt x="669047" y="2754036"/>
                </a:lnTo>
                <a:lnTo>
                  <a:pt x="682281" y="2710800"/>
                </a:lnTo>
                <a:lnTo>
                  <a:pt x="694779" y="2667393"/>
                </a:lnTo>
                <a:lnTo>
                  <a:pt x="706543" y="2623823"/>
                </a:lnTo>
                <a:lnTo>
                  <a:pt x="717571" y="2580102"/>
                </a:lnTo>
                <a:lnTo>
                  <a:pt x="727864" y="2536237"/>
                </a:lnTo>
                <a:lnTo>
                  <a:pt x="737422" y="2492241"/>
                </a:lnTo>
                <a:lnTo>
                  <a:pt x="746245" y="2448121"/>
                </a:lnTo>
                <a:lnTo>
                  <a:pt x="754332" y="2403889"/>
                </a:lnTo>
                <a:lnTo>
                  <a:pt x="761684" y="2359553"/>
                </a:lnTo>
                <a:lnTo>
                  <a:pt x="768301" y="2315124"/>
                </a:lnTo>
                <a:lnTo>
                  <a:pt x="774183" y="2270612"/>
                </a:lnTo>
                <a:lnTo>
                  <a:pt x="779329" y="2226026"/>
                </a:lnTo>
                <a:lnTo>
                  <a:pt x="783741" y="2181376"/>
                </a:lnTo>
                <a:lnTo>
                  <a:pt x="787417" y="2136672"/>
                </a:lnTo>
                <a:lnTo>
                  <a:pt x="790358" y="2091924"/>
                </a:lnTo>
                <a:lnTo>
                  <a:pt x="792563" y="2047142"/>
                </a:lnTo>
                <a:lnTo>
                  <a:pt x="794034" y="2002335"/>
                </a:lnTo>
                <a:lnTo>
                  <a:pt x="794769" y="1957513"/>
                </a:lnTo>
                <a:lnTo>
                  <a:pt x="794769" y="1912687"/>
                </a:lnTo>
                <a:lnTo>
                  <a:pt x="794034" y="1867865"/>
                </a:lnTo>
                <a:lnTo>
                  <a:pt x="792563" y="1823058"/>
                </a:lnTo>
                <a:lnTo>
                  <a:pt x="790358" y="1778276"/>
                </a:lnTo>
                <a:lnTo>
                  <a:pt x="787417" y="1733528"/>
                </a:lnTo>
                <a:lnTo>
                  <a:pt x="783741" y="1688824"/>
                </a:lnTo>
                <a:lnTo>
                  <a:pt x="779329" y="1644174"/>
                </a:lnTo>
                <a:lnTo>
                  <a:pt x="774183" y="1599588"/>
                </a:lnTo>
                <a:lnTo>
                  <a:pt x="768301" y="1555076"/>
                </a:lnTo>
                <a:lnTo>
                  <a:pt x="761684" y="1510647"/>
                </a:lnTo>
                <a:lnTo>
                  <a:pt x="754332" y="1466312"/>
                </a:lnTo>
                <a:lnTo>
                  <a:pt x="746245" y="1422079"/>
                </a:lnTo>
                <a:lnTo>
                  <a:pt x="737422" y="1377960"/>
                </a:lnTo>
                <a:lnTo>
                  <a:pt x="727864" y="1333964"/>
                </a:lnTo>
                <a:lnTo>
                  <a:pt x="717571" y="1290100"/>
                </a:lnTo>
                <a:lnTo>
                  <a:pt x="706543" y="1246378"/>
                </a:lnTo>
                <a:lnTo>
                  <a:pt x="694779" y="1202809"/>
                </a:lnTo>
                <a:lnTo>
                  <a:pt x="682281" y="1159401"/>
                </a:lnTo>
                <a:lnTo>
                  <a:pt x="669047" y="1116166"/>
                </a:lnTo>
                <a:lnTo>
                  <a:pt x="655078" y="1073112"/>
                </a:lnTo>
                <a:lnTo>
                  <a:pt x="640373" y="1030250"/>
                </a:lnTo>
                <a:lnTo>
                  <a:pt x="624934" y="987589"/>
                </a:lnTo>
                <a:lnTo>
                  <a:pt x="608759" y="945140"/>
                </a:lnTo>
                <a:lnTo>
                  <a:pt x="591849" y="902911"/>
                </a:lnTo>
                <a:lnTo>
                  <a:pt x="574204" y="860914"/>
                </a:lnTo>
                <a:lnTo>
                  <a:pt x="555823" y="819156"/>
                </a:lnTo>
                <a:lnTo>
                  <a:pt x="536708" y="777650"/>
                </a:lnTo>
                <a:lnTo>
                  <a:pt x="516857" y="736403"/>
                </a:lnTo>
                <a:lnTo>
                  <a:pt x="496271" y="695427"/>
                </a:lnTo>
                <a:lnTo>
                  <a:pt x="474950" y="654731"/>
                </a:lnTo>
                <a:lnTo>
                  <a:pt x="452893" y="614324"/>
                </a:lnTo>
                <a:lnTo>
                  <a:pt x="430101" y="574217"/>
                </a:lnTo>
                <a:lnTo>
                  <a:pt x="406574" y="534419"/>
                </a:lnTo>
                <a:lnTo>
                  <a:pt x="382312" y="494941"/>
                </a:lnTo>
                <a:lnTo>
                  <a:pt x="357315" y="455792"/>
                </a:lnTo>
                <a:lnTo>
                  <a:pt x="331582" y="416981"/>
                </a:lnTo>
                <a:lnTo>
                  <a:pt x="305114" y="378519"/>
                </a:lnTo>
                <a:lnTo>
                  <a:pt x="277911" y="340416"/>
                </a:lnTo>
                <a:lnTo>
                  <a:pt x="249973" y="302681"/>
                </a:lnTo>
                <a:lnTo>
                  <a:pt x="221300" y="265324"/>
                </a:lnTo>
                <a:lnTo>
                  <a:pt x="191891" y="228355"/>
                </a:lnTo>
                <a:lnTo>
                  <a:pt x="161747" y="191784"/>
                </a:lnTo>
                <a:lnTo>
                  <a:pt x="130868" y="155621"/>
                </a:lnTo>
                <a:lnTo>
                  <a:pt x="99254" y="119875"/>
                </a:lnTo>
                <a:lnTo>
                  <a:pt x="66904" y="84556"/>
                </a:lnTo>
                <a:lnTo>
                  <a:pt x="33819" y="49674"/>
                </a:lnTo>
                <a:lnTo>
                  <a:pt x="0" y="15239"/>
                </a:lnTo>
                <a:lnTo>
                  <a:pt x="15240" y="0"/>
                </a:lnTo>
                <a:close/>
              </a:path>
            </a:pathLst>
          </a:custGeom>
          <a:ln w="15240">
            <a:solidFill>
              <a:srgbClr val="FFBC46"/>
            </a:solidFill>
          </a:ln>
        </p:spPr>
        <p:txBody>
          <a:bodyPr wrap="square" lIns="0" tIns="0" rIns="0" bIns="0" rtlCol="0"/>
          <a:lstStyle/>
          <a:p>
            <a:endParaRPr/>
          </a:p>
        </p:txBody>
      </p:sp>
      <p:sp>
        <p:nvSpPr>
          <p:cNvPr id="8" name="object 8"/>
          <p:cNvSpPr/>
          <p:nvPr/>
        </p:nvSpPr>
        <p:spPr>
          <a:xfrm>
            <a:off x="2444495" y="2016251"/>
            <a:ext cx="5657215" cy="509270"/>
          </a:xfrm>
          <a:custGeom>
            <a:avLst/>
            <a:gdLst/>
            <a:ahLst/>
            <a:cxnLst/>
            <a:rect l="l" t="t" r="r" b="b"/>
            <a:pathLst>
              <a:path w="5657215" h="509269">
                <a:moveTo>
                  <a:pt x="0" y="509015"/>
                </a:moveTo>
                <a:lnTo>
                  <a:pt x="5657087" y="509015"/>
                </a:lnTo>
                <a:lnTo>
                  <a:pt x="5657087" y="0"/>
                </a:lnTo>
                <a:lnTo>
                  <a:pt x="0" y="0"/>
                </a:lnTo>
                <a:lnTo>
                  <a:pt x="0" y="509015"/>
                </a:lnTo>
                <a:close/>
              </a:path>
            </a:pathLst>
          </a:custGeom>
          <a:solidFill>
            <a:srgbClr val="FFBC46"/>
          </a:solidFill>
        </p:spPr>
        <p:txBody>
          <a:bodyPr wrap="square" lIns="0" tIns="0" rIns="0" bIns="0" rtlCol="0"/>
          <a:lstStyle/>
          <a:p>
            <a:endParaRPr/>
          </a:p>
        </p:txBody>
      </p:sp>
      <p:sp>
        <p:nvSpPr>
          <p:cNvPr id="9" name="object 9"/>
          <p:cNvSpPr/>
          <p:nvPr/>
        </p:nvSpPr>
        <p:spPr>
          <a:xfrm>
            <a:off x="2444495" y="2016251"/>
            <a:ext cx="5657215" cy="509270"/>
          </a:xfrm>
          <a:custGeom>
            <a:avLst/>
            <a:gdLst/>
            <a:ahLst/>
            <a:cxnLst/>
            <a:rect l="l" t="t" r="r" b="b"/>
            <a:pathLst>
              <a:path w="5657215" h="509269">
                <a:moveTo>
                  <a:pt x="0" y="509015"/>
                </a:moveTo>
                <a:lnTo>
                  <a:pt x="5657087" y="509015"/>
                </a:lnTo>
                <a:lnTo>
                  <a:pt x="5657087" y="0"/>
                </a:lnTo>
                <a:lnTo>
                  <a:pt x="0" y="0"/>
                </a:lnTo>
                <a:lnTo>
                  <a:pt x="0" y="509015"/>
                </a:lnTo>
                <a:close/>
              </a:path>
            </a:pathLst>
          </a:custGeom>
          <a:ln w="15239">
            <a:solidFill>
              <a:srgbClr val="FFFFFF"/>
            </a:solidFill>
          </a:ln>
        </p:spPr>
        <p:txBody>
          <a:bodyPr wrap="square" lIns="0" tIns="0" rIns="0" bIns="0" rtlCol="0"/>
          <a:lstStyle/>
          <a:p>
            <a:endParaRPr/>
          </a:p>
        </p:txBody>
      </p:sp>
      <p:sp>
        <p:nvSpPr>
          <p:cNvPr id="10" name="object 10"/>
          <p:cNvSpPr txBox="1"/>
          <p:nvPr/>
        </p:nvSpPr>
        <p:spPr>
          <a:xfrm>
            <a:off x="2835910" y="2019427"/>
            <a:ext cx="2300605" cy="436880"/>
          </a:xfrm>
          <a:prstGeom prst="rect">
            <a:avLst/>
          </a:prstGeom>
        </p:spPr>
        <p:txBody>
          <a:bodyPr vert="horz" wrap="square" lIns="0" tIns="12700" rIns="0" bIns="0" rtlCol="0">
            <a:spAutoFit/>
          </a:bodyPr>
          <a:lstStyle/>
          <a:p>
            <a:pPr marL="12700">
              <a:lnSpc>
                <a:spcPct val="100000"/>
              </a:lnSpc>
              <a:spcBef>
                <a:spcPts val="100"/>
              </a:spcBef>
            </a:pPr>
            <a:r>
              <a:rPr sz="2700" spc="-5" dirty="0">
                <a:solidFill>
                  <a:srgbClr val="FFFFFF"/>
                </a:solidFill>
                <a:latin typeface="Times New Roman"/>
                <a:cs typeface="Times New Roman"/>
              </a:rPr>
              <a:t>Quick-fix</a:t>
            </a:r>
            <a:r>
              <a:rPr sz="2700" spc="-50" dirty="0">
                <a:solidFill>
                  <a:srgbClr val="FFFFFF"/>
                </a:solidFill>
                <a:latin typeface="Times New Roman"/>
                <a:cs typeface="Times New Roman"/>
              </a:rPr>
              <a:t> </a:t>
            </a:r>
            <a:r>
              <a:rPr sz="2700" spc="-5" dirty="0">
                <a:solidFill>
                  <a:srgbClr val="FFFFFF"/>
                </a:solidFill>
                <a:latin typeface="Times New Roman"/>
                <a:cs typeface="Times New Roman"/>
              </a:rPr>
              <a:t>model</a:t>
            </a:r>
            <a:endParaRPr sz="2700">
              <a:latin typeface="Times New Roman"/>
              <a:cs typeface="Times New Roman"/>
            </a:endParaRPr>
          </a:p>
        </p:txBody>
      </p:sp>
      <p:sp>
        <p:nvSpPr>
          <p:cNvPr id="11" name="object 11"/>
          <p:cNvSpPr/>
          <p:nvPr/>
        </p:nvSpPr>
        <p:spPr>
          <a:xfrm>
            <a:off x="2127504" y="1953767"/>
            <a:ext cx="635635" cy="634365"/>
          </a:xfrm>
          <a:custGeom>
            <a:avLst/>
            <a:gdLst/>
            <a:ahLst/>
            <a:cxnLst/>
            <a:rect l="l" t="t" r="r" b="b"/>
            <a:pathLst>
              <a:path w="635635" h="634364">
                <a:moveTo>
                  <a:pt x="317753" y="0"/>
                </a:moveTo>
                <a:lnTo>
                  <a:pt x="270793" y="3435"/>
                </a:lnTo>
                <a:lnTo>
                  <a:pt x="225973" y="13416"/>
                </a:lnTo>
                <a:lnTo>
                  <a:pt x="183786" y="29451"/>
                </a:lnTo>
                <a:lnTo>
                  <a:pt x="144723" y="51053"/>
                </a:lnTo>
                <a:lnTo>
                  <a:pt x="109274" y="77731"/>
                </a:lnTo>
                <a:lnTo>
                  <a:pt x="77931" y="108996"/>
                </a:lnTo>
                <a:lnTo>
                  <a:pt x="51186" y="144358"/>
                </a:lnTo>
                <a:lnTo>
                  <a:pt x="29529" y="183328"/>
                </a:lnTo>
                <a:lnTo>
                  <a:pt x="13451" y="225417"/>
                </a:lnTo>
                <a:lnTo>
                  <a:pt x="3444" y="270135"/>
                </a:lnTo>
                <a:lnTo>
                  <a:pt x="0" y="316992"/>
                </a:lnTo>
                <a:lnTo>
                  <a:pt x="3444" y="363848"/>
                </a:lnTo>
                <a:lnTo>
                  <a:pt x="13451" y="408566"/>
                </a:lnTo>
                <a:lnTo>
                  <a:pt x="29529" y="450655"/>
                </a:lnTo>
                <a:lnTo>
                  <a:pt x="51186" y="489625"/>
                </a:lnTo>
                <a:lnTo>
                  <a:pt x="77931" y="524987"/>
                </a:lnTo>
                <a:lnTo>
                  <a:pt x="109274" y="556252"/>
                </a:lnTo>
                <a:lnTo>
                  <a:pt x="144723" y="582930"/>
                </a:lnTo>
                <a:lnTo>
                  <a:pt x="183786" y="604532"/>
                </a:lnTo>
                <a:lnTo>
                  <a:pt x="225973" y="620567"/>
                </a:lnTo>
                <a:lnTo>
                  <a:pt x="270793" y="630548"/>
                </a:lnTo>
                <a:lnTo>
                  <a:pt x="317753" y="633984"/>
                </a:lnTo>
                <a:lnTo>
                  <a:pt x="364714" y="630548"/>
                </a:lnTo>
                <a:lnTo>
                  <a:pt x="409534" y="620567"/>
                </a:lnTo>
                <a:lnTo>
                  <a:pt x="451721" y="604532"/>
                </a:lnTo>
                <a:lnTo>
                  <a:pt x="490784" y="582930"/>
                </a:lnTo>
                <a:lnTo>
                  <a:pt x="526233" y="556252"/>
                </a:lnTo>
                <a:lnTo>
                  <a:pt x="557576" y="524987"/>
                </a:lnTo>
                <a:lnTo>
                  <a:pt x="584321" y="489625"/>
                </a:lnTo>
                <a:lnTo>
                  <a:pt x="605978" y="450655"/>
                </a:lnTo>
                <a:lnTo>
                  <a:pt x="622056" y="408566"/>
                </a:lnTo>
                <a:lnTo>
                  <a:pt x="632063" y="363848"/>
                </a:lnTo>
                <a:lnTo>
                  <a:pt x="635507" y="316992"/>
                </a:lnTo>
                <a:lnTo>
                  <a:pt x="632063" y="270135"/>
                </a:lnTo>
                <a:lnTo>
                  <a:pt x="622056" y="225417"/>
                </a:lnTo>
                <a:lnTo>
                  <a:pt x="605978" y="183328"/>
                </a:lnTo>
                <a:lnTo>
                  <a:pt x="584321" y="144358"/>
                </a:lnTo>
                <a:lnTo>
                  <a:pt x="557576" y="108996"/>
                </a:lnTo>
                <a:lnTo>
                  <a:pt x="526233" y="77731"/>
                </a:lnTo>
                <a:lnTo>
                  <a:pt x="490784" y="51053"/>
                </a:lnTo>
                <a:lnTo>
                  <a:pt x="451721" y="29451"/>
                </a:lnTo>
                <a:lnTo>
                  <a:pt x="409534" y="13416"/>
                </a:lnTo>
                <a:lnTo>
                  <a:pt x="364714" y="3435"/>
                </a:lnTo>
                <a:lnTo>
                  <a:pt x="317753" y="0"/>
                </a:lnTo>
                <a:close/>
              </a:path>
            </a:pathLst>
          </a:custGeom>
          <a:solidFill>
            <a:srgbClr val="FFFFFF"/>
          </a:solidFill>
        </p:spPr>
        <p:txBody>
          <a:bodyPr wrap="square" lIns="0" tIns="0" rIns="0" bIns="0" rtlCol="0"/>
          <a:lstStyle/>
          <a:p>
            <a:endParaRPr/>
          </a:p>
        </p:txBody>
      </p:sp>
      <p:sp>
        <p:nvSpPr>
          <p:cNvPr id="12" name="object 12"/>
          <p:cNvSpPr/>
          <p:nvPr/>
        </p:nvSpPr>
        <p:spPr>
          <a:xfrm>
            <a:off x="2127504" y="1953767"/>
            <a:ext cx="635635" cy="634365"/>
          </a:xfrm>
          <a:custGeom>
            <a:avLst/>
            <a:gdLst/>
            <a:ahLst/>
            <a:cxnLst/>
            <a:rect l="l" t="t" r="r" b="b"/>
            <a:pathLst>
              <a:path w="635635" h="634364">
                <a:moveTo>
                  <a:pt x="0" y="316992"/>
                </a:moveTo>
                <a:lnTo>
                  <a:pt x="3444" y="270135"/>
                </a:lnTo>
                <a:lnTo>
                  <a:pt x="13451" y="225417"/>
                </a:lnTo>
                <a:lnTo>
                  <a:pt x="29529" y="183328"/>
                </a:lnTo>
                <a:lnTo>
                  <a:pt x="51186" y="144358"/>
                </a:lnTo>
                <a:lnTo>
                  <a:pt x="77931" y="108996"/>
                </a:lnTo>
                <a:lnTo>
                  <a:pt x="109274" y="77731"/>
                </a:lnTo>
                <a:lnTo>
                  <a:pt x="144723" y="51053"/>
                </a:lnTo>
                <a:lnTo>
                  <a:pt x="183786" y="29451"/>
                </a:lnTo>
                <a:lnTo>
                  <a:pt x="225973" y="13416"/>
                </a:lnTo>
                <a:lnTo>
                  <a:pt x="270793" y="3435"/>
                </a:lnTo>
                <a:lnTo>
                  <a:pt x="317753" y="0"/>
                </a:lnTo>
                <a:lnTo>
                  <a:pt x="364714" y="3435"/>
                </a:lnTo>
                <a:lnTo>
                  <a:pt x="409534" y="13416"/>
                </a:lnTo>
                <a:lnTo>
                  <a:pt x="451721" y="29451"/>
                </a:lnTo>
                <a:lnTo>
                  <a:pt x="490784" y="51053"/>
                </a:lnTo>
                <a:lnTo>
                  <a:pt x="526233" y="77731"/>
                </a:lnTo>
                <a:lnTo>
                  <a:pt x="557576" y="108996"/>
                </a:lnTo>
                <a:lnTo>
                  <a:pt x="584321" y="144358"/>
                </a:lnTo>
                <a:lnTo>
                  <a:pt x="605978" y="183328"/>
                </a:lnTo>
                <a:lnTo>
                  <a:pt x="622056" y="225417"/>
                </a:lnTo>
                <a:lnTo>
                  <a:pt x="632063" y="270135"/>
                </a:lnTo>
                <a:lnTo>
                  <a:pt x="635507" y="316992"/>
                </a:lnTo>
                <a:lnTo>
                  <a:pt x="632063" y="363848"/>
                </a:lnTo>
                <a:lnTo>
                  <a:pt x="622056" y="408566"/>
                </a:lnTo>
                <a:lnTo>
                  <a:pt x="605978" y="450655"/>
                </a:lnTo>
                <a:lnTo>
                  <a:pt x="584321" y="489625"/>
                </a:lnTo>
                <a:lnTo>
                  <a:pt x="557576" y="524987"/>
                </a:lnTo>
                <a:lnTo>
                  <a:pt x="526233" y="556252"/>
                </a:lnTo>
                <a:lnTo>
                  <a:pt x="490784" y="582930"/>
                </a:lnTo>
                <a:lnTo>
                  <a:pt x="451721" y="604532"/>
                </a:lnTo>
                <a:lnTo>
                  <a:pt x="409534" y="620567"/>
                </a:lnTo>
                <a:lnTo>
                  <a:pt x="364714" y="630548"/>
                </a:lnTo>
                <a:lnTo>
                  <a:pt x="317753" y="633984"/>
                </a:lnTo>
                <a:lnTo>
                  <a:pt x="270793" y="630548"/>
                </a:lnTo>
                <a:lnTo>
                  <a:pt x="225973" y="620567"/>
                </a:lnTo>
                <a:lnTo>
                  <a:pt x="183786" y="604532"/>
                </a:lnTo>
                <a:lnTo>
                  <a:pt x="144723" y="582930"/>
                </a:lnTo>
                <a:lnTo>
                  <a:pt x="109274" y="556252"/>
                </a:lnTo>
                <a:lnTo>
                  <a:pt x="77931" y="524987"/>
                </a:lnTo>
                <a:lnTo>
                  <a:pt x="51186" y="489625"/>
                </a:lnTo>
                <a:lnTo>
                  <a:pt x="29529" y="450655"/>
                </a:lnTo>
                <a:lnTo>
                  <a:pt x="13451" y="408566"/>
                </a:lnTo>
                <a:lnTo>
                  <a:pt x="3444" y="363848"/>
                </a:lnTo>
                <a:lnTo>
                  <a:pt x="0" y="316992"/>
                </a:lnTo>
                <a:close/>
              </a:path>
            </a:pathLst>
          </a:custGeom>
          <a:ln w="15240">
            <a:solidFill>
              <a:srgbClr val="FFBC46"/>
            </a:solidFill>
          </a:ln>
        </p:spPr>
        <p:txBody>
          <a:bodyPr wrap="square" lIns="0" tIns="0" rIns="0" bIns="0" rtlCol="0"/>
          <a:lstStyle/>
          <a:p>
            <a:endParaRPr/>
          </a:p>
        </p:txBody>
      </p:sp>
      <p:sp>
        <p:nvSpPr>
          <p:cNvPr id="13" name="object 13"/>
          <p:cNvSpPr/>
          <p:nvPr/>
        </p:nvSpPr>
        <p:spPr>
          <a:xfrm>
            <a:off x="2808732" y="2778251"/>
            <a:ext cx="5293360" cy="509270"/>
          </a:xfrm>
          <a:custGeom>
            <a:avLst/>
            <a:gdLst/>
            <a:ahLst/>
            <a:cxnLst/>
            <a:rect l="l" t="t" r="r" b="b"/>
            <a:pathLst>
              <a:path w="5293359" h="509270">
                <a:moveTo>
                  <a:pt x="0" y="509015"/>
                </a:moveTo>
                <a:lnTo>
                  <a:pt x="5292852" y="509015"/>
                </a:lnTo>
                <a:lnTo>
                  <a:pt x="5292852" y="0"/>
                </a:lnTo>
                <a:lnTo>
                  <a:pt x="0" y="0"/>
                </a:lnTo>
                <a:lnTo>
                  <a:pt x="0" y="509015"/>
                </a:lnTo>
                <a:close/>
              </a:path>
            </a:pathLst>
          </a:custGeom>
          <a:solidFill>
            <a:srgbClr val="B64825"/>
          </a:solidFill>
        </p:spPr>
        <p:txBody>
          <a:bodyPr wrap="square" lIns="0" tIns="0" rIns="0" bIns="0" rtlCol="0"/>
          <a:lstStyle/>
          <a:p>
            <a:endParaRPr/>
          </a:p>
        </p:txBody>
      </p:sp>
      <p:sp>
        <p:nvSpPr>
          <p:cNvPr id="14" name="object 14"/>
          <p:cNvSpPr/>
          <p:nvPr/>
        </p:nvSpPr>
        <p:spPr>
          <a:xfrm>
            <a:off x="2808732" y="2778251"/>
            <a:ext cx="5293360" cy="509270"/>
          </a:xfrm>
          <a:custGeom>
            <a:avLst/>
            <a:gdLst/>
            <a:ahLst/>
            <a:cxnLst/>
            <a:rect l="l" t="t" r="r" b="b"/>
            <a:pathLst>
              <a:path w="5293359" h="509270">
                <a:moveTo>
                  <a:pt x="0" y="509015"/>
                </a:moveTo>
                <a:lnTo>
                  <a:pt x="5292852" y="509015"/>
                </a:lnTo>
                <a:lnTo>
                  <a:pt x="5292852" y="0"/>
                </a:lnTo>
                <a:lnTo>
                  <a:pt x="0" y="0"/>
                </a:lnTo>
                <a:lnTo>
                  <a:pt x="0" y="509015"/>
                </a:lnTo>
                <a:close/>
              </a:path>
            </a:pathLst>
          </a:custGeom>
          <a:ln w="15239">
            <a:solidFill>
              <a:srgbClr val="FFFFFF"/>
            </a:solidFill>
          </a:ln>
        </p:spPr>
        <p:txBody>
          <a:bodyPr wrap="square" lIns="0" tIns="0" rIns="0" bIns="0" rtlCol="0"/>
          <a:lstStyle/>
          <a:p>
            <a:endParaRPr/>
          </a:p>
        </p:txBody>
      </p:sp>
      <p:sp>
        <p:nvSpPr>
          <p:cNvPr id="15" name="object 15"/>
          <p:cNvSpPr txBox="1"/>
          <p:nvPr/>
        </p:nvSpPr>
        <p:spPr>
          <a:xfrm>
            <a:off x="3200145" y="2781680"/>
            <a:ext cx="4059554" cy="436880"/>
          </a:xfrm>
          <a:prstGeom prst="rect">
            <a:avLst/>
          </a:prstGeom>
        </p:spPr>
        <p:txBody>
          <a:bodyPr vert="horz" wrap="square" lIns="0" tIns="12700" rIns="0" bIns="0" rtlCol="0">
            <a:spAutoFit/>
          </a:bodyPr>
          <a:lstStyle/>
          <a:p>
            <a:pPr marL="12700">
              <a:lnSpc>
                <a:spcPct val="100000"/>
              </a:lnSpc>
              <a:spcBef>
                <a:spcPts val="100"/>
              </a:spcBef>
            </a:pPr>
            <a:r>
              <a:rPr sz="2700" dirty="0">
                <a:solidFill>
                  <a:srgbClr val="FFFFFF"/>
                </a:solidFill>
                <a:latin typeface="Times New Roman"/>
                <a:cs typeface="Times New Roman"/>
              </a:rPr>
              <a:t>Iterative </a:t>
            </a:r>
            <a:r>
              <a:rPr sz="2700" spc="-5" dirty="0">
                <a:solidFill>
                  <a:srgbClr val="FFFFFF"/>
                </a:solidFill>
                <a:latin typeface="Times New Roman"/>
                <a:cs typeface="Times New Roman"/>
              </a:rPr>
              <a:t>Enhancement</a:t>
            </a:r>
            <a:r>
              <a:rPr sz="2700" spc="-65" dirty="0">
                <a:solidFill>
                  <a:srgbClr val="FFFFFF"/>
                </a:solidFill>
                <a:latin typeface="Times New Roman"/>
                <a:cs typeface="Times New Roman"/>
              </a:rPr>
              <a:t> </a:t>
            </a:r>
            <a:r>
              <a:rPr sz="2700" spc="-5" dirty="0">
                <a:solidFill>
                  <a:srgbClr val="FFFFFF"/>
                </a:solidFill>
                <a:latin typeface="Times New Roman"/>
                <a:cs typeface="Times New Roman"/>
              </a:rPr>
              <a:t>model</a:t>
            </a:r>
            <a:endParaRPr sz="2700">
              <a:latin typeface="Times New Roman"/>
              <a:cs typeface="Times New Roman"/>
            </a:endParaRPr>
          </a:p>
        </p:txBody>
      </p:sp>
      <p:sp>
        <p:nvSpPr>
          <p:cNvPr id="16" name="object 16"/>
          <p:cNvSpPr/>
          <p:nvPr/>
        </p:nvSpPr>
        <p:spPr>
          <a:xfrm>
            <a:off x="2491739" y="2715767"/>
            <a:ext cx="635635" cy="634365"/>
          </a:xfrm>
          <a:custGeom>
            <a:avLst/>
            <a:gdLst/>
            <a:ahLst/>
            <a:cxnLst/>
            <a:rect l="l" t="t" r="r" b="b"/>
            <a:pathLst>
              <a:path w="635635" h="634364">
                <a:moveTo>
                  <a:pt x="317754" y="0"/>
                </a:moveTo>
                <a:lnTo>
                  <a:pt x="270793" y="3435"/>
                </a:lnTo>
                <a:lnTo>
                  <a:pt x="225973" y="13416"/>
                </a:lnTo>
                <a:lnTo>
                  <a:pt x="183786" y="29451"/>
                </a:lnTo>
                <a:lnTo>
                  <a:pt x="144723" y="51053"/>
                </a:lnTo>
                <a:lnTo>
                  <a:pt x="109274" y="77731"/>
                </a:lnTo>
                <a:lnTo>
                  <a:pt x="77931" y="108996"/>
                </a:lnTo>
                <a:lnTo>
                  <a:pt x="51186" y="144358"/>
                </a:lnTo>
                <a:lnTo>
                  <a:pt x="29529" y="183328"/>
                </a:lnTo>
                <a:lnTo>
                  <a:pt x="13451" y="225417"/>
                </a:lnTo>
                <a:lnTo>
                  <a:pt x="3444" y="270135"/>
                </a:lnTo>
                <a:lnTo>
                  <a:pt x="0" y="316992"/>
                </a:lnTo>
                <a:lnTo>
                  <a:pt x="3444" y="363848"/>
                </a:lnTo>
                <a:lnTo>
                  <a:pt x="13451" y="408566"/>
                </a:lnTo>
                <a:lnTo>
                  <a:pt x="29529" y="450655"/>
                </a:lnTo>
                <a:lnTo>
                  <a:pt x="51186" y="489625"/>
                </a:lnTo>
                <a:lnTo>
                  <a:pt x="77931" y="524987"/>
                </a:lnTo>
                <a:lnTo>
                  <a:pt x="109274" y="556252"/>
                </a:lnTo>
                <a:lnTo>
                  <a:pt x="144723" y="582930"/>
                </a:lnTo>
                <a:lnTo>
                  <a:pt x="183786" y="604532"/>
                </a:lnTo>
                <a:lnTo>
                  <a:pt x="225973" y="620567"/>
                </a:lnTo>
                <a:lnTo>
                  <a:pt x="270793" y="630548"/>
                </a:lnTo>
                <a:lnTo>
                  <a:pt x="317754" y="633984"/>
                </a:lnTo>
                <a:lnTo>
                  <a:pt x="364714" y="630548"/>
                </a:lnTo>
                <a:lnTo>
                  <a:pt x="409534" y="620567"/>
                </a:lnTo>
                <a:lnTo>
                  <a:pt x="451721" y="604532"/>
                </a:lnTo>
                <a:lnTo>
                  <a:pt x="490784" y="582930"/>
                </a:lnTo>
                <a:lnTo>
                  <a:pt x="526233" y="556252"/>
                </a:lnTo>
                <a:lnTo>
                  <a:pt x="557576" y="524987"/>
                </a:lnTo>
                <a:lnTo>
                  <a:pt x="584321" y="489625"/>
                </a:lnTo>
                <a:lnTo>
                  <a:pt x="605978" y="450655"/>
                </a:lnTo>
                <a:lnTo>
                  <a:pt x="622056" y="408566"/>
                </a:lnTo>
                <a:lnTo>
                  <a:pt x="632063" y="363848"/>
                </a:lnTo>
                <a:lnTo>
                  <a:pt x="635508" y="316992"/>
                </a:lnTo>
                <a:lnTo>
                  <a:pt x="632063" y="270135"/>
                </a:lnTo>
                <a:lnTo>
                  <a:pt x="622056" y="225417"/>
                </a:lnTo>
                <a:lnTo>
                  <a:pt x="605978" y="183328"/>
                </a:lnTo>
                <a:lnTo>
                  <a:pt x="584321" y="144358"/>
                </a:lnTo>
                <a:lnTo>
                  <a:pt x="557576" y="108996"/>
                </a:lnTo>
                <a:lnTo>
                  <a:pt x="526233" y="77731"/>
                </a:lnTo>
                <a:lnTo>
                  <a:pt x="490784" y="51053"/>
                </a:lnTo>
                <a:lnTo>
                  <a:pt x="451721" y="29451"/>
                </a:lnTo>
                <a:lnTo>
                  <a:pt x="409534" y="13416"/>
                </a:lnTo>
                <a:lnTo>
                  <a:pt x="364714" y="3435"/>
                </a:lnTo>
                <a:lnTo>
                  <a:pt x="317754" y="0"/>
                </a:lnTo>
                <a:close/>
              </a:path>
            </a:pathLst>
          </a:custGeom>
          <a:solidFill>
            <a:srgbClr val="FFFFFF"/>
          </a:solidFill>
        </p:spPr>
        <p:txBody>
          <a:bodyPr wrap="square" lIns="0" tIns="0" rIns="0" bIns="0" rtlCol="0"/>
          <a:lstStyle/>
          <a:p>
            <a:endParaRPr/>
          </a:p>
        </p:txBody>
      </p:sp>
      <p:sp>
        <p:nvSpPr>
          <p:cNvPr id="17" name="object 17"/>
          <p:cNvSpPr/>
          <p:nvPr/>
        </p:nvSpPr>
        <p:spPr>
          <a:xfrm>
            <a:off x="2491739" y="2715767"/>
            <a:ext cx="635635" cy="634365"/>
          </a:xfrm>
          <a:custGeom>
            <a:avLst/>
            <a:gdLst/>
            <a:ahLst/>
            <a:cxnLst/>
            <a:rect l="l" t="t" r="r" b="b"/>
            <a:pathLst>
              <a:path w="635635" h="634364">
                <a:moveTo>
                  <a:pt x="0" y="316992"/>
                </a:moveTo>
                <a:lnTo>
                  <a:pt x="3444" y="270135"/>
                </a:lnTo>
                <a:lnTo>
                  <a:pt x="13451" y="225417"/>
                </a:lnTo>
                <a:lnTo>
                  <a:pt x="29529" y="183328"/>
                </a:lnTo>
                <a:lnTo>
                  <a:pt x="51186" y="144358"/>
                </a:lnTo>
                <a:lnTo>
                  <a:pt x="77931" y="108996"/>
                </a:lnTo>
                <a:lnTo>
                  <a:pt x="109274" y="77731"/>
                </a:lnTo>
                <a:lnTo>
                  <a:pt x="144723" y="51053"/>
                </a:lnTo>
                <a:lnTo>
                  <a:pt x="183786" y="29451"/>
                </a:lnTo>
                <a:lnTo>
                  <a:pt x="225973" y="13416"/>
                </a:lnTo>
                <a:lnTo>
                  <a:pt x="270793" y="3435"/>
                </a:lnTo>
                <a:lnTo>
                  <a:pt x="317754" y="0"/>
                </a:lnTo>
                <a:lnTo>
                  <a:pt x="364714" y="3435"/>
                </a:lnTo>
                <a:lnTo>
                  <a:pt x="409534" y="13416"/>
                </a:lnTo>
                <a:lnTo>
                  <a:pt x="451721" y="29451"/>
                </a:lnTo>
                <a:lnTo>
                  <a:pt x="490784" y="51053"/>
                </a:lnTo>
                <a:lnTo>
                  <a:pt x="526233" y="77731"/>
                </a:lnTo>
                <a:lnTo>
                  <a:pt x="557576" y="108996"/>
                </a:lnTo>
                <a:lnTo>
                  <a:pt x="584321" y="144358"/>
                </a:lnTo>
                <a:lnTo>
                  <a:pt x="605978" y="183328"/>
                </a:lnTo>
                <a:lnTo>
                  <a:pt x="622056" y="225417"/>
                </a:lnTo>
                <a:lnTo>
                  <a:pt x="632063" y="270135"/>
                </a:lnTo>
                <a:lnTo>
                  <a:pt x="635508" y="316992"/>
                </a:lnTo>
                <a:lnTo>
                  <a:pt x="632063" y="363848"/>
                </a:lnTo>
                <a:lnTo>
                  <a:pt x="622056" y="408566"/>
                </a:lnTo>
                <a:lnTo>
                  <a:pt x="605978" y="450655"/>
                </a:lnTo>
                <a:lnTo>
                  <a:pt x="584321" y="489625"/>
                </a:lnTo>
                <a:lnTo>
                  <a:pt x="557576" y="524987"/>
                </a:lnTo>
                <a:lnTo>
                  <a:pt x="526233" y="556252"/>
                </a:lnTo>
                <a:lnTo>
                  <a:pt x="490784" y="582930"/>
                </a:lnTo>
                <a:lnTo>
                  <a:pt x="451721" y="604532"/>
                </a:lnTo>
                <a:lnTo>
                  <a:pt x="409534" y="620567"/>
                </a:lnTo>
                <a:lnTo>
                  <a:pt x="364714" y="630548"/>
                </a:lnTo>
                <a:lnTo>
                  <a:pt x="317754" y="633984"/>
                </a:lnTo>
                <a:lnTo>
                  <a:pt x="270793" y="630548"/>
                </a:lnTo>
                <a:lnTo>
                  <a:pt x="225973" y="620567"/>
                </a:lnTo>
                <a:lnTo>
                  <a:pt x="183786" y="604532"/>
                </a:lnTo>
                <a:lnTo>
                  <a:pt x="144723" y="582930"/>
                </a:lnTo>
                <a:lnTo>
                  <a:pt x="109274" y="556252"/>
                </a:lnTo>
                <a:lnTo>
                  <a:pt x="77931" y="524987"/>
                </a:lnTo>
                <a:lnTo>
                  <a:pt x="51186" y="489625"/>
                </a:lnTo>
                <a:lnTo>
                  <a:pt x="29529" y="450655"/>
                </a:lnTo>
                <a:lnTo>
                  <a:pt x="13451" y="408566"/>
                </a:lnTo>
                <a:lnTo>
                  <a:pt x="3444" y="363848"/>
                </a:lnTo>
                <a:lnTo>
                  <a:pt x="0" y="316992"/>
                </a:lnTo>
                <a:close/>
              </a:path>
            </a:pathLst>
          </a:custGeom>
          <a:ln w="15240">
            <a:solidFill>
              <a:srgbClr val="B64825"/>
            </a:solidFill>
          </a:ln>
        </p:spPr>
        <p:txBody>
          <a:bodyPr wrap="square" lIns="0" tIns="0" rIns="0" bIns="0" rtlCol="0"/>
          <a:lstStyle/>
          <a:p>
            <a:endParaRPr/>
          </a:p>
        </p:txBody>
      </p:sp>
      <p:sp>
        <p:nvSpPr>
          <p:cNvPr id="18" name="object 18"/>
          <p:cNvSpPr/>
          <p:nvPr/>
        </p:nvSpPr>
        <p:spPr>
          <a:xfrm>
            <a:off x="2921507" y="3540252"/>
            <a:ext cx="5180330" cy="509270"/>
          </a:xfrm>
          <a:custGeom>
            <a:avLst/>
            <a:gdLst/>
            <a:ahLst/>
            <a:cxnLst/>
            <a:rect l="l" t="t" r="r" b="b"/>
            <a:pathLst>
              <a:path w="5180330" h="509270">
                <a:moveTo>
                  <a:pt x="0" y="509016"/>
                </a:moveTo>
                <a:lnTo>
                  <a:pt x="5180076" y="509016"/>
                </a:lnTo>
                <a:lnTo>
                  <a:pt x="5180076" y="0"/>
                </a:lnTo>
                <a:lnTo>
                  <a:pt x="0" y="0"/>
                </a:lnTo>
                <a:lnTo>
                  <a:pt x="0" y="509016"/>
                </a:lnTo>
                <a:close/>
              </a:path>
            </a:pathLst>
          </a:custGeom>
          <a:solidFill>
            <a:srgbClr val="FF8427"/>
          </a:solidFill>
        </p:spPr>
        <p:txBody>
          <a:bodyPr wrap="square" lIns="0" tIns="0" rIns="0" bIns="0" rtlCol="0"/>
          <a:lstStyle/>
          <a:p>
            <a:endParaRPr/>
          </a:p>
        </p:txBody>
      </p:sp>
      <p:sp>
        <p:nvSpPr>
          <p:cNvPr id="19" name="object 19"/>
          <p:cNvSpPr/>
          <p:nvPr/>
        </p:nvSpPr>
        <p:spPr>
          <a:xfrm>
            <a:off x="2921507" y="3540252"/>
            <a:ext cx="5180330" cy="509270"/>
          </a:xfrm>
          <a:custGeom>
            <a:avLst/>
            <a:gdLst/>
            <a:ahLst/>
            <a:cxnLst/>
            <a:rect l="l" t="t" r="r" b="b"/>
            <a:pathLst>
              <a:path w="5180330" h="509270">
                <a:moveTo>
                  <a:pt x="0" y="509016"/>
                </a:moveTo>
                <a:lnTo>
                  <a:pt x="5180076" y="509016"/>
                </a:lnTo>
                <a:lnTo>
                  <a:pt x="5180076" y="0"/>
                </a:lnTo>
                <a:lnTo>
                  <a:pt x="0" y="0"/>
                </a:lnTo>
                <a:lnTo>
                  <a:pt x="0" y="509016"/>
                </a:lnTo>
                <a:close/>
              </a:path>
            </a:pathLst>
          </a:custGeom>
          <a:ln w="15240">
            <a:solidFill>
              <a:srgbClr val="FFFFFF"/>
            </a:solidFill>
          </a:ln>
        </p:spPr>
        <p:txBody>
          <a:bodyPr wrap="square" lIns="0" tIns="0" rIns="0" bIns="0" rtlCol="0"/>
          <a:lstStyle/>
          <a:p>
            <a:endParaRPr/>
          </a:p>
        </p:txBody>
      </p:sp>
      <p:sp>
        <p:nvSpPr>
          <p:cNvPr id="20" name="object 20"/>
          <p:cNvSpPr txBox="1"/>
          <p:nvPr/>
        </p:nvSpPr>
        <p:spPr>
          <a:xfrm>
            <a:off x="3312033" y="3543680"/>
            <a:ext cx="2357120" cy="436880"/>
          </a:xfrm>
          <a:prstGeom prst="rect">
            <a:avLst/>
          </a:prstGeom>
        </p:spPr>
        <p:txBody>
          <a:bodyPr vert="horz" wrap="square" lIns="0" tIns="12700" rIns="0" bIns="0" rtlCol="0">
            <a:spAutoFit/>
          </a:bodyPr>
          <a:lstStyle/>
          <a:p>
            <a:pPr marL="12700">
              <a:lnSpc>
                <a:spcPct val="100000"/>
              </a:lnSpc>
              <a:spcBef>
                <a:spcPts val="100"/>
              </a:spcBef>
            </a:pPr>
            <a:r>
              <a:rPr sz="2700" dirty="0">
                <a:solidFill>
                  <a:srgbClr val="FFFFFF"/>
                </a:solidFill>
                <a:latin typeface="Times New Roman"/>
                <a:cs typeface="Times New Roman"/>
              </a:rPr>
              <a:t>Full-reuse</a:t>
            </a:r>
            <a:r>
              <a:rPr sz="2700" spc="-95" dirty="0">
                <a:solidFill>
                  <a:srgbClr val="FFFFFF"/>
                </a:solidFill>
                <a:latin typeface="Times New Roman"/>
                <a:cs typeface="Times New Roman"/>
              </a:rPr>
              <a:t> </a:t>
            </a:r>
            <a:r>
              <a:rPr sz="2700" spc="-5" dirty="0">
                <a:solidFill>
                  <a:srgbClr val="FFFFFF"/>
                </a:solidFill>
                <a:latin typeface="Times New Roman"/>
                <a:cs typeface="Times New Roman"/>
              </a:rPr>
              <a:t>model</a:t>
            </a:r>
            <a:endParaRPr sz="2700">
              <a:latin typeface="Times New Roman"/>
              <a:cs typeface="Times New Roman"/>
            </a:endParaRPr>
          </a:p>
        </p:txBody>
      </p:sp>
      <p:sp>
        <p:nvSpPr>
          <p:cNvPr id="21" name="object 21"/>
          <p:cNvSpPr/>
          <p:nvPr/>
        </p:nvSpPr>
        <p:spPr>
          <a:xfrm>
            <a:off x="2602992" y="3477767"/>
            <a:ext cx="635635" cy="634365"/>
          </a:xfrm>
          <a:custGeom>
            <a:avLst/>
            <a:gdLst/>
            <a:ahLst/>
            <a:cxnLst/>
            <a:rect l="l" t="t" r="r" b="b"/>
            <a:pathLst>
              <a:path w="635635" h="634364">
                <a:moveTo>
                  <a:pt x="317753" y="0"/>
                </a:moveTo>
                <a:lnTo>
                  <a:pt x="270793" y="3435"/>
                </a:lnTo>
                <a:lnTo>
                  <a:pt x="225973" y="13416"/>
                </a:lnTo>
                <a:lnTo>
                  <a:pt x="183786" y="29451"/>
                </a:lnTo>
                <a:lnTo>
                  <a:pt x="144723" y="51053"/>
                </a:lnTo>
                <a:lnTo>
                  <a:pt x="109274" y="77731"/>
                </a:lnTo>
                <a:lnTo>
                  <a:pt x="77931" y="108996"/>
                </a:lnTo>
                <a:lnTo>
                  <a:pt x="51186" y="144358"/>
                </a:lnTo>
                <a:lnTo>
                  <a:pt x="29529" y="183328"/>
                </a:lnTo>
                <a:lnTo>
                  <a:pt x="13451" y="225417"/>
                </a:lnTo>
                <a:lnTo>
                  <a:pt x="3444" y="270135"/>
                </a:lnTo>
                <a:lnTo>
                  <a:pt x="0" y="316992"/>
                </a:lnTo>
                <a:lnTo>
                  <a:pt x="3444" y="363820"/>
                </a:lnTo>
                <a:lnTo>
                  <a:pt x="13451" y="408520"/>
                </a:lnTo>
                <a:lnTo>
                  <a:pt x="29529" y="450600"/>
                </a:lnTo>
                <a:lnTo>
                  <a:pt x="51186" y="489569"/>
                </a:lnTo>
                <a:lnTo>
                  <a:pt x="77931" y="524936"/>
                </a:lnTo>
                <a:lnTo>
                  <a:pt x="109274" y="556209"/>
                </a:lnTo>
                <a:lnTo>
                  <a:pt x="144723" y="582898"/>
                </a:lnTo>
                <a:lnTo>
                  <a:pt x="183786" y="604511"/>
                </a:lnTo>
                <a:lnTo>
                  <a:pt x="225973" y="620557"/>
                </a:lnTo>
                <a:lnTo>
                  <a:pt x="270793" y="630545"/>
                </a:lnTo>
                <a:lnTo>
                  <a:pt x="317753" y="633984"/>
                </a:lnTo>
                <a:lnTo>
                  <a:pt x="364714" y="630545"/>
                </a:lnTo>
                <a:lnTo>
                  <a:pt x="409534" y="620557"/>
                </a:lnTo>
                <a:lnTo>
                  <a:pt x="451721" y="604511"/>
                </a:lnTo>
                <a:lnTo>
                  <a:pt x="490784" y="582898"/>
                </a:lnTo>
                <a:lnTo>
                  <a:pt x="526233" y="556209"/>
                </a:lnTo>
                <a:lnTo>
                  <a:pt x="557576" y="524936"/>
                </a:lnTo>
                <a:lnTo>
                  <a:pt x="584321" y="489569"/>
                </a:lnTo>
                <a:lnTo>
                  <a:pt x="605978" y="450600"/>
                </a:lnTo>
                <a:lnTo>
                  <a:pt x="622056" y="408520"/>
                </a:lnTo>
                <a:lnTo>
                  <a:pt x="632063" y="363820"/>
                </a:lnTo>
                <a:lnTo>
                  <a:pt x="635507" y="316992"/>
                </a:lnTo>
                <a:lnTo>
                  <a:pt x="632063" y="270135"/>
                </a:lnTo>
                <a:lnTo>
                  <a:pt x="622056" y="225417"/>
                </a:lnTo>
                <a:lnTo>
                  <a:pt x="605978" y="183328"/>
                </a:lnTo>
                <a:lnTo>
                  <a:pt x="584321" y="144358"/>
                </a:lnTo>
                <a:lnTo>
                  <a:pt x="557576" y="108996"/>
                </a:lnTo>
                <a:lnTo>
                  <a:pt x="526233" y="77731"/>
                </a:lnTo>
                <a:lnTo>
                  <a:pt x="490784" y="51053"/>
                </a:lnTo>
                <a:lnTo>
                  <a:pt x="451721" y="29451"/>
                </a:lnTo>
                <a:lnTo>
                  <a:pt x="409534" y="13416"/>
                </a:lnTo>
                <a:lnTo>
                  <a:pt x="364714" y="3435"/>
                </a:lnTo>
                <a:lnTo>
                  <a:pt x="317753" y="0"/>
                </a:lnTo>
                <a:close/>
              </a:path>
            </a:pathLst>
          </a:custGeom>
          <a:solidFill>
            <a:srgbClr val="FFFFFF"/>
          </a:solidFill>
        </p:spPr>
        <p:txBody>
          <a:bodyPr wrap="square" lIns="0" tIns="0" rIns="0" bIns="0" rtlCol="0"/>
          <a:lstStyle/>
          <a:p>
            <a:endParaRPr/>
          </a:p>
        </p:txBody>
      </p:sp>
      <p:sp>
        <p:nvSpPr>
          <p:cNvPr id="22" name="object 22"/>
          <p:cNvSpPr/>
          <p:nvPr/>
        </p:nvSpPr>
        <p:spPr>
          <a:xfrm>
            <a:off x="2602992" y="3477767"/>
            <a:ext cx="635635" cy="634365"/>
          </a:xfrm>
          <a:custGeom>
            <a:avLst/>
            <a:gdLst/>
            <a:ahLst/>
            <a:cxnLst/>
            <a:rect l="l" t="t" r="r" b="b"/>
            <a:pathLst>
              <a:path w="635635" h="634364">
                <a:moveTo>
                  <a:pt x="0" y="316992"/>
                </a:moveTo>
                <a:lnTo>
                  <a:pt x="3444" y="270135"/>
                </a:lnTo>
                <a:lnTo>
                  <a:pt x="13451" y="225417"/>
                </a:lnTo>
                <a:lnTo>
                  <a:pt x="29529" y="183328"/>
                </a:lnTo>
                <a:lnTo>
                  <a:pt x="51186" y="144358"/>
                </a:lnTo>
                <a:lnTo>
                  <a:pt x="77931" y="108996"/>
                </a:lnTo>
                <a:lnTo>
                  <a:pt x="109274" y="77731"/>
                </a:lnTo>
                <a:lnTo>
                  <a:pt x="144723" y="51053"/>
                </a:lnTo>
                <a:lnTo>
                  <a:pt x="183786" y="29451"/>
                </a:lnTo>
                <a:lnTo>
                  <a:pt x="225973" y="13416"/>
                </a:lnTo>
                <a:lnTo>
                  <a:pt x="270793" y="3435"/>
                </a:lnTo>
                <a:lnTo>
                  <a:pt x="317753" y="0"/>
                </a:lnTo>
                <a:lnTo>
                  <a:pt x="364714" y="3435"/>
                </a:lnTo>
                <a:lnTo>
                  <a:pt x="409534" y="13416"/>
                </a:lnTo>
                <a:lnTo>
                  <a:pt x="451721" y="29451"/>
                </a:lnTo>
                <a:lnTo>
                  <a:pt x="490784" y="51053"/>
                </a:lnTo>
                <a:lnTo>
                  <a:pt x="526233" y="77731"/>
                </a:lnTo>
                <a:lnTo>
                  <a:pt x="557576" y="108996"/>
                </a:lnTo>
                <a:lnTo>
                  <a:pt x="584321" y="144358"/>
                </a:lnTo>
                <a:lnTo>
                  <a:pt x="605978" y="183328"/>
                </a:lnTo>
                <a:lnTo>
                  <a:pt x="622056" y="225417"/>
                </a:lnTo>
                <a:lnTo>
                  <a:pt x="632063" y="270135"/>
                </a:lnTo>
                <a:lnTo>
                  <a:pt x="635507" y="316992"/>
                </a:lnTo>
                <a:lnTo>
                  <a:pt x="632063" y="363820"/>
                </a:lnTo>
                <a:lnTo>
                  <a:pt x="622056" y="408520"/>
                </a:lnTo>
                <a:lnTo>
                  <a:pt x="605978" y="450600"/>
                </a:lnTo>
                <a:lnTo>
                  <a:pt x="584321" y="489569"/>
                </a:lnTo>
                <a:lnTo>
                  <a:pt x="557576" y="524936"/>
                </a:lnTo>
                <a:lnTo>
                  <a:pt x="526233" y="556209"/>
                </a:lnTo>
                <a:lnTo>
                  <a:pt x="490784" y="582898"/>
                </a:lnTo>
                <a:lnTo>
                  <a:pt x="451721" y="604511"/>
                </a:lnTo>
                <a:lnTo>
                  <a:pt x="409534" y="620557"/>
                </a:lnTo>
                <a:lnTo>
                  <a:pt x="364714" y="630545"/>
                </a:lnTo>
                <a:lnTo>
                  <a:pt x="317753" y="633984"/>
                </a:lnTo>
                <a:lnTo>
                  <a:pt x="270793" y="630545"/>
                </a:lnTo>
                <a:lnTo>
                  <a:pt x="225973" y="620557"/>
                </a:lnTo>
                <a:lnTo>
                  <a:pt x="183786" y="604511"/>
                </a:lnTo>
                <a:lnTo>
                  <a:pt x="144723" y="582898"/>
                </a:lnTo>
                <a:lnTo>
                  <a:pt x="109274" y="556209"/>
                </a:lnTo>
                <a:lnTo>
                  <a:pt x="77931" y="524936"/>
                </a:lnTo>
                <a:lnTo>
                  <a:pt x="51186" y="489569"/>
                </a:lnTo>
                <a:lnTo>
                  <a:pt x="29529" y="450600"/>
                </a:lnTo>
                <a:lnTo>
                  <a:pt x="13451" y="408520"/>
                </a:lnTo>
                <a:lnTo>
                  <a:pt x="3444" y="363820"/>
                </a:lnTo>
                <a:lnTo>
                  <a:pt x="0" y="316992"/>
                </a:lnTo>
                <a:close/>
              </a:path>
            </a:pathLst>
          </a:custGeom>
          <a:ln w="15240">
            <a:solidFill>
              <a:srgbClr val="FF8427"/>
            </a:solidFill>
          </a:ln>
        </p:spPr>
        <p:txBody>
          <a:bodyPr wrap="square" lIns="0" tIns="0" rIns="0" bIns="0" rtlCol="0"/>
          <a:lstStyle/>
          <a:p>
            <a:endParaRPr/>
          </a:p>
        </p:txBody>
      </p:sp>
      <p:sp>
        <p:nvSpPr>
          <p:cNvPr id="23" name="object 23"/>
          <p:cNvSpPr/>
          <p:nvPr/>
        </p:nvSpPr>
        <p:spPr>
          <a:xfrm>
            <a:off x="2808732" y="4302252"/>
            <a:ext cx="5293360" cy="509270"/>
          </a:xfrm>
          <a:custGeom>
            <a:avLst/>
            <a:gdLst/>
            <a:ahLst/>
            <a:cxnLst/>
            <a:rect l="l" t="t" r="r" b="b"/>
            <a:pathLst>
              <a:path w="5293359" h="509270">
                <a:moveTo>
                  <a:pt x="0" y="509016"/>
                </a:moveTo>
                <a:lnTo>
                  <a:pt x="5292852" y="509016"/>
                </a:lnTo>
                <a:lnTo>
                  <a:pt x="5292852" y="0"/>
                </a:lnTo>
                <a:lnTo>
                  <a:pt x="0" y="0"/>
                </a:lnTo>
                <a:lnTo>
                  <a:pt x="0" y="509016"/>
                </a:lnTo>
                <a:close/>
              </a:path>
            </a:pathLst>
          </a:custGeom>
          <a:solidFill>
            <a:srgbClr val="CC9900"/>
          </a:solidFill>
        </p:spPr>
        <p:txBody>
          <a:bodyPr wrap="square" lIns="0" tIns="0" rIns="0" bIns="0" rtlCol="0"/>
          <a:lstStyle/>
          <a:p>
            <a:endParaRPr/>
          </a:p>
        </p:txBody>
      </p:sp>
      <p:sp>
        <p:nvSpPr>
          <p:cNvPr id="24" name="object 24"/>
          <p:cNvSpPr/>
          <p:nvPr/>
        </p:nvSpPr>
        <p:spPr>
          <a:xfrm>
            <a:off x="2808732" y="4302252"/>
            <a:ext cx="5293360" cy="509270"/>
          </a:xfrm>
          <a:custGeom>
            <a:avLst/>
            <a:gdLst/>
            <a:ahLst/>
            <a:cxnLst/>
            <a:rect l="l" t="t" r="r" b="b"/>
            <a:pathLst>
              <a:path w="5293359" h="509270">
                <a:moveTo>
                  <a:pt x="0" y="509016"/>
                </a:moveTo>
                <a:lnTo>
                  <a:pt x="5292852" y="509016"/>
                </a:lnTo>
                <a:lnTo>
                  <a:pt x="5292852" y="0"/>
                </a:lnTo>
                <a:lnTo>
                  <a:pt x="0" y="0"/>
                </a:lnTo>
                <a:lnTo>
                  <a:pt x="0" y="509016"/>
                </a:lnTo>
                <a:close/>
              </a:path>
            </a:pathLst>
          </a:custGeom>
          <a:ln w="15240">
            <a:solidFill>
              <a:srgbClr val="FFFFFF"/>
            </a:solidFill>
          </a:ln>
        </p:spPr>
        <p:txBody>
          <a:bodyPr wrap="square" lIns="0" tIns="0" rIns="0" bIns="0" rtlCol="0"/>
          <a:lstStyle/>
          <a:p>
            <a:endParaRPr/>
          </a:p>
        </p:txBody>
      </p:sp>
      <p:sp>
        <p:nvSpPr>
          <p:cNvPr id="25" name="object 25"/>
          <p:cNvSpPr txBox="1"/>
          <p:nvPr/>
        </p:nvSpPr>
        <p:spPr>
          <a:xfrm>
            <a:off x="3200145" y="4306061"/>
            <a:ext cx="2226310" cy="436880"/>
          </a:xfrm>
          <a:prstGeom prst="rect">
            <a:avLst/>
          </a:prstGeom>
        </p:spPr>
        <p:txBody>
          <a:bodyPr vert="horz" wrap="square" lIns="0" tIns="12700" rIns="0" bIns="0" rtlCol="0">
            <a:spAutoFit/>
          </a:bodyPr>
          <a:lstStyle/>
          <a:p>
            <a:pPr marL="12700">
              <a:lnSpc>
                <a:spcPct val="100000"/>
              </a:lnSpc>
              <a:spcBef>
                <a:spcPts val="100"/>
              </a:spcBef>
            </a:pPr>
            <a:r>
              <a:rPr sz="2700" spc="-25" dirty="0">
                <a:solidFill>
                  <a:srgbClr val="FFFFFF"/>
                </a:solidFill>
                <a:latin typeface="Times New Roman"/>
                <a:cs typeface="Times New Roman"/>
              </a:rPr>
              <a:t>Boehm’s</a:t>
            </a:r>
            <a:r>
              <a:rPr sz="2700" spc="-60" dirty="0">
                <a:solidFill>
                  <a:srgbClr val="FFFFFF"/>
                </a:solidFill>
                <a:latin typeface="Times New Roman"/>
                <a:cs typeface="Times New Roman"/>
              </a:rPr>
              <a:t> </a:t>
            </a:r>
            <a:r>
              <a:rPr sz="2700" spc="-5" dirty="0">
                <a:solidFill>
                  <a:srgbClr val="FFFFFF"/>
                </a:solidFill>
                <a:latin typeface="Times New Roman"/>
                <a:cs typeface="Times New Roman"/>
              </a:rPr>
              <a:t>Model</a:t>
            </a:r>
            <a:endParaRPr sz="2700">
              <a:latin typeface="Times New Roman"/>
              <a:cs typeface="Times New Roman"/>
            </a:endParaRPr>
          </a:p>
        </p:txBody>
      </p:sp>
      <p:sp>
        <p:nvSpPr>
          <p:cNvPr id="26" name="object 26"/>
          <p:cNvSpPr/>
          <p:nvPr/>
        </p:nvSpPr>
        <p:spPr>
          <a:xfrm>
            <a:off x="2491739" y="4239767"/>
            <a:ext cx="635635" cy="634365"/>
          </a:xfrm>
          <a:custGeom>
            <a:avLst/>
            <a:gdLst/>
            <a:ahLst/>
            <a:cxnLst/>
            <a:rect l="l" t="t" r="r" b="b"/>
            <a:pathLst>
              <a:path w="635635" h="634364">
                <a:moveTo>
                  <a:pt x="317754" y="0"/>
                </a:moveTo>
                <a:lnTo>
                  <a:pt x="270793" y="3435"/>
                </a:lnTo>
                <a:lnTo>
                  <a:pt x="225973" y="13416"/>
                </a:lnTo>
                <a:lnTo>
                  <a:pt x="183786" y="29451"/>
                </a:lnTo>
                <a:lnTo>
                  <a:pt x="144723" y="51053"/>
                </a:lnTo>
                <a:lnTo>
                  <a:pt x="109274" y="77731"/>
                </a:lnTo>
                <a:lnTo>
                  <a:pt x="77931" y="108996"/>
                </a:lnTo>
                <a:lnTo>
                  <a:pt x="51186" y="144358"/>
                </a:lnTo>
                <a:lnTo>
                  <a:pt x="29529" y="183328"/>
                </a:lnTo>
                <a:lnTo>
                  <a:pt x="13451" y="225417"/>
                </a:lnTo>
                <a:lnTo>
                  <a:pt x="3444" y="270135"/>
                </a:lnTo>
                <a:lnTo>
                  <a:pt x="0" y="316991"/>
                </a:lnTo>
                <a:lnTo>
                  <a:pt x="3444" y="363820"/>
                </a:lnTo>
                <a:lnTo>
                  <a:pt x="13451" y="408520"/>
                </a:lnTo>
                <a:lnTo>
                  <a:pt x="29529" y="450600"/>
                </a:lnTo>
                <a:lnTo>
                  <a:pt x="51186" y="489569"/>
                </a:lnTo>
                <a:lnTo>
                  <a:pt x="77931" y="524936"/>
                </a:lnTo>
                <a:lnTo>
                  <a:pt x="109274" y="556209"/>
                </a:lnTo>
                <a:lnTo>
                  <a:pt x="144723" y="582898"/>
                </a:lnTo>
                <a:lnTo>
                  <a:pt x="183786" y="604511"/>
                </a:lnTo>
                <a:lnTo>
                  <a:pt x="225973" y="620557"/>
                </a:lnTo>
                <a:lnTo>
                  <a:pt x="270793" y="630545"/>
                </a:lnTo>
                <a:lnTo>
                  <a:pt x="317754" y="633983"/>
                </a:lnTo>
                <a:lnTo>
                  <a:pt x="364714" y="630545"/>
                </a:lnTo>
                <a:lnTo>
                  <a:pt x="409534" y="620557"/>
                </a:lnTo>
                <a:lnTo>
                  <a:pt x="451721" y="604511"/>
                </a:lnTo>
                <a:lnTo>
                  <a:pt x="490784" y="582898"/>
                </a:lnTo>
                <a:lnTo>
                  <a:pt x="526233" y="556209"/>
                </a:lnTo>
                <a:lnTo>
                  <a:pt x="557576" y="524936"/>
                </a:lnTo>
                <a:lnTo>
                  <a:pt x="584321" y="489569"/>
                </a:lnTo>
                <a:lnTo>
                  <a:pt x="605978" y="450600"/>
                </a:lnTo>
                <a:lnTo>
                  <a:pt x="622056" y="408520"/>
                </a:lnTo>
                <a:lnTo>
                  <a:pt x="632063" y="363820"/>
                </a:lnTo>
                <a:lnTo>
                  <a:pt x="635508" y="316991"/>
                </a:lnTo>
                <a:lnTo>
                  <a:pt x="632063" y="270135"/>
                </a:lnTo>
                <a:lnTo>
                  <a:pt x="622056" y="225417"/>
                </a:lnTo>
                <a:lnTo>
                  <a:pt x="605978" y="183328"/>
                </a:lnTo>
                <a:lnTo>
                  <a:pt x="584321" y="144358"/>
                </a:lnTo>
                <a:lnTo>
                  <a:pt x="557576" y="108996"/>
                </a:lnTo>
                <a:lnTo>
                  <a:pt x="526233" y="77731"/>
                </a:lnTo>
                <a:lnTo>
                  <a:pt x="490784" y="51053"/>
                </a:lnTo>
                <a:lnTo>
                  <a:pt x="451721" y="29451"/>
                </a:lnTo>
                <a:lnTo>
                  <a:pt x="409534" y="13416"/>
                </a:lnTo>
                <a:lnTo>
                  <a:pt x="364714" y="3435"/>
                </a:lnTo>
                <a:lnTo>
                  <a:pt x="317754" y="0"/>
                </a:lnTo>
                <a:close/>
              </a:path>
            </a:pathLst>
          </a:custGeom>
          <a:solidFill>
            <a:srgbClr val="FFFFFF"/>
          </a:solidFill>
        </p:spPr>
        <p:txBody>
          <a:bodyPr wrap="square" lIns="0" tIns="0" rIns="0" bIns="0" rtlCol="0"/>
          <a:lstStyle/>
          <a:p>
            <a:endParaRPr/>
          </a:p>
        </p:txBody>
      </p:sp>
      <p:sp>
        <p:nvSpPr>
          <p:cNvPr id="27" name="object 27"/>
          <p:cNvSpPr/>
          <p:nvPr/>
        </p:nvSpPr>
        <p:spPr>
          <a:xfrm>
            <a:off x="2491739" y="4239767"/>
            <a:ext cx="635635" cy="634365"/>
          </a:xfrm>
          <a:custGeom>
            <a:avLst/>
            <a:gdLst/>
            <a:ahLst/>
            <a:cxnLst/>
            <a:rect l="l" t="t" r="r" b="b"/>
            <a:pathLst>
              <a:path w="635635" h="634364">
                <a:moveTo>
                  <a:pt x="0" y="316991"/>
                </a:moveTo>
                <a:lnTo>
                  <a:pt x="3444" y="270135"/>
                </a:lnTo>
                <a:lnTo>
                  <a:pt x="13451" y="225417"/>
                </a:lnTo>
                <a:lnTo>
                  <a:pt x="29529" y="183328"/>
                </a:lnTo>
                <a:lnTo>
                  <a:pt x="51186" y="144358"/>
                </a:lnTo>
                <a:lnTo>
                  <a:pt x="77931" y="108996"/>
                </a:lnTo>
                <a:lnTo>
                  <a:pt x="109274" y="77731"/>
                </a:lnTo>
                <a:lnTo>
                  <a:pt x="144723" y="51053"/>
                </a:lnTo>
                <a:lnTo>
                  <a:pt x="183786" y="29451"/>
                </a:lnTo>
                <a:lnTo>
                  <a:pt x="225973" y="13416"/>
                </a:lnTo>
                <a:lnTo>
                  <a:pt x="270793" y="3435"/>
                </a:lnTo>
                <a:lnTo>
                  <a:pt x="317754" y="0"/>
                </a:lnTo>
                <a:lnTo>
                  <a:pt x="364714" y="3435"/>
                </a:lnTo>
                <a:lnTo>
                  <a:pt x="409534" y="13416"/>
                </a:lnTo>
                <a:lnTo>
                  <a:pt x="451721" y="29451"/>
                </a:lnTo>
                <a:lnTo>
                  <a:pt x="490784" y="51053"/>
                </a:lnTo>
                <a:lnTo>
                  <a:pt x="526233" y="77731"/>
                </a:lnTo>
                <a:lnTo>
                  <a:pt x="557576" y="108996"/>
                </a:lnTo>
                <a:lnTo>
                  <a:pt x="584321" y="144358"/>
                </a:lnTo>
                <a:lnTo>
                  <a:pt x="605978" y="183328"/>
                </a:lnTo>
                <a:lnTo>
                  <a:pt x="622056" y="225417"/>
                </a:lnTo>
                <a:lnTo>
                  <a:pt x="632063" y="270135"/>
                </a:lnTo>
                <a:lnTo>
                  <a:pt x="635508" y="316991"/>
                </a:lnTo>
                <a:lnTo>
                  <a:pt x="632063" y="363820"/>
                </a:lnTo>
                <a:lnTo>
                  <a:pt x="622056" y="408520"/>
                </a:lnTo>
                <a:lnTo>
                  <a:pt x="605978" y="450600"/>
                </a:lnTo>
                <a:lnTo>
                  <a:pt x="584321" y="489569"/>
                </a:lnTo>
                <a:lnTo>
                  <a:pt x="557576" y="524936"/>
                </a:lnTo>
                <a:lnTo>
                  <a:pt x="526233" y="556209"/>
                </a:lnTo>
                <a:lnTo>
                  <a:pt x="490784" y="582898"/>
                </a:lnTo>
                <a:lnTo>
                  <a:pt x="451721" y="604511"/>
                </a:lnTo>
                <a:lnTo>
                  <a:pt x="409534" y="620557"/>
                </a:lnTo>
                <a:lnTo>
                  <a:pt x="364714" y="630545"/>
                </a:lnTo>
                <a:lnTo>
                  <a:pt x="317754" y="633983"/>
                </a:lnTo>
                <a:lnTo>
                  <a:pt x="270793" y="630545"/>
                </a:lnTo>
                <a:lnTo>
                  <a:pt x="225973" y="620557"/>
                </a:lnTo>
                <a:lnTo>
                  <a:pt x="183786" y="604511"/>
                </a:lnTo>
                <a:lnTo>
                  <a:pt x="144723" y="582898"/>
                </a:lnTo>
                <a:lnTo>
                  <a:pt x="109274" y="556209"/>
                </a:lnTo>
                <a:lnTo>
                  <a:pt x="77931" y="524936"/>
                </a:lnTo>
                <a:lnTo>
                  <a:pt x="51186" y="489569"/>
                </a:lnTo>
                <a:lnTo>
                  <a:pt x="29529" y="450600"/>
                </a:lnTo>
                <a:lnTo>
                  <a:pt x="13451" y="408520"/>
                </a:lnTo>
                <a:lnTo>
                  <a:pt x="3444" y="363820"/>
                </a:lnTo>
                <a:lnTo>
                  <a:pt x="0" y="316991"/>
                </a:lnTo>
                <a:close/>
              </a:path>
            </a:pathLst>
          </a:custGeom>
          <a:ln w="15240">
            <a:solidFill>
              <a:srgbClr val="CC9900"/>
            </a:solidFill>
          </a:ln>
        </p:spPr>
        <p:txBody>
          <a:bodyPr wrap="square" lIns="0" tIns="0" rIns="0" bIns="0" rtlCol="0"/>
          <a:lstStyle/>
          <a:p>
            <a:endParaRPr/>
          </a:p>
        </p:txBody>
      </p:sp>
      <p:sp>
        <p:nvSpPr>
          <p:cNvPr id="28" name="object 28"/>
          <p:cNvSpPr/>
          <p:nvPr/>
        </p:nvSpPr>
        <p:spPr>
          <a:xfrm>
            <a:off x="2444495" y="5064252"/>
            <a:ext cx="5657215" cy="509270"/>
          </a:xfrm>
          <a:custGeom>
            <a:avLst/>
            <a:gdLst/>
            <a:ahLst/>
            <a:cxnLst/>
            <a:rect l="l" t="t" r="r" b="b"/>
            <a:pathLst>
              <a:path w="5657215" h="509270">
                <a:moveTo>
                  <a:pt x="0" y="509016"/>
                </a:moveTo>
                <a:lnTo>
                  <a:pt x="5657087" y="509016"/>
                </a:lnTo>
                <a:lnTo>
                  <a:pt x="5657087" y="0"/>
                </a:lnTo>
                <a:lnTo>
                  <a:pt x="0" y="0"/>
                </a:lnTo>
                <a:lnTo>
                  <a:pt x="0" y="509016"/>
                </a:lnTo>
                <a:close/>
              </a:path>
            </a:pathLst>
          </a:custGeom>
          <a:solidFill>
            <a:srgbClr val="B12500"/>
          </a:solidFill>
        </p:spPr>
        <p:txBody>
          <a:bodyPr wrap="square" lIns="0" tIns="0" rIns="0" bIns="0" rtlCol="0"/>
          <a:lstStyle/>
          <a:p>
            <a:endParaRPr/>
          </a:p>
        </p:txBody>
      </p:sp>
      <p:sp>
        <p:nvSpPr>
          <p:cNvPr id="29" name="object 29"/>
          <p:cNvSpPr/>
          <p:nvPr/>
        </p:nvSpPr>
        <p:spPr>
          <a:xfrm>
            <a:off x="2444495" y="5064252"/>
            <a:ext cx="5657215" cy="509270"/>
          </a:xfrm>
          <a:custGeom>
            <a:avLst/>
            <a:gdLst/>
            <a:ahLst/>
            <a:cxnLst/>
            <a:rect l="l" t="t" r="r" b="b"/>
            <a:pathLst>
              <a:path w="5657215" h="509270">
                <a:moveTo>
                  <a:pt x="0" y="509016"/>
                </a:moveTo>
                <a:lnTo>
                  <a:pt x="5657087" y="509016"/>
                </a:lnTo>
                <a:lnTo>
                  <a:pt x="5657087" y="0"/>
                </a:lnTo>
                <a:lnTo>
                  <a:pt x="0" y="0"/>
                </a:lnTo>
                <a:lnTo>
                  <a:pt x="0" y="509016"/>
                </a:lnTo>
                <a:close/>
              </a:path>
            </a:pathLst>
          </a:custGeom>
          <a:ln w="15239">
            <a:solidFill>
              <a:srgbClr val="FFFFFF"/>
            </a:solidFill>
          </a:ln>
        </p:spPr>
        <p:txBody>
          <a:bodyPr wrap="square" lIns="0" tIns="0" rIns="0" bIns="0" rtlCol="0"/>
          <a:lstStyle/>
          <a:p>
            <a:endParaRPr/>
          </a:p>
        </p:txBody>
      </p:sp>
      <p:sp>
        <p:nvSpPr>
          <p:cNvPr id="30" name="object 30"/>
          <p:cNvSpPr txBox="1"/>
          <p:nvPr/>
        </p:nvSpPr>
        <p:spPr>
          <a:xfrm>
            <a:off x="2835910" y="5068061"/>
            <a:ext cx="1953260" cy="436880"/>
          </a:xfrm>
          <a:prstGeom prst="rect">
            <a:avLst/>
          </a:prstGeom>
        </p:spPr>
        <p:txBody>
          <a:bodyPr vert="horz" wrap="square" lIns="0" tIns="12700" rIns="0" bIns="0" rtlCol="0">
            <a:spAutoFit/>
          </a:bodyPr>
          <a:lstStyle/>
          <a:p>
            <a:pPr marL="12700">
              <a:lnSpc>
                <a:spcPct val="100000"/>
              </a:lnSpc>
              <a:spcBef>
                <a:spcPts val="100"/>
              </a:spcBef>
            </a:pPr>
            <a:r>
              <a:rPr sz="2700" spc="-50" dirty="0">
                <a:solidFill>
                  <a:srgbClr val="FFFFFF"/>
                </a:solidFill>
                <a:latin typeface="Times New Roman"/>
                <a:cs typeface="Times New Roman"/>
              </a:rPr>
              <a:t>Taute’s</a:t>
            </a:r>
            <a:r>
              <a:rPr sz="2700" spc="-70" dirty="0">
                <a:solidFill>
                  <a:srgbClr val="FFFFFF"/>
                </a:solidFill>
                <a:latin typeface="Times New Roman"/>
                <a:cs typeface="Times New Roman"/>
              </a:rPr>
              <a:t> </a:t>
            </a:r>
            <a:r>
              <a:rPr sz="2700" spc="-5" dirty="0">
                <a:solidFill>
                  <a:srgbClr val="FFFFFF"/>
                </a:solidFill>
                <a:latin typeface="Times New Roman"/>
                <a:cs typeface="Times New Roman"/>
              </a:rPr>
              <a:t>model</a:t>
            </a:r>
            <a:endParaRPr sz="2700">
              <a:latin typeface="Times New Roman"/>
              <a:cs typeface="Times New Roman"/>
            </a:endParaRPr>
          </a:p>
        </p:txBody>
      </p:sp>
      <p:sp>
        <p:nvSpPr>
          <p:cNvPr id="31" name="object 31"/>
          <p:cNvSpPr/>
          <p:nvPr/>
        </p:nvSpPr>
        <p:spPr>
          <a:xfrm>
            <a:off x="2127504" y="5001767"/>
            <a:ext cx="635635" cy="634365"/>
          </a:xfrm>
          <a:custGeom>
            <a:avLst/>
            <a:gdLst/>
            <a:ahLst/>
            <a:cxnLst/>
            <a:rect l="l" t="t" r="r" b="b"/>
            <a:pathLst>
              <a:path w="635635" h="634364">
                <a:moveTo>
                  <a:pt x="317753" y="0"/>
                </a:moveTo>
                <a:lnTo>
                  <a:pt x="270793" y="3435"/>
                </a:lnTo>
                <a:lnTo>
                  <a:pt x="225973" y="13416"/>
                </a:lnTo>
                <a:lnTo>
                  <a:pt x="183786" y="29451"/>
                </a:lnTo>
                <a:lnTo>
                  <a:pt x="144723" y="51053"/>
                </a:lnTo>
                <a:lnTo>
                  <a:pt x="109274" y="77731"/>
                </a:lnTo>
                <a:lnTo>
                  <a:pt x="77931" y="108996"/>
                </a:lnTo>
                <a:lnTo>
                  <a:pt x="51186" y="144358"/>
                </a:lnTo>
                <a:lnTo>
                  <a:pt x="29529" y="183328"/>
                </a:lnTo>
                <a:lnTo>
                  <a:pt x="13451" y="225417"/>
                </a:lnTo>
                <a:lnTo>
                  <a:pt x="3444" y="270135"/>
                </a:lnTo>
                <a:lnTo>
                  <a:pt x="0" y="316991"/>
                </a:lnTo>
                <a:lnTo>
                  <a:pt x="3444" y="363820"/>
                </a:lnTo>
                <a:lnTo>
                  <a:pt x="13451" y="408520"/>
                </a:lnTo>
                <a:lnTo>
                  <a:pt x="29529" y="450600"/>
                </a:lnTo>
                <a:lnTo>
                  <a:pt x="51186" y="489569"/>
                </a:lnTo>
                <a:lnTo>
                  <a:pt x="77931" y="524936"/>
                </a:lnTo>
                <a:lnTo>
                  <a:pt x="109274" y="556209"/>
                </a:lnTo>
                <a:lnTo>
                  <a:pt x="144723" y="582898"/>
                </a:lnTo>
                <a:lnTo>
                  <a:pt x="183786" y="604511"/>
                </a:lnTo>
                <a:lnTo>
                  <a:pt x="225973" y="620557"/>
                </a:lnTo>
                <a:lnTo>
                  <a:pt x="270793" y="630545"/>
                </a:lnTo>
                <a:lnTo>
                  <a:pt x="317753" y="633983"/>
                </a:lnTo>
                <a:lnTo>
                  <a:pt x="364714" y="630545"/>
                </a:lnTo>
                <a:lnTo>
                  <a:pt x="409534" y="620557"/>
                </a:lnTo>
                <a:lnTo>
                  <a:pt x="451721" y="604511"/>
                </a:lnTo>
                <a:lnTo>
                  <a:pt x="490784" y="582898"/>
                </a:lnTo>
                <a:lnTo>
                  <a:pt x="526233" y="556209"/>
                </a:lnTo>
                <a:lnTo>
                  <a:pt x="557576" y="524936"/>
                </a:lnTo>
                <a:lnTo>
                  <a:pt x="584321" y="489569"/>
                </a:lnTo>
                <a:lnTo>
                  <a:pt x="605978" y="450600"/>
                </a:lnTo>
                <a:lnTo>
                  <a:pt x="622056" y="408520"/>
                </a:lnTo>
                <a:lnTo>
                  <a:pt x="632063" y="363820"/>
                </a:lnTo>
                <a:lnTo>
                  <a:pt x="635507" y="316991"/>
                </a:lnTo>
                <a:lnTo>
                  <a:pt x="632063" y="270135"/>
                </a:lnTo>
                <a:lnTo>
                  <a:pt x="622056" y="225417"/>
                </a:lnTo>
                <a:lnTo>
                  <a:pt x="605978" y="183328"/>
                </a:lnTo>
                <a:lnTo>
                  <a:pt x="584321" y="144358"/>
                </a:lnTo>
                <a:lnTo>
                  <a:pt x="557576" y="108996"/>
                </a:lnTo>
                <a:lnTo>
                  <a:pt x="526233" y="77731"/>
                </a:lnTo>
                <a:lnTo>
                  <a:pt x="490784" y="51053"/>
                </a:lnTo>
                <a:lnTo>
                  <a:pt x="451721" y="29451"/>
                </a:lnTo>
                <a:lnTo>
                  <a:pt x="409534" y="13416"/>
                </a:lnTo>
                <a:lnTo>
                  <a:pt x="364714" y="3435"/>
                </a:lnTo>
                <a:lnTo>
                  <a:pt x="317753" y="0"/>
                </a:lnTo>
                <a:close/>
              </a:path>
            </a:pathLst>
          </a:custGeom>
          <a:solidFill>
            <a:srgbClr val="FFFFFF"/>
          </a:solidFill>
        </p:spPr>
        <p:txBody>
          <a:bodyPr wrap="square" lIns="0" tIns="0" rIns="0" bIns="0" rtlCol="0"/>
          <a:lstStyle/>
          <a:p>
            <a:endParaRPr/>
          </a:p>
        </p:txBody>
      </p:sp>
      <p:sp>
        <p:nvSpPr>
          <p:cNvPr id="32" name="object 32"/>
          <p:cNvSpPr/>
          <p:nvPr/>
        </p:nvSpPr>
        <p:spPr>
          <a:xfrm>
            <a:off x="2127504" y="5001767"/>
            <a:ext cx="635635" cy="634365"/>
          </a:xfrm>
          <a:custGeom>
            <a:avLst/>
            <a:gdLst/>
            <a:ahLst/>
            <a:cxnLst/>
            <a:rect l="l" t="t" r="r" b="b"/>
            <a:pathLst>
              <a:path w="635635" h="634364">
                <a:moveTo>
                  <a:pt x="0" y="316991"/>
                </a:moveTo>
                <a:lnTo>
                  <a:pt x="3444" y="270135"/>
                </a:lnTo>
                <a:lnTo>
                  <a:pt x="13451" y="225417"/>
                </a:lnTo>
                <a:lnTo>
                  <a:pt x="29529" y="183328"/>
                </a:lnTo>
                <a:lnTo>
                  <a:pt x="51186" y="144358"/>
                </a:lnTo>
                <a:lnTo>
                  <a:pt x="77931" y="108996"/>
                </a:lnTo>
                <a:lnTo>
                  <a:pt x="109274" y="77731"/>
                </a:lnTo>
                <a:lnTo>
                  <a:pt x="144723" y="51053"/>
                </a:lnTo>
                <a:lnTo>
                  <a:pt x="183786" y="29451"/>
                </a:lnTo>
                <a:lnTo>
                  <a:pt x="225973" y="13416"/>
                </a:lnTo>
                <a:lnTo>
                  <a:pt x="270793" y="3435"/>
                </a:lnTo>
                <a:lnTo>
                  <a:pt x="317753" y="0"/>
                </a:lnTo>
                <a:lnTo>
                  <a:pt x="364714" y="3435"/>
                </a:lnTo>
                <a:lnTo>
                  <a:pt x="409534" y="13416"/>
                </a:lnTo>
                <a:lnTo>
                  <a:pt x="451721" y="29451"/>
                </a:lnTo>
                <a:lnTo>
                  <a:pt x="490784" y="51053"/>
                </a:lnTo>
                <a:lnTo>
                  <a:pt x="526233" y="77731"/>
                </a:lnTo>
                <a:lnTo>
                  <a:pt x="557576" y="108996"/>
                </a:lnTo>
                <a:lnTo>
                  <a:pt x="584321" y="144358"/>
                </a:lnTo>
                <a:lnTo>
                  <a:pt x="605978" y="183328"/>
                </a:lnTo>
                <a:lnTo>
                  <a:pt x="622056" y="225417"/>
                </a:lnTo>
                <a:lnTo>
                  <a:pt x="632063" y="270135"/>
                </a:lnTo>
                <a:lnTo>
                  <a:pt x="635507" y="316991"/>
                </a:lnTo>
                <a:lnTo>
                  <a:pt x="632063" y="363820"/>
                </a:lnTo>
                <a:lnTo>
                  <a:pt x="622056" y="408520"/>
                </a:lnTo>
                <a:lnTo>
                  <a:pt x="605978" y="450600"/>
                </a:lnTo>
                <a:lnTo>
                  <a:pt x="584321" y="489569"/>
                </a:lnTo>
                <a:lnTo>
                  <a:pt x="557576" y="524936"/>
                </a:lnTo>
                <a:lnTo>
                  <a:pt x="526233" y="556209"/>
                </a:lnTo>
                <a:lnTo>
                  <a:pt x="490784" y="582898"/>
                </a:lnTo>
                <a:lnTo>
                  <a:pt x="451721" y="604511"/>
                </a:lnTo>
                <a:lnTo>
                  <a:pt x="409534" y="620557"/>
                </a:lnTo>
                <a:lnTo>
                  <a:pt x="364714" y="630545"/>
                </a:lnTo>
                <a:lnTo>
                  <a:pt x="317753" y="633983"/>
                </a:lnTo>
                <a:lnTo>
                  <a:pt x="270793" y="630545"/>
                </a:lnTo>
                <a:lnTo>
                  <a:pt x="225973" y="620557"/>
                </a:lnTo>
                <a:lnTo>
                  <a:pt x="183786" y="604511"/>
                </a:lnTo>
                <a:lnTo>
                  <a:pt x="144723" y="582898"/>
                </a:lnTo>
                <a:lnTo>
                  <a:pt x="109274" y="556209"/>
                </a:lnTo>
                <a:lnTo>
                  <a:pt x="77931" y="524936"/>
                </a:lnTo>
                <a:lnTo>
                  <a:pt x="51186" y="489569"/>
                </a:lnTo>
                <a:lnTo>
                  <a:pt x="29529" y="450600"/>
                </a:lnTo>
                <a:lnTo>
                  <a:pt x="13451" y="408520"/>
                </a:lnTo>
                <a:lnTo>
                  <a:pt x="3444" y="363820"/>
                </a:lnTo>
                <a:lnTo>
                  <a:pt x="0" y="316991"/>
                </a:lnTo>
                <a:close/>
              </a:path>
            </a:pathLst>
          </a:custGeom>
          <a:ln w="15239">
            <a:solidFill>
              <a:srgbClr val="B12500"/>
            </a:solidFill>
          </a:ln>
        </p:spPr>
        <p:txBody>
          <a:bodyPr wrap="square" lIns="0" tIns="0" rIns="0" bIns="0" rtlCol="0"/>
          <a:lstStyle/>
          <a:p>
            <a:endParaRPr/>
          </a:p>
        </p:txBody>
      </p:sp>
      <p:sp>
        <p:nvSpPr>
          <p:cNvPr id="33" name="object 33"/>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88983" y="1350391"/>
            <a:ext cx="188595" cy="1672589"/>
          </a:xfrm>
          <a:prstGeom prst="rect">
            <a:avLst/>
          </a:prstGeom>
        </p:spPr>
        <p:txBody>
          <a:bodyPr vert="horz" wrap="square" lIns="0" tIns="13335" rIns="0" bIns="0" rtlCol="0">
            <a:spAutoFit/>
          </a:bodyPr>
          <a:lstStyle/>
          <a:p>
            <a:pPr marL="12700" marR="5080" indent="25400" algn="just">
              <a:lnSpc>
                <a:spcPct val="100000"/>
              </a:lnSpc>
              <a:spcBef>
                <a:spcPts val="105"/>
              </a:spcBef>
            </a:pPr>
            <a:r>
              <a:rPr sz="1350" dirty="0">
                <a:solidFill>
                  <a:srgbClr val="FFFFFF"/>
                </a:solidFill>
                <a:latin typeface="Arial"/>
                <a:cs typeface="Arial"/>
              </a:rPr>
              <a:t>S  O  F  T  W  A  R  E</a:t>
            </a:r>
            <a:endParaRPr sz="1350">
              <a:latin typeface="Arial"/>
              <a:cs typeface="Arial"/>
            </a:endParaRPr>
          </a:p>
        </p:txBody>
      </p:sp>
      <p:sp>
        <p:nvSpPr>
          <p:cNvPr id="3" name="object 3"/>
          <p:cNvSpPr txBox="1"/>
          <p:nvPr/>
        </p:nvSpPr>
        <p:spPr>
          <a:xfrm>
            <a:off x="8901176" y="3202304"/>
            <a:ext cx="168910" cy="2290445"/>
          </a:xfrm>
          <a:prstGeom prst="rect">
            <a:avLst/>
          </a:prstGeom>
        </p:spPr>
        <p:txBody>
          <a:bodyPr vert="horz" wrap="square" lIns="0" tIns="13335" rIns="0" bIns="0" rtlCol="0">
            <a:spAutoFit/>
          </a:bodyPr>
          <a:lstStyle/>
          <a:p>
            <a:pPr marL="21590" marR="5080" indent="-9525" algn="just">
              <a:lnSpc>
                <a:spcPct val="100000"/>
              </a:lnSpc>
              <a:spcBef>
                <a:spcPts val="105"/>
              </a:spcBef>
            </a:pPr>
            <a:r>
              <a:rPr sz="1350" dirty="0">
                <a:solidFill>
                  <a:srgbClr val="FFFFFF"/>
                </a:solidFill>
                <a:latin typeface="Arial"/>
                <a:cs typeface="Arial"/>
              </a:rPr>
              <a:t>M  A  I  N  T  E  N  A  N  C  </a:t>
            </a:r>
            <a:r>
              <a:rPr sz="1350" spc="5" dirty="0">
                <a:solidFill>
                  <a:srgbClr val="FFFFFF"/>
                </a:solidFill>
                <a:latin typeface="Arial"/>
                <a:cs typeface="Arial"/>
              </a:rPr>
              <a:t>E</a:t>
            </a:r>
            <a:endParaRPr sz="1350">
              <a:latin typeface="Arial"/>
              <a:cs typeface="Arial"/>
            </a:endParaRPr>
          </a:p>
        </p:txBody>
      </p:sp>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1680"/>
            <a:ext cx="3569970"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252525"/>
                </a:solidFill>
                <a:latin typeface="Times New Roman"/>
                <a:cs typeface="Times New Roman"/>
              </a:rPr>
              <a:t>1. </a:t>
            </a:r>
            <a:r>
              <a:rPr sz="3600" spc="-5" dirty="0">
                <a:solidFill>
                  <a:srgbClr val="252525"/>
                </a:solidFill>
                <a:latin typeface="Times New Roman"/>
                <a:cs typeface="Times New Roman"/>
              </a:rPr>
              <a:t>Quick-fix</a:t>
            </a:r>
            <a:r>
              <a:rPr sz="3600" spc="-50" dirty="0">
                <a:solidFill>
                  <a:srgbClr val="252525"/>
                </a:solidFill>
                <a:latin typeface="Times New Roman"/>
                <a:cs typeface="Times New Roman"/>
              </a:rPr>
              <a:t> </a:t>
            </a:r>
            <a:r>
              <a:rPr sz="3600" dirty="0">
                <a:solidFill>
                  <a:srgbClr val="252525"/>
                </a:solidFill>
                <a:latin typeface="Times New Roman"/>
                <a:cs typeface="Times New Roman"/>
              </a:rPr>
              <a:t>Model</a:t>
            </a:r>
            <a:endParaRPr sz="3600">
              <a:latin typeface="Times New Roman"/>
              <a:cs typeface="Times New Roman"/>
            </a:endParaRPr>
          </a:p>
        </p:txBody>
      </p:sp>
      <p:sp>
        <p:nvSpPr>
          <p:cNvPr id="6" name="object 6"/>
          <p:cNvSpPr txBox="1"/>
          <p:nvPr/>
        </p:nvSpPr>
        <p:spPr>
          <a:xfrm>
            <a:off x="1277492" y="2049907"/>
            <a:ext cx="3840479" cy="3698875"/>
          </a:xfrm>
          <a:prstGeom prst="rect">
            <a:avLst/>
          </a:prstGeom>
        </p:spPr>
        <p:txBody>
          <a:bodyPr vert="horz" wrap="square" lIns="0" tIns="12700" rIns="0" bIns="0" rtlCol="0">
            <a:spAutoFit/>
          </a:bodyPr>
          <a:lstStyle/>
          <a:p>
            <a:pPr marL="355600" marR="6350" indent="-342900" algn="just">
              <a:lnSpc>
                <a:spcPct val="100000"/>
              </a:lnSpc>
              <a:spcBef>
                <a:spcPts val="100"/>
              </a:spcBef>
              <a:buClr>
                <a:srgbClr val="E84B21"/>
              </a:buClr>
              <a:buFont typeface="Wingdings"/>
              <a:buChar char=""/>
              <a:tabLst>
                <a:tab pos="356235" algn="l"/>
              </a:tabLst>
            </a:pPr>
            <a:r>
              <a:rPr sz="1800" dirty="0">
                <a:solidFill>
                  <a:srgbClr val="404040"/>
                </a:solidFill>
                <a:latin typeface="Times New Roman"/>
                <a:cs typeface="Times New Roman"/>
              </a:rPr>
              <a:t>This </a:t>
            </a:r>
            <a:r>
              <a:rPr sz="1800" spc="-5" dirty="0">
                <a:solidFill>
                  <a:srgbClr val="404040"/>
                </a:solidFill>
                <a:latin typeface="Times New Roman"/>
                <a:cs typeface="Times New Roman"/>
              </a:rPr>
              <a:t>is basically </a:t>
            </a:r>
            <a:r>
              <a:rPr sz="1800" dirty="0">
                <a:solidFill>
                  <a:srgbClr val="404040"/>
                </a:solidFill>
                <a:latin typeface="Times New Roman"/>
                <a:cs typeface="Times New Roman"/>
              </a:rPr>
              <a:t>an </a:t>
            </a:r>
            <a:r>
              <a:rPr sz="1800" spc="-5" dirty="0">
                <a:solidFill>
                  <a:srgbClr val="404040"/>
                </a:solidFill>
                <a:latin typeface="Times New Roman"/>
                <a:cs typeface="Times New Roman"/>
              </a:rPr>
              <a:t>adhoc approach  </a:t>
            </a:r>
            <a:r>
              <a:rPr sz="1800" dirty="0">
                <a:solidFill>
                  <a:srgbClr val="404040"/>
                </a:solidFill>
                <a:latin typeface="Times New Roman"/>
                <a:cs typeface="Times New Roman"/>
              </a:rPr>
              <a:t>to </a:t>
            </a:r>
            <a:r>
              <a:rPr sz="1800" spc="-5" dirty="0">
                <a:solidFill>
                  <a:srgbClr val="404040"/>
                </a:solidFill>
                <a:latin typeface="Times New Roman"/>
                <a:cs typeface="Times New Roman"/>
              </a:rPr>
              <a:t>maintaining </a:t>
            </a:r>
            <a:r>
              <a:rPr sz="1800" dirty="0">
                <a:solidFill>
                  <a:srgbClr val="404040"/>
                </a:solidFill>
                <a:latin typeface="Times New Roman"/>
                <a:cs typeface="Times New Roman"/>
              </a:rPr>
              <a:t>software. It </a:t>
            </a:r>
            <a:r>
              <a:rPr sz="1800" spc="-5" dirty="0">
                <a:solidFill>
                  <a:srgbClr val="404040"/>
                </a:solidFill>
                <a:latin typeface="Times New Roman"/>
                <a:cs typeface="Times New Roman"/>
              </a:rPr>
              <a:t>is </a:t>
            </a:r>
            <a:r>
              <a:rPr sz="1800" dirty="0">
                <a:solidFill>
                  <a:srgbClr val="404040"/>
                </a:solidFill>
                <a:latin typeface="Times New Roman"/>
                <a:cs typeface="Times New Roman"/>
              </a:rPr>
              <a:t>a fire  fighting </a:t>
            </a:r>
            <a:r>
              <a:rPr sz="1800" spc="-5" dirty="0">
                <a:solidFill>
                  <a:srgbClr val="404040"/>
                </a:solidFill>
                <a:latin typeface="Times New Roman"/>
                <a:cs typeface="Times New Roman"/>
              </a:rPr>
              <a:t>approach, </a:t>
            </a:r>
            <a:r>
              <a:rPr sz="1800" dirty="0">
                <a:solidFill>
                  <a:srgbClr val="404040"/>
                </a:solidFill>
                <a:latin typeface="Times New Roman"/>
                <a:cs typeface="Times New Roman"/>
              </a:rPr>
              <a:t>waiting for </a:t>
            </a:r>
            <a:r>
              <a:rPr sz="1800" spc="-5" dirty="0">
                <a:solidFill>
                  <a:srgbClr val="404040"/>
                </a:solidFill>
                <a:latin typeface="Times New Roman"/>
                <a:cs typeface="Times New Roman"/>
              </a:rPr>
              <a:t>the  </a:t>
            </a:r>
            <a:r>
              <a:rPr sz="1800" dirty="0">
                <a:solidFill>
                  <a:srgbClr val="404040"/>
                </a:solidFill>
                <a:latin typeface="Times New Roman"/>
                <a:cs typeface="Times New Roman"/>
              </a:rPr>
              <a:t>problem to </a:t>
            </a:r>
            <a:r>
              <a:rPr sz="1800" spc="-5" dirty="0">
                <a:solidFill>
                  <a:srgbClr val="404040"/>
                </a:solidFill>
                <a:latin typeface="Times New Roman"/>
                <a:cs typeface="Times New Roman"/>
              </a:rPr>
              <a:t>occur </a:t>
            </a:r>
            <a:r>
              <a:rPr sz="1800" dirty="0">
                <a:solidFill>
                  <a:srgbClr val="404040"/>
                </a:solidFill>
                <a:latin typeface="Times New Roman"/>
                <a:cs typeface="Times New Roman"/>
              </a:rPr>
              <a:t>and </a:t>
            </a:r>
            <a:r>
              <a:rPr sz="1800" spc="-5" dirty="0">
                <a:solidFill>
                  <a:srgbClr val="404040"/>
                </a:solidFill>
                <a:latin typeface="Times New Roman"/>
                <a:cs typeface="Times New Roman"/>
              </a:rPr>
              <a:t>then trying </a:t>
            </a:r>
            <a:r>
              <a:rPr sz="1800" dirty="0">
                <a:solidFill>
                  <a:srgbClr val="404040"/>
                </a:solidFill>
                <a:latin typeface="Times New Roman"/>
                <a:cs typeface="Times New Roman"/>
              </a:rPr>
              <a:t>to  fix it </a:t>
            </a:r>
            <a:r>
              <a:rPr sz="1800" spc="-5" dirty="0">
                <a:solidFill>
                  <a:srgbClr val="404040"/>
                </a:solidFill>
                <a:latin typeface="Times New Roman"/>
                <a:cs typeface="Times New Roman"/>
              </a:rPr>
              <a:t>as </a:t>
            </a:r>
            <a:r>
              <a:rPr sz="1800" dirty="0">
                <a:solidFill>
                  <a:srgbClr val="404040"/>
                </a:solidFill>
                <a:latin typeface="Times New Roman"/>
                <a:cs typeface="Times New Roman"/>
              </a:rPr>
              <a:t>quickly </a:t>
            </a:r>
            <a:r>
              <a:rPr sz="1800" spc="-5" dirty="0">
                <a:solidFill>
                  <a:srgbClr val="404040"/>
                </a:solidFill>
                <a:latin typeface="Times New Roman"/>
                <a:cs typeface="Times New Roman"/>
              </a:rPr>
              <a:t>as</a:t>
            </a:r>
            <a:r>
              <a:rPr sz="1800" spc="-35" dirty="0">
                <a:solidFill>
                  <a:srgbClr val="404040"/>
                </a:solidFill>
                <a:latin typeface="Times New Roman"/>
                <a:cs typeface="Times New Roman"/>
              </a:rPr>
              <a:t> </a:t>
            </a:r>
            <a:r>
              <a:rPr sz="1800" spc="-5" dirty="0">
                <a:solidFill>
                  <a:srgbClr val="404040"/>
                </a:solidFill>
                <a:latin typeface="Times New Roman"/>
                <a:cs typeface="Times New Roman"/>
              </a:rPr>
              <a:t>possible.</a:t>
            </a:r>
            <a:endParaRPr sz="1800">
              <a:latin typeface="Times New Roman"/>
              <a:cs typeface="Times New Roman"/>
            </a:endParaRPr>
          </a:p>
          <a:p>
            <a:pPr marL="355600" marR="5080" indent="-342900" algn="just">
              <a:lnSpc>
                <a:spcPct val="100000"/>
              </a:lnSpc>
              <a:spcBef>
                <a:spcPts val="994"/>
              </a:spcBef>
              <a:buClr>
                <a:srgbClr val="E84B21"/>
              </a:buClr>
              <a:buFont typeface="Wingdings"/>
              <a:buChar char=""/>
              <a:tabLst>
                <a:tab pos="356235" algn="l"/>
              </a:tabLst>
            </a:pPr>
            <a:r>
              <a:rPr sz="1800" dirty="0">
                <a:solidFill>
                  <a:srgbClr val="404040"/>
                </a:solidFill>
                <a:latin typeface="Times New Roman"/>
                <a:cs typeface="Times New Roman"/>
              </a:rPr>
              <a:t>Changes are </a:t>
            </a:r>
            <a:r>
              <a:rPr sz="1800" spc="-5" dirty="0">
                <a:solidFill>
                  <a:srgbClr val="404040"/>
                </a:solidFill>
                <a:latin typeface="Times New Roman"/>
                <a:cs typeface="Times New Roman"/>
              </a:rPr>
              <a:t>made at </a:t>
            </a:r>
            <a:r>
              <a:rPr sz="1800" dirty="0">
                <a:solidFill>
                  <a:srgbClr val="404040"/>
                </a:solidFill>
                <a:latin typeface="Times New Roman"/>
                <a:cs typeface="Times New Roman"/>
              </a:rPr>
              <a:t>code </a:t>
            </a:r>
            <a:r>
              <a:rPr sz="1800" spc="-5" dirty="0">
                <a:solidFill>
                  <a:srgbClr val="404040"/>
                </a:solidFill>
                <a:latin typeface="Times New Roman"/>
                <a:cs typeface="Times New Roman"/>
              </a:rPr>
              <a:t>level</a:t>
            </a:r>
            <a:r>
              <a:rPr sz="1800" spc="345" dirty="0">
                <a:solidFill>
                  <a:srgbClr val="404040"/>
                </a:solidFill>
                <a:latin typeface="Times New Roman"/>
                <a:cs typeface="Times New Roman"/>
              </a:rPr>
              <a:t> </a:t>
            </a:r>
            <a:r>
              <a:rPr sz="1800" dirty="0">
                <a:solidFill>
                  <a:srgbClr val="404040"/>
                </a:solidFill>
                <a:latin typeface="Times New Roman"/>
                <a:cs typeface="Times New Roman"/>
              </a:rPr>
              <a:t>as  </a:t>
            </a:r>
            <a:r>
              <a:rPr sz="1800" spc="-5" dirty="0">
                <a:solidFill>
                  <a:srgbClr val="404040"/>
                </a:solidFill>
                <a:latin typeface="Times New Roman"/>
                <a:cs typeface="Times New Roman"/>
              </a:rPr>
              <a:t>early as possible without anticipating  </a:t>
            </a:r>
            <a:r>
              <a:rPr sz="1800" dirty="0">
                <a:solidFill>
                  <a:srgbClr val="404040"/>
                </a:solidFill>
                <a:latin typeface="Times New Roman"/>
                <a:cs typeface="Times New Roman"/>
              </a:rPr>
              <a:t>future</a:t>
            </a:r>
            <a:r>
              <a:rPr sz="1800" spc="-5" dirty="0">
                <a:solidFill>
                  <a:srgbClr val="404040"/>
                </a:solidFill>
                <a:latin typeface="Times New Roman"/>
                <a:cs typeface="Times New Roman"/>
              </a:rPr>
              <a:t> problems.</a:t>
            </a:r>
            <a:endParaRPr sz="1800">
              <a:latin typeface="Times New Roman"/>
              <a:cs typeface="Times New Roman"/>
            </a:endParaRPr>
          </a:p>
          <a:p>
            <a:pPr marL="355600" marR="8255" indent="-342900" algn="just">
              <a:lnSpc>
                <a:spcPct val="100000"/>
              </a:lnSpc>
              <a:spcBef>
                <a:spcPts val="1010"/>
              </a:spcBef>
              <a:buClr>
                <a:srgbClr val="E84B21"/>
              </a:buClr>
              <a:buFont typeface="Wingdings"/>
              <a:buChar char=""/>
              <a:tabLst>
                <a:tab pos="356235" algn="l"/>
              </a:tabLst>
            </a:pPr>
            <a:r>
              <a:rPr sz="1800" spc="-5" dirty="0">
                <a:solidFill>
                  <a:srgbClr val="404040"/>
                </a:solidFill>
                <a:latin typeface="Times New Roman"/>
                <a:cs typeface="Times New Roman"/>
              </a:rPr>
              <a:t>As </a:t>
            </a:r>
            <a:r>
              <a:rPr sz="1800" dirty="0">
                <a:solidFill>
                  <a:srgbClr val="404040"/>
                </a:solidFill>
                <a:latin typeface="Times New Roman"/>
                <a:cs typeface="Times New Roman"/>
              </a:rPr>
              <a:t>a result, </a:t>
            </a:r>
            <a:r>
              <a:rPr sz="1800" spc="-5" dirty="0">
                <a:solidFill>
                  <a:srgbClr val="404040"/>
                </a:solidFill>
                <a:latin typeface="Times New Roman"/>
                <a:cs typeface="Times New Roman"/>
              </a:rPr>
              <a:t>the </a:t>
            </a:r>
            <a:r>
              <a:rPr sz="1800" dirty="0">
                <a:solidFill>
                  <a:srgbClr val="404040"/>
                </a:solidFill>
                <a:latin typeface="Times New Roman"/>
                <a:cs typeface="Times New Roman"/>
              </a:rPr>
              <a:t>structure of </a:t>
            </a:r>
            <a:r>
              <a:rPr sz="1800" spc="-5" dirty="0">
                <a:solidFill>
                  <a:srgbClr val="404040"/>
                </a:solidFill>
                <a:latin typeface="Times New Roman"/>
                <a:cs typeface="Times New Roman"/>
              </a:rPr>
              <a:t>software  </a:t>
            </a:r>
            <a:r>
              <a:rPr sz="1800" dirty="0">
                <a:solidFill>
                  <a:srgbClr val="404040"/>
                </a:solidFill>
                <a:latin typeface="Times New Roman"/>
                <a:cs typeface="Times New Roman"/>
              </a:rPr>
              <a:t>degrade</a:t>
            </a:r>
            <a:r>
              <a:rPr sz="1800" spc="-15" dirty="0">
                <a:solidFill>
                  <a:srgbClr val="404040"/>
                </a:solidFill>
                <a:latin typeface="Times New Roman"/>
                <a:cs typeface="Times New Roman"/>
              </a:rPr>
              <a:t> rapidly.</a:t>
            </a:r>
            <a:endParaRPr sz="1800">
              <a:latin typeface="Times New Roman"/>
              <a:cs typeface="Times New Roman"/>
            </a:endParaRPr>
          </a:p>
          <a:p>
            <a:pPr marL="355600" marR="8255" indent="-342900" algn="just">
              <a:lnSpc>
                <a:spcPct val="100000"/>
              </a:lnSpc>
              <a:spcBef>
                <a:spcPts val="1000"/>
              </a:spcBef>
              <a:buClr>
                <a:srgbClr val="E84B21"/>
              </a:buClr>
              <a:buFont typeface="Wingdings"/>
              <a:buChar char=""/>
              <a:tabLst>
                <a:tab pos="356235" algn="l"/>
              </a:tabLst>
            </a:pPr>
            <a:r>
              <a:rPr sz="1800" spc="-5" dirty="0">
                <a:solidFill>
                  <a:srgbClr val="404040"/>
                </a:solidFill>
                <a:latin typeface="Times New Roman"/>
                <a:cs typeface="Times New Roman"/>
              </a:rPr>
              <a:t>Not </a:t>
            </a:r>
            <a:r>
              <a:rPr sz="1800" dirty="0">
                <a:solidFill>
                  <a:srgbClr val="404040"/>
                </a:solidFill>
                <a:latin typeface="Times New Roman"/>
                <a:cs typeface="Times New Roman"/>
              </a:rPr>
              <a:t>suitable for </a:t>
            </a:r>
            <a:r>
              <a:rPr sz="1800" spc="-10" dirty="0">
                <a:solidFill>
                  <a:srgbClr val="404040"/>
                </a:solidFill>
                <a:latin typeface="Times New Roman"/>
                <a:cs typeface="Times New Roman"/>
              </a:rPr>
              <a:t>large </a:t>
            </a:r>
            <a:r>
              <a:rPr sz="1800" spc="-5" dirty="0">
                <a:solidFill>
                  <a:srgbClr val="404040"/>
                </a:solidFill>
                <a:latin typeface="Times New Roman"/>
                <a:cs typeface="Times New Roman"/>
              </a:rPr>
              <a:t>software  </a:t>
            </a:r>
            <a:r>
              <a:rPr sz="1800" dirty="0">
                <a:solidFill>
                  <a:srgbClr val="404040"/>
                </a:solidFill>
                <a:latin typeface="Times New Roman"/>
                <a:cs typeface="Times New Roman"/>
              </a:rPr>
              <a:t>systems.</a:t>
            </a:r>
            <a:endParaRPr sz="1800">
              <a:latin typeface="Times New Roman"/>
              <a:cs typeface="Times New Roman"/>
            </a:endParaRPr>
          </a:p>
        </p:txBody>
      </p:sp>
      <p:sp>
        <p:nvSpPr>
          <p:cNvPr id="7" name="object 7"/>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13</a:t>
            </a:r>
            <a:endParaRPr sz="2000">
              <a:latin typeface="Arial"/>
              <a:cs typeface="Arial"/>
            </a:endParaRPr>
          </a:p>
        </p:txBody>
      </p:sp>
      <p:sp>
        <p:nvSpPr>
          <p:cNvPr id="8" name="object 8"/>
          <p:cNvSpPr/>
          <p:nvPr/>
        </p:nvSpPr>
        <p:spPr>
          <a:xfrm>
            <a:off x="5212079" y="5158738"/>
            <a:ext cx="3627120" cy="1699260"/>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5227320" y="2023872"/>
            <a:ext cx="3596640" cy="3145790"/>
          </a:xfrm>
          <a:custGeom>
            <a:avLst/>
            <a:gdLst/>
            <a:ahLst/>
            <a:cxnLst/>
            <a:rect l="l" t="t" r="r" b="b"/>
            <a:pathLst>
              <a:path w="3596640" h="3145790">
                <a:moveTo>
                  <a:pt x="3326256" y="0"/>
                </a:moveTo>
                <a:lnTo>
                  <a:pt x="270382" y="0"/>
                </a:lnTo>
                <a:lnTo>
                  <a:pt x="221775" y="4355"/>
                </a:lnTo>
                <a:lnTo>
                  <a:pt x="176028" y="16913"/>
                </a:lnTo>
                <a:lnTo>
                  <a:pt x="133905" y="36909"/>
                </a:lnTo>
                <a:lnTo>
                  <a:pt x="96168" y="63582"/>
                </a:lnTo>
                <a:lnTo>
                  <a:pt x="63582" y="96168"/>
                </a:lnTo>
                <a:lnTo>
                  <a:pt x="36909" y="133905"/>
                </a:lnTo>
                <a:lnTo>
                  <a:pt x="16913" y="176028"/>
                </a:lnTo>
                <a:lnTo>
                  <a:pt x="4355" y="221775"/>
                </a:lnTo>
                <a:lnTo>
                  <a:pt x="0" y="270382"/>
                </a:lnTo>
                <a:lnTo>
                  <a:pt x="0" y="2875153"/>
                </a:lnTo>
                <a:lnTo>
                  <a:pt x="4355" y="2923760"/>
                </a:lnTo>
                <a:lnTo>
                  <a:pt x="16913" y="2969507"/>
                </a:lnTo>
                <a:lnTo>
                  <a:pt x="36909" y="3011630"/>
                </a:lnTo>
                <a:lnTo>
                  <a:pt x="63582" y="3049367"/>
                </a:lnTo>
                <a:lnTo>
                  <a:pt x="96168" y="3081953"/>
                </a:lnTo>
                <a:lnTo>
                  <a:pt x="133905" y="3108626"/>
                </a:lnTo>
                <a:lnTo>
                  <a:pt x="176028" y="3128622"/>
                </a:lnTo>
                <a:lnTo>
                  <a:pt x="221775" y="3141180"/>
                </a:lnTo>
                <a:lnTo>
                  <a:pt x="270382" y="3145535"/>
                </a:lnTo>
                <a:lnTo>
                  <a:pt x="3326256" y="3145535"/>
                </a:lnTo>
                <a:lnTo>
                  <a:pt x="3374864" y="3141180"/>
                </a:lnTo>
                <a:lnTo>
                  <a:pt x="3420611" y="3128622"/>
                </a:lnTo>
                <a:lnTo>
                  <a:pt x="3462734" y="3108626"/>
                </a:lnTo>
                <a:lnTo>
                  <a:pt x="3500471" y="3081953"/>
                </a:lnTo>
                <a:lnTo>
                  <a:pt x="3533057" y="3049367"/>
                </a:lnTo>
                <a:lnTo>
                  <a:pt x="3559730" y="3011630"/>
                </a:lnTo>
                <a:lnTo>
                  <a:pt x="3579726" y="2969507"/>
                </a:lnTo>
                <a:lnTo>
                  <a:pt x="3592284" y="2923760"/>
                </a:lnTo>
                <a:lnTo>
                  <a:pt x="3596639" y="2875153"/>
                </a:lnTo>
                <a:lnTo>
                  <a:pt x="3596639" y="270382"/>
                </a:lnTo>
                <a:lnTo>
                  <a:pt x="3592284" y="221775"/>
                </a:lnTo>
                <a:lnTo>
                  <a:pt x="3579726" y="176028"/>
                </a:lnTo>
                <a:lnTo>
                  <a:pt x="3559730" y="133905"/>
                </a:lnTo>
                <a:lnTo>
                  <a:pt x="3533057" y="96168"/>
                </a:lnTo>
                <a:lnTo>
                  <a:pt x="3500471" y="63582"/>
                </a:lnTo>
                <a:lnTo>
                  <a:pt x="3462734" y="36909"/>
                </a:lnTo>
                <a:lnTo>
                  <a:pt x="3420611" y="16913"/>
                </a:lnTo>
                <a:lnTo>
                  <a:pt x="3374864" y="4355"/>
                </a:lnTo>
                <a:lnTo>
                  <a:pt x="3326256" y="0"/>
                </a:lnTo>
                <a:close/>
              </a:path>
            </a:pathLst>
          </a:custGeom>
          <a:solidFill>
            <a:srgbClr val="ECECEC"/>
          </a:solidFill>
        </p:spPr>
        <p:txBody>
          <a:bodyPr wrap="square" lIns="0" tIns="0" rIns="0" bIns="0" rtlCol="0"/>
          <a:lstStyle/>
          <a:p>
            <a:endParaRPr/>
          </a:p>
        </p:txBody>
      </p:sp>
      <p:sp>
        <p:nvSpPr>
          <p:cNvPr id="10" name="object 10"/>
          <p:cNvSpPr/>
          <p:nvPr/>
        </p:nvSpPr>
        <p:spPr>
          <a:xfrm>
            <a:off x="5227320" y="2023872"/>
            <a:ext cx="3596639" cy="3145535"/>
          </a:xfrm>
          <a:prstGeom prst="rect">
            <a:avLst/>
          </a:prstGeom>
          <a:blipFill>
            <a:blip r:embed="rId3" cstate="print"/>
            <a:stretch>
              <a:fillRect/>
            </a:stretch>
          </a:blipFill>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4943475"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2. </a:t>
            </a:r>
            <a:r>
              <a:rPr sz="3000" spc="-5" dirty="0">
                <a:solidFill>
                  <a:srgbClr val="252525"/>
                </a:solidFill>
                <a:latin typeface="Times New Roman"/>
                <a:cs typeface="Times New Roman"/>
              </a:rPr>
              <a:t>Iterative Enhancement</a:t>
            </a:r>
            <a:r>
              <a:rPr sz="3000" spc="55" dirty="0">
                <a:solidFill>
                  <a:srgbClr val="252525"/>
                </a:solidFill>
                <a:latin typeface="Times New Roman"/>
                <a:cs typeface="Times New Roman"/>
              </a:rPr>
              <a:t> </a:t>
            </a:r>
            <a:r>
              <a:rPr sz="3000" dirty="0">
                <a:solidFill>
                  <a:srgbClr val="252525"/>
                </a:solidFill>
                <a:latin typeface="Times New Roman"/>
                <a:cs typeface="Times New Roman"/>
              </a:rPr>
              <a:t>Model</a:t>
            </a:r>
            <a:endParaRPr sz="3000" dirty="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
        <p:nvSpPr>
          <p:cNvPr id="6" name="object 6"/>
          <p:cNvSpPr txBox="1"/>
          <p:nvPr/>
        </p:nvSpPr>
        <p:spPr>
          <a:xfrm>
            <a:off x="2021585" y="2159634"/>
            <a:ext cx="6436995" cy="2327275"/>
          </a:xfrm>
          <a:prstGeom prst="rect">
            <a:avLst/>
          </a:prstGeom>
        </p:spPr>
        <p:txBody>
          <a:bodyPr vert="horz" wrap="square" lIns="0" tIns="12700" rIns="0" bIns="0" rtlCol="0">
            <a:spAutoFit/>
          </a:bodyPr>
          <a:lstStyle/>
          <a:p>
            <a:pPr marL="355600" marR="5715" indent="-342900">
              <a:lnSpc>
                <a:spcPct val="100000"/>
              </a:lnSpc>
              <a:spcBef>
                <a:spcPts val="100"/>
              </a:spcBef>
              <a:buClr>
                <a:srgbClr val="E84B21"/>
              </a:buClr>
              <a:buFont typeface="Wingdings"/>
              <a:buChar char=""/>
              <a:tabLst>
                <a:tab pos="354965" algn="l"/>
                <a:tab pos="355600" algn="l"/>
              </a:tabLst>
            </a:pPr>
            <a:r>
              <a:rPr sz="1800" dirty="0">
                <a:solidFill>
                  <a:srgbClr val="404040"/>
                </a:solidFill>
                <a:latin typeface="Times New Roman"/>
                <a:cs typeface="Times New Roman"/>
              </a:rPr>
              <a:t>Incorporates changes in the </a:t>
            </a:r>
            <a:r>
              <a:rPr sz="1800" spc="-5" dirty="0">
                <a:solidFill>
                  <a:srgbClr val="404040"/>
                </a:solidFill>
                <a:latin typeface="Times New Roman"/>
                <a:cs typeface="Times New Roman"/>
              </a:rPr>
              <a:t>software </a:t>
            </a:r>
            <a:r>
              <a:rPr sz="1800" dirty="0">
                <a:solidFill>
                  <a:srgbClr val="404040"/>
                </a:solidFill>
                <a:latin typeface="Times New Roman"/>
                <a:cs typeface="Times New Roman"/>
              </a:rPr>
              <a:t>based on </a:t>
            </a:r>
            <a:r>
              <a:rPr sz="1800" spc="-5" dirty="0">
                <a:solidFill>
                  <a:srgbClr val="404040"/>
                </a:solidFill>
                <a:latin typeface="Times New Roman"/>
                <a:cs typeface="Times New Roman"/>
              </a:rPr>
              <a:t>the analysis </a:t>
            </a:r>
            <a:r>
              <a:rPr sz="1800" dirty="0">
                <a:solidFill>
                  <a:srgbClr val="404040"/>
                </a:solidFill>
                <a:latin typeface="Times New Roman"/>
                <a:cs typeface="Times New Roman"/>
              </a:rPr>
              <a:t>of </a:t>
            </a:r>
            <a:r>
              <a:rPr sz="1800" spc="-5" dirty="0">
                <a:solidFill>
                  <a:srgbClr val="404040"/>
                </a:solidFill>
                <a:latin typeface="Times New Roman"/>
                <a:cs typeface="Times New Roman"/>
              </a:rPr>
              <a:t>the  </a:t>
            </a:r>
            <a:r>
              <a:rPr sz="1800" dirty="0">
                <a:solidFill>
                  <a:srgbClr val="404040"/>
                </a:solidFill>
                <a:latin typeface="Times New Roman"/>
                <a:cs typeface="Times New Roman"/>
              </a:rPr>
              <a:t>existing</a:t>
            </a:r>
            <a:r>
              <a:rPr sz="1800" spc="-20" dirty="0">
                <a:solidFill>
                  <a:srgbClr val="404040"/>
                </a:solidFill>
                <a:latin typeface="Times New Roman"/>
                <a:cs typeface="Times New Roman"/>
              </a:rPr>
              <a:t> </a:t>
            </a:r>
            <a:r>
              <a:rPr sz="1800" dirty="0">
                <a:solidFill>
                  <a:srgbClr val="404040"/>
                </a:solidFill>
                <a:latin typeface="Times New Roman"/>
                <a:cs typeface="Times New Roman"/>
              </a:rPr>
              <a:t>system.</a:t>
            </a:r>
            <a:endParaRPr sz="1800">
              <a:latin typeface="Times New Roman"/>
              <a:cs typeface="Times New Roman"/>
            </a:endParaRPr>
          </a:p>
          <a:p>
            <a:pPr marL="355600" marR="5080" indent="-342900">
              <a:lnSpc>
                <a:spcPct val="100000"/>
              </a:lnSpc>
              <a:spcBef>
                <a:spcPts val="994"/>
              </a:spcBef>
              <a:buClr>
                <a:srgbClr val="E84B21"/>
              </a:buClr>
              <a:buFont typeface="Wingdings"/>
              <a:buChar char=""/>
              <a:tabLst>
                <a:tab pos="354965" algn="l"/>
                <a:tab pos="355600" algn="l"/>
                <a:tab pos="1310640" algn="l"/>
                <a:tab pos="2280285" algn="l"/>
                <a:tab pos="3769360" algn="l"/>
                <a:tab pos="4091304" algn="l"/>
                <a:tab pos="5006975" algn="l"/>
                <a:tab pos="5288915" algn="l"/>
                <a:tab pos="6244590" algn="l"/>
              </a:tabLst>
            </a:pPr>
            <a:r>
              <a:rPr sz="1800" spc="-5" dirty="0">
                <a:solidFill>
                  <a:srgbClr val="404040"/>
                </a:solidFill>
                <a:latin typeface="Times New Roman"/>
                <a:cs typeface="Times New Roman"/>
              </a:rPr>
              <a:t>A</a:t>
            </a:r>
            <a:r>
              <a:rPr sz="1800" spc="-15" dirty="0">
                <a:solidFill>
                  <a:srgbClr val="404040"/>
                </a:solidFill>
                <a:latin typeface="Times New Roman"/>
                <a:cs typeface="Times New Roman"/>
              </a:rPr>
              <a:t>s</a:t>
            </a:r>
            <a:r>
              <a:rPr sz="1800" spc="-5" dirty="0">
                <a:solidFill>
                  <a:srgbClr val="404040"/>
                </a:solidFill>
                <a:latin typeface="Times New Roman"/>
                <a:cs typeface="Times New Roman"/>
              </a:rPr>
              <a:t>s</a:t>
            </a:r>
            <a:r>
              <a:rPr sz="1800" dirty="0">
                <a:solidFill>
                  <a:srgbClr val="404040"/>
                </a:solidFill>
                <a:latin typeface="Times New Roman"/>
                <a:cs typeface="Times New Roman"/>
              </a:rPr>
              <a:t>u</a:t>
            </a:r>
            <a:r>
              <a:rPr sz="1800" spc="-10" dirty="0">
                <a:solidFill>
                  <a:srgbClr val="404040"/>
                </a:solidFill>
                <a:latin typeface="Times New Roman"/>
                <a:cs typeface="Times New Roman"/>
              </a:rPr>
              <a:t>m</a:t>
            </a:r>
            <a:r>
              <a:rPr sz="1800" spc="-5" dirty="0">
                <a:solidFill>
                  <a:srgbClr val="404040"/>
                </a:solidFill>
                <a:latin typeface="Times New Roman"/>
                <a:cs typeface="Times New Roman"/>
              </a:rPr>
              <a:t>es</a:t>
            </a:r>
            <a:r>
              <a:rPr sz="1800" dirty="0">
                <a:solidFill>
                  <a:srgbClr val="404040"/>
                </a:solidFill>
                <a:latin typeface="Times New Roman"/>
                <a:cs typeface="Times New Roman"/>
              </a:rPr>
              <a:t>	comple</a:t>
            </a:r>
            <a:r>
              <a:rPr sz="1800" spc="5" dirty="0">
                <a:solidFill>
                  <a:srgbClr val="404040"/>
                </a:solidFill>
                <a:latin typeface="Times New Roman"/>
                <a:cs typeface="Times New Roman"/>
              </a:rPr>
              <a:t>t</a:t>
            </a:r>
            <a:r>
              <a:rPr sz="1800" dirty="0">
                <a:solidFill>
                  <a:srgbClr val="404040"/>
                </a:solidFill>
                <a:latin typeface="Times New Roman"/>
                <a:cs typeface="Times New Roman"/>
              </a:rPr>
              <a:t>e	documentat</a:t>
            </a:r>
            <a:r>
              <a:rPr sz="1800" spc="-10" dirty="0">
                <a:solidFill>
                  <a:srgbClr val="404040"/>
                </a:solidFill>
                <a:latin typeface="Times New Roman"/>
                <a:cs typeface="Times New Roman"/>
              </a:rPr>
              <a:t>i</a:t>
            </a:r>
            <a:r>
              <a:rPr sz="1800" dirty="0">
                <a:solidFill>
                  <a:srgbClr val="404040"/>
                </a:solidFill>
                <a:latin typeface="Times New Roman"/>
                <a:cs typeface="Times New Roman"/>
              </a:rPr>
              <a:t>on	of	</a:t>
            </a:r>
            <a:r>
              <a:rPr sz="1800" spc="-5" dirty="0">
                <a:solidFill>
                  <a:srgbClr val="404040"/>
                </a:solidFill>
                <a:latin typeface="Times New Roman"/>
                <a:cs typeface="Times New Roman"/>
              </a:rPr>
              <a:t>softwa</a:t>
            </a:r>
            <a:r>
              <a:rPr sz="1800" spc="-20" dirty="0">
                <a:solidFill>
                  <a:srgbClr val="404040"/>
                </a:solidFill>
                <a:latin typeface="Times New Roman"/>
                <a:cs typeface="Times New Roman"/>
              </a:rPr>
              <a:t>r</a:t>
            </a:r>
            <a:r>
              <a:rPr sz="1800" dirty="0">
                <a:solidFill>
                  <a:srgbClr val="404040"/>
                </a:solidFill>
                <a:latin typeface="Times New Roman"/>
                <a:cs typeface="Times New Roman"/>
              </a:rPr>
              <a:t>e	</a:t>
            </a:r>
            <a:r>
              <a:rPr sz="1800" spc="-5" dirty="0">
                <a:solidFill>
                  <a:srgbClr val="404040"/>
                </a:solidFill>
                <a:latin typeface="Times New Roman"/>
                <a:cs typeface="Times New Roman"/>
              </a:rPr>
              <a:t>is</a:t>
            </a:r>
            <a:r>
              <a:rPr sz="1800" dirty="0">
                <a:solidFill>
                  <a:srgbClr val="404040"/>
                </a:solidFill>
                <a:latin typeface="Times New Roman"/>
                <a:cs typeface="Times New Roman"/>
              </a:rPr>
              <a:t>	avail</a:t>
            </a:r>
            <a:r>
              <a:rPr sz="1800" spc="5" dirty="0">
                <a:solidFill>
                  <a:srgbClr val="404040"/>
                </a:solidFill>
                <a:latin typeface="Times New Roman"/>
                <a:cs typeface="Times New Roman"/>
              </a:rPr>
              <a:t>a</a:t>
            </a:r>
            <a:r>
              <a:rPr sz="1800" spc="-15" dirty="0">
                <a:solidFill>
                  <a:srgbClr val="404040"/>
                </a:solidFill>
                <a:latin typeface="Times New Roman"/>
                <a:cs typeface="Times New Roman"/>
              </a:rPr>
              <a:t>b</a:t>
            </a:r>
            <a:r>
              <a:rPr sz="1800" dirty="0">
                <a:solidFill>
                  <a:srgbClr val="404040"/>
                </a:solidFill>
                <a:latin typeface="Times New Roman"/>
                <a:cs typeface="Times New Roman"/>
              </a:rPr>
              <a:t>le	in  beginning.</a:t>
            </a:r>
            <a:endParaRPr sz="1800">
              <a:latin typeface="Times New Roman"/>
              <a:cs typeface="Times New Roman"/>
            </a:endParaRPr>
          </a:p>
          <a:p>
            <a:pPr marL="355600" indent="-342900">
              <a:lnSpc>
                <a:spcPct val="100000"/>
              </a:lnSpc>
              <a:spcBef>
                <a:spcPts val="1010"/>
              </a:spcBef>
              <a:buClr>
                <a:srgbClr val="E84B21"/>
              </a:buClr>
              <a:buFont typeface="Wingdings"/>
              <a:buChar char=""/>
              <a:tabLst>
                <a:tab pos="354965" algn="l"/>
                <a:tab pos="355600" algn="l"/>
              </a:tabLst>
            </a:pPr>
            <a:r>
              <a:rPr sz="1800" spc="-5" dirty="0">
                <a:solidFill>
                  <a:srgbClr val="404040"/>
                </a:solidFill>
                <a:latin typeface="Times New Roman"/>
                <a:cs typeface="Times New Roman"/>
              </a:rPr>
              <a:t>Attemps </a:t>
            </a:r>
            <a:r>
              <a:rPr sz="1800" dirty="0">
                <a:solidFill>
                  <a:srgbClr val="404040"/>
                </a:solidFill>
                <a:latin typeface="Times New Roman"/>
                <a:cs typeface="Times New Roman"/>
              </a:rPr>
              <a:t>to control complexity and tries to </a:t>
            </a:r>
            <a:r>
              <a:rPr sz="1800" spc="-5" dirty="0">
                <a:solidFill>
                  <a:srgbClr val="404040"/>
                </a:solidFill>
                <a:latin typeface="Times New Roman"/>
                <a:cs typeface="Times New Roman"/>
              </a:rPr>
              <a:t>maintain good</a:t>
            </a:r>
            <a:r>
              <a:rPr sz="1800" spc="-50" dirty="0">
                <a:solidFill>
                  <a:srgbClr val="404040"/>
                </a:solidFill>
                <a:latin typeface="Times New Roman"/>
                <a:cs typeface="Times New Roman"/>
              </a:rPr>
              <a:t> </a:t>
            </a:r>
            <a:r>
              <a:rPr sz="1800" dirty="0">
                <a:solidFill>
                  <a:srgbClr val="404040"/>
                </a:solidFill>
                <a:latin typeface="Times New Roman"/>
                <a:cs typeface="Times New Roman"/>
              </a:rPr>
              <a:t>design.</a:t>
            </a:r>
            <a:endParaRPr sz="1800">
              <a:latin typeface="Times New Roman"/>
              <a:cs typeface="Times New Roman"/>
            </a:endParaRPr>
          </a:p>
          <a:p>
            <a:pPr marL="355600" marR="5715" indent="-342900">
              <a:lnSpc>
                <a:spcPct val="100000"/>
              </a:lnSpc>
              <a:spcBef>
                <a:spcPts val="994"/>
              </a:spcBef>
              <a:buClr>
                <a:srgbClr val="E84B21"/>
              </a:buClr>
              <a:buFont typeface="Wingdings"/>
              <a:buChar char=""/>
              <a:tabLst>
                <a:tab pos="354965" algn="l"/>
                <a:tab pos="355600" algn="l"/>
              </a:tabLst>
            </a:pPr>
            <a:r>
              <a:rPr sz="1800" dirty="0">
                <a:solidFill>
                  <a:srgbClr val="404040"/>
                </a:solidFill>
                <a:latin typeface="Times New Roman"/>
                <a:cs typeface="Times New Roman"/>
              </a:rPr>
              <a:t>The document </a:t>
            </a:r>
            <a:r>
              <a:rPr sz="1800" spc="-10" dirty="0">
                <a:solidFill>
                  <a:srgbClr val="404040"/>
                </a:solidFill>
                <a:latin typeface="Times New Roman"/>
                <a:cs typeface="Times New Roman"/>
              </a:rPr>
              <a:t>of </a:t>
            </a:r>
            <a:r>
              <a:rPr sz="1800" dirty="0">
                <a:solidFill>
                  <a:srgbClr val="404040"/>
                </a:solidFill>
                <a:latin typeface="Times New Roman"/>
                <a:cs typeface="Times New Roman"/>
              </a:rPr>
              <a:t>each </a:t>
            </a:r>
            <a:r>
              <a:rPr sz="1800" spc="-5" dirty="0">
                <a:solidFill>
                  <a:srgbClr val="404040"/>
                </a:solidFill>
                <a:latin typeface="Times New Roman"/>
                <a:cs typeface="Times New Roman"/>
              </a:rPr>
              <a:t>software </a:t>
            </a:r>
            <a:r>
              <a:rPr sz="1800" dirty="0">
                <a:solidFill>
                  <a:srgbClr val="404040"/>
                </a:solidFill>
                <a:latin typeface="Times New Roman"/>
                <a:cs typeface="Times New Roman"/>
              </a:rPr>
              <a:t>life </a:t>
            </a:r>
            <a:r>
              <a:rPr sz="1800" spc="-5" dirty="0">
                <a:solidFill>
                  <a:srgbClr val="404040"/>
                </a:solidFill>
                <a:latin typeface="Times New Roman"/>
                <a:cs typeface="Times New Roman"/>
              </a:rPr>
              <a:t>cycle </a:t>
            </a:r>
            <a:r>
              <a:rPr sz="1800" dirty="0">
                <a:solidFill>
                  <a:srgbClr val="404040"/>
                </a:solidFill>
                <a:latin typeface="Times New Roman"/>
                <a:cs typeface="Times New Roman"/>
              </a:rPr>
              <a:t>phase i.e </a:t>
            </a:r>
            <a:r>
              <a:rPr sz="1800" spc="-5" dirty="0">
                <a:solidFill>
                  <a:srgbClr val="404040"/>
                </a:solidFill>
                <a:latin typeface="Times New Roman"/>
                <a:cs typeface="Times New Roman"/>
              </a:rPr>
              <a:t>SRS, design  </a:t>
            </a:r>
            <a:r>
              <a:rPr sz="1800" dirty="0">
                <a:solidFill>
                  <a:srgbClr val="404040"/>
                </a:solidFill>
                <a:latin typeface="Times New Roman"/>
                <a:cs typeface="Times New Roman"/>
              </a:rPr>
              <a:t>document, testing document etc. are also</a:t>
            </a:r>
            <a:r>
              <a:rPr sz="1800" spc="-50" dirty="0">
                <a:solidFill>
                  <a:srgbClr val="404040"/>
                </a:solidFill>
                <a:latin typeface="Times New Roman"/>
                <a:cs typeface="Times New Roman"/>
              </a:rPr>
              <a:t> </a:t>
            </a:r>
            <a:r>
              <a:rPr sz="1800" dirty="0">
                <a:solidFill>
                  <a:srgbClr val="404040"/>
                </a:solidFill>
                <a:latin typeface="Times New Roman"/>
                <a:cs typeface="Times New Roman"/>
              </a:rPr>
              <a:t>modified.</a:t>
            </a:r>
            <a:endParaRPr sz="1800">
              <a:latin typeface="Times New Roman"/>
              <a:cs typeface="Times New Roman"/>
            </a:endParaRPr>
          </a:p>
        </p:txBody>
      </p:sp>
      <p:sp>
        <p:nvSpPr>
          <p:cNvPr id="7" name="object 7"/>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14</a:t>
            </a:r>
            <a:endParaRPr sz="20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3044825"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3. </a:t>
            </a:r>
            <a:r>
              <a:rPr sz="3000" spc="-5" dirty="0">
                <a:solidFill>
                  <a:srgbClr val="252525"/>
                </a:solidFill>
                <a:latin typeface="Times New Roman"/>
                <a:cs typeface="Times New Roman"/>
              </a:rPr>
              <a:t>Full-reuse</a:t>
            </a:r>
            <a:r>
              <a:rPr sz="3000" spc="-30" dirty="0">
                <a:solidFill>
                  <a:srgbClr val="252525"/>
                </a:solidFill>
                <a:latin typeface="Times New Roman"/>
                <a:cs typeface="Times New Roman"/>
              </a:rPr>
              <a:t> </a:t>
            </a:r>
            <a:r>
              <a:rPr sz="3000" dirty="0">
                <a:solidFill>
                  <a:srgbClr val="252525"/>
                </a:solidFill>
                <a:latin typeface="Times New Roman"/>
                <a:cs typeface="Times New Roman"/>
              </a:rPr>
              <a:t>Model</a:t>
            </a:r>
            <a:endParaRPr sz="3000">
              <a:latin typeface="Times New Roman"/>
              <a:cs typeface="Times New Roman"/>
            </a:endParaRPr>
          </a:p>
        </p:txBody>
      </p:sp>
      <p:sp>
        <p:nvSpPr>
          <p:cNvPr id="6" name="object 6"/>
          <p:cNvSpPr txBox="1"/>
          <p:nvPr/>
        </p:nvSpPr>
        <p:spPr>
          <a:xfrm>
            <a:off x="1298194" y="1475450"/>
            <a:ext cx="4845685" cy="826769"/>
          </a:xfrm>
          <a:prstGeom prst="rect">
            <a:avLst/>
          </a:prstGeom>
        </p:spPr>
        <p:txBody>
          <a:bodyPr vert="horz" wrap="square" lIns="0" tIns="138430" rIns="0" bIns="0" rtlCol="0">
            <a:spAutoFit/>
          </a:bodyPr>
          <a:lstStyle/>
          <a:p>
            <a:pPr marL="355600" indent="-342900">
              <a:lnSpc>
                <a:spcPct val="100000"/>
              </a:lnSpc>
              <a:spcBef>
                <a:spcPts val="1090"/>
              </a:spcBef>
              <a:buClr>
                <a:srgbClr val="E84B21"/>
              </a:buClr>
              <a:buFont typeface="Wingdings"/>
              <a:buChar char=""/>
              <a:tabLst>
                <a:tab pos="354965" algn="l"/>
                <a:tab pos="355600" algn="l"/>
              </a:tabLst>
            </a:pPr>
            <a:r>
              <a:rPr sz="1800" dirty="0">
                <a:solidFill>
                  <a:srgbClr val="404040"/>
                </a:solidFill>
                <a:latin typeface="Times New Roman"/>
                <a:cs typeface="Times New Roman"/>
              </a:rPr>
              <a:t>Based on </a:t>
            </a:r>
            <a:r>
              <a:rPr sz="1800" spc="-5" dirty="0">
                <a:solidFill>
                  <a:srgbClr val="404040"/>
                </a:solidFill>
                <a:latin typeface="Times New Roman"/>
                <a:cs typeface="Times New Roman"/>
              </a:rPr>
              <a:t>reuse </a:t>
            </a:r>
            <a:r>
              <a:rPr sz="1800" dirty="0">
                <a:solidFill>
                  <a:srgbClr val="404040"/>
                </a:solidFill>
                <a:latin typeface="Times New Roman"/>
                <a:cs typeface="Times New Roman"/>
              </a:rPr>
              <a:t>of existing software</a:t>
            </a:r>
            <a:r>
              <a:rPr sz="1800" spc="-35" dirty="0">
                <a:solidFill>
                  <a:srgbClr val="404040"/>
                </a:solidFill>
                <a:latin typeface="Times New Roman"/>
                <a:cs typeface="Times New Roman"/>
              </a:rPr>
              <a:t> </a:t>
            </a:r>
            <a:r>
              <a:rPr sz="1800" spc="-5" dirty="0">
                <a:solidFill>
                  <a:srgbClr val="404040"/>
                </a:solidFill>
                <a:latin typeface="Times New Roman"/>
                <a:cs typeface="Times New Roman"/>
              </a:rPr>
              <a:t>components.</a:t>
            </a:r>
            <a:endParaRPr sz="1800">
              <a:latin typeface="Times New Roman"/>
              <a:cs typeface="Times New Roman"/>
            </a:endParaRPr>
          </a:p>
          <a:p>
            <a:pPr marL="355600" indent="-342900">
              <a:lnSpc>
                <a:spcPct val="100000"/>
              </a:lnSpc>
              <a:spcBef>
                <a:spcPts val="994"/>
              </a:spcBef>
              <a:buClr>
                <a:srgbClr val="E84B21"/>
              </a:buClr>
              <a:buFont typeface="Wingdings"/>
              <a:buChar char=""/>
              <a:tabLst>
                <a:tab pos="354965" algn="l"/>
                <a:tab pos="355600" algn="l"/>
              </a:tabLst>
            </a:pPr>
            <a:r>
              <a:rPr sz="1800" dirty="0">
                <a:solidFill>
                  <a:srgbClr val="404040"/>
                </a:solidFill>
                <a:latin typeface="Times New Roman"/>
                <a:cs typeface="Times New Roman"/>
              </a:rPr>
              <a:t>The reuse </a:t>
            </a:r>
            <a:r>
              <a:rPr sz="1800" spc="-5" dirty="0">
                <a:solidFill>
                  <a:srgbClr val="404040"/>
                </a:solidFill>
                <a:latin typeface="Times New Roman"/>
                <a:cs typeface="Times New Roman"/>
              </a:rPr>
              <a:t>model </a:t>
            </a:r>
            <a:r>
              <a:rPr sz="1800" dirty="0">
                <a:solidFill>
                  <a:srgbClr val="404040"/>
                </a:solidFill>
                <a:latin typeface="Times New Roman"/>
                <a:cs typeface="Times New Roman"/>
              </a:rPr>
              <a:t>has four </a:t>
            </a:r>
            <a:r>
              <a:rPr sz="1800" spc="-5" dirty="0">
                <a:solidFill>
                  <a:srgbClr val="404040"/>
                </a:solidFill>
                <a:latin typeface="Times New Roman"/>
                <a:cs typeface="Times New Roman"/>
              </a:rPr>
              <a:t>main</a:t>
            </a:r>
            <a:r>
              <a:rPr sz="1800" spc="-25" dirty="0">
                <a:solidFill>
                  <a:srgbClr val="404040"/>
                </a:solidFill>
                <a:latin typeface="Times New Roman"/>
                <a:cs typeface="Times New Roman"/>
              </a:rPr>
              <a:t> </a:t>
            </a:r>
            <a:r>
              <a:rPr sz="1800" dirty="0">
                <a:solidFill>
                  <a:srgbClr val="404040"/>
                </a:solidFill>
                <a:latin typeface="Times New Roman"/>
                <a:cs typeface="Times New Roman"/>
              </a:rPr>
              <a:t>steps:</a:t>
            </a:r>
            <a:endParaRPr sz="1800">
              <a:latin typeface="Times New Roman"/>
              <a:cs typeface="Times New Roman"/>
            </a:endParaRPr>
          </a:p>
        </p:txBody>
      </p:sp>
      <p:sp>
        <p:nvSpPr>
          <p:cNvPr id="7" name="object 7"/>
          <p:cNvSpPr txBox="1"/>
          <p:nvPr/>
        </p:nvSpPr>
        <p:spPr>
          <a:xfrm>
            <a:off x="1298194" y="6418275"/>
            <a:ext cx="2835275" cy="299720"/>
          </a:xfrm>
          <a:prstGeom prst="rect">
            <a:avLst/>
          </a:prstGeom>
        </p:spPr>
        <p:txBody>
          <a:bodyPr vert="horz" wrap="square" lIns="0" tIns="12700" rIns="0" bIns="0" rtlCol="0">
            <a:spAutoFit/>
          </a:bodyPr>
          <a:lstStyle/>
          <a:p>
            <a:pPr marL="355600" indent="-342900">
              <a:lnSpc>
                <a:spcPct val="100000"/>
              </a:lnSpc>
              <a:spcBef>
                <a:spcPts val="100"/>
              </a:spcBef>
              <a:buClr>
                <a:srgbClr val="E84B21"/>
              </a:buClr>
              <a:buFont typeface="Wingdings"/>
              <a:buChar char=""/>
              <a:tabLst>
                <a:tab pos="354965" algn="l"/>
                <a:tab pos="355600" algn="l"/>
              </a:tabLst>
            </a:pPr>
            <a:r>
              <a:rPr sz="1800" spc="-5" dirty="0">
                <a:solidFill>
                  <a:srgbClr val="404040"/>
                </a:solidFill>
                <a:latin typeface="Times New Roman"/>
                <a:cs typeface="Times New Roman"/>
              </a:rPr>
              <a:t>Need mature </a:t>
            </a:r>
            <a:r>
              <a:rPr sz="1800" dirty="0">
                <a:solidFill>
                  <a:srgbClr val="404040"/>
                </a:solidFill>
                <a:latin typeface="Times New Roman"/>
                <a:cs typeface="Times New Roman"/>
              </a:rPr>
              <a:t>reuse</a:t>
            </a:r>
            <a:r>
              <a:rPr sz="1800" spc="-25" dirty="0">
                <a:solidFill>
                  <a:srgbClr val="404040"/>
                </a:solidFill>
                <a:latin typeface="Times New Roman"/>
                <a:cs typeface="Times New Roman"/>
              </a:rPr>
              <a:t> </a:t>
            </a:r>
            <a:r>
              <a:rPr sz="1800" dirty="0">
                <a:solidFill>
                  <a:srgbClr val="404040"/>
                </a:solidFill>
                <a:latin typeface="Times New Roman"/>
                <a:cs typeface="Times New Roman"/>
              </a:rPr>
              <a:t>culture.</a:t>
            </a:r>
            <a:endParaRPr sz="1800">
              <a:latin typeface="Times New Roman"/>
              <a:cs typeface="Times New Roman"/>
            </a:endParaRPr>
          </a:p>
        </p:txBody>
      </p:sp>
      <p:sp>
        <p:nvSpPr>
          <p:cNvPr id="8" name="object 8"/>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16</a:t>
            </a:r>
            <a:endParaRPr sz="2000">
              <a:latin typeface="Arial"/>
              <a:cs typeface="Arial"/>
            </a:endParaRPr>
          </a:p>
        </p:txBody>
      </p:sp>
      <p:sp>
        <p:nvSpPr>
          <p:cNvPr id="9" name="object 9"/>
          <p:cNvSpPr txBox="1"/>
          <p:nvPr/>
        </p:nvSpPr>
        <p:spPr>
          <a:xfrm>
            <a:off x="6562725" y="6587743"/>
            <a:ext cx="116395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0D0D0D"/>
                </a:solidFill>
                <a:latin typeface="Arial"/>
                <a:cs typeface="Arial"/>
              </a:rPr>
              <a:t>Software</a:t>
            </a:r>
            <a:r>
              <a:rPr sz="900" spc="-25" dirty="0">
                <a:solidFill>
                  <a:srgbClr val="0D0D0D"/>
                </a:solidFill>
                <a:latin typeface="Arial"/>
                <a:cs typeface="Arial"/>
              </a:rPr>
              <a:t> </a:t>
            </a:r>
            <a:r>
              <a:rPr sz="900" spc="-5" dirty="0">
                <a:solidFill>
                  <a:srgbClr val="0D0D0D"/>
                </a:solidFill>
                <a:latin typeface="Arial"/>
                <a:cs typeface="Arial"/>
              </a:rPr>
              <a:t>Maintenance</a:t>
            </a:r>
            <a:endParaRPr sz="900">
              <a:latin typeface="Arial"/>
              <a:cs typeface="Arial"/>
            </a:endParaRPr>
          </a:p>
        </p:txBody>
      </p:sp>
      <p:sp>
        <p:nvSpPr>
          <p:cNvPr id="10" name="object 10"/>
          <p:cNvSpPr/>
          <p:nvPr/>
        </p:nvSpPr>
        <p:spPr>
          <a:xfrm>
            <a:off x="1944623" y="2488692"/>
            <a:ext cx="5565775" cy="676910"/>
          </a:xfrm>
          <a:custGeom>
            <a:avLst/>
            <a:gdLst/>
            <a:ahLst/>
            <a:cxnLst/>
            <a:rect l="l" t="t" r="r" b="b"/>
            <a:pathLst>
              <a:path w="5565775" h="676910">
                <a:moveTo>
                  <a:pt x="5497957" y="0"/>
                </a:moveTo>
                <a:lnTo>
                  <a:pt x="67690" y="0"/>
                </a:lnTo>
                <a:lnTo>
                  <a:pt x="41362" y="5326"/>
                </a:lnTo>
                <a:lnTo>
                  <a:pt x="19843" y="19843"/>
                </a:lnTo>
                <a:lnTo>
                  <a:pt x="5326" y="41362"/>
                </a:lnTo>
                <a:lnTo>
                  <a:pt x="0" y="67691"/>
                </a:lnTo>
                <a:lnTo>
                  <a:pt x="0" y="608965"/>
                </a:lnTo>
                <a:lnTo>
                  <a:pt x="5326" y="635293"/>
                </a:lnTo>
                <a:lnTo>
                  <a:pt x="19843" y="656812"/>
                </a:lnTo>
                <a:lnTo>
                  <a:pt x="41362" y="671329"/>
                </a:lnTo>
                <a:lnTo>
                  <a:pt x="67690" y="676656"/>
                </a:lnTo>
                <a:lnTo>
                  <a:pt x="5497957" y="676656"/>
                </a:lnTo>
                <a:lnTo>
                  <a:pt x="5524285" y="671329"/>
                </a:lnTo>
                <a:lnTo>
                  <a:pt x="5545804" y="656812"/>
                </a:lnTo>
                <a:lnTo>
                  <a:pt x="5560321" y="635293"/>
                </a:lnTo>
                <a:lnTo>
                  <a:pt x="5565648" y="608965"/>
                </a:lnTo>
                <a:lnTo>
                  <a:pt x="5565648" y="67691"/>
                </a:lnTo>
                <a:lnTo>
                  <a:pt x="5560321" y="41362"/>
                </a:lnTo>
                <a:lnTo>
                  <a:pt x="5545804" y="19843"/>
                </a:lnTo>
                <a:lnTo>
                  <a:pt x="5524285" y="5326"/>
                </a:lnTo>
                <a:lnTo>
                  <a:pt x="5497957" y="0"/>
                </a:lnTo>
                <a:close/>
              </a:path>
            </a:pathLst>
          </a:custGeom>
          <a:solidFill>
            <a:srgbClr val="E84B21"/>
          </a:solidFill>
        </p:spPr>
        <p:txBody>
          <a:bodyPr wrap="square" lIns="0" tIns="0" rIns="0" bIns="0" rtlCol="0"/>
          <a:lstStyle/>
          <a:p>
            <a:endParaRPr/>
          </a:p>
        </p:txBody>
      </p:sp>
      <p:sp>
        <p:nvSpPr>
          <p:cNvPr id="11" name="object 11"/>
          <p:cNvSpPr/>
          <p:nvPr/>
        </p:nvSpPr>
        <p:spPr>
          <a:xfrm>
            <a:off x="1944623" y="2488692"/>
            <a:ext cx="5565775" cy="676910"/>
          </a:xfrm>
          <a:custGeom>
            <a:avLst/>
            <a:gdLst/>
            <a:ahLst/>
            <a:cxnLst/>
            <a:rect l="l" t="t" r="r" b="b"/>
            <a:pathLst>
              <a:path w="5565775" h="676910">
                <a:moveTo>
                  <a:pt x="0" y="67691"/>
                </a:moveTo>
                <a:lnTo>
                  <a:pt x="5326" y="41362"/>
                </a:lnTo>
                <a:lnTo>
                  <a:pt x="19843" y="19843"/>
                </a:lnTo>
                <a:lnTo>
                  <a:pt x="41362" y="5326"/>
                </a:lnTo>
                <a:lnTo>
                  <a:pt x="67690" y="0"/>
                </a:lnTo>
                <a:lnTo>
                  <a:pt x="5497957" y="0"/>
                </a:lnTo>
                <a:lnTo>
                  <a:pt x="5524285" y="5326"/>
                </a:lnTo>
                <a:lnTo>
                  <a:pt x="5545804" y="19843"/>
                </a:lnTo>
                <a:lnTo>
                  <a:pt x="5560321" y="41362"/>
                </a:lnTo>
                <a:lnTo>
                  <a:pt x="5565648" y="67691"/>
                </a:lnTo>
                <a:lnTo>
                  <a:pt x="5565648" y="608965"/>
                </a:lnTo>
                <a:lnTo>
                  <a:pt x="5560321" y="635293"/>
                </a:lnTo>
                <a:lnTo>
                  <a:pt x="5545804" y="656812"/>
                </a:lnTo>
                <a:lnTo>
                  <a:pt x="5524285" y="671329"/>
                </a:lnTo>
                <a:lnTo>
                  <a:pt x="5497957" y="676656"/>
                </a:lnTo>
                <a:lnTo>
                  <a:pt x="67690" y="676656"/>
                </a:lnTo>
                <a:lnTo>
                  <a:pt x="41362" y="671329"/>
                </a:lnTo>
                <a:lnTo>
                  <a:pt x="19843" y="656812"/>
                </a:lnTo>
                <a:lnTo>
                  <a:pt x="5326" y="635293"/>
                </a:lnTo>
                <a:lnTo>
                  <a:pt x="0" y="608965"/>
                </a:lnTo>
                <a:lnTo>
                  <a:pt x="0" y="67691"/>
                </a:lnTo>
                <a:close/>
              </a:path>
            </a:pathLst>
          </a:custGeom>
          <a:ln w="15240">
            <a:solidFill>
              <a:srgbClr val="FFFFFF"/>
            </a:solidFill>
          </a:ln>
        </p:spPr>
        <p:txBody>
          <a:bodyPr wrap="square" lIns="0" tIns="0" rIns="0" bIns="0" rtlCol="0"/>
          <a:lstStyle/>
          <a:p>
            <a:endParaRPr/>
          </a:p>
        </p:txBody>
      </p:sp>
      <p:sp>
        <p:nvSpPr>
          <p:cNvPr id="12" name="object 12"/>
          <p:cNvSpPr txBox="1"/>
          <p:nvPr/>
        </p:nvSpPr>
        <p:spPr>
          <a:xfrm>
            <a:off x="2225420" y="2567431"/>
            <a:ext cx="1790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Times New Roman"/>
                <a:cs typeface="Times New Roman"/>
              </a:rPr>
              <a:t>1.</a:t>
            </a:r>
            <a:endParaRPr sz="1600">
              <a:latin typeface="Times New Roman"/>
              <a:cs typeface="Times New Roman"/>
            </a:endParaRPr>
          </a:p>
        </p:txBody>
      </p:sp>
      <p:sp>
        <p:nvSpPr>
          <p:cNvPr id="13" name="object 13"/>
          <p:cNvSpPr txBox="1"/>
          <p:nvPr/>
        </p:nvSpPr>
        <p:spPr>
          <a:xfrm>
            <a:off x="2937129" y="2567431"/>
            <a:ext cx="4180204" cy="480695"/>
          </a:xfrm>
          <a:prstGeom prst="rect">
            <a:avLst/>
          </a:prstGeom>
        </p:spPr>
        <p:txBody>
          <a:bodyPr vert="horz" wrap="square" lIns="0" tIns="12065" rIns="0" bIns="0" rtlCol="0">
            <a:spAutoFit/>
          </a:bodyPr>
          <a:lstStyle/>
          <a:p>
            <a:pPr marL="12700">
              <a:lnSpc>
                <a:spcPts val="1795"/>
              </a:lnSpc>
              <a:spcBef>
                <a:spcPts val="95"/>
              </a:spcBef>
            </a:pPr>
            <a:r>
              <a:rPr sz="1600" spc="-5" dirty="0">
                <a:solidFill>
                  <a:srgbClr val="FFFFFF"/>
                </a:solidFill>
                <a:latin typeface="Times New Roman"/>
                <a:cs typeface="Times New Roman"/>
              </a:rPr>
              <a:t>Identification of the parts of the old system that</a:t>
            </a:r>
            <a:r>
              <a:rPr sz="1600" spc="65" dirty="0">
                <a:solidFill>
                  <a:srgbClr val="FFFFFF"/>
                </a:solidFill>
                <a:latin typeface="Times New Roman"/>
                <a:cs typeface="Times New Roman"/>
              </a:rPr>
              <a:t> </a:t>
            </a:r>
            <a:r>
              <a:rPr sz="1600" spc="-5" dirty="0">
                <a:solidFill>
                  <a:srgbClr val="FFFFFF"/>
                </a:solidFill>
                <a:latin typeface="Times New Roman"/>
                <a:cs typeface="Times New Roman"/>
              </a:rPr>
              <a:t>are</a:t>
            </a:r>
            <a:endParaRPr sz="1600">
              <a:latin typeface="Times New Roman"/>
              <a:cs typeface="Times New Roman"/>
            </a:endParaRPr>
          </a:p>
          <a:p>
            <a:pPr marL="1664970">
              <a:lnSpc>
                <a:spcPts val="1795"/>
              </a:lnSpc>
            </a:pPr>
            <a:r>
              <a:rPr sz="1600" spc="-5" dirty="0">
                <a:solidFill>
                  <a:srgbClr val="FFFFFF"/>
                </a:solidFill>
                <a:latin typeface="Times New Roman"/>
                <a:cs typeface="Times New Roman"/>
              </a:rPr>
              <a:t>candidates </a:t>
            </a:r>
            <a:r>
              <a:rPr sz="1600" dirty="0">
                <a:solidFill>
                  <a:srgbClr val="FFFFFF"/>
                </a:solidFill>
                <a:latin typeface="Times New Roman"/>
                <a:cs typeface="Times New Roman"/>
              </a:rPr>
              <a:t>for</a:t>
            </a:r>
            <a:r>
              <a:rPr sz="1600" spc="-15" dirty="0">
                <a:solidFill>
                  <a:srgbClr val="FFFFFF"/>
                </a:solidFill>
                <a:latin typeface="Times New Roman"/>
                <a:cs typeface="Times New Roman"/>
              </a:rPr>
              <a:t> </a:t>
            </a:r>
            <a:r>
              <a:rPr sz="1600" spc="-5" dirty="0">
                <a:solidFill>
                  <a:srgbClr val="FFFFFF"/>
                </a:solidFill>
                <a:latin typeface="Times New Roman"/>
                <a:cs typeface="Times New Roman"/>
              </a:rPr>
              <a:t>reuse.</a:t>
            </a:r>
            <a:endParaRPr sz="1600">
              <a:latin typeface="Times New Roman"/>
              <a:cs typeface="Times New Roman"/>
            </a:endParaRPr>
          </a:p>
        </p:txBody>
      </p:sp>
      <p:sp>
        <p:nvSpPr>
          <p:cNvPr id="14" name="object 14"/>
          <p:cNvSpPr/>
          <p:nvPr/>
        </p:nvSpPr>
        <p:spPr>
          <a:xfrm>
            <a:off x="4575047" y="3206495"/>
            <a:ext cx="304800" cy="254635"/>
          </a:xfrm>
          <a:custGeom>
            <a:avLst/>
            <a:gdLst/>
            <a:ahLst/>
            <a:cxnLst/>
            <a:rect l="l" t="t" r="r" b="b"/>
            <a:pathLst>
              <a:path w="304800" h="254635">
                <a:moveTo>
                  <a:pt x="304800" y="127253"/>
                </a:moveTo>
                <a:lnTo>
                  <a:pt x="0" y="127253"/>
                </a:lnTo>
                <a:lnTo>
                  <a:pt x="152400" y="254507"/>
                </a:lnTo>
                <a:lnTo>
                  <a:pt x="304800" y="127253"/>
                </a:lnTo>
                <a:close/>
              </a:path>
              <a:path w="304800" h="254635">
                <a:moveTo>
                  <a:pt x="243839" y="0"/>
                </a:moveTo>
                <a:lnTo>
                  <a:pt x="60960" y="0"/>
                </a:lnTo>
                <a:lnTo>
                  <a:pt x="60960" y="127253"/>
                </a:lnTo>
                <a:lnTo>
                  <a:pt x="243839" y="127253"/>
                </a:lnTo>
                <a:lnTo>
                  <a:pt x="243839" y="0"/>
                </a:lnTo>
                <a:close/>
              </a:path>
            </a:pathLst>
          </a:custGeom>
          <a:solidFill>
            <a:srgbClr val="F1B1AB"/>
          </a:solidFill>
        </p:spPr>
        <p:txBody>
          <a:bodyPr wrap="square" lIns="0" tIns="0" rIns="0" bIns="0" rtlCol="0"/>
          <a:lstStyle/>
          <a:p>
            <a:endParaRPr/>
          </a:p>
        </p:txBody>
      </p:sp>
      <p:sp>
        <p:nvSpPr>
          <p:cNvPr id="15" name="object 15"/>
          <p:cNvSpPr/>
          <p:nvPr/>
        </p:nvSpPr>
        <p:spPr>
          <a:xfrm>
            <a:off x="1944623" y="3502152"/>
            <a:ext cx="5565775" cy="676910"/>
          </a:xfrm>
          <a:custGeom>
            <a:avLst/>
            <a:gdLst/>
            <a:ahLst/>
            <a:cxnLst/>
            <a:rect l="l" t="t" r="r" b="b"/>
            <a:pathLst>
              <a:path w="5565775" h="676910">
                <a:moveTo>
                  <a:pt x="5497957" y="0"/>
                </a:moveTo>
                <a:lnTo>
                  <a:pt x="67690" y="0"/>
                </a:lnTo>
                <a:lnTo>
                  <a:pt x="41362" y="5326"/>
                </a:lnTo>
                <a:lnTo>
                  <a:pt x="19843" y="19843"/>
                </a:lnTo>
                <a:lnTo>
                  <a:pt x="5326" y="41362"/>
                </a:lnTo>
                <a:lnTo>
                  <a:pt x="0" y="67690"/>
                </a:lnTo>
                <a:lnTo>
                  <a:pt x="0" y="608965"/>
                </a:lnTo>
                <a:lnTo>
                  <a:pt x="5326" y="635293"/>
                </a:lnTo>
                <a:lnTo>
                  <a:pt x="19843" y="656812"/>
                </a:lnTo>
                <a:lnTo>
                  <a:pt x="41362" y="671329"/>
                </a:lnTo>
                <a:lnTo>
                  <a:pt x="67690" y="676656"/>
                </a:lnTo>
                <a:lnTo>
                  <a:pt x="5497957" y="676656"/>
                </a:lnTo>
                <a:lnTo>
                  <a:pt x="5524285" y="671329"/>
                </a:lnTo>
                <a:lnTo>
                  <a:pt x="5545804" y="656812"/>
                </a:lnTo>
                <a:lnTo>
                  <a:pt x="5560321" y="635293"/>
                </a:lnTo>
                <a:lnTo>
                  <a:pt x="5565648" y="608965"/>
                </a:lnTo>
                <a:lnTo>
                  <a:pt x="5565648" y="67690"/>
                </a:lnTo>
                <a:lnTo>
                  <a:pt x="5560321" y="41362"/>
                </a:lnTo>
                <a:lnTo>
                  <a:pt x="5545804" y="19843"/>
                </a:lnTo>
                <a:lnTo>
                  <a:pt x="5524285" y="5326"/>
                </a:lnTo>
                <a:lnTo>
                  <a:pt x="5497957" y="0"/>
                </a:lnTo>
                <a:close/>
              </a:path>
            </a:pathLst>
          </a:custGeom>
          <a:solidFill>
            <a:srgbClr val="E84B21"/>
          </a:solidFill>
        </p:spPr>
        <p:txBody>
          <a:bodyPr wrap="square" lIns="0" tIns="0" rIns="0" bIns="0" rtlCol="0"/>
          <a:lstStyle/>
          <a:p>
            <a:endParaRPr/>
          </a:p>
        </p:txBody>
      </p:sp>
      <p:sp>
        <p:nvSpPr>
          <p:cNvPr id="16" name="object 16"/>
          <p:cNvSpPr/>
          <p:nvPr/>
        </p:nvSpPr>
        <p:spPr>
          <a:xfrm>
            <a:off x="1944623" y="3502152"/>
            <a:ext cx="5565775" cy="676910"/>
          </a:xfrm>
          <a:custGeom>
            <a:avLst/>
            <a:gdLst/>
            <a:ahLst/>
            <a:cxnLst/>
            <a:rect l="l" t="t" r="r" b="b"/>
            <a:pathLst>
              <a:path w="5565775" h="676910">
                <a:moveTo>
                  <a:pt x="0" y="67690"/>
                </a:moveTo>
                <a:lnTo>
                  <a:pt x="5326" y="41362"/>
                </a:lnTo>
                <a:lnTo>
                  <a:pt x="19843" y="19843"/>
                </a:lnTo>
                <a:lnTo>
                  <a:pt x="41362" y="5326"/>
                </a:lnTo>
                <a:lnTo>
                  <a:pt x="67690" y="0"/>
                </a:lnTo>
                <a:lnTo>
                  <a:pt x="5497957" y="0"/>
                </a:lnTo>
                <a:lnTo>
                  <a:pt x="5524285" y="5326"/>
                </a:lnTo>
                <a:lnTo>
                  <a:pt x="5545804" y="19843"/>
                </a:lnTo>
                <a:lnTo>
                  <a:pt x="5560321" y="41362"/>
                </a:lnTo>
                <a:lnTo>
                  <a:pt x="5565648" y="67690"/>
                </a:lnTo>
                <a:lnTo>
                  <a:pt x="5565648" y="608965"/>
                </a:lnTo>
                <a:lnTo>
                  <a:pt x="5560321" y="635293"/>
                </a:lnTo>
                <a:lnTo>
                  <a:pt x="5545804" y="656812"/>
                </a:lnTo>
                <a:lnTo>
                  <a:pt x="5524285" y="671329"/>
                </a:lnTo>
                <a:lnTo>
                  <a:pt x="5497957" y="676656"/>
                </a:lnTo>
                <a:lnTo>
                  <a:pt x="67690" y="676656"/>
                </a:lnTo>
                <a:lnTo>
                  <a:pt x="41362" y="671329"/>
                </a:lnTo>
                <a:lnTo>
                  <a:pt x="19843" y="656812"/>
                </a:lnTo>
                <a:lnTo>
                  <a:pt x="5326" y="635293"/>
                </a:lnTo>
                <a:lnTo>
                  <a:pt x="0" y="608965"/>
                </a:lnTo>
                <a:lnTo>
                  <a:pt x="0" y="67690"/>
                </a:lnTo>
                <a:close/>
              </a:path>
            </a:pathLst>
          </a:custGeom>
          <a:ln w="15240">
            <a:solidFill>
              <a:srgbClr val="FFFFFF"/>
            </a:solidFill>
          </a:ln>
        </p:spPr>
        <p:txBody>
          <a:bodyPr wrap="square" lIns="0" tIns="0" rIns="0" bIns="0" rtlCol="0"/>
          <a:lstStyle/>
          <a:p>
            <a:endParaRPr/>
          </a:p>
        </p:txBody>
      </p:sp>
      <p:sp>
        <p:nvSpPr>
          <p:cNvPr id="17" name="object 17"/>
          <p:cNvSpPr txBox="1"/>
          <p:nvPr/>
        </p:nvSpPr>
        <p:spPr>
          <a:xfrm>
            <a:off x="2013585" y="3687521"/>
            <a:ext cx="17907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Times New Roman"/>
                <a:cs typeface="Times New Roman"/>
              </a:rPr>
              <a:t>2.</a:t>
            </a:r>
            <a:endParaRPr sz="1600">
              <a:latin typeface="Times New Roman"/>
              <a:cs typeface="Times New Roman"/>
            </a:endParaRPr>
          </a:p>
        </p:txBody>
      </p:sp>
      <p:sp>
        <p:nvSpPr>
          <p:cNvPr id="18" name="object 18"/>
          <p:cNvSpPr txBox="1"/>
          <p:nvPr/>
        </p:nvSpPr>
        <p:spPr>
          <a:xfrm>
            <a:off x="2725292" y="3687521"/>
            <a:ext cx="279908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Times New Roman"/>
                <a:cs typeface="Times New Roman"/>
              </a:rPr>
              <a:t>Understanding these system</a:t>
            </a:r>
            <a:r>
              <a:rPr sz="1600" dirty="0">
                <a:solidFill>
                  <a:srgbClr val="FFFFFF"/>
                </a:solidFill>
                <a:latin typeface="Times New Roman"/>
                <a:cs typeface="Times New Roman"/>
              </a:rPr>
              <a:t> </a:t>
            </a:r>
            <a:r>
              <a:rPr sz="1600" spc="-5" dirty="0">
                <a:solidFill>
                  <a:srgbClr val="FFFFFF"/>
                </a:solidFill>
                <a:latin typeface="Times New Roman"/>
                <a:cs typeface="Times New Roman"/>
              </a:rPr>
              <a:t>parts.</a:t>
            </a:r>
            <a:endParaRPr sz="1600">
              <a:latin typeface="Times New Roman"/>
              <a:cs typeface="Times New Roman"/>
            </a:endParaRPr>
          </a:p>
        </p:txBody>
      </p:sp>
      <p:sp>
        <p:nvSpPr>
          <p:cNvPr id="19" name="object 19"/>
          <p:cNvSpPr/>
          <p:nvPr/>
        </p:nvSpPr>
        <p:spPr>
          <a:xfrm>
            <a:off x="4575047" y="4219955"/>
            <a:ext cx="304800" cy="254635"/>
          </a:xfrm>
          <a:custGeom>
            <a:avLst/>
            <a:gdLst/>
            <a:ahLst/>
            <a:cxnLst/>
            <a:rect l="l" t="t" r="r" b="b"/>
            <a:pathLst>
              <a:path w="304800" h="254635">
                <a:moveTo>
                  <a:pt x="304800" y="127254"/>
                </a:moveTo>
                <a:lnTo>
                  <a:pt x="0" y="127254"/>
                </a:lnTo>
                <a:lnTo>
                  <a:pt x="152400" y="254508"/>
                </a:lnTo>
                <a:lnTo>
                  <a:pt x="304800" y="127254"/>
                </a:lnTo>
                <a:close/>
              </a:path>
              <a:path w="304800" h="254635">
                <a:moveTo>
                  <a:pt x="243839" y="0"/>
                </a:moveTo>
                <a:lnTo>
                  <a:pt x="60960" y="0"/>
                </a:lnTo>
                <a:lnTo>
                  <a:pt x="60960" y="127254"/>
                </a:lnTo>
                <a:lnTo>
                  <a:pt x="243839" y="127254"/>
                </a:lnTo>
                <a:lnTo>
                  <a:pt x="243839" y="0"/>
                </a:lnTo>
                <a:close/>
              </a:path>
            </a:pathLst>
          </a:custGeom>
          <a:solidFill>
            <a:srgbClr val="F1B1AB"/>
          </a:solidFill>
        </p:spPr>
        <p:txBody>
          <a:bodyPr wrap="square" lIns="0" tIns="0" rIns="0" bIns="0" rtlCol="0"/>
          <a:lstStyle/>
          <a:p>
            <a:endParaRPr/>
          </a:p>
        </p:txBody>
      </p:sp>
      <p:sp>
        <p:nvSpPr>
          <p:cNvPr id="20" name="object 20"/>
          <p:cNvSpPr/>
          <p:nvPr/>
        </p:nvSpPr>
        <p:spPr>
          <a:xfrm>
            <a:off x="1944623" y="4515611"/>
            <a:ext cx="5565775" cy="676910"/>
          </a:xfrm>
          <a:custGeom>
            <a:avLst/>
            <a:gdLst/>
            <a:ahLst/>
            <a:cxnLst/>
            <a:rect l="l" t="t" r="r" b="b"/>
            <a:pathLst>
              <a:path w="5565775" h="676910">
                <a:moveTo>
                  <a:pt x="5497957" y="0"/>
                </a:moveTo>
                <a:lnTo>
                  <a:pt x="67690" y="0"/>
                </a:lnTo>
                <a:lnTo>
                  <a:pt x="41362" y="5326"/>
                </a:lnTo>
                <a:lnTo>
                  <a:pt x="19843" y="19843"/>
                </a:lnTo>
                <a:lnTo>
                  <a:pt x="5326" y="41362"/>
                </a:lnTo>
                <a:lnTo>
                  <a:pt x="0" y="67690"/>
                </a:lnTo>
                <a:lnTo>
                  <a:pt x="0" y="608964"/>
                </a:lnTo>
                <a:lnTo>
                  <a:pt x="5326" y="635293"/>
                </a:lnTo>
                <a:lnTo>
                  <a:pt x="19843" y="656812"/>
                </a:lnTo>
                <a:lnTo>
                  <a:pt x="41362" y="671329"/>
                </a:lnTo>
                <a:lnTo>
                  <a:pt x="67690" y="676656"/>
                </a:lnTo>
                <a:lnTo>
                  <a:pt x="5497957" y="676656"/>
                </a:lnTo>
                <a:lnTo>
                  <a:pt x="5524285" y="671329"/>
                </a:lnTo>
                <a:lnTo>
                  <a:pt x="5545804" y="656812"/>
                </a:lnTo>
                <a:lnTo>
                  <a:pt x="5560321" y="635293"/>
                </a:lnTo>
                <a:lnTo>
                  <a:pt x="5565648" y="608964"/>
                </a:lnTo>
                <a:lnTo>
                  <a:pt x="5565648" y="67690"/>
                </a:lnTo>
                <a:lnTo>
                  <a:pt x="5560321" y="41362"/>
                </a:lnTo>
                <a:lnTo>
                  <a:pt x="5545804" y="19843"/>
                </a:lnTo>
                <a:lnTo>
                  <a:pt x="5524285" y="5326"/>
                </a:lnTo>
                <a:lnTo>
                  <a:pt x="5497957" y="0"/>
                </a:lnTo>
                <a:close/>
              </a:path>
            </a:pathLst>
          </a:custGeom>
          <a:solidFill>
            <a:srgbClr val="E84B21"/>
          </a:solidFill>
        </p:spPr>
        <p:txBody>
          <a:bodyPr wrap="square" lIns="0" tIns="0" rIns="0" bIns="0" rtlCol="0"/>
          <a:lstStyle/>
          <a:p>
            <a:endParaRPr/>
          </a:p>
        </p:txBody>
      </p:sp>
      <p:sp>
        <p:nvSpPr>
          <p:cNvPr id="21" name="object 21"/>
          <p:cNvSpPr/>
          <p:nvPr/>
        </p:nvSpPr>
        <p:spPr>
          <a:xfrm>
            <a:off x="1944623" y="4515611"/>
            <a:ext cx="5565775" cy="676910"/>
          </a:xfrm>
          <a:custGeom>
            <a:avLst/>
            <a:gdLst/>
            <a:ahLst/>
            <a:cxnLst/>
            <a:rect l="l" t="t" r="r" b="b"/>
            <a:pathLst>
              <a:path w="5565775" h="676910">
                <a:moveTo>
                  <a:pt x="0" y="67690"/>
                </a:moveTo>
                <a:lnTo>
                  <a:pt x="5326" y="41362"/>
                </a:lnTo>
                <a:lnTo>
                  <a:pt x="19843" y="19843"/>
                </a:lnTo>
                <a:lnTo>
                  <a:pt x="41362" y="5326"/>
                </a:lnTo>
                <a:lnTo>
                  <a:pt x="67690" y="0"/>
                </a:lnTo>
                <a:lnTo>
                  <a:pt x="5497957" y="0"/>
                </a:lnTo>
                <a:lnTo>
                  <a:pt x="5524285" y="5326"/>
                </a:lnTo>
                <a:lnTo>
                  <a:pt x="5545804" y="19843"/>
                </a:lnTo>
                <a:lnTo>
                  <a:pt x="5560321" y="41362"/>
                </a:lnTo>
                <a:lnTo>
                  <a:pt x="5565648" y="67690"/>
                </a:lnTo>
                <a:lnTo>
                  <a:pt x="5565648" y="608964"/>
                </a:lnTo>
                <a:lnTo>
                  <a:pt x="5560321" y="635293"/>
                </a:lnTo>
                <a:lnTo>
                  <a:pt x="5545804" y="656812"/>
                </a:lnTo>
                <a:lnTo>
                  <a:pt x="5524285" y="671329"/>
                </a:lnTo>
                <a:lnTo>
                  <a:pt x="5497957" y="676656"/>
                </a:lnTo>
                <a:lnTo>
                  <a:pt x="67690" y="676656"/>
                </a:lnTo>
                <a:lnTo>
                  <a:pt x="41362" y="671329"/>
                </a:lnTo>
                <a:lnTo>
                  <a:pt x="19843" y="656812"/>
                </a:lnTo>
                <a:lnTo>
                  <a:pt x="5326" y="635293"/>
                </a:lnTo>
                <a:lnTo>
                  <a:pt x="0" y="608964"/>
                </a:lnTo>
                <a:lnTo>
                  <a:pt x="0" y="67690"/>
                </a:lnTo>
                <a:close/>
              </a:path>
            </a:pathLst>
          </a:custGeom>
          <a:ln w="15240">
            <a:solidFill>
              <a:srgbClr val="FFFFFF"/>
            </a:solidFill>
          </a:ln>
        </p:spPr>
        <p:txBody>
          <a:bodyPr wrap="square" lIns="0" tIns="0" rIns="0" bIns="0" rtlCol="0"/>
          <a:lstStyle/>
          <a:p>
            <a:endParaRPr/>
          </a:p>
        </p:txBody>
      </p:sp>
      <p:sp>
        <p:nvSpPr>
          <p:cNvPr id="22" name="object 22"/>
          <p:cNvSpPr txBox="1"/>
          <p:nvPr/>
        </p:nvSpPr>
        <p:spPr>
          <a:xfrm>
            <a:off x="2141601" y="4595240"/>
            <a:ext cx="1790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Times New Roman"/>
                <a:cs typeface="Times New Roman"/>
              </a:rPr>
              <a:t>3.</a:t>
            </a:r>
            <a:endParaRPr sz="1600">
              <a:latin typeface="Times New Roman"/>
              <a:cs typeface="Times New Roman"/>
            </a:endParaRPr>
          </a:p>
        </p:txBody>
      </p:sp>
      <p:sp>
        <p:nvSpPr>
          <p:cNvPr id="23" name="object 23"/>
          <p:cNvSpPr txBox="1"/>
          <p:nvPr/>
        </p:nvSpPr>
        <p:spPr>
          <a:xfrm>
            <a:off x="2853308" y="4595240"/>
            <a:ext cx="4457700" cy="480695"/>
          </a:xfrm>
          <a:prstGeom prst="rect">
            <a:avLst/>
          </a:prstGeom>
        </p:spPr>
        <p:txBody>
          <a:bodyPr vert="horz" wrap="square" lIns="0" tIns="45719" rIns="0" bIns="0" rtlCol="0">
            <a:spAutoFit/>
          </a:bodyPr>
          <a:lstStyle/>
          <a:p>
            <a:pPr marL="1127125" marR="5080" indent="-1114425">
              <a:lnSpc>
                <a:spcPts val="1670"/>
              </a:lnSpc>
              <a:spcBef>
                <a:spcPts val="359"/>
              </a:spcBef>
            </a:pPr>
            <a:r>
              <a:rPr sz="1600" spc="-5" dirty="0">
                <a:solidFill>
                  <a:srgbClr val="FFFFFF"/>
                </a:solidFill>
                <a:latin typeface="Times New Roman"/>
                <a:cs typeface="Times New Roman"/>
              </a:rPr>
              <a:t>Modification of the old system parts appropriate to the  new</a:t>
            </a:r>
            <a:r>
              <a:rPr sz="1600" spc="-10" dirty="0">
                <a:solidFill>
                  <a:srgbClr val="FFFFFF"/>
                </a:solidFill>
                <a:latin typeface="Times New Roman"/>
                <a:cs typeface="Times New Roman"/>
              </a:rPr>
              <a:t> requirements.</a:t>
            </a:r>
            <a:endParaRPr sz="1600">
              <a:latin typeface="Times New Roman"/>
              <a:cs typeface="Times New Roman"/>
            </a:endParaRPr>
          </a:p>
        </p:txBody>
      </p:sp>
      <p:sp>
        <p:nvSpPr>
          <p:cNvPr id="24" name="object 24"/>
          <p:cNvSpPr/>
          <p:nvPr/>
        </p:nvSpPr>
        <p:spPr>
          <a:xfrm>
            <a:off x="4575047" y="5234940"/>
            <a:ext cx="304800" cy="253365"/>
          </a:xfrm>
          <a:custGeom>
            <a:avLst/>
            <a:gdLst/>
            <a:ahLst/>
            <a:cxnLst/>
            <a:rect l="l" t="t" r="r" b="b"/>
            <a:pathLst>
              <a:path w="304800" h="253364">
                <a:moveTo>
                  <a:pt x="304800" y="126492"/>
                </a:moveTo>
                <a:lnTo>
                  <a:pt x="0" y="126492"/>
                </a:lnTo>
                <a:lnTo>
                  <a:pt x="152400" y="252984"/>
                </a:lnTo>
                <a:lnTo>
                  <a:pt x="304800" y="126492"/>
                </a:lnTo>
                <a:close/>
              </a:path>
              <a:path w="304800" h="253364">
                <a:moveTo>
                  <a:pt x="243839" y="0"/>
                </a:moveTo>
                <a:lnTo>
                  <a:pt x="60960" y="0"/>
                </a:lnTo>
                <a:lnTo>
                  <a:pt x="60960" y="126492"/>
                </a:lnTo>
                <a:lnTo>
                  <a:pt x="243839" y="126492"/>
                </a:lnTo>
                <a:lnTo>
                  <a:pt x="243839" y="0"/>
                </a:lnTo>
                <a:close/>
              </a:path>
            </a:pathLst>
          </a:custGeom>
          <a:solidFill>
            <a:srgbClr val="F1B1AB"/>
          </a:solidFill>
        </p:spPr>
        <p:txBody>
          <a:bodyPr wrap="square" lIns="0" tIns="0" rIns="0" bIns="0" rtlCol="0"/>
          <a:lstStyle/>
          <a:p>
            <a:endParaRPr/>
          </a:p>
        </p:txBody>
      </p:sp>
      <p:sp>
        <p:nvSpPr>
          <p:cNvPr id="25" name="object 25"/>
          <p:cNvSpPr/>
          <p:nvPr/>
        </p:nvSpPr>
        <p:spPr>
          <a:xfrm>
            <a:off x="1944623" y="5530596"/>
            <a:ext cx="5565775" cy="675640"/>
          </a:xfrm>
          <a:custGeom>
            <a:avLst/>
            <a:gdLst/>
            <a:ahLst/>
            <a:cxnLst/>
            <a:rect l="l" t="t" r="r" b="b"/>
            <a:pathLst>
              <a:path w="5565775" h="675639">
                <a:moveTo>
                  <a:pt x="5498083" y="0"/>
                </a:moveTo>
                <a:lnTo>
                  <a:pt x="67563" y="0"/>
                </a:lnTo>
                <a:lnTo>
                  <a:pt x="41255" y="5305"/>
                </a:lnTo>
                <a:lnTo>
                  <a:pt x="19780" y="19773"/>
                </a:lnTo>
                <a:lnTo>
                  <a:pt x="5306" y="41233"/>
                </a:lnTo>
                <a:lnTo>
                  <a:pt x="0" y="67513"/>
                </a:lnTo>
                <a:lnTo>
                  <a:pt x="0" y="607618"/>
                </a:lnTo>
                <a:lnTo>
                  <a:pt x="5306" y="633898"/>
                </a:lnTo>
                <a:lnTo>
                  <a:pt x="19780" y="655358"/>
                </a:lnTo>
                <a:lnTo>
                  <a:pt x="41255" y="669826"/>
                </a:lnTo>
                <a:lnTo>
                  <a:pt x="67563" y="675131"/>
                </a:lnTo>
                <a:lnTo>
                  <a:pt x="5498083" y="675131"/>
                </a:lnTo>
                <a:lnTo>
                  <a:pt x="5524392" y="669826"/>
                </a:lnTo>
                <a:lnTo>
                  <a:pt x="5545867" y="655358"/>
                </a:lnTo>
                <a:lnTo>
                  <a:pt x="5560341" y="633898"/>
                </a:lnTo>
                <a:lnTo>
                  <a:pt x="5565648" y="607618"/>
                </a:lnTo>
                <a:lnTo>
                  <a:pt x="5565648" y="67513"/>
                </a:lnTo>
                <a:lnTo>
                  <a:pt x="5560341" y="41233"/>
                </a:lnTo>
                <a:lnTo>
                  <a:pt x="5545867" y="19773"/>
                </a:lnTo>
                <a:lnTo>
                  <a:pt x="5524392" y="5305"/>
                </a:lnTo>
                <a:lnTo>
                  <a:pt x="5498083" y="0"/>
                </a:lnTo>
                <a:close/>
              </a:path>
            </a:pathLst>
          </a:custGeom>
          <a:solidFill>
            <a:srgbClr val="E84B21"/>
          </a:solidFill>
        </p:spPr>
        <p:txBody>
          <a:bodyPr wrap="square" lIns="0" tIns="0" rIns="0" bIns="0" rtlCol="0"/>
          <a:lstStyle/>
          <a:p>
            <a:endParaRPr/>
          </a:p>
        </p:txBody>
      </p:sp>
      <p:sp>
        <p:nvSpPr>
          <p:cNvPr id="26" name="object 26"/>
          <p:cNvSpPr/>
          <p:nvPr/>
        </p:nvSpPr>
        <p:spPr>
          <a:xfrm>
            <a:off x="1944623" y="5530596"/>
            <a:ext cx="5565775" cy="675640"/>
          </a:xfrm>
          <a:custGeom>
            <a:avLst/>
            <a:gdLst/>
            <a:ahLst/>
            <a:cxnLst/>
            <a:rect l="l" t="t" r="r" b="b"/>
            <a:pathLst>
              <a:path w="5565775" h="675639">
                <a:moveTo>
                  <a:pt x="0" y="67513"/>
                </a:moveTo>
                <a:lnTo>
                  <a:pt x="5306" y="41233"/>
                </a:lnTo>
                <a:lnTo>
                  <a:pt x="19780" y="19773"/>
                </a:lnTo>
                <a:lnTo>
                  <a:pt x="41255" y="5305"/>
                </a:lnTo>
                <a:lnTo>
                  <a:pt x="67563" y="0"/>
                </a:lnTo>
                <a:lnTo>
                  <a:pt x="5498083" y="0"/>
                </a:lnTo>
                <a:lnTo>
                  <a:pt x="5524392" y="5305"/>
                </a:lnTo>
                <a:lnTo>
                  <a:pt x="5545867" y="19773"/>
                </a:lnTo>
                <a:lnTo>
                  <a:pt x="5560341" y="41233"/>
                </a:lnTo>
                <a:lnTo>
                  <a:pt x="5565648" y="67513"/>
                </a:lnTo>
                <a:lnTo>
                  <a:pt x="5565648" y="607618"/>
                </a:lnTo>
                <a:lnTo>
                  <a:pt x="5560341" y="633898"/>
                </a:lnTo>
                <a:lnTo>
                  <a:pt x="5545867" y="655358"/>
                </a:lnTo>
                <a:lnTo>
                  <a:pt x="5524392" y="669826"/>
                </a:lnTo>
                <a:lnTo>
                  <a:pt x="5498083" y="675131"/>
                </a:lnTo>
                <a:lnTo>
                  <a:pt x="67563" y="675131"/>
                </a:lnTo>
                <a:lnTo>
                  <a:pt x="41255" y="669826"/>
                </a:lnTo>
                <a:lnTo>
                  <a:pt x="19780" y="655358"/>
                </a:lnTo>
                <a:lnTo>
                  <a:pt x="5306" y="633898"/>
                </a:lnTo>
                <a:lnTo>
                  <a:pt x="0" y="607618"/>
                </a:lnTo>
                <a:lnTo>
                  <a:pt x="0" y="67513"/>
                </a:lnTo>
                <a:close/>
              </a:path>
            </a:pathLst>
          </a:custGeom>
          <a:ln w="15240">
            <a:solidFill>
              <a:srgbClr val="FFFFFF"/>
            </a:solidFill>
          </a:ln>
        </p:spPr>
        <p:txBody>
          <a:bodyPr wrap="square" lIns="0" tIns="0" rIns="0" bIns="0" rtlCol="0"/>
          <a:lstStyle/>
          <a:p>
            <a:endParaRPr/>
          </a:p>
        </p:txBody>
      </p:sp>
      <p:sp>
        <p:nvSpPr>
          <p:cNvPr id="27" name="object 27"/>
          <p:cNvSpPr txBox="1"/>
          <p:nvPr/>
        </p:nvSpPr>
        <p:spPr>
          <a:xfrm>
            <a:off x="2181225" y="5715711"/>
            <a:ext cx="17907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FFFFFF"/>
                </a:solidFill>
                <a:latin typeface="Times New Roman"/>
                <a:cs typeface="Times New Roman"/>
              </a:rPr>
              <a:t>4.</a:t>
            </a:r>
            <a:endParaRPr sz="1600">
              <a:latin typeface="Times New Roman"/>
              <a:cs typeface="Times New Roman"/>
            </a:endParaRPr>
          </a:p>
        </p:txBody>
      </p:sp>
      <p:sp>
        <p:nvSpPr>
          <p:cNvPr id="28" name="object 28"/>
          <p:cNvSpPr txBox="1"/>
          <p:nvPr/>
        </p:nvSpPr>
        <p:spPr>
          <a:xfrm>
            <a:off x="2892932" y="5715711"/>
            <a:ext cx="43808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Times New Roman"/>
                <a:cs typeface="Times New Roman"/>
              </a:rPr>
              <a:t>Integration of the </a:t>
            </a:r>
            <a:r>
              <a:rPr sz="1600" spc="-10" dirty="0">
                <a:solidFill>
                  <a:srgbClr val="FFFFFF"/>
                </a:solidFill>
                <a:latin typeface="Times New Roman"/>
                <a:cs typeface="Times New Roman"/>
              </a:rPr>
              <a:t>modified </a:t>
            </a:r>
            <a:r>
              <a:rPr sz="1600" spc="-5" dirty="0">
                <a:solidFill>
                  <a:srgbClr val="FFFFFF"/>
                </a:solidFill>
                <a:latin typeface="Times New Roman"/>
                <a:cs typeface="Times New Roman"/>
              </a:rPr>
              <a:t>parts into the new</a:t>
            </a:r>
            <a:r>
              <a:rPr sz="1600" spc="125" dirty="0">
                <a:solidFill>
                  <a:srgbClr val="FFFFFF"/>
                </a:solidFill>
                <a:latin typeface="Times New Roman"/>
                <a:cs typeface="Times New Roman"/>
              </a:rPr>
              <a:t> </a:t>
            </a:r>
            <a:r>
              <a:rPr sz="1600" spc="-10" dirty="0">
                <a:solidFill>
                  <a:srgbClr val="FFFFFF"/>
                </a:solidFill>
                <a:latin typeface="Times New Roman"/>
                <a:cs typeface="Times New Roman"/>
              </a:rPr>
              <a:t>system.</a:t>
            </a:r>
            <a:endParaRPr sz="16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2024252" y="643204"/>
            <a:ext cx="4050665" cy="483234"/>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52525"/>
                </a:solidFill>
                <a:latin typeface="Times New Roman"/>
                <a:cs typeface="Times New Roman"/>
              </a:rPr>
              <a:t>3. </a:t>
            </a:r>
            <a:r>
              <a:rPr sz="3000" spc="-5" dirty="0">
                <a:solidFill>
                  <a:srgbClr val="252525"/>
                </a:solidFill>
                <a:latin typeface="Times New Roman"/>
                <a:cs typeface="Times New Roman"/>
              </a:rPr>
              <a:t>Full-reuse</a:t>
            </a:r>
            <a:r>
              <a:rPr sz="3000" spc="-25" dirty="0">
                <a:solidFill>
                  <a:srgbClr val="252525"/>
                </a:solidFill>
                <a:latin typeface="Times New Roman"/>
                <a:cs typeface="Times New Roman"/>
              </a:rPr>
              <a:t> </a:t>
            </a:r>
            <a:r>
              <a:rPr sz="3000" dirty="0">
                <a:solidFill>
                  <a:srgbClr val="252525"/>
                </a:solidFill>
                <a:latin typeface="Times New Roman"/>
                <a:cs typeface="Times New Roman"/>
              </a:rPr>
              <a:t>Model(cont.)</a:t>
            </a:r>
            <a:endParaRPr sz="3000">
              <a:latin typeface="Times New Roman"/>
              <a:cs typeface="Times New Roman"/>
            </a:endParaRPr>
          </a:p>
        </p:txBody>
      </p:sp>
      <p:sp>
        <p:nvSpPr>
          <p:cNvPr id="6" name="object 6"/>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17</a:t>
            </a:r>
            <a:endParaRPr sz="2000">
              <a:latin typeface="Arial"/>
              <a:cs typeface="Arial"/>
            </a:endParaRPr>
          </a:p>
        </p:txBody>
      </p:sp>
      <p:sp>
        <p:nvSpPr>
          <p:cNvPr id="7" name="object 7"/>
          <p:cNvSpPr txBox="1"/>
          <p:nvPr/>
        </p:nvSpPr>
        <p:spPr>
          <a:xfrm>
            <a:off x="6117463" y="2479370"/>
            <a:ext cx="1016635" cy="233045"/>
          </a:xfrm>
          <a:prstGeom prst="rect">
            <a:avLst/>
          </a:prstGeom>
        </p:spPr>
        <p:txBody>
          <a:bodyPr vert="horz" wrap="square" lIns="0" tIns="13335" rIns="0" bIns="0" rtlCol="0">
            <a:spAutoFit/>
          </a:bodyPr>
          <a:lstStyle/>
          <a:p>
            <a:pPr marL="12700">
              <a:lnSpc>
                <a:spcPct val="100000"/>
              </a:lnSpc>
              <a:spcBef>
                <a:spcPts val="105"/>
              </a:spcBef>
            </a:pPr>
            <a:r>
              <a:rPr sz="1350" b="1" spc="5" dirty="0">
                <a:solidFill>
                  <a:srgbClr val="0000FF"/>
                </a:solidFill>
                <a:latin typeface="Arial"/>
                <a:cs typeface="Arial"/>
              </a:rPr>
              <a:t>New</a:t>
            </a:r>
            <a:r>
              <a:rPr sz="1350" b="1" spc="-105" dirty="0">
                <a:solidFill>
                  <a:srgbClr val="0000FF"/>
                </a:solidFill>
                <a:latin typeface="Arial"/>
                <a:cs typeface="Arial"/>
              </a:rPr>
              <a:t> </a:t>
            </a:r>
            <a:r>
              <a:rPr sz="1350" b="1" dirty="0">
                <a:solidFill>
                  <a:srgbClr val="0000FF"/>
                </a:solidFill>
                <a:latin typeface="Arial"/>
                <a:cs typeface="Arial"/>
              </a:rPr>
              <a:t>system</a:t>
            </a:r>
            <a:endParaRPr sz="1350">
              <a:latin typeface="Arial"/>
              <a:cs typeface="Arial"/>
            </a:endParaRPr>
          </a:p>
        </p:txBody>
      </p:sp>
      <p:sp>
        <p:nvSpPr>
          <p:cNvPr id="8" name="object 8"/>
          <p:cNvSpPr/>
          <p:nvPr/>
        </p:nvSpPr>
        <p:spPr>
          <a:xfrm>
            <a:off x="3945635" y="2286000"/>
            <a:ext cx="1313815" cy="2971800"/>
          </a:xfrm>
          <a:custGeom>
            <a:avLst/>
            <a:gdLst/>
            <a:ahLst/>
            <a:cxnLst/>
            <a:rect l="l" t="t" r="r" b="b"/>
            <a:pathLst>
              <a:path w="1313814" h="2971800">
                <a:moveTo>
                  <a:pt x="656843" y="0"/>
                </a:moveTo>
                <a:lnTo>
                  <a:pt x="600104" y="5453"/>
                </a:lnTo>
                <a:lnTo>
                  <a:pt x="544717" y="21518"/>
                </a:lnTo>
                <a:lnTo>
                  <a:pt x="490879" y="47747"/>
                </a:lnTo>
                <a:lnTo>
                  <a:pt x="438786" y="83694"/>
                </a:lnTo>
                <a:lnTo>
                  <a:pt x="388633" y="128914"/>
                </a:lnTo>
                <a:lnTo>
                  <a:pt x="340616" y="182961"/>
                </a:lnTo>
                <a:lnTo>
                  <a:pt x="294932" y="245388"/>
                </a:lnTo>
                <a:lnTo>
                  <a:pt x="273027" y="279606"/>
                </a:lnTo>
                <a:lnTo>
                  <a:pt x="251777" y="315751"/>
                </a:lnTo>
                <a:lnTo>
                  <a:pt x="231209" y="353768"/>
                </a:lnTo>
                <a:lnTo>
                  <a:pt x="211346" y="393602"/>
                </a:lnTo>
                <a:lnTo>
                  <a:pt x="192214" y="435197"/>
                </a:lnTo>
                <a:lnTo>
                  <a:pt x="173836" y="478496"/>
                </a:lnTo>
                <a:lnTo>
                  <a:pt x="156237" y="523445"/>
                </a:lnTo>
                <a:lnTo>
                  <a:pt x="139442" y="569988"/>
                </a:lnTo>
                <a:lnTo>
                  <a:pt x="123475" y="618068"/>
                </a:lnTo>
                <a:lnTo>
                  <a:pt x="108361" y="667630"/>
                </a:lnTo>
                <a:lnTo>
                  <a:pt x="94123" y="718619"/>
                </a:lnTo>
                <a:lnTo>
                  <a:pt x="80788" y="770978"/>
                </a:lnTo>
                <a:lnTo>
                  <a:pt x="68378" y="824652"/>
                </a:lnTo>
                <a:lnTo>
                  <a:pt x="56919" y="879585"/>
                </a:lnTo>
                <a:lnTo>
                  <a:pt x="46435" y="935721"/>
                </a:lnTo>
                <a:lnTo>
                  <a:pt x="36951" y="993005"/>
                </a:lnTo>
                <a:lnTo>
                  <a:pt x="28490" y="1051380"/>
                </a:lnTo>
                <a:lnTo>
                  <a:pt x="21078" y="1110792"/>
                </a:lnTo>
                <a:lnTo>
                  <a:pt x="14740" y="1171184"/>
                </a:lnTo>
                <a:lnTo>
                  <a:pt x="9499" y="1232501"/>
                </a:lnTo>
                <a:lnTo>
                  <a:pt x="5379" y="1294687"/>
                </a:lnTo>
                <a:lnTo>
                  <a:pt x="2407" y="1357686"/>
                </a:lnTo>
                <a:lnTo>
                  <a:pt x="605" y="1421442"/>
                </a:lnTo>
                <a:lnTo>
                  <a:pt x="0" y="1485900"/>
                </a:lnTo>
                <a:lnTo>
                  <a:pt x="605" y="1550357"/>
                </a:lnTo>
                <a:lnTo>
                  <a:pt x="2407" y="1614113"/>
                </a:lnTo>
                <a:lnTo>
                  <a:pt x="5379" y="1677112"/>
                </a:lnTo>
                <a:lnTo>
                  <a:pt x="9499" y="1739298"/>
                </a:lnTo>
                <a:lnTo>
                  <a:pt x="14740" y="1800615"/>
                </a:lnTo>
                <a:lnTo>
                  <a:pt x="21078" y="1861007"/>
                </a:lnTo>
                <a:lnTo>
                  <a:pt x="28490" y="1920419"/>
                </a:lnTo>
                <a:lnTo>
                  <a:pt x="36951" y="1978794"/>
                </a:lnTo>
                <a:lnTo>
                  <a:pt x="46435" y="2036078"/>
                </a:lnTo>
                <a:lnTo>
                  <a:pt x="56919" y="2092214"/>
                </a:lnTo>
                <a:lnTo>
                  <a:pt x="68378" y="2147147"/>
                </a:lnTo>
                <a:lnTo>
                  <a:pt x="80788" y="2200821"/>
                </a:lnTo>
                <a:lnTo>
                  <a:pt x="94123" y="2253180"/>
                </a:lnTo>
                <a:lnTo>
                  <a:pt x="108361" y="2304169"/>
                </a:lnTo>
                <a:lnTo>
                  <a:pt x="123475" y="2353731"/>
                </a:lnTo>
                <a:lnTo>
                  <a:pt x="139442" y="2401811"/>
                </a:lnTo>
                <a:lnTo>
                  <a:pt x="156237" y="2448354"/>
                </a:lnTo>
                <a:lnTo>
                  <a:pt x="173836" y="2493303"/>
                </a:lnTo>
                <a:lnTo>
                  <a:pt x="192214" y="2536602"/>
                </a:lnTo>
                <a:lnTo>
                  <a:pt x="211346" y="2578197"/>
                </a:lnTo>
                <a:lnTo>
                  <a:pt x="231209" y="2618031"/>
                </a:lnTo>
                <a:lnTo>
                  <a:pt x="251777" y="2656048"/>
                </a:lnTo>
                <a:lnTo>
                  <a:pt x="273027" y="2692193"/>
                </a:lnTo>
                <a:lnTo>
                  <a:pt x="294932" y="2726411"/>
                </a:lnTo>
                <a:lnTo>
                  <a:pt x="317471" y="2758644"/>
                </a:lnTo>
                <a:lnTo>
                  <a:pt x="364345" y="2816937"/>
                </a:lnTo>
                <a:lnTo>
                  <a:pt x="413454" y="2866626"/>
                </a:lnTo>
                <a:lnTo>
                  <a:pt x="464602" y="2907266"/>
                </a:lnTo>
                <a:lnTo>
                  <a:pt x="517592" y="2938410"/>
                </a:lnTo>
                <a:lnTo>
                  <a:pt x="572229" y="2959612"/>
                </a:lnTo>
                <a:lnTo>
                  <a:pt x="628317" y="2970427"/>
                </a:lnTo>
                <a:lnTo>
                  <a:pt x="656843" y="2971800"/>
                </a:lnTo>
                <a:lnTo>
                  <a:pt x="685370" y="2970427"/>
                </a:lnTo>
                <a:lnTo>
                  <a:pt x="741458" y="2959612"/>
                </a:lnTo>
                <a:lnTo>
                  <a:pt x="796095" y="2938410"/>
                </a:lnTo>
                <a:lnTo>
                  <a:pt x="849085" y="2907266"/>
                </a:lnTo>
                <a:lnTo>
                  <a:pt x="900233" y="2866626"/>
                </a:lnTo>
                <a:lnTo>
                  <a:pt x="949342" y="2816937"/>
                </a:lnTo>
                <a:lnTo>
                  <a:pt x="996216" y="2758644"/>
                </a:lnTo>
                <a:lnTo>
                  <a:pt x="1018755" y="2726411"/>
                </a:lnTo>
                <a:lnTo>
                  <a:pt x="1040660" y="2692193"/>
                </a:lnTo>
                <a:lnTo>
                  <a:pt x="1061910" y="2656048"/>
                </a:lnTo>
                <a:lnTo>
                  <a:pt x="1082478" y="2618031"/>
                </a:lnTo>
                <a:lnTo>
                  <a:pt x="1102341" y="2578197"/>
                </a:lnTo>
                <a:lnTo>
                  <a:pt x="1121473" y="2536602"/>
                </a:lnTo>
                <a:lnTo>
                  <a:pt x="1139851" y="2493303"/>
                </a:lnTo>
                <a:lnTo>
                  <a:pt x="1157450" y="2448354"/>
                </a:lnTo>
                <a:lnTo>
                  <a:pt x="1174245" y="2401811"/>
                </a:lnTo>
                <a:lnTo>
                  <a:pt x="1190212" y="2353731"/>
                </a:lnTo>
                <a:lnTo>
                  <a:pt x="1205326" y="2304169"/>
                </a:lnTo>
                <a:lnTo>
                  <a:pt x="1219564" y="2253180"/>
                </a:lnTo>
                <a:lnTo>
                  <a:pt x="1232899" y="2200821"/>
                </a:lnTo>
                <a:lnTo>
                  <a:pt x="1245309" y="2147147"/>
                </a:lnTo>
                <a:lnTo>
                  <a:pt x="1256768" y="2092214"/>
                </a:lnTo>
                <a:lnTo>
                  <a:pt x="1267252" y="2036078"/>
                </a:lnTo>
                <a:lnTo>
                  <a:pt x="1276736" y="1978794"/>
                </a:lnTo>
                <a:lnTo>
                  <a:pt x="1285197" y="1920419"/>
                </a:lnTo>
                <a:lnTo>
                  <a:pt x="1292609" y="1861007"/>
                </a:lnTo>
                <a:lnTo>
                  <a:pt x="1298947" y="1800615"/>
                </a:lnTo>
                <a:lnTo>
                  <a:pt x="1304188" y="1739298"/>
                </a:lnTo>
                <a:lnTo>
                  <a:pt x="1308308" y="1677112"/>
                </a:lnTo>
                <a:lnTo>
                  <a:pt x="1311280" y="1614113"/>
                </a:lnTo>
                <a:lnTo>
                  <a:pt x="1313082" y="1550357"/>
                </a:lnTo>
                <a:lnTo>
                  <a:pt x="1313688" y="1485900"/>
                </a:lnTo>
                <a:lnTo>
                  <a:pt x="1313082" y="1421442"/>
                </a:lnTo>
                <a:lnTo>
                  <a:pt x="1311280" y="1357686"/>
                </a:lnTo>
                <a:lnTo>
                  <a:pt x="1308308" y="1294687"/>
                </a:lnTo>
                <a:lnTo>
                  <a:pt x="1304188" y="1232501"/>
                </a:lnTo>
                <a:lnTo>
                  <a:pt x="1298947" y="1171184"/>
                </a:lnTo>
                <a:lnTo>
                  <a:pt x="1292609" y="1110792"/>
                </a:lnTo>
                <a:lnTo>
                  <a:pt x="1285197" y="1051380"/>
                </a:lnTo>
                <a:lnTo>
                  <a:pt x="1276736" y="993005"/>
                </a:lnTo>
                <a:lnTo>
                  <a:pt x="1267252" y="935721"/>
                </a:lnTo>
                <a:lnTo>
                  <a:pt x="1256768" y="879585"/>
                </a:lnTo>
                <a:lnTo>
                  <a:pt x="1245309" y="824652"/>
                </a:lnTo>
                <a:lnTo>
                  <a:pt x="1232899" y="770978"/>
                </a:lnTo>
                <a:lnTo>
                  <a:pt x="1219564" y="718619"/>
                </a:lnTo>
                <a:lnTo>
                  <a:pt x="1205326" y="667630"/>
                </a:lnTo>
                <a:lnTo>
                  <a:pt x="1190212" y="618068"/>
                </a:lnTo>
                <a:lnTo>
                  <a:pt x="1174245" y="569988"/>
                </a:lnTo>
                <a:lnTo>
                  <a:pt x="1157450" y="523445"/>
                </a:lnTo>
                <a:lnTo>
                  <a:pt x="1139851" y="478496"/>
                </a:lnTo>
                <a:lnTo>
                  <a:pt x="1121473" y="435197"/>
                </a:lnTo>
                <a:lnTo>
                  <a:pt x="1102341" y="393602"/>
                </a:lnTo>
                <a:lnTo>
                  <a:pt x="1082478" y="353768"/>
                </a:lnTo>
                <a:lnTo>
                  <a:pt x="1061910" y="315751"/>
                </a:lnTo>
                <a:lnTo>
                  <a:pt x="1040660" y="279606"/>
                </a:lnTo>
                <a:lnTo>
                  <a:pt x="1018755" y="245388"/>
                </a:lnTo>
                <a:lnTo>
                  <a:pt x="996216" y="213155"/>
                </a:lnTo>
                <a:lnTo>
                  <a:pt x="949342" y="154862"/>
                </a:lnTo>
                <a:lnTo>
                  <a:pt x="900233" y="105173"/>
                </a:lnTo>
                <a:lnTo>
                  <a:pt x="849085" y="64533"/>
                </a:lnTo>
                <a:lnTo>
                  <a:pt x="796095" y="33389"/>
                </a:lnTo>
                <a:lnTo>
                  <a:pt x="741458" y="12187"/>
                </a:lnTo>
                <a:lnTo>
                  <a:pt x="685370" y="1372"/>
                </a:lnTo>
                <a:lnTo>
                  <a:pt x="656843" y="0"/>
                </a:lnTo>
                <a:close/>
              </a:path>
            </a:pathLst>
          </a:custGeom>
          <a:solidFill>
            <a:srgbClr val="BADFE2"/>
          </a:solidFill>
        </p:spPr>
        <p:txBody>
          <a:bodyPr wrap="square" lIns="0" tIns="0" rIns="0" bIns="0" rtlCol="0"/>
          <a:lstStyle/>
          <a:p>
            <a:endParaRPr/>
          </a:p>
        </p:txBody>
      </p:sp>
      <p:sp>
        <p:nvSpPr>
          <p:cNvPr id="9" name="object 9"/>
          <p:cNvSpPr/>
          <p:nvPr/>
        </p:nvSpPr>
        <p:spPr>
          <a:xfrm>
            <a:off x="3946397" y="2286761"/>
            <a:ext cx="1313815" cy="2971800"/>
          </a:xfrm>
          <a:custGeom>
            <a:avLst/>
            <a:gdLst/>
            <a:ahLst/>
            <a:cxnLst/>
            <a:rect l="l" t="t" r="r" b="b"/>
            <a:pathLst>
              <a:path w="1313814" h="2971800">
                <a:moveTo>
                  <a:pt x="1313688" y="1485900"/>
                </a:moveTo>
                <a:lnTo>
                  <a:pt x="1313082" y="1421442"/>
                </a:lnTo>
                <a:lnTo>
                  <a:pt x="1311280" y="1357686"/>
                </a:lnTo>
                <a:lnTo>
                  <a:pt x="1308308" y="1294687"/>
                </a:lnTo>
                <a:lnTo>
                  <a:pt x="1304188" y="1232501"/>
                </a:lnTo>
                <a:lnTo>
                  <a:pt x="1298947" y="1171184"/>
                </a:lnTo>
                <a:lnTo>
                  <a:pt x="1292609" y="1110792"/>
                </a:lnTo>
                <a:lnTo>
                  <a:pt x="1285197" y="1051380"/>
                </a:lnTo>
                <a:lnTo>
                  <a:pt x="1276736" y="993005"/>
                </a:lnTo>
                <a:lnTo>
                  <a:pt x="1267252" y="935721"/>
                </a:lnTo>
                <a:lnTo>
                  <a:pt x="1256768" y="879585"/>
                </a:lnTo>
                <a:lnTo>
                  <a:pt x="1245309" y="824652"/>
                </a:lnTo>
                <a:lnTo>
                  <a:pt x="1232899" y="770978"/>
                </a:lnTo>
                <a:lnTo>
                  <a:pt x="1219564" y="718619"/>
                </a:lnTo>
                <a:lnTo>
                  <a:pt x="1205326" y="667630"/>
                </a:lnTo>
                <a:lnTo>
                  <a:pt x="1190212" y="618068"/>
                </a:lnTo>
                <a:lnTo>
                  <a:pt x="1174245" y="569988"/>
                </a:lnTo>
                <a:lnTo>
                  <a:pt x="1157450" y="523445"/>
                </a:lnTo>
                <a:lnTo>
                  <a:pt x="1139851" y="478496"/>
                </a:lnTo>
                <a:lnTo>
                  <a:pt x="1121473" y="435197"/>
                </a:lnTo>
                <a:lnTo>
                  <a:pt x="1102341" y="393602"/>
                </a:lnTo>
                <a:lnTo>
                  <a:pt x="1082478" y="353768"/>
                </a:lnTo>
                <a:lnTo>
                  <a:pt x="1061910" y="315751"/>
                </a:lnTo>
                <a:lnTo>
                  <a:pt x="1040660" y="279606"/>
                </a:lnTo>
                <a:lnTo>
                  <a:pt x="1018755" y="245388"/>
                </a:lnTo>
                <a:lnTo>
                  <a:pt x="996216" y="213155"/>
                </a:lnTo>
                <a:lnTo>
                  <a:pt x="949342" y="154862"/>
                </a:lnTo>
                <a:lnTo>
                  <a:pt x="900233" y="105173"/>
                </a:lnTo>
                <a:lnTo>
                  <a:pt x="849085" y="64533"/>
                </a:lnTo>
                <a:lnTo>
                  <a:pt x="796095" y="33389"/>
                </a:lnTo>
                <a:lnTo>
                  <a:pt x="741458" y="12187"/>
                </a:lnTo>
                <a:lnTo>
                  <a:pt x="685370" y="1372"/>
                </a:lnTo>
                <a:lnTo>
                  <a:pt x="656843" y="0"/>
                </a:lnTo>
                <a:lnTo>
                  <a:pt x="628317" y="1372"/>
                </a:lnTo>
                <a:lnTo>
                  <a:pt x="572229" y="12187"/>
                </a:lnTo>
                <a:lnTo>
                  <a:pt x="517592" y="33389"/>
                </a:lnTo>
                <a:lnTo>
                  <a:pt x="464602" y="64533"/>
                </a:lnTo>
                <a:lnTo>
                  <a:pt x="413454" y="105173"/>
                </a:lnTo>
                <a:lnTo>
                  <a:pt x="364345" y="154862"/>
                </a:lnTo>
                <a:lnTo>
                  <a:pt x="317471" y="213155"/>
                </a:lnTo>
                <a:lnTo>
                  <a:pt x="294932" y="245388"/>
                </a:lnTo>
                <a:lnTo>
                  <a:pt x="273027" y="279606"/>
                </a:lnTo>
                <a:lnTo>
                  <a:pt x="251777" y="315751"/>
                </a:lnTo>
                <a:lnTo>
                  <a:pt x="231209" y="353768"/>
                </a:lnTo>
                <a:lnTo>
                  <a:pt x="211346" y="393602"/>
                </a:lnTo>
                <a:lnTo>
                  <a:pt x="192214" y="435197"/>
                </a:lnTo>
                <a:lnTo>
                  <a:pt x="173836" y="478496"/>
                </a:lnTo>
                <a:lnTo>
                  <a:pt x="156237" y="523445"/>
                </a:lnTo>
                <a:lnTo>
                  <a:pt x="139442" y="569988"/>
                </a:lnTo>
                <a:lnTo>
                  <a:pt x="123475" y="618068"/>
                </a:lnTo>
                <a:lnTo>
                  <a:pt x="108361" y="667630"/>
                </a:lnTo>
                <a:lnTo>
                  <a:pt x="94123" y="718619"/>
                </a:lnTo>
                <a:lnTo>
                  <a:pt x="80788" y="770978"/>
                </a:lnTo>
                <a:lnTo>
                  <a:pt x="68378" y="824652"/>
                </a:lnTo>
                <a:lnTo>
                  <a:pt x="56919" y="879585"/>
                </a:lnTo>
                <a:lnTo>
                  <a:pt x="46435" y="935721"/>
                </a:lnTo>
                <a:lnTo>
                  <a:pt x="36951" y="993005"/>
                </a:lnTo>
                <a:lnTo>
                  <a:pt x="28490" y="1051380"/>
                </a:lnTo>
                <a:lnTo>
                  <a:pt x="21078" y="1110792"/>
                </a:lnTo>
                <a:lnTo>
                  <a:pt x="14740" y="1171184"/>
                </a:lnTo>
                <a:lnTo>
                  <a:pt x="9499" y="1232501"/>
                </a:lnTo>
                <a:lnTo>
                  <a:pt x="5379" y="1294687"/>
                </a:lnTo>
                <a:lnTo>
                  <a:pt x="2407" y="1357686"/>
                </a:lnTo>
                <a:lnTo>
                  <a:pt x="605" y="1421442"/>
                </a:lnTo>
                <a:lnTo>
                  <a:pt x="0" y="1485900"/>
                </a:lnTo>
                <a:lnTo>
                  <a:pt x="605" y="1550357"/>
                </a:lnTo>
                <a:lnTo>
                  <a:pt x="2407" y="1614113"/>
                </a:lnTo>
                <a:lnTo>
                  <a:pt x="5379" y="1677112"/>
                </a:lnTo>
                <a:lnTo>
                  <a:pt x="9499" y="1739298"/>
                </a:lnTo>
                <a:lnTo>
                  <a:pt x="14740" y="1800615"/>
                </a:lnTo>
                <a:lnTo>
                  <a:pt x="21078" y="1861007"/>
                </a:lnTo>
                <a:lnTo>
                  <a:pt x="28490" y="1920419"/>
                </a:lnTo>
                <a:lnTo>
                  <a:pt x="36951" y="1978794"/>
                </a:lnTo>
                <a:lnTo>
                  <a:pt x="46435" y="2036078"/>
                </a:lnTo>
                <a:lnTo>
                  <a:pt x="56919" y="2092214"/>
                </a:lnTo>
                <a:lnTo>
                  <a:pt x="68378" y="2147147"/>
                </a:lnTo>
                <a:lnTo>
                  <a:pt x="80788" y="2200821"/>
                </a:lnTo>
                <a:lnTo>
                  <a:pt x="94123" y="2253180"/>
                </a:lnTo>
                <a:lnTo>
                  <a:pt x="108361" y="2304169"/>
                </a:lnTo>
                <a:lnTo>
                  <a:pt x="123475" y="2353731"/>
                </a:lnTo>
                <a:lnTo>
                  <a:pt x="139442" y="2401811"/>
                </a:lnTo>
                <a:lnTo>
                  <a:pt x="156237" y="2448354"/>
                </a:lnTo>
                <a:lnTo>
                  <a:pt x="173836" y="2493303"/>
                </a:lnTo>
                <a:lnTo>
                  <a:pt x="192214" y="2536602"/>
                </a:lnTo>
                <a:lnTo>
                  <a:pt x="211346" y="2578197"/>
                </a:lnTo>
                <a:lnTo>
                  <a:pt x="231209" y="2618031"/>
                </a:lnTo>
                <a:lnTo>
                  <a:pt x="251777" y="2656048"/>
                </a:lnTo>
                <a:lnTo>
                  <a:pt x="273027" y="2692193"/>
                </a:lnTo>
                <a:lnTo>
                  <a:pt x="294932" y="2726411"/>
                </a:lnTo>
                <a:lnTo>
                  <a:pt x="317471" y="2758644"/>
                </a:lnTo>
                <a:lnTo>
                  <a:pt x="364345" y="2816937"/>
                </a:lnTo>
                <a:lnTo>
                  <a:pt x="413454" y="2866626"/>
                </a:lnTo>
                <a:lnTo>
                  <a:pt x="464602" y="2907266"/>
                </a:lnTo>
                <a:lnTo>
                  <a:pt x="517592" y="2938410"/>
                </a:lnTo>
                <a:lnTo>
                  <a:pt x="572229" y="2959612"/>
                </a:lnTo>
                <a:lnTo>
                  <a:pt x="628317" y="2970427"/>
                </a:lnTo>
                <a:lnTo>
                  <a:pt x="656843" y="2971800"/>
                </a:lnTo>
                <a:lnTo>
                  <a:pt x="685370" y="2970427"/>
                </a:lnTo>
                <a:lnTo>
                  <a:pt x="741458" y="2959612"/>
                </a:lnTo>
                <a:lnTo>
                  <a:pt x="796095" y="2938410"/>
                </a:lnTo>
                <a:lnTo>
                  <a:pt x="849085" y="2907266"/>
                </a:lnTo>
                <a:lnTo>
                  <a:pt x="900233" y="2866626"/>
                </a:lnTo>
                <a:lnTo>
                  <a:pt x="949342" y="2816937"/>
                </a:lnTo>
                <a:lnTo>
                  <a:pt x="996216" y="2758644"/>
                </a:lnTo>
                <a:lnTo>
                  <a:pt x="1018755" y="2726411"/>
                </a:lnTo>
                <a:lnTo>
                  <a:pt x="1040660" y="2692193"/>
                </a:lnTo>
                <a:lnTo>
                  <a:pt x="1061910" y="2656048"/>
                </a:lnTo>
                <a:lnTo>
                  <a:pt x="1082478" y="2618031"/>
                </a:lnTo>
                <a:lnTo>
                  <a:pt x="1102341" y="2578197"/>
                </a:lnTo>
                <a:lnTo>
                  <a:pt x="1121473" y="2536602"/>
                </a:lnTo>
                <a:lnTo>
                  <a:pt x="1139851" y="2493303"/>
                </a:lnTo>
                <a:lnTo>
                  <a:pt x="1157450" y="2448354"/>
                </a:lnTo>
                <a:lnTo>
                  <a:pt x="1174245" y="2401811"/>
                </a:lnTo>
                <a:lnTo>
                  <a:pt x="1190212" y="2353731"/>
                </a:lnTo>
                <a:lnTo>
                  <a:pt x="1205326" y="2304169"/>
                </a:lnTo>
                <a:lnTo>
                  <a:pt x="1219564" y="2253180"/>
                </a:lnTo>
                <a:lnTo>
                  <a:pt x="1232899" y="2200821"/>
                </a:lnTo>
                <a:lnTo>
                  <a:pt x="1245309" y="2147147"/>
                </a:lnTo>
                <a:lnTo>
                  <a:pt x="1256768" y="2092214"/>
                </a:lnTo>
                <a:lnTo>
                  <a:pt x="1267252" y="2036078"/>
                </a:lnTo>
                <a:lnTo>
                  <a:pt x="1276736" y="1978794"/>
                </a:lnTo>
                <a:lnTo>
                  <a:pt x="1285197" y="1920419"/>
                </a:lnTo>
                <a:lnTo>
                  <a:pt x="1292609" y="1861007"/>
                </a:lnTo>
                <a:lnTo>
                  <a:pt x="1298947" y="1800615"/>
                </a:lnTo>
                <a:lnTo>
                  <a:pt x="1304188" y="1739298"/>
                </a:lnTo>
                <a:lnTo>
                  <a:pt x="1308308" y="1677112"/>
                </a:lnTo>
                <a:lnTo>
                  <a:pt x="1311280" y="1614113"/>
                </a:lnTo>
                <a:lnTo>
                  <a:pt x="1313082" y="1550357"/>
                </a:lnTo>
                <a:lnTo>
                  <a:pt x="1313688" y="1485900"/>
                </a:lnTo>
                <a:close/>
              </a:path>
            </a:pathLst>
          </a:custGeom>
          <a:ln w="3175">
            <a:solidFill>
              <a:srgbClr val="000000"/>
            </a:solidFill>
          </a:ln>
        </p:spPr>
        <p:txBody>
          <a:bodyPr wrap="square" lIns="0" tIns="0" rIns="0" bIns="0" rtlCol="0"/>
          <a:lstStyle/>
          <a:p>
            <a:endParaRPr/>
          </a:p>
        </p:txBody>
      </p:sp>
      <p:sp>
        <p:nvSpPr>
          <p:cNvPr id="10" name="object 10"/>
          <p:cNvSpPr txBox="1"/>
          <p:nvPr/>
        </p:nvSpPr>
        <p:spPr>
          <a:xfrm>
            <a:off x="4070096" y="3592195"/>
            <a:ext cx="1078230" cy="438150"/>
          </a:xfrm>
          <a:prstGeom prst="rect">
            <a:avLst/>
          </a:prstGeom>
        </p:spPr>
        <p:txBody>
          <a:bodyPr vert="horz" wrap="square" lIns="0" tIns="13335" rIns="0" bIns="0" rtlCol="0">
            <a:spAutoFit/>
          </a:bodyPr>
          <a:lstStyle/>
          <a:p>
            <a:pPr marL="274955" marR="5080" indent="-262890">
              <a:lnSpc>
                <a:spcPct val="100000"/>
              </a:lnSpc>
              <a:spcBef>
                <a:spcPts val="105"/>
              </a:spcBef>
            </a:pPr>
            <a:r>
              <a:rPr sz="1350" b="1" dirty="0">
                <a:solidFill>
                  <a:srgbClr val="FF0000"/>
                </a:solidFill>
                <a:latin typeface="Arial"/>
                <a:cs typeface="Arial"/>
              </a:rPr>
              <a:t>Co</a:t>
            </a:r>
            <a:r>
              <a:rPr sz="1350" b="1" spc="-5" dirty="0">
                <a:solidFill>
                  <a:srgbClr val="FF0000"/>
                </a:solidFill>
                <a:latin typeface="Arial"/>
                <a:cs typeface="Arial"/>
              </a:rPr>
              <a:t>m</a:t>
            </a:r>
            <a:r>
              <a:rPr sz="1350" b="1" dirty="0">
                <a:solidFill>
                  <a:srgbClr val="FF0000"/>
                </a:solidFill>
                <a:latin typeface="Arial"/>
                <a:cs typeface="Arial"/>
              </a:rPr>
              <a:t>ponents  </a:t>
            </a:r>
            <a:r>
              <a:rPr sz="1350" b="1" spc="-5" dirty="0">
                <a:solidFill>
                  <a:srgbClr val="FF0000"/>
                </a:solidFill>
                <a:latin typeface="Arial"/>
                <a:cs typeface="Arial"/>
              </a:rPr>
              <a:t>library</a:t>
            </a:r>
            <a:endParaRPr sz="1350">
              <a:latin typeface="Arial"/>
              <a:cs typeface="Arial"/>
            </a:endParaRPr>
          </a:p>
        </p:txBody>
      </p:sp>
      <p:sp>
        <p:nvSpPr>
          <p:cNvPr id="11" name="object 11"/>
          <p:cNvSpPr/>
          <p:nvPr/>
        </p:nvSpPr>
        <p:spPr>
          <a:xfrm>
            <a:off x="5193791" y="2895600"/>
            <a:ext cx="2057400" cy="96520"/>
          </a:xfrm>
          <a:custGeom>
            <a:avLst/>
            <a:gdLst/>
            <a:ahLst/>
            <a:cxnLst/>
            <a:rect l="l" t="t" r="r" b="b"/>
            <a:pathLst>
              <a:path w="2057400" h="96519">
                <a:moveTo>
                  <a:pt x="94869" y="0"/>
                </a:moveTo>
                <a:lnTo>
                  <a:pt x="0" y="48005"/>
                </a:lnTo>
                <a:lnTo>
                  <a:pt x="94869" y="96012"/>
                </a:lnTo>
                <a:lnTo>
                  <a:pt x="62484" y="54863"/>
                </a:lnTo>
                <a:lnTo>
                  <a:pt x="2043684" y="54863"/>
                </a:lnTo>
                <a:lnTo>
                  <a:pt x="2057400" y="48005"/>
                </a:lnTo>
                <a:lnTo>
                  <a:pt x="2043684" y="41148"/>
                </a:lnTo>
                <a:lnTo>
                  <a:pt x="62484" y="41148"/>
                </a:lnTo>
                <a:lnTo>
                  <a:pt x="94869" y="0"/>
                </a:lnTo>
                <a:close/>
              </a:path>
              <a:path w="2057400" h="96519">
                <a:moveTo>
                  <a:pt x="2043684" y="54863"/>
                </a:moveTo>
                <a:lnTo>
                  <a:pt x="1994662" y="54863"/>
                </a:lnTo>
                <a:lnTo>
                  <a:pt x="1961388" y="96012"/>
                </a:lnTo>
                <a:lnTo>
                  <a:pt x="2043684" y="54863"/>
                </a:lnTo>
                <a:close/>
              </a:path>
              <a:path w="2057400" h="96519">
                <a:moveTo>
                  <a:pt x="1961388" y="0"/>
                </a:moveTo>
                <a:lnTo>
                  <a:pt x="1994662" y="41148"/>
                </a:lnTo>
                <a:lnTo>
                  <a:pt x="2043684" y="41148"/>
                </a:lnTo>
                <a:lnTo>
                  <a:pt x="1961388" y="0"/>
                </a:lnTo>
                <a:close/>
              </a:path>
            </a:pathLst>
          </a:custGeom>
          <a:solidFill>
            <a:srgbClr val="FF6600"/>
          </a:solidFill>
        </p:spPr>
        <p:txBody>
          <a:bodyPr wrap="square" lIns="0" tIns="0" rIns="0" bIns="0" rtlCol="0"/>
          <a:lstStyle/>
          <a:p>
            <a:endParaRPr/>
          </a:p>
        </p:txBody>
      </p:sp>
      <p:sp>
        <p:nvSpPr>
          <p:cNvPr id="12" name="object 12"/>
          <p:cNvSpPr/>
          <p:nvPr/>
        </p:nvSpPr>
        <p:spPr>
          <a:xfrm>
            <a:off x="5202935" y="4552188"/>
            <a:ext cx="2057400" cy="96520"/>
          </a:xfrm>
          <a:custGeom>
            <a:avLst/>
            <a:gdLst/>
            <a:ahLst/>
            <a:cxnLst/>
            <a:rect l="l" t="t" r="r" b="b"/>
            <a:pathLst>
              <a:path w="2057400" h="96520">
                <a:moveTo>
                  <a:pt x="94868" y="0"/>
                </a:moveTo>
                <a:lnTo>
                  <a:pt x="0" y="48006"/>
                </a:lnTo>
                <a:lnTo>
                  <a:pt x="94868" y="96012"/>
                </a:lnTo>
                <a:lnTo>
                  <a:pt x="62484" y="54863"/>
                </a:lnTo>
                <a:lnTo>
                  <a:pt x="2043847" y="54863"/>
                </a:lnTo>
                <a:lnTo>
                  <a:pt x="2057399" y="48006"/>
                </a:lnTo>
                <a:lnTo>
                  <a:pt x="2043847" y="41148"/>
                </a:lnTo>
                <a:lnTo>
                  <a:pt x="62484" y="41148"/>
                </a:lnTo>
                <a:lnTo>
                  <a:pt x="94868" y="0"/>
                </a:lnTo>
                <a:close/>
              </a:path>
              <a:path w="2057400" h="96520">
                <a:moveTo>
                  <a:pt x="2043847" y="54863"/>
                </a:moveTo>
                <a:lnTo>
                  <a:pt x="1994915" y="54863"/>
                </a:lnTo>
                <a:lnTo>
                  <a:pt x="1962531" y="96012"/>
                </a:lnTo>
                <a:lnTo>
                  <a:pt x="2043847" y="54863"/>
                </a:lnTo>
                <a:close/>
              </a:path>
              <a:path w="2057400" h="96520">
                <a:moveTo>
                  <a:pt x="1962531" y="0"/>
                </a:moveTo>
                <a:lnTo>
                  <a:pt x="1994915" y="41148"/>
                </a:lnTo>
                <a:lnTo>
                  <a:pt x="2043847" y="41148"/>
                </a:lnTo>
                <a:lnTo>
                  <a:pt x="1962531" y="0"/>
                </a:lnTo>
                <a:close/>
              </a:path>
            </a:pathLst>
          </a:custGeom>
          <a:solidFill>
            <a:srgbClr val="FF6600"/>
          </a:solidFill>
        </p:spPr>
        <p:txBody>
          <a:bodyPr wrap="square" lIns="0" tIns="0" rIns="0" bIns="0" rtlCol="0"/>
          <a:lstStyle/>
          <a:p>
            <a:endParaRPr/>
          </a:p>
        </p:txBody>
      </p:sp>
      <p:sp>
        <p:nvSpPr>
          <p:cNvPr id="13" name="object 13"/>
          <p:cNvSpPr/>
          <p:nvPr/>
        </p:nvSpPr>
        <p:spPr>
          <a:xfrm>
            <a:off x="5283708" y="3467100"/>
            <a:ext cx="1976755" cy="96520"/>
          </a:xfrm>
          <a:custGeom>
            <a:avLst/>
            <a:gdLst/>
            <a:ahLst/>
            <a:cxnLst/>
            <a:rect l="l" t="t" r="r" b="b"/>
            <a:pathLst>
              <a:path w="1976754" h="96520">
                <a:moveTo>
                  <a:pt x="94868" y="0"/>
                </a:moveTo>
                <a:lnTo>
                  <a:pt x="0" y="48005"/>
                </a:lnTo>
                <a:lnTo>
                  <a:pt x="94868" y="96012"/>
                </a:lnTo>
                <a:lnTo>
                  <a:pt x="62611" y="54863"/>
                </a:lnTo>
                <a:lnTo>
                  <a:pt x="1963075" y="54863"/>
                </a:lnTo>
                <a:lnTo>
                  <a:pt x="1976627" y="48005"/>
                </a:lnTo>
                <a:lnTo>
                  <a:pt x="1963075" y="41148"/>
                </a:lnTo>
                <a:lnTo>
                  <a:pt x="62611" y="41148"/>
                </a:lnTo>
                <a:lnTo>
                  <a:pt x="94868" y="0"/>
                </a:lnTo>
                <a:close/>
              </a:path>
              <a:path w="1976754" h="96520">
                <a:moveTo>
                  <a:pt x="1963075" y="54863"/>
                </a:moveTo>
                <a:lnTo>
                  <a:pt x="1914016" y="54863"/>
                </a:lnTo>
                <a:lnTo>
                  <a:pt x="1881759" y="96012"/>
                </a:lnTo>
                <a:lnTo>
                  <a:pt x="1963075" y="54863"/>
                </a:lnTo>
                <a:close/>
              </a:path>
              <a:path w="1976754" h="96520">
                <a:moveTo>
                  <a:pt x="1881759" y="0"/>
                </a:moveTo>
                <a:lnTo>
                  <a:pt x="1914016" y="41148"/>
                </a:lnTo>
                <a:lnTo>
                  <a:pt x="1963075" y="41148"/>
                </a:lnTo>
                <a:lnTo>
                  <a:pt x="1881759" y="0"/>
                </a:lnTo>
                <a:close/>
              </a:path>
            </a:pathLst>
          </a:custGeom>
          <a:solidFill>
            <a:srgbClr val="FF6600"/>
          </a:solidFill>
        </p:spPr>
        <p:txBody>
          <a:bodyPr wrap="square" lIns="0" tIns="0" rIns="0" bIns="0" rtlCol="0"/>
          <a:lstStyle/>
          <a:p>
            <a:endParaRPr/>
          </a:p>
        </p:txBody>
      </p:sp>
      <p:sp>
        <p:nvSpPr>
          <p:cNvPr id="14" name="object 14"/>
          <p:cNvSpPr/>
          <p:nvPr/>
        </p:nvSpPr>
        <p:spPr>
          <a:xfrm>
            <a:off x="5283708" y="4038600"/>
            <a:ext cx="1976755" cy="96520"/>
          </a:xfrm>
          <a:custGeom>
            <a:avLst/>
            <a:gdLst/>
            <a:ahLst/>
            <a:cxnLst/>
            <a:rect l="l" t="t" r="r" b="b"/>
            <a:pathLst>
              <a:path w="1976754" h="96520">
                <a:moveTo>
                  <a:pt x="94868" y="0"/>
                </a:moveTo>
                <a:lnTo>
                  <a:pt x="0" y="48006"/>
                </a:lnTo>
                <a:lnTo>
                  <a:pt x="94868" y="96012"/>
                </a:lnTo>
                <a:lnTo>
                  <a:pt x="62611" y="54863"/>
                </a:lnTo>
                <a:lnTo>
                  <a:pt x="1963075" y="54863"/>
                </a:lnTo>
                <a:lnTo>
                  <a:pt x="1976627" y="48006"/>
                </a:lnTo>
                <a:lnTo>
                  <a:pt x="1963075" y="41148"/>
                </a:lnTo>
                <a:lnTo>
                  <a:pt x="62611" y="41148"/>
                </a:lnTo>
                <a:lnTo>
                  <a:pt x="94868" y="0"/>
                </a:lnTo>
                <a:close/>
              </a:path>
              <a:path w="1976754" h="96520">
                <a:moveTo>
                  <a:pt x="1963075" y="54863"/>
                </a:moveTo>
                <a:lnTo>
                  <a:pt x="1914016" y="54863"/>
                </a:lnTo>
                <a:lnTo>
                  <a:pt x="1881759" y="96012"/>
                </a:lnTo>
                <a:lnTo>
                  <a:pt x="1963075" y="54863"/>
                </a:lnTo>
                <a:close/>
              </a:path>
              <a:path w="1976754" h="96520">
                <a:moveTo>
                  <a:pt x="1881759" y="0"/>
                </a:moveTo>
                <a:lnTo>
                  <a:pt x="1914016" y="41148"/>
                </a:lnTo>
                <a:lnTo>
                  <a:pt x="1963075" y="41148"/>
                </a:lnTo>
                <a:lnTo>
                  <a:pt x="1881759" y="0"/>
                </a:lnTo>
                <a:close/>
              </a:path>
            </a:pathLst>
          </a:custGeom>
          <a:solidFill>
            <a:srgbClr val="FF6600"/>
          </a:solidFill>
        </p:spPr>
        <p:txBody>
          <a:bodyPr wrap="square" lIns="0" tIns="0" rIns="0" bIns="0" rtlCol="0"/>
          <a:lstStyle/>
          <a:p>
            <a:endParaRPr/>
          </a:p>
        </p:txBody>
      </p:sp>
      <p:sp>
        <p:nvSpPr>
          <p:cNvPr id="15" name="object 15"/>
          <p:cNvSpPr/>
          <p:nvPr/>
        </p:nvSpPr>
        <p:spPr>
          <a:xfrm>
            <a:off x="1956816" y="2943605"/>
            <a:ext cx="2057400" cy="0"/>
          </a:xfrm>
          <a:custGeom>
            <a:avLst/>
            <a:gdLst/>
            <a:ahLst/>
            <a:cxnLst/>
            <a:rect l="l" t="t" r="r" b="b"/>
            <a:pathLst>
              <a:path w="2057400">
                <a:moveTo>
                  <a:pt x="0" y="0"/>
                </a:moveTo>
                <a:lnTo>
                  <a:pt x="2057399" y="0"/>
                </a:lnTo>
              </a:path>
            </a:pathLst>
          </a:custGeom>
          <a:ln w="56387">
            <a:solidFill>
              <a:srgbClr val="FF6600"/>
            </a:solidFill>
          </a:ln>
        </p:spPr>
        <p:txBody>
          <a:bodyPr wrap="square" lIns="0" tIns="0" rIns="0" bIns="0" rtlCol="0"/>
          <a:lstStyle/>
          <a:p>
            <a:endParaRPr/>
          </a:p>
        </p:txBody>
      </p:sp>
      <p:sp>
        <p:nvSpPr>
          <p:cNvPr id="16" name="object 16"/>
          <p:cNvSpPr/>
          <p:nvPr/>
        </p:nvSpPr>
        <p:spPr>
          <a:xfrm>
            <a:off x="1965960" y="4572000"/>
            <a:ext cx="2057400" cy="58419"/>
          </a:xfrm>
          <a:custGeom>
            <a:avLst/>
            <a:gdLst/>
            <a:ahLst/>
            <a:cxnLst/>
            <a:rect l="l" t="t" r="r" b="b"/>
            <a:pathLst>
              <a:path w="2057400" h="58420">
                <a:moveTo>
                  <a:pt x="2000250" y="0"/>
                </a:moveTo>
                <a:lnTo>
                  <a:pt x="2000250" y="21970"/>
                </a:lnTo>
                <a:lnTo>
                  <a:pt x="0" y="21970"/>
                </a:lnTo>
                <a:lnTo>
                  <a:pt x="0" y="35941"/>
                </a:lnTo>
                <a:lnTo>
                  <a:pt x="2000250" y="35941"/>
                </a:lnTo>
                <a:lnTo>
                  <a:pt x="2000250" y="57912"/>
                </a:lnTo>
                <a:lnTo>
                  <a:pt x="2057400" y="28956"/>
                </a:lnTo>
                <a:lnTo>
                  <a:pt x="2000250" y="0"/>
                </a:lnTo>
                <a:close/>
              </a:path>
            </a:pathLst>
          </a:custGeom>
          <a:solidFill>
            <a:srgbClr val="FF6600"/>
          </a:solidFill>
        </p:spPr>
        <p:txBody>
          <a:bodyPr wrap="square" lIns="0" tIns="0" rIns="0" bIns="0" rtlCol="0"/>
          <a:lstStyle/>
          <a:p>
            <a:endParaRPr/>
          </a:p>
        </p:txBody>
      </p:sp>
      <p:sp>
        <p:nvSpPr>
          <p:cNvPr id="17" name="object 17"/>
          <p:cNvSpPr/>
          <p:nvPr/>
        </p:nvSpPr>
        <p:spPr>
          <a:xfrm>
            <a:off x="1944623" y="3515105"/>
            <a:ext cx="1976755" cy="0"/>
          </a:xfrm>
          <a:custGeom>
            <a:avLst/>
            <a:gdLst/>
            <a:ahLst/>
            <a:cxnLst/>
            <a:rect l="l" t="t" r="r" b="b"/>
            <a:pathLst>
              <a:path w="1976754">
                <a:moveTo>
                  <a:pt x="0" y="0"/>
                </a:moveTo>
                <a:lnTo>
                  <a:pt x="1976627" y="0"/>
                </a:lnTo>
              </a:path>
            </a:pathLst>
          </a:custGeom>
          <a:ln w="56387">
            <a:solidFill>
              <a:srgbClr val="FF6600"/>
            </a:solidFill>
          </a:ln>
        </p:spPr>
        <p:txBody>
          <a:bodyPr wrap="square" lIns="0" tIns="0" rIns="0" bIns="0" rtlCol="0"/>
          <a:lstStyle/>
          <a:p>
            <a:endParaRPr/>
          </a:p>
        </p:txBody>
      </p:sp>
      <p:sp>
        <p:nvSpPr>
          <p:cNvPr id="18" name="object 18"/>
          <p:cNvSpPr/>
          <p:nvPr/>
        </p:nvSpPr>
        <p:spPr>
          <a:xfrm>
            <a:off x="1944623" y="4086605"/>
            <a:ext cx="1976755" cy="0"/>
          </a:xfrm>
          <a:custGeom>
            <a:avLst/>
            <a:gdLst/>
            <a:ahLst/>
            <a:cxnLst/>
            <a:rect l="l" t="t" r="r" b="b"/>
            <a:pathLst>
              <a:path w="1976754">
                <a:moveTo>
                  <a:pt x="0" y="0"/>
                </a:moveTo>
                <a:lnTo>
                  <a:pt x="1976627" y="0"/>
                </a:lnTo>
              </a:path>
            </a:pathLst>
          </a:custGeom>
          <a:ln w="56387">
            <a:solidFill>
              <a:srgbClr val="FF6600"/>
            </a:solidFill>
          </a:ln>
        </p:spPr>
        <p:txBody>
          <a:bodyPr wrap="square" lIns="0" tIns="0" rIns="0" bIns="0" rtlCol="0"/>
          <a:lstStyle/>
          <a:p>
            <a:endParaRPr/>
          </a:p>
        </p:txBody>
      </p:sp>
      <p:sp>
        <p:nvSpPr>
          <p:cNvPr id="19" name="object 19"/>
          <p:cNvSpPr txBox="1"/>
          <p:nvPr/>
        </p:nvSpPr>
        <p:spPr>
          <a:xfrm>
            <a:off x="5361813" y="3134995"/>
            <a:ext cx="1892300"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003364"/>
                </a:solidFill>
                <a:latin typeface="Arial"/>
                <a:cs typeface="Arial"/>
              </a:rPr>
              <a:t>Requirements</a:t>
            </a:r>
            <a:r>
              <a:rPr sz="1350" b="1" spc="-75" dirty="0">
                <a:solidFill>
                  <a:srgbClr val="003364"/>
                </a:solidFill>
                <a:latin typeface="Arial"/>
                <a:cs typeface="Arial"/>
              </a:rPr>
              <a:t> </a:t>
            </a:r>
            <a:r>
              <a:rPr sz="1350" b="1" spc="-5" dirty="0">
                <a:solidFill>
                  <a:srgbClr val="003364"/>
                </a:solidFill>
                <a:latin typeface="Arial"/>
                <a:cs typeface="Arial"/>
              </a:rPr>
              <a:t>analysis</a:t>
            </a:r>
            <a:endParaRPr sz="1350">
              <a:latin typeface="Arial"/>
              <a:cs typeface="Arial"/>
            </a:endParaRPr>
          </a:p>
        </p:txBody>
      </p:sp>
      <p:sp>
        <p:nvSpPr>
          <p:cNvPr id="28" name="object 28"/>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sp>
        <p:nvSpPr>
          <p:cNvPr id="20" name="object 20"/>
          <p:cNvSpPr txBox="1"/>
          <p:nvPr/>
        </p:nvSpPr>
        <p:spPr>
          <a:xfrm>
            <a:off x="5361813" y="3717493"/>
            <a:ext cx="600710" cy="233045"/>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955125"/>
                </a:solidFill>
                <a:latin typeface="Arial"/>
                <a:cs typeface="Arial"/>
              </a:rPr>
              <a:t>Des</a:t>
            </a:r>
            <a:r>
              <a:rPr sz="1350" b="1" spc="-10" dirty="0">
                <a:solidFill>
                  <a:srgbClr val="955125"/>
                </a:solidFill>
                <a:latin typeface="Arial"/>
                <a:cs typeface="Arial"/>
              </a:rPr>
              <a:t>i</a:t>
            </a:r>
            <a:r>
              <a:rPr sz="1350" b="1" spc="5" dirty="0">
                <a:solidFill>
                  <a:srgbClr val="955125"/>
                </a:solidFill>
                <a:latin typeface="Arial"/>
                <a:cs typeface="Arial"/>
              </a:rPr>
              <a:t>gn</a:t>
            </a:r>
            <a:endParaRPr sz="1350">
              <a:latin typeface="Arial"/>
              <a:cs typeface="Arial"/>
            </a:endParaRPr>
          </a:p>
        </p:txBody>
      </p:sp>
      <p:sp>
        <p:nvSpPr>
          <p:cNvPr id="21" name="object 21"/>
          <p:cNvSpPr txBox="1"/>
          <p:nvPr/>
        </p:nvSpPr>
        <p:spPr>
          <a:xfrm>
            <a:off x="5361813" y="4255134"/>
            <a:ext cx="1055370"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CC00FF"/>
                </a:solidFill>
                <a:latin typeface="Arial"/>
                <a:cs typeface="Arial"/>
              </a:rPr>
              <a:t>Source</a:t>
            </a:r>
            <a:r>
              <a:rPr sz="1350" b="1" spc="-85" dirty="0">
                <a:solidFill>
                  <a:srgbClr val="CC00FF"/>
                </a:solidFill>
                <a:latin typeface="Arial"/>
                <a:cs typeface="Arial"/>
              </a:rPr>
              <a:t> </a:t>
            </a:r>
            <a:r>
              <a:rPr sz="1350" b="1" dirty="0">
                <a:solidFill>
                  <a:srgbClr val="CC00FF"/>
                </a:solidFill>
                <a:latin typeface="Arial"/>
                <a:cs typeface="Arial"/>
              </a:rPr>
              <a:t>code</a:t>
            </a:r>
            <a:endParaRPr sz="1350">
              <a:latin typeface="Arial"/>
              <a:cs typeface="Arial"/>
            </a:endParaRPr>
          </a:p>
        </p:txBody>
      </p:sp>
      <p:sp>
        <p:nvSpPr>
          <p:cNvPr id="22" name="object 22"/>
          <p:cNvSpPr txBox="1"/>
          <p:nvPr/>
        </p:nvSpPr>
        <p:spPr>
          <a:xfrm>
            <a:off x="5361813" y="4768037"/>
            <a:ext cx="767080" cy="233045"/>
          </a:xfrm>
          <a:prstGeom prst="rect">
            <a:avLst/>
          </a:prstGeom>
        </p:spPr>
        <p:txBody>
          <a:bodyPr vert="horz" wrap="square" lIns="0" tIns="13335" rIns="0" bIns="0" rtlCol="0">
            <a:spAutoFit/>
          </a:bodyPr>
          <a:lstStyle/>
          <a:p>
            <a:pPr marL="12700">
              <a:lnSpc>
                <a:spcPct val="100000"/>
              </a:lnSpc>
              <a:spcBef>
                <a:spcPts val="105"/>
              </a:spcBef>
            </a:pPr>
            <a:r>
              <a:rPr sz="1350" b="1" spc="-25" dirty="0">
                <a:solidFill>
                  <a:srgbClr val="006400"/>
                </a:solidFill>
                <a:latin typeface="Arial"/>
                <a:cs typeface="Arial"/>
              </a:rPr>
              <a:t>Test</a:t>
            </a:r>
            <a:r>
              <a:rPr sz="1350" b="1" spc="-80" dirty="0">
                <a:solidFill>
                  <a:srgbClr val="006400"/>
                </a:solidFill>
                <a:latin typeface="Arial"/>
                <a:cs typeface="Arial"/>
              </a:rPr>
              <a:t> </a:t>
            </a:r>
            <a:r>
              <a:rPr sz="1350" b="1" dirty="0">
                <a:solidFill>
                  <a:srgbClr val="006400"/>
                </a:solidFill>
                <a:latin typeface="Arial"/>
                <a:cs typeface="Arial"/>
              </a:rPr>
              <a:t>data</a:t>
            </a:r>
            <a:endParaRPr sz="1350">
              <a:latin typeface="Arial"/>
              <a:cs typeface="Arial"/>
            </a:endParaRPr>
          </a:p>
        </p:txBody>
      </p:sp>
      <p:sp>
        <p:nvSpPr>
          <p:cNvPr id="23" name="object 23"/>
          <p:cNvSpPr txBox="1"/>
          <p:nvPr/>
        </p:nvSpPr>
        <p:spPr>
          <a:xfrm>
            <a:off x="1970023" y="3135884"/>
            <a:ext cx="1892300"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003364"/>
                </a:solidFill>
                <a:latin typeface="Arial"/>
                <a:cs typeface="Arial"/>
              </a:rPr>
              <a:t>Requirements</a:t>
            </a:r>
            <a:r>
              <a:rPr sz="1350" b="1" spc="-75" dirty="0">
                <a:solidFill>
                  <a:srgbClr val="003364"/>
                </a:solidFill>
                <a:latin typeface="Arial"/>
                <a:cs typeface="Arial"/>
              </a:rPr>
              <a:t> </a:t>
            </a:r>
            <a:r>
              <a:rPr sz="1350" b="1" spc="-5" dirty="0">
                <a:solidFill>
                  <a:srgbClr val="003364"/>
                </a:solidFill>
                <a:latin typeface="Arial"/>
                <a:cs typeface="Arial"/>
              </a:rPr>
              <a:t>analysis</a:t>
            </a:r>
            <a:endParaRPr sz="1350">
              <a:latin typeface="Arial"/>
              <a:cs typeface="Arial"/>
            </a:endParaRPr>
          </a:p>
        </p:txBody>
      </p:sp>
      <p:sp>
        <p:nvSpPr>
          <p:cNvPr id="24" name="object 24"/>
          <p:cNvSpPr txBox="1"/>
          <p:nvPr/>
        </p:nvSpPr>
        <p:spPr>
          <a:xfrm>
            <a:off x="1970023" y="3718940"/>
            <a:ext cx="600075"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955125"/>
                </a:solidFill>
                <a:latin typeface="Arial"/>
                <a:cs typeface="Arial"/>
              </a:rPr>
              <a:t>Des</a:t>
            </a:r>
            <a:r>
              <a:rPr sz="1350" b="1" spc="-10" dirty="0">
                <a:solidFill>
                  <a:srgbClr val="955125"/>
                </a:solidFill>
                <a:latin typeface="Arial"/>
                <a:cs typeface="Arial"/>
              </a:rPr>
              <a:t>i</a:t>
            </a:r>
            <a:r>
              <a:rPr sz="1350" b="1" dirty="0">
                <a:solidFill>
                  <a:srgbClr val="955125"/>
                </a:solidFill>
                <a:latin typeface="Arial"/>
                <a:cs typeface="Arial"/>
              </a:rPr>
              <a:t>gn</a:t>
            </a:r>
            <a:endParaRPr sz="1350">
              <a:latin typeface="Arial"/>
              <a:cs typeface="Arial"/>
            </a:endParaRPr>
          </a:p>
        </p:txBody>
      </p:sp>
      <p:sp>
        <p:nvSpPr>
          <p:cNvPr id="25" name="object 25"/>
          <p:cNvSpPr txBox="1"/>
          <p:nvPr/>
        </p:nvSpPr>
        <p:spPr>
          <a:xfrm>
            <a:off x="1970023" y="4256277"/>
            <a:ext cx="1055370"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CC00FF"/>
                </a:solidFill>
                <a:latin typeface="Arial"/>
                <a:cs typeface="Arial"/>
              </a:rPr>
              <a:t>Source</a:t>
            </a:r>
            <a:r>
              <a:rPr sz="1350" b="1" spc="-85" dirty="0">
                <a:solidFill>
                  <a:srgbClr val="CC00FF"/>
                </a:solidFill>
                <a:latin typeface="Arial"/>
                <a:cs typeface="Arial"/>
              </a:rPr>
              <a:t> </a:t>
            </a:r>
            <a:r>
              <a:rPr sz="1350" b="1" dirty="0">
                <a:solidFill>
                  <a:srgbClr val="CC00FF"/>
                </a:solidFill>
                <a:latin typeface="Arial"/>
                <a:cs typeface="Arial"/>
              </a:rPr>
              <a:t>code</a:t>
            </a:r>
            <a:endParaRPr sz="1350">
              <a:latin typeface="Arial"/>
              <a:cs typeface="Arial"/>
            </a:endParaRPr>
          </a:p>
        </p:txBody>
      </p:sp>
      <p:sp>
        <p:nvSpPr>
          <p:cNvPr id="26" name="object 26"/>
          <p:cNvSpPr txBox="1"/>
          <p:nvPr/>
        </p:nvSpPr>
        <p:spPr>
          <a:xfrm>
            <a:off x="1970023" y="4769611"/>
            <a:ext cx="767080" cy="232410"/>
          </a:xfrm>
          <a:prstGeom prst="rect">
            <a:avLst/>
          </a:prstGeom>
        </p:spPr>
        <p:txBody>
          <a:bodyPr vert="horz" wrap="square" lIns="0" tIns="13335" rIns="0" bIns="0" rtlCol="0">
            <a:spAutoFit/>
          </a:bodyPr>
          <a:lstStyle/>
          <a:p>
            <a:pPr marL="12700">
              <a:lnSpc>
                <a:spcPct val="100000"/>
              </a:lnSpc>
              <a:spcBef>
                <a:spcPts val="105"/>
              </a:spcBef>
            </a:pPr>
            <a:r>
              <a:rPr sz="1350" b="1" spc="-25" dirty="0">
                <a:solidFill>
                  <a:srgbClr val="006400"/>
                </a:solidFill>
                <a:latin typeface="Arial"/>
                <a:cs typeface="Arial"/>
              </a:rPr>
              <a:t>Test</a:t>
            </a:r>
            <a:r>
              <a:rPr sz="1350" b="1" spc="-85" dirty="0">
                <a:solidFill>
                  <a:srgbClr val="006400"/>
                </a:solidFill>
                <a:latin typeface="Arial"/>
                <a:cs typeface="Arial"/>
              </a:rPr>
              <a:t> </a:t>
            </a:r>
            <a:r>
              <a:rPr sz="1350" b="1" dirty="0">
                <a:solidFill>
                  <a:srgbClr val="006400"/>
                </a:solidFill>
                <a:latin typeface="Arial"/>
                <a:cs typeface="Arial"/>
              </a:rPr>
              <a:t>data</a:t>
            </a:r>
            <a:endParaRPr sz="1350">
              <a:latin typeface="Arial"/>
              <a:cs typeface="Arial"/>
            </a:endParaRPr>
          </a:p>
        </p:txBody>
      </p:sp>
      <p:sp>
        <p:nvSpPr>
          <p:cNvPr id="27" name="object 27"/>
          <p:cNvSpPr txBox="1"/>
          <p:nvPr/>
        </p:nvSpPr>
        <p:spPr>
          <a:xfrm>
            <a:off x="2058161" y="2474798"/>
            <a:ext cx="951230" cy="233045"/>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0000FF"/>
                </a:solidFill>
                <a:latin typeface="Arial"/>
                <a:cs typeface="Arial"/>
              </a:rPr>
              <a:t>Old</a:t>
            </a:r>
            <a:r>
              <a:rPr sz="1350" b="1" spc="-85" dirty="0">
                <a:solidFill>
                  <a:srgbClr val="0000FF"/>
                </a:solidFill>
                <a:latin typeface="Arial"/>
                <a:cs typeface="Arial"/>
              </a:rPr>
              <a:t> </a:t>
            </a:r>
            <a:r>
              <a:rPr sz="1350" b="1" dirty="0">
                <a:solidFill>
                  <a:srgbClr val="0000FF"/>
                </a:solidFill>
                <a:latin typeface="Arial"/>
                <a:cs typeface="Arial"/>
              </a:rPr>
              <a:t>system</a:t>
            </a:r>
            <a:endParaRPr sz="135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5" name="object 5"/>
          <p:cNvSpPr txBox="1">
            <a:spLocks noGrp="1"/>
          </p:cNvSpPr>
          <p:nvPr>
            <p:ph type="title"/>
          </p:nvPr>
        </p:nvSpPr>
        <p:spPr>
          <a:xfrm>
            <a:off x="1676400" y="1250060"/>
            <a:ext cx="6412483" cy="474489"/>
          </a:xfrm>
          <a:prstGeom prst="rect">
            <a:avLst/>
          </a:prstGeom>
        </p:spPr>
        <p:txBody>
          <a:bodyPr vert="horz" wrap="square" lIns="0" tIns="12700" rIns="0" bIns="0" rtlCol="0">
            <a:spAutoFit/>
          </a:bodyPr>
          <a:lstStyle/>
          <a:p>
            <a:pPr marL="12700">
              <a:lnSpc>
                <a:spcPct val="100000"/>
              </a:lnSpc>
              <a:spcBef>
                <a:spcPts val="100"/>
              </a:spcBef>
            </a:pPr>
            <a:r>
              <a:rPr lang="en-US" sz="3000" dirty="0">
                <a:solidFill>
                  <a:srgbClr val="252525"/>
                </a:solidFill>
                <a:latin typeface="Times New Roman"/>
                <a:cs typeface="Times New Roman"/>
              </a:rPr>
              <a:t>4</a:t>
            </a:r>
            <a:r>
              <a:rPr sz="3000" dirty="0" smtClean="0">
                <a:solidFill>
                  <a:srgbClr val="252525"/>
                </a:solidFill>
                <a:latin typeface="Times New Roman"/>
                <a:cs typeface="Times New Roman"/>
              </a:rPr>
              <a:t>. </a:t>
            </a:r>
            <a:r>
              <a:rPr sz="3000" spc="-45" dirty="0">
                <a:solidFill>
                  <a:srgbClr val="252525"/>
                </a:solidFill>
                <a:latin typeface="Times New Roman"/>
                <a:cs typeface="Times New Roman"/>
              </a:rPr>
              <a:t>Taute </a:t>
            </a:r>
            <a:r>
              <a:rPr sz="3000" spc="-5" dirty="0">
                <a:solidFill>
                  <a:srgbClr val="252525"/>
                </a:solidFill>
                <a:latin typeface="Times New Roman"/>
                <a:cs typeface="Times New Roman"/>
              </a:rPr>
              <a:t>Maintenance</a:t>
            </a:r>
            <a:r>
              <a:rPr sz="3000" spc="5" dirty="0">
                <a:solidFill>
                  <a:srgbClr val="252525"/>
                </a:solidFill>
                <a:latin typeface="Times New Roman"/>
                <a:cs typeface="Times New Roman"/>
              </a:rPr>
              <a:t> </a:t>
            </a:r>
            <a:r>
              <a:rPr sz="3000" dirty="0">
                <a:solidFill>
                  <a:srgbClr val="252525"/>
                </a:solidFill>
                <a:latin typeface="Times New Roman"/>
                <a:cs typeface="Times New Roman"/>
              </a:rPr>
              <a:t>Model</a:t>
            </a:r>
            <a:endParaRPr sz="3000" dirty="0">
              <a:latin typeface="Times New Roman"/>
              <a:cs typeface="Times New Roman"/>
            </a:endParaRPr>
          </a:p>
        </p:txBody>
      </p:sp>
      <p:sp>
        <p:nvSpPr>
          <p:cNvPr id="43" name="Text Placeholder 42"/>
          <p:cNvSpPr>
            <a:spLocks noGrp="1"/>
          </p:cNvSpPr>
          <p:nvPr>
            <p:ph type="body" idx="1"/>
          </p:nvPr>
        </p:nvSpPr>
        <p:spPr>
          <a:xfrm>
            <a:off x="1018311" y="1981200"/>
            <a:ext cx="7592289" cy="4001095"/>
          </a:xfrm>
        </p:spPr>
        <p:txBody>
          <a:bodyPr/>
          <a:lstStyle/>
          <a:p>
            <a:pPr marL="457200" indent="-457200">
              <a:buFont typeface="Wingdings" panose="05000000000000000000" pitchFamily="2" charset="2"/>
              <a:buChar char="§"/>
            </a:pPr>
            <a:r>
              <a:rPr lang="en-US" sz="2600" dirty="0" smtClean="0">
                <a:solidFill>
                  <a:schemeClr val="tx1"/>
                </a:solidFill>
                <a:latin typeface="Times New Roman" panose="02020603050405020304" pitchFamily="18" charset="0"/>
                <a:cs typeface="Times New Roman" panose="02020603050405020304" pitchFamily="18" charset="0"/>
              </a:rPr>
              <a:t>It is </a:t>
            </a:r>
            <a:r>
              <a:rPr lang="en-US" sz="2600" dirty="0">
                <a:solidFill>
                  <a:schemeClr val="tx1"/>
                </a:solidFill>
                <a:latin typeface="Times New Roman" panose="02020603050405020304" pitchFamily="18" charset="0"/>
                <a:cs typeface="Times New Roman" panose="02020603050405020304" pitchFamily="18" charset="0"/>
              </a:rPr>
              <a:t>straightforward, practical and easy to understand. </a:t>
            </a:r>
            <a:endParaRPr lang="en-US" sz="2600"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600" dirty="0" smtClean="0">
                <a:solidFill>
                  <a:schemeClr val="tx1"/>
                </a:solidFill>
                <a:latin typeface="Times New Roman" panose="02020603050405020304" pitchFamily="18" charset="0"/>
                <a:cs typeface="Times New Roman" panose="02020603050405020304" pitchFamily="18" charset="0"/>
              </a:rPr>
              <a:t>It </a:t>
            </a:r>
            <a:r>
              <a:rPr lang="en-US" sz="2600" dirty="0">
                <a:solidFill>
                  <a:schemeClr val="tx1"/>
                </a:solidFill>
                <a:latin typeface="Times New Roman" panose="02020603050405020304" pitchFamily="18" charset="0"/>
                <a:cs typeface="Times New Roman" panose="02020603050405020304" pitchFamily="18" charset="0"/>
              </a:rPr>
              <a:t>is used by developers for updating and performing modification in the software after its execution in the system. </a:t>
            </a:r>
            <a:endParaRPr lang="en-US" sz="2600"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600" dirty="0" smtClean="0">
                <a:solidFill>
                  <a:schemeClr val="tx1"/>
                </a:solidFill>
                <a:latin typeface="Times New Roman" panose="02020603050405020304" pitchFamily="18" charset="0"/>
                <a:cs typeface="Times New Roman" panose="02020603050405020304" pitchFamily="18" charset="0"/>
              </a:rPr>
              <a:t>However</a:t>
            </a:r>
            <a:r>
              <a:rPr lang="en-US" sz="2600" dirty="0">
                <a:solidFill>
                  <a:schemeClr val="tx1"/>
                </a:solidFill>
                <a:latin typeface="Times New Roman" panose="02020603050405020304" pitchFamily="18" charset="0"/>
                <a:cs typeface="Times New Roman" panose="02020603050405020304" pitchFamily="18" charset="0"/>
              </a:rPr>
              <a:t>, to better understand Taute Maintenance Model, it is essential to know more about Software Maintenance</a:t>
            </a:r>
            <a:r>
              <a:rPr lang="en-US" sz="2600" dirty="0" smtClean="0">
                <a:solidFill>
                  <a:schemeClr val="tx1"/>
                </a:solidFill>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
            </a:pPr>
            <a:r>
              <a:rPr lang="en-US" sz="2600" dirty="0">
                <a:solidFill>
                  <a:schemeClr val="tx1"/>
                </a:solidFill>
                <a:latin typeface="Times New Roman" panose="02020603050405020304" pitchFamily="18" charset="0"/>
                <a:cs typeface="Times New Roman" panose="02020603050405020304" pitchFamily="18" charset="0"/>
              </a:rPr>
              <a:t>Taute Maintenance Model is divided into eight phases which appear in cycle fashion. </a:t>
            </a:r>
            <a:endParaRPr lang="en-US" sz="2600"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600" dirty="0" smtClean="0">
                <a:solidFill>
                  <a:schemeClr val="tx1"/>
                </a:solidFill>
                <a:latin typeface="Times New Roman" panose="02020603050405020304" pitchFamily="18" charset="0"/>
                <a:cs typeface="Times New Roman" panose="02020603050405020304" pitchFamily="18" charset="0"/>
              </a:rPr>
              <a:t>These </a:t>
            </a:r>
            <a:r>
              <a:rPr lang="en-US" sz="2600" dirty="0">
                <a:solidFill>
                  <a:schemeClr val="tx1"/>
                </a:solidFill>
                <a:latin typeface="Times New Roman" panose="02020603050405020304" pitchFamily="18" charset="0"/>
                <a:cs typeface="Times New Roman" panose="02020603050405020304" pitchFamily="18" charset="0"/>
              </a:rPr>
              <a:t>phases are:</a:t>
            </a:r>
          </a:p>
        </p:txBody>
      </p:sp>
      <p:sp>
        <p:nvSpPr>
          <p:cNvPr id="6" name="object 6"/>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19</a:t>
            </a:r>
            <a:endParaRPr sz="20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88983" y="1350391"/>
            <a:ext cx="188595" cy="4142104"/>
          </a:xfrm>
          <a:prstGeom prst="rect">
            <a:avLst/>
          </a:prstGeom>
        </p:spPr>
        <p:txBody>
          <a:bodyPr vert="horz" wrap="square" lIns="0" tIns="13335" rIns="0" bIns="0" rtlCol="0">
            <a:spAutoFit/>
          </a:bodyPr>
          <a:lstStyle/>
          <a:p>
            <a:pPr marL="12700" marR="5080" indent="25400" algn="just">
              <a:lnSpc>
                <a:spcPct val="100000"/>
              </a:lnSpc>
              <a:spcBef>
                <a:spcPts val="105"/>
              </a:spcBef>
            </a:pPr>
            <a:r>
              <a:rPr sz="1350" dirty="0">
                <a:solidFill>
                  <a:srgbClr val="FFFFFF"/>
                </a:solidFill>
                <a:latin typeface="Arial"/>
                <a:cs typeface="Arial"/>
              </a:rPr>
              <a:t>S  O  F  T  W  A  R  E</a:t>
            </a:r>
            <a:endParaRPr sz="1350">
              <a:latin typeface="Arial"/>
              <a:cs typeface="Arial"/>
            </a:endParaRPr>
          </a:p>
          <a:p>
            <a:pPr>
              <a:lnSpc>
                <a:spcPct val="100000"/>
              </a:lnSpc>
              <a:spcBef>
                <a:spcPts val="10"/>
              </a:spcBef>
            </a:pPr>
            <a:endParaRPr sz="1400">
              <a:latin typeface="Times New Roman"/>
              <a:cs typeface="Times New Roman"/>
            </a:endParaRPr>
          </a:p>
          <a:p>
            <a:pPr marL="33655" marR="12065" indent="-9525" algn="just">
              <a:lnSpc>
                <a:spcPct val="100000"/>
              </a:lnSpc>
            </a:pPr>
            <a:r>
              <a:rPr sz="1350" dirty="0">
                <a:solidFill>
                  <a:srgbClr val="FFFFFF"/>
                </a:solidFill>
                <a:latin typeface="Arial"/>
                <a:cs typeface="Arial"/>
              </a:rPr>
              <a:t>M  A  I  N  T  E  N  A  N  C  </a:t>
            </a:r>
            <a:r>
              <a:rPr sz="1350" spc="5" dirty="0">
                <a:solidFill>
                  <a:srgbClr val="FFFFFF"/>
                </a:solidFill>
                <a:latin typeface="Arial"/>
                <a:cs typeface="Arial"/>
              </a:rPr>
              <a:t>E</a:t>
            </a:r>
            <a:endParaRPr sz="1350">
              <a:latin typeface="Arial"/>
              <a:cs typeface="Arial"/>
            </a:endParaRPr>
          </a:p>
        </p:txBody>
      </p:sp>
      <p:sp>
        <p:nvSpPr>
          <p:cNvPr id="3" name="object 3"/>
          <p:cNvSpPr/>
          <p:nvPr/>
        </p:nvSpPr>
        <p:spPr>
          <a:xfrm>
            <a:off x="0" y="711708"/>
            <a:ext cx="1365250" cy="508000"/>
          </a:xfrm>
          <a:custGeom>
            <a:avLst/>
            <a:gdLst/>
            <a:ahLst/>
            <a:cxnLst/>
            <a:rect l="l" t="t" r="r" b="b"/>
            <a:pathLst>
              <a:path w="1365250" h="508000">
                <a:moveTo>
                  <a:pt x="0" y="0"/>
                </a:moveTo>
                <a:lnTo>
                  <a:pt x="0" y="504316"/>
                </a:lnTo>
                <a:lnTo>
                  <a:pt x="1019098" y="507491"/>
                </a:lnTo>
                <a:lnTo>
                  <a:pt x="1119378" y="507491"/>
                </a:lnTo>
                <a:lnTo>
                  <a:pt x="1124013" y="502665"/>
                </a:lnTo>
                <a:lnTo>
                  <a:pt x="1125562" y="501141"/>
                </a:lnTo>
                <a:lnTo>
                  <a:pt x="1127455" y="499490"/>
                </a:lnTo>
                <a:lnTo>
                  <a:pt x="1357884" y="269239"/>
                </a:lnTo>
                <a:lnTo>
                  <a:pt x="1363170" y="262096"/>
                </a:lnTo>
                <a:lnTo>
                  <a:pt x="1364932" y="254952"/>
                </a:lnTo>
                <a:lnTo>
                  <a:pt x="1363170" y="247808"/>
                </a:lnTo>
                <a:lnTo>
                  <a:pt x="1357884" y="240664"/>
                </a:lnTo>
                <a:lnTo>
                  <a:pt x="1128991" y="11937"/>
                </a:lnTo>
                <a:lnTo>
                  <a:pt x="1124013" y="11937"/>
                </a:lnTo>
                <a:lnTo>
                  <a:pt x="1124013" y="7112"/>
                </a:lnTo>
                <a:lnTo>
                  <a:pt x="1119378" y="7112"/>
                </a:lnTo>
                <a:lnTo>
                  <a:pt x="1114564" y="2412"/>
                </a:lnTo>
                <a:lnTo>
                  <a:pt x="1019098" y="2412"/>
                </a:lnTo>
                <a:lnTo>
                  <a:pt x="0" y="0"/>
                </a:lnTo>
                <a:close/>
              </a:path>
            </a:pathLst>
          </a:custGeom>
          <a:solidFill>
            <a:srgbClr val="E84B21"/>
          </a:solidFill>
        </p:spPr>
        <p:txBody>
          <a:bodyPr wrap="square" lIns="0" tIns="0" rIns="0" bIns="0" rtlCol="0"/>
          <a:lstStyle/>
          <a:p>
            <a:endParaRPr/>
          </a:p>
        </p:txBody>
      </p:sp>
      <p:sp>
        <p:nvSpPr>
          <p:cNvPr id="4" name="object 4"/>
          <p:cNvSpPr txBox="1">
            <a:spLocks noGrp="1"/>
          </p:cNvSpPr>
          <p:nvPr>
            <p:ph type="title"/>
          </p:nvPr>
        </p:nvSpPr>
        <p:spPr>
          <a:xfrm>
            <a:off x="2024252" y="643204"/>
            <a:ext cx="5403215" cy="483234"/>
          </a:xfrm>
          <a:prstGeom prst="rect">
            <a:avLst/>
          </a:prstGeom>
        </p:spPr>
        <p:txBody>
          <a:bodyPr vert="horz" wrap="square" lIns="0" tIns="12700" rIns="0" bIns="0" rtlCol="0">
            <a:spAutoFit/>
          </a:bodyPr>
          <a:lstStyle/>
          <a:p>
            <a:pPr marL="12700">
              <a:lnSpc>
                <a:spcPct val="100000"/>
              </a:lnSpc>
              <a:spcBef>
                <a:spcPts val="100"/>
              </a:spcBef>
            </a:pPr>
            <a:r>
              <a:rPr lang="en-US" sz="3000" dirty="0">
                <a:solidFill>
                  <a:srgbClr val="252525"/>
                </a:solidFill>
                <a:latin typeface="Times New Roman"/>
                <a:cs typeface="Times New Roman"/>
              </a:rPr>
              <a:t>4</a:t>
            </a:r>
            <a:r>
              <a:rPr sz="3000" dirty="0" smtClean="0">
                <a:solidFill>
                  <a:srgbClr val="252525"/>
                </a:solidFill>
                <a:latin typeface="Times New Roman"/>
                <a:cs typeface="Times New Roman"/>
              </a:rPr>
              <a:t>. </a:t>
            </a:r>
            <a:r>
              <a:rPr sz="3000" spc="-40" dirty="0">
                <a:solidFill>
                  <a:srgbClr val="252525"/>
                </a:solidFill>
                <a:latin typeface="Times New Roman"/>
                <a:cs typeface="Times New Roman"/>
              </a:rPr>
              <a:t>Taute </a:t>
            </a:r>
            <a:r>
              <a:rPr sz="3000" spc="-5" dirty="0">
                <a:solidFill>
                  <a:srgbClr val="252525"/>
                </a:solidFill>
                <a:latin typeface="Times New Roman"/>
                <a:cs typeface="Times New Roman"/>
              </a:rPr>
              <a:t>Maintenance</a:t>
            </a:r>
            <a:r>
              <a:rPr sz="3000" spc="15" dirty="0">
                <a:solidFill>
                  <a:srgbClr val="252525"/>
                </a:solidFill>
                <a:latin typeface="Times New Roman"/>
                <a:cs typeface="Times New Roman"/>
              </a:rPr>
              <a:t> </a:t>
            </a:r>
            <a:r>
              <a:rPr sz="3000" spc="-5" dirty="0" smtClean="0">
                <a:solidFill>
                  <a:srgbClr val="252525"/>
                </a:solidFill>
                <a:latin typeface="Times New Roman"/>
                <a:cs typeface="Times New Roman"/>
              </a:rPr>
              <a:t>Model</a:t>
            </a:r>
            <a:endParaRPr sz="3000" dirty="0">
              <a:latin typeface="Times New Roman"/>
              <a:cs typeface="Times New Roman"/>
            </a:endParaRPr>
          </a:p>
        </p:txBody>
      </p:sp>
      <p:sp>
        <p:nvSpPr>
          <p:cNvPr id="5" name="object 5"/>
          <p:cNvSpPr txBox="1"/>
          <p:nvPr/>
        </p:nvSpPr>
        <p:spPr>
          <a:xfrm>
            <a:off x="709066" y="797813"/>
            <a:ext cx="30924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DFFFF"/>
                </a:solidFill>
                <a:latin typeface="Arial"/>
                <a:cs typeface="Arial"/>
              </a:rPr>
              <a:t>20</a:t>
            </a:r>
            <a:endParaRPr sz="200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5" dirty="0"/>
              <a:t>Software</a:t>
            </a:r>
            <a:r>
              <a:rPr spc="-25" dirty="0"/>
              <a:t> </a:t>
            </a:r>
            <a:r>
              <a:rPr spc="-5" dirty="0"/>
              <a:t>Maintenance</a:t>
            </a:r>
          </a:p>
        </p:txBody>
      </p:sp>
      <p:pic>
        <p:nvPicPr>
          <p:cNvPr id="8" name="Picture 7"/>
          <p:cNvPicPr>
            <a:picLocks noChangeAspect="1"/>
          </p:cNvPicPr>
          <p:nvPr/>
        </p:nvPicPr>
        <p:blipFill>
          <a:blip r:embed="rId2"/>
          <a:stretch>
            <a:fillRect/>
          </a:stretch>
        </p:blipFill>
        <p:spPr>
          <a:xfrm>
            <a:off x="2190750" y="1428866"/>
            <a:ext cx="4895850" cy="5450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884" y="533400"/>
            <a:ext cx="4018916" cy="643889"/>
          </a:xfrm>
        </p:spPr>
        <p:txBody>
          <a:bodyPr/>
          <a:lstStyle/>
          <a:p>
            <a:endParaRPr lang="en-US"/>
          </a:p>
        </p:txBody>
      </p:sp>
      <p:sp>
        <p:nvSpPr>
          <p:cNvPr id="3" name="Text Placeholder 2"/>
          <p:cNvSpPr>
            <a:spLocks noGrp="1"/>
          </p:cNvSpPr>
          <p:nvPr>
            <p:ph type="body" idx="1"/>
          </p:nvPr>
        </p:nvSpPr>
        <p:spPr>
          <a:xfrm>
            <a:off x="1210182" y="1683257"/>
            <a:ext cx="7171818" cy="4431983"/>
          </a:xfrm>
        </p:spPr>
        <p:txBody>
          <a:bodyPr/>
          <a:lstStyle/>
          <a:p>
            <a:r>
              <a:rPr lang="en-US" sz="2400" b="1" dirty="0">
                <a:solidFill>
                  <a:schemeClr val="tx1"/>
                </a:solidFill>
              </a:rPr>
              <a:t>Change Request Phase: </a:t>
            </a:r>
            <a:r>
              <a:rPr lang="en-US" sz="2400" dirty="0">
                <a:solidFill>
                  <a:schemeClr val="tx1"/>
                </a:solidFill>
              </a:rPr>
              <a:t>: In this phase request to implement changes and modifications is requested by the client, which is provided in a prescribed format. This requested change can fall in any category of maintenance activities</a:t>
            </a:r>
            <a:r>
              <a:rPr lang="en-US" sz="2400" dirty="0" smtClean="0">
                <a:solidFill>
                  <a:schemeClr val="tx1"/>
                </a:solidFill>
              </a:rPr>
              <a:t>.</a:t>
            </a:r>
          </a:p>
          <a:p>
            <a:r>
              <a:rPr lang="en-US" sz="2400" b="1" dirty="0">
                <a:solidFill>
                  <a:schemeClr val="tx1"/>
                </a:solidFill>
              </a:rPr>
              <a:t>Estimate Phase: </a:t>
            </a:r>
            <a:r>
              <a:rPr lang="en-US" sz="2400" dirty="0">
                <a:solidFill>
                  <a:schemeClr val="tx1"/>
                </a:solidFill>
              </a:rPr>
              <a:t>Here the team is devoted in estimating the time and effort required to make the requested changes. Impact analysis on existing system is also required to minimize the ripple effect</a:t>
            </a:r>
            <a:r>
              <a:rPr lang="en-US" sz="2400" dirty="0" smtClean="0">
                <a:solidFill>
                  <a:schemeClr val="tx1"/>
                </a:solidFill>
              </a:rPr>
              <a:t>.</a:t>
            </a:r>
          </a:p>
          <a:p>
            <a:r>
              <a:rPr lang="en-US" sz="2400" b="1" dirty="0">
                <a:solidFill>
                  <a:schemeClr val="tx1"/>
                </a:solidFill>
              </a:rPr>
              <a:t>Schedule Phase: </a:t>
            </a:r>
            <a:r>
              <a:rPr lang="en-US" sz="2400" dirty="0">
                <a:solidFill>
                  <a:schemeClr val="tx1"/>
                </a:solidFill>
              </a:rPr>
              <a:t>During this stage the team identifies the change request for the next scheduled release and prepare the documents that are required for planning.</a:t>
            </a:r>
          </a:p>
        </p:txBody>
      </p:sp>
    </p:spTree>
    <p:extLst>
      <p:ext uri="{BB962C8B-B14F-4D97-AF65-F5344CB8AC3E}">
        <p14:creationId xmlns:p14="http://schemas.microsoft.com/office/powerpoint/2010/main" val="2193734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0"/>
            <a:ext cx="4171314" cy="643889"/>
          </a:xfrm>
        </p:spPr>
        <p:txBody>
          <a:bodyPr/>
          <a:lstStyle/>
          <a:p>
            <a:endParaRPr lang="en-US" dirty="0"/>
          </a:p>
        </p:txBody>
      </p:sp>
      <p:sp>
        <p:nvSpPr>
          <p:cNvPr id="3" name="Text Placeholder 2"/>
          <p:cNvSpPr>
            <a:spLocks noGrp="1"/>
          </p:cNvSpPr>
          <p:nvPr>
            <p:ph type="body" idx="1"/>
          </p:nvPr>
        </p:nvSpPr>
        <p:spPr>
          <a:xfrm>
            <a:off x="838200" y="1683257"/>
            <a:ext cx="7543800" cy="4431983"/>
          </a:xfrm>
        </p:spPr>
        <p:txBody>
          <a:bodyPr/>
          <a:lstStyle/>
          <a:p>
            <a:r>
              <a:rPr lang="en-US" sz="2400" b="1" dirty="0">
                <a:solidFill>
                  <a:schemeClr val="tx1"/>
                </a:solidFill>
                <a:latin typeface="Times New Roman" panose="02020603050405020304" pitchFamily="18" charset="0"/>
                <a:cs typeface="Times New Roman" panose="02020603050405020304" pitchFamily="18" charset="0"/>
              </a:rPr>
              <a:t>Programming </a:t>
            </a:r>
            <a:r>
              <a:rPr lang="en-US" sz="2400" b="1" dirty="0" smtClean="0">
                <a:solidFill>
                  <a:schemeClr val="tx1"/>
                </a:solidFill>
                <a:latin typeface="Times New Roman" panose="02020603050405020304" pitchFamily="18" charset="0"/>
                <a:cs typeface="Times New Roman" panose="02020603050405020304" pitchFamily="18" charset="0"/>
              </a:rPr>
              <a:t>Phase: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the source </a:t>
            </a:r>
            <a:r>
              <a:rPr lang="en-US" sz="2400" dirty="0">
                <a:solidFill>
                  <a:schemeClr val="tx1"/>
                </a:solidFill>
                <a:latin typeface="Times New Roman" panose="02020603050405020304" pitchFamily="18" charset="0"/>
                <a:cs typeface="Times New Roman" panose="02020603050405020304" pitchFamily="18" charset="0"/>
              </a:rPr>
              <a:t>code is modified to implement the requested change. Moreover, all relevant documents, like design document, manuals, etc. are updated accordingly. The final output of this stage is the test version of the source </a:t>
            </a:r>
            <a:r>
              <a:rPr lang="en-US" sz="2400" dirty="0" smtClean="0">
                <a:solidFill>
                  <a:schemeClr val="tx1"/>
                </a:solidFill>
                <a:latin typeface="Times New Roman" panose="02020603050405020304" pitchFamily="18" charset="0"/>
                <a:cs typeface="Times New Roman" panose="02020603050405020304" pitchFamily="18" charset="0"/>
              </a:rPr>
              <a:t>code</a:t>
            </a:r>
          </a:p>
          <a:p>
            <a:r>
              <a:rPr lang="en-US" sz="2400" b="1" dirty="0">
                <a:solidFill>
                  <a:schemeClr val="tx1"/>
                </a:solidFill>
                <a:latin typeface="Times New Roman" panose="02020603050405020304" pitchFamily="18" charset="0"/>
                <a:cs typeface="Times New Roman" panose="02020603050405020304" pitchFamily="18" charset="0"/>
              </a:rPr>
              <a:t>Test Phase</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a:solidFill>
                  <a:schemeClr val="tx1"/>
                </a:solidFill>
                <a:latin typeface="Times New Roman" panose="02020603050405020304" pitchFamily="18" charset="0"/>
                <a:cs typeface="Times New Roman" panose="02020603050405020304" pitchFamily="18" charset="0"/>
              </a:rPr>
              <a:t>modifications and updates required in the software are carefully implemented in this phase. The code is tested using available as well as new test cases</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b="1" dirty="0">
                <a:solidFill>
                  <a:schemeClr val="tx1"/>
                </a:solidFill>
                <a:latin typeface="Times New Roman" panose="02020603050405020304" pitchFamily="18" charset="0"/>
                <a:cs typeface="Times New Roman" panose="02020603050405020304" pitchFamily="18" charset="0"/>
              </a:rPr>
              <a:t>Documentation Phase: </a:t>
            </a:r>
            <a:r>
              <a:rPr lang="en-US" sz="2400" dirty="0">
                <a:solidFill>
                  <a:schemeClr val="tx1"/>
                </a:solidFill>
                <a:latin typeface="Times New Roman" panose="02020603050405020304" pitchFamily="18" charset="0"/>
                <a:cs typeface="Times New Roman" panose="02020603050405020304" pitchFamily="18" charset="0"/>
              </a:rPr>
              <a:t>After regression testing, system and user documents are prepared and updated before release. By doing so, the developers are able to maintain co-relation between code and documents.</a:t>
            </a:r>
          </a:p>
        </p:txBody>
      </p:sp>
    </p:spTree>
    <p:extLst>
      <p:ext uri="{BB962C8B-B14F-4D97-AF65-F5344CB8AC3E}">
        <p14:creationId xmlns:p14="http://schemas.microsoft.com/office/powerpoint/2010/main" val="653257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250060"/>
            <a:ext cx="5791199" cy="643889"/>
          </a:xfrm>
        </p:spPr>
        <p:txBody>
          <a:bodyPr/>
          <a:lstStyle/>
          <a:p>
            <a:endParaRPr lang="en-US" dirty="0"/>
          </a:p>
        </p:txBody>
      </p:sp>
      <p:sp>
        <p:nvSpPr>
          <p:cNvPr id="3" name="Text Placeholder 2"/>
          <p:cNvSpPr>
            <a:spLocks noGrp="1"/>
          </p:cNvSpPr>
          <p:nvPr>
            <p:ph type="body" idx="1"/>
          </p:nvPr>
        </p:nvSpPr>
        <p:spPr>
          <a:xfrm>
            <a:off x="990600" y="2362200"/>
            <a:ext cx="7391400" cy="4062651"/>
          </a:xfrm>
        </p:spPr>
        <p:txBody>
          <a:bodyPr/>
          <a:lstStyle/>
          <a:p>
            <a:r>
              <a:rPr lang="en-US" sz="2400" b="1" dirty="0">
                <a:solidFill>
                  <a:schemeClr val="tx1"/>
                </a:solidFill>
              </a:rPr>
              <a:t>Release Phase</a:t>
            </a:r>
            <a:r>
              <a:rPr lang="en-US" sz="2400" b="1" dirty="0" smtClean="0">
                <a:solidFill>
                  <a:schemeClr val="tx1"/>
                </a:solidFill>
              </a:rPr>
              <a:t>: </a:t>
            </a:r>
            <a:r>
              <a:rPr lang="en-US" sz="2400" dirty="0" smtClean="0">
                <a:solidFill>
                  <a:schemeClr val="tx1"/>
                </a:solidFill>
              </a:rPr>
              <a:t>The </a:t>
            </a:r>
            <a:r>
              <a:rPr lang="en-US" sz="2400" dirty="0">
                <a:solidFill>
                  <a:schemeClr val="tx1"/>
                </a:solidFill>
              </a:rPr>
              <a:t>new software product along with updated documents are delivered to the customer. Acceptance Testing is carried out by the users of the system.</a:t>
            </a:r>
          </a:p>
          <a:p>
            <a:r>
              <a:rPr lang="en-US" sz="2400" b="1" dirty="0">
                <a:solidFill>
                  <a:schemeClr val="tx1"/>
                </a:solidFill>
              </a:rPr>
              <a:t>Operation Phase:</a:t>
            </a:r>
            <a:r>
              <a:rPr lang="en-US" sz="2400" dirty="0">
                <a:solidFill>
                  <a:schemeClr val="tx1"/>
                </a:solidFill>
              </a:rPr>
              <a:t> Once the acceptance testing is successfully implemented, software is placed under normal operation. During usage, when another problem is identified or new functionality requirement is felt or even the enhancement of existing capability is desired, again a ‘change request’ process is initiated.</a:t>
            </a:r>
          </a:p>
          <a:p>
            <a:endParaRPr lang="en-US" sz="2400" dirty="0">
              <a:solidFill>
                <a:schemeClr val="tx1"/>
              </a:solidFill>
            </a:endParaRPr>
          </a:p>
        </p:txBody>
      </p:sp>
    </p:spTree>
    <p:extLst>
      <p:ext uri="{BB962C8B-B14F-4D97-AF65-F5344CB8AC3E}">
        <p14:creationId xmlns:p14="http://schemas.microsoft.com/office/powerpoint/2010/main" val="1012463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TotalTime>
  <Words>945</Words>
  <Application>Microsoft Office PowerPoint</Application>
  <PresentationFormat>On-screen Show (4:3)</PresentationFormat>
  <Paragraphs>201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Georgia</vt:lpstr>
      <vt:lpstr>Times New Roman</vt:lpstr>
      <vt:lpstr>Wingdings</vt:lpstr>
      <vt:lpstr>Office Theme</vt:lpstr>
      <vt:lpstr>SOFTWARE MAINTENANCE</vt:lpstr>
      <vt:lpstr>What is software maintenance?</vt:lpstr>
      <vt:lpstr>PowerPoint Presentation</vt:lpstr>
      <vt:lpstr>Reasons for maintaining software</vt:lpstr>
      <vt:lpstr>Reasons for maintaining software</vt:lpstr>
      <vt:lpstr>Cost distribution of SDLC</vt:lpstr>
      <vt:lpstr>Software Maintenance Problems</vt:lpstr>
      <vt:lpstr>Types o software maintenance</vt:lpstr>
      <vt:lpstr>Types of software maintenance</vt:lpstr>
      <vt:lpstr>1. Corrective Maintenance</vt:lpstr>
      <vt:lpstr>2. Adaptive Maintenance</vt:lpstr>
      <vt:lpstr>3. Perfective Maintenance</vt:lpstr>
      <vt:lpstr>4. Preventive Maintenance</vt:lpstr>
      <vt:lpstr>Cost of software maintenance</vt:lpstr>
      <vt:lpstr>Software Maintenance models</vt:lpstr>
      <vt:lpstr>1. Quick-fix Model</vt:lpstr>
      <vt:lpstr>2. Iterative Enhancement Model</vt:lpstr>
      <vt:lpstr>3. Full-reuse Model</vt:lpstr>
      <vt:lpstr>3. Full-reuse Model(cont.)</vt:lpstr>
      <vt:lpstr>4. Taute Maintenance Model</vt:lpstr>
      <vt:lpstr>4. Taute Maintenance Model</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MAINTENANCE</dc:title>
  <cp:lastModifiedBy>MR ASADU</cp:lastModifiedBy>
  <cp:revision>13</cp:revision>
  <dcterms:created xsi:type="dcterms:W3CDTF">2019-11-20T09:53:17Z</dcterms:created>
  <dcterms:modified xsi:type="dcterms:W3CDTF">2019-11-25T12:37:55Z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2014-12-03T00:00:00Z</vt:filetime>
  </property>
  <property fmtid="{D5CDD505-2E9C-101B-9397-08002B2CF9AE}" pid="3" name="Creator">
    <vt:lpwstr>Microsoft® PowerPoint® 2013</vt:lpwstr>
  </property>
  <property fmtid="{D5CDD505-2E9C-101B-9397-08002B2CF9AE}" pid="4" name="LastSaved">
    <vt:filetime>2019-11-20T00:00:00Z</vt:filetime>
  </property>
</Properties>
</file>