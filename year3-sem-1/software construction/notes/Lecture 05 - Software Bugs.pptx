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1" r:id="rId3"/>
    <p:sldId id="272" r:id="rId4"/>
    <p:sldId id="273" r:id="rId5"/>
    <p:sldId id="287" r:id="rId6"/>
    <p:sldId id="288" r:id="rId7"/>
    <p:sldId id="261" r:id="rId8"/>
    <p:sldId id="274" r:id="rId9"/>
    <p:sldId id="275" r:id="rId10"/>
    <p:sldId id="276" r:id="rId11"/>
    <p:sldId id="281" r:id="rId12"/>
    <p:sldId id="282" r:id="rId13"/>
    <p:sldId id="283" r:id="rId14"/>
    <p:sldId id="284" r:id="rId15"/>
    <p:sldId id="285" r:id="rId16"/>
    <p:sldId id="286" r:id="rId17"/>
    <p:sldId id="263" r:id="rId18"/>
    <p:sldId id="277" r:id="rId19"/>
    <p:sldId id="278" r:id="rId20"/>
    <p:sldId id="279" r:id="rId21"/>
    <p:sldId id="280" r:id="rId22"/>
    <p:sldId id="264" r:id="rId23"/>
    <p:sldId id="289" r:id="rId24"/>
    <p:sldId id="290" r:id="rId25"/>
    <p:sldId id="291" r:id="rId2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482"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3999" cy="6858000"/>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ctrTitle"/>
          </p:nvPr>
        </p:nvSpPr>
        <p:spPr>
          <a:xfrm>
            <a:off x="2662634" y="3113880"/>
            <a:ext cx="3818731" cy="75692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51535D"/>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51535D"/>
                </a:solidFill>
                <a:latin typeface="Georgia"/>
                <a:cs typeface="Georgi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51535D"/>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3999" cy="685799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530225" y="10445"/>
            <a:ext cx="8083550" cy="1490345"/>
          </a:xfrm>
          <a:prstGeom prst="rect">
            <a:avLst/>
          </a:prstGeom>
        </p:spPr>
        <p:txBody>
          <a:bodyPr wrap="square" lIns="0" tIns="0" rIns="0" bIns="0">
            <a:spAutoFit/>
          </a:bodyPr>
          <a:lstStyle>
            <a:lvl1pPr>
              <a:defRPr sz="4800" b="0" i="0">
                <a:solidFill>
                  <a:srgbClr val="51535D"/>
                </a:solidFill>
                <a:latin typeface="Georgia"/>
                <a:cs typeface="Georgia"/>
              </a:defRPr>
            </a:lvl1pPr>
          </a:lstStyle>
          <a:p>
            <a:endParaRPr/>
          </a:p>
        </p:txBody>
      </p:sp>
      <p:sp>
        <p:nvSpPr>
          <p:cNvPr id="3" name="Holder 3"/>
          <p:cNvSpPr>
            <a:spLocks noGrp="1"/>
          </p:cNvSpPr>
          <p:nvPr>
            <p:ph type="body" idx="1"/>
          </p:nvPr>
        </p:nvSpPr>
        <p:spPr>
          <a:xfrm>
            <a:off x="530225" y="1794001"/>
            <a:ext cx="8083550" cy="41592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11/7/2023</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jpg"/><Relationship Id="rId1" Type="http://schemas.openxmlformats.org/officeDocument/2006/relationships/slideLayout" Target="../slideLayouts/slideLayout4.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4.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47800" y="838200"/>
            <a:ext cx="5791200" cy="751488"/>
          </a:xfrm>
          <a:prstGeom prst="rect">
            <a:avLst/>
          </a:prstGeom>
        </p:spPr>
        <p:txBody>
          <a:bodyPr vert="horz" wrap="square" lIns="0" tIns="12700" rIns="0" bIns="0" rtlCol="0">
            <a:spAutoFit/>
          </a:bodyPr>
          <a:lstStyle/>
          <a:p>
            <a:pPr marL="12700">
              <a:lnSpc>
                <a:spcPct val="100000"/>
              </a:lnSpc>
              <a:spcBef>
                <a:spcPts val="100"/>
              </a:spcBef>
            </a:pPr>
            <a:r>
              <a:rPr lang="en-US" sz="4800" b="1" spc="-5" dirty="0">
                <a:solidFill>
                  <a:srgbClr val="FF0000"/>
                </a:solidFill>
                <a:latin typeface="Times New Roman" panose="02020603050405020304" pitchFamily="18" charset="0"/>
                <a:cs typeface="Times New Roman" panose="02020603050405020304" pitchFamily="18" charset="0"/>
              </a:rPr>
              <a:t>SOFTWARE BUGS</a:t>
            </a:r>
            <a:endParaRPr sz="4800" b="1" dirty="0">
              <a:solidFill>
                <a:srgbClr val="FF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r="-2741"/>
          <a:stretch/>
        </p:blipFill>
        <p:spPr>
          <a:xfrm>
            <a:off x="0" y="2155371"/>
            <a:ext cx="9472965" cy="472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739" y="609600"/>
            <a:ext cx="8083550" cy="738664"/>
          </a:xfrm>
        </p:spPr>
        <p:txBody>
          <a:bodyPr/>
          <a:lstStyle/>
          <a:p>
            <a:r>
              <a:rPr lang="en-US" b="1" dirty="0">
                <a:solidFill>
                  <a:srgbClr val="FF0000"/>
                </a:solidFill>
              </a:rPr>
              <a:t>What is software Bugs?</a:t>
            </a:r>
          </a:p>
        </p:txBody>
      </p:sp>
      <p:sp>
        <p:nvSpPr>
          <p:cNvPr id="3" name="Text Placeholder 2"/>
          <p:cNvSpPr>
            <a:spLocks noGrp="1"/>
          </p:cNvSpPr>
          <p:nvPr>
            <p:ph type="body" idx="1"/>
          </p:nvPr>
        </p:nvSpPr>
        <p:spPr>
          <a:xfrm>
            <a:off x="530225" y="1794001"/>
            <a:ext cx="8083550" cy="5170646"/>
          </a:xfrm>
        </p:spPr>
        <p:txBody>
          <a:bodyPr/>
          <a:lstStyle/>
          <a:p>
            <a:pPr marL="342900" indent="-3429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 software bug is a problem causing a program to crash or produce invalid output. </a:t>
            </a:r>
          </a:p>
          <a:p>
            <a:pPr marL="342900" indent="-3429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problem is caused by insufficient or erroneous logic. </a:t>
            </a:r>
          </a:p>
          <a:p>
            <a:pPr marL="342900" indent="-3429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 bug can be an error, mistake, defect or fault, which may cause failure or deviation from expected results.</a:t>
            </a:r>
          </a:p>
          <a:p>
            <a:pPr marL="342900" indent="-3429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Most bugs are due to human errors in source code or its design. </a:t>
            </a:r>
          </a:p>
          <a:p>
            <a:pPr marL="342900" indent="-3429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 program is said to be buggy when it contains a large number of bugs, which affect program functionality and cause incorrect results.</a:t>
            </a:r>
          </a:p>
          <a:p>
            <a:pPr marL="342900" indent="-342900">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6170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794001"/>
            <a:ext cx="8083550" cy="3447098"/>
          </a:xfrm>
        </p:spPr>
        <p:txBody>
          <a:bodyPr/>
          <a:lstStyle/>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Some bugs might not have serious effects on the functionality of the program and may remain undetected for a long time.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 program might crash when serious bugs are left unidentified.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Another category of bugs called security bugs may allow a malicious user bypass access controls and obtain unauthorized privileges.</a:t>
            </a:r>
          </a:p>
        </p:txBody>
      </p:sp>
    </p:spTree>
    <p:extLst>
      <p:ext uri="{BB962C8B-B14F-4D97-AF65-F5344CB8AC3E}">
        <p14:creationId xmlns:p14="http://schemas.microsoft.com/office/powerpoint/2010/main" val="3502472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225" y="1066800"/>
            <a:ext cx="8083550" cy="430887"/>
          </a:xfrm>
        </p:spPr>
        <p:txBody>
          <a:bodyPr/>
          <a:lstStyle/>
          <a:p>
            <a:r>
              <a:rPr lang="en-US" sz="2800" b="1" dirty="0">
                <a:solidFill>
                  <a:srgbClr val="FF0000"/>
                </a:solidFill>
                <a:latin typeface="Times New Roman" panose="02020603050405020304" pitchFamily="18" charset="0"/>
                <a:cs typeface="Times New Roman" panose="02020603050405020304" pitchFamily="18" charset="0"/>
              </a:rPr>
              <a:t>Some of the worst bugs in history include:</a:t>
            </a:r>
          </a:p>
        </p:txBody>
      </p:sp>
      <p:sp>
        <p:nvSpPr>
          <p:cNvPr id="3" name="Text Placeholder 2"/>
          <p:cNvSpPr>
            <a:spLocks noGrp="1"/>
          </p:cNvSpPr>
          <p:nvPr>
            <p:ph type="body" idx="1"/>
          </p:nvPr>
        </p:nvSpPr>
        <p:spPr>
          <a:xfrm>
            <a:off x="530225" y="1794001"/>
            <a:ext cx="8083550" cy="5201424"/>
          </a:xfrm>
        </p:spPr>
        <p:txBody>
          <a:bodyPr/>
          <a:lstStyle/>
          <a:p>
            <a:pPr marL="457200"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In the 1980s, bugs in the code controlling the machine called Therac-25, used for radiation therapy, lead to patient deaths.</a:t>
            </a:r>
          </a:p>
          <a:p>
            <a:pPr marL="457200"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In 1996, the $1.0 billion rocket called Ariane 5 was destroyed a few seconds after launch due to a bug in the on-board guidance computer program.</a:t>
            </a:r>
          </a:p>
          <a:p>
            <a:pPr marL="457200"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In 1962, a bug in the flight software for the Mariner I spacecraft caused the rocket to change path from the expected path.</a:t>
            </a:r>
          </a:p>
          <a:p>
            <a:pPr marL="457200"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In the 1990s, a bug was found in the new release of AT&amp;T’s software control #4ESS long distance switches caused many computers to crash.</a:t>
            </a:r>
          </a:p>
          <a:p>
            <a:pPr marL="457200" indent="-457200">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797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59BDD-B77E-4C18-93D7-C74287E28456}"/>
              </a:ext>
            </a:extLst>
          </p:cNvPr>
          <p:cNvSpPr>
            <a:spLocks noGrp="1"/>
          </p:cNvSpPr>
          <p:nvPr>
            <p:ph type="title"/>
          </p:nvPr>
        </p:nvSpPr>
        <p:spPr>
          <a:xfrm>
            <a:off x="457200" y="914400"/>
            <a:ext cx="8083550" cy="461665"/>
          </a:xfrm>
        </p:spPr>
        <p:txBody>
          <a:bodyPr/>
          <a:lstStyle/>
          <a:p>
            <a:pPr algn="ctr"/>
            <a:r>
              <a:rPr lang="en-US" sz="3000" b="1" dirty="0">
                <a:solidFill>
                  <a:srgbClr val="FF0000"/>
                </a:solidFill>
                <a:latin typeface="Times New Roman" panose="02020603050405020304" pitchFamily="18" charset="0"/>
                <a:cs typeface="Times New Roman" panose="02020603050405020304" pitchFamily="18" charset="0"/>
              </a:rPr>
              <a:t>Importance of Understanding Software Bugs</a:t>
            </a:r>
          </a:p>
        </p:txBody>
      </p:sp>
      <p:sp>
        <p:nvSpPr>
          <p:cNvPr id="3" name="Text Placeholder 2">
            <a:extLst>
              <a:ext uri="{FF2B5EF4-FFF2-40B4-BE49-F238E27FC236}">
                <a16:creationId xmlns:a16="http://schemas.microsoft.com/office/drawing/2014/main" id="{42DDFB8D-210D-4AFF-A110-9229C76B0021}"/>
              </a:ext>
            </a:extLst>
          </p:cNvPr>
          <p:cNvSpPr>
            <a:spLocks noGrp="1"/>
          </p:cNvSpPr>
          <p:nvPr>
            <p:ph type="body" idx="1"/>
          </p:nvPr>
        </p:nvSpPr>
        <p:spPr>
          <a:xfrm>
            <a:off x="530225" y="1676400"/>
            <a:ext cx="8083550" cy="4616648"/>
          </a:xfrm>
        </p:spPr>
        <p:txBody>
          <a:bodyPr/>
          <a:lstStyle/>
          <a:p>
            <a:r>
              <a:rPr lang="en-US" sz="2500" dirty="0">
                <a:latin typeface="Times New Roman" panose="02020603050405020304" pitchFamily="18" charset="0"/>
                <a:cs typeface="Times New Roman" panose="02020603050405020304" pitchFamily="18" charset="0"/>
              </a:rPr>
              <a:t>1. Reliability and Quality Assurance</a:t>
            </a:r>
          </a:p>
          <a:p>
            <a:pPr marL="342900" indent="-342900">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Bugs can lead to unexpected crashes, incorrect results, or other undesirable behaviors, which can undermine user trust and satisfaction</a:t>
            </a:r>
          </a:p>
          <a:p>
            <a:r>
              <a:rPr lang="en-US" sz="2500" dirty="0">
                <a:latin typeface="Times New Roman" panose="02020603050405020304" pitchFamily="18" charset="0"/>
                <a:cs typeface="Times New Roman" panose="02020603050405020304" pitchFamily="18" charset="0"/>
              </a:rPr>
              <a:t>2. User Experience</a:t>
            </a:r>
          </a:p>
          <a:p>
            <a:pPr marL="342900" indent="-342900">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Understanding and mitigating bugs can lead to an improved user experience by providing software that works as expected and is free from disruptive errors.</a:t>
            </a:r>
          </a:p>
          <a:p>
            <a:r>
              <a:rPr lang="en-US" sz="2500" dirty="0">
                <a:latin typeface="Times New Roman" panose="02020603050405020304" pitchFamily="18" charset="0"/>
                <a:cs typeface="Times New Roman" panose="02020603050405020304" pitchFamily="18" charset="0"/>
              </a:rPr>
              <a:t>3. Security</a:t>
            </a:r>
          </a:p>
          <a:p>
            <a:pPr marL="342900" indent="-342900">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Some software bugs can be exploited by malicious actors to gain unauthorized access, manipulate data, or execute code with unintended consequences</a:t>
            </a:r>
          </a:p>
        </p:txBody>
      </p:sp>
    </p:spTree>
    <p:extLst>
      <p:ext uri="{BB962C8B-B14F-4D97-AF65-F5344CB8AC3E}">
        <p14:creationId xmlns:p14="http://schemas.microsoft.com/office/powerpoint/2010/main" val="1039803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01580-EB5D-481E-A86D-EA70575D587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39528CF-4679-43D1-A054-7FC487A49100}"/>
              </a:ext>
            </a:extLst>
          </p:cNvPr>
          <p:cNvSpPr>
            <a:spLocks noGrp="1"/>
          </p:cNvSpPr>
          <p:nvPr>
            <p:ph type="body" idx="1"/>
          </p:nvPr>
        </p:nvSpPr>
        <p:spPr>
          <a:xfrm>
            <a:off x="530225" y="1524000"/>
            <a:ext cx="8083550" cy="5386090"/>
          </a:xfrm>
        </p:spPr>
        <p:txBody>
          <a:bodyPr/>
          <a:lstStyle/>
          <a:p>
            <a:r>
              <a:rPr lang="en-US" sz="2500" dirty="0">
                <a:latin typeface="Times New Roman" panose="02020603050405020304" pitchFamily="18" charset="0"/>
                <a:cs typeface="Times New Roman" panose="02020603050405020304" pitchFamily="18" charset="0"/>
              </a:rPr>
              <a:t>4. User Trust</a:t>
            </a:r>
          </a:p>
          <a:p>
            <a:pPr marL="342900" indent="-342900">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Software users trust that the applications they use are reliable and secure. A high number of bugs can erode user trust and lead to a loss of customers or users</a:t>
            </a:r>
          </a:p>
          <a:p>
            <a:r>
              <a:rPr lang="en-US" sz="2500" dirty="0">
                <a:latin typeface="Times New Roman" panose="02020603050405020304" pitchFamily="18" charset="0"/>
                <a:cs typeface="Times New Roman" panose="02020603050405020304" pitchFamily="18" charset="0"/>
              </a:rPr>
              <a:t>5. Efficiency and Productivity:</a:t>
            </a:r>
          </a:p>
          <a:p>
            <a:pPr marL="342900" indent="-342900">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Software bugs can hinder productivity and efficiency, especially in business-critical applications. Understanding and fixing bugs can lead to smoother operations and cost savings.</a:t>
            </a:r>
          </a:p>
          <a:p>
            <a:r>
              <a:rPr lang="en-US" sz="2500" dirty="0">
                <a:latin typeface="Times New Roman" panose="02020603050405020304" pitchFamily="18" charset="0"/>
                <a:cs typeface="Times New Roman" panose="02020603050405020304" pitchFamily="18" charset="0"/>
              </a:rPr>
              <a:t>6. Reputation:</a:t>
            </a:r>
          </a:p>
          <a:p>
            <a:pPr marL="342900" indent="-342900">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The reputation of a software development team or organization is closely tied to the quality of their software. A history of buggy software can harm an organization's reputation.</a:t>
            </a:r>
          </a:p>
        </p:txBody>
      </p:sp>
    </p:spTree>
    <p:extLst>
      <p:ext uri="{BB962C8B-B14F-4D97-AF65-F5344CB8AC3E}">
        <p14:creationId xmlns:p14="http://schemas.microsoft.com/office/powerpoint/2010/main" val="2768583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0225" y="849151"/>
            <a:ext cx="8083550" cy="548868"/>
          </a:xfrm>
          <a:prstGeom prst="rect">
            <a:avLst/>
          </a:prstGeom>
        </p:spPr>
        <p:txBody>
          <a:bodyPr vert="horz" wrap="square" lIns="0" tIns="10160" rIns="0" bIns="0" rtlCol="0">
            <a:spAutoFit/>
          </a:bodyPr>
          <a:lstStyle/>
          <a:p>
            <a:pPr marL="12700" marR="5080">
              <a:lnSpc>
                <a:spcPct val="100299"/>
              </a:lnSpc>
              <a:spcBef>
                <a:spcPts val="80"/>
              </a:spcBef>
            </a:pPr>
            <a:r>
              <a:rPr sz="3500" b="1" spc="-10" dirty="0">
                <a:solidFill>
                  <a:srgbClr val="FF0000"/>
                </a:solidFill>
                <a:latin typeface="Times New Roman" panose="02020603050405020304" pitchFamily="18" charset="0"/>
                <a:cs typeface="Times New Roman" panose="02020603050405020304" pitchFamily="18" charset="0"/>
              </a:rPr>
              <a:t>Reasons </a:t>
            </a:r>
            <a:r>
              <a:rPr sz="3500" b="1" spc="-5" dirty="0">
                <a:solidFill>
                  <a:srgbClr val="FF0000"/>
                </a:solidFill>
                <a:latin typeface="Times New Roman" panose="02020603050405020304" pitchFamily="18" charset="0"/>
                <a:cs typeface="Times New Roman" panose="02020603050405020304" pitchFamily="18" charset="0"/>
              </a:rPr>
              <a:t>why bugs get</a:t>
            </a:r>
            <a:r>
              <a:rPr sz="3500" b="1" spc="-80" dirty="0">
                <a:solidFill>
                  <a:srgbClr val="FF0000"/>
                </a:solidFill>
                <a:latin typeface="Times New Roman" panose="02020603050405020304" pitchFamily="18" charset="0"/>
                <a:cs typeface="Times New Roman" panose="02020603050405020304" pitchFamily="18" charset="0"/>
              </a:rPr>
              <a:t> </a:t>
            </a:r>
            <a:r>
              <a:rPr sz="3500" b="1" spc="-10" dirty="0">
                <a:solidFill>
                  <a:srgbClr val="FF0000"/>
                </a:solidFill>
                <a:latin typeface="Times New Roman" panose="02020603050405020304" pitchFamily="18" charset="0"/>
                <a:cs typeface="Times New Roman" panose="02020603050405020304" pitchFamily="18" charset="0"/>
              </a:rPr>
              <a:t>into  </a:t>
            </a:r>
            <a:r>
              <a:rPr sz="3500" b="1" spc="-5" dirty="0">
                <a:solidFill>
                  <a:srgbClr val="FF0000"/>
                </a:solidFill>
                <a:latin typeface="Times New Roman" panose="02020603050405020304" pitchFamily="18" charset="0"/>
                <a:cs typeface="Times New Roman" panose="02020603050405020304" pitchFamily="18" charset="0"/>
              </a:rPr>
              <a:t>software</a:t>
            </a:r>
          </a:p>
        </p:txBody>
      </p:sp>
      <p:sp>
        <p:nvSpPr>
          <p:cNvPr id="3" name="object 3"/>
          <p:cNvSpPr txBox="1"/>
          <p:nvPr/>
        </p:nvSpPr>
        <p:spPr>
          <a:xfrm>
            <a:off x="530225" y="1788159"/>
            <a:ext cx="7362190" cy="4292600"/>
          </a:xfrm>
          <a:prstGeom prst="rect">
            <a:avLst/>
          </a:prstGeom>
        </p:spPr>
        <p:txBody>
          <a:bodyPr vert="horz" wrap="square" lIns="0" tIns="12065" rIns="0" bIns="0" rtlCol="0">
            <a:spAutoFit/>
          </a:bodyPr>
          <a:lstStyle/>
          <a:p>
            <a:pPr marL="469900" marR="3163570" indent="-457200">
              <a:lnSpc>
                <a:spcPct val="116700"/>
              </a:lnSpc>
              <a:spcBef>
                <a:spcPts val="95"/>
              </a:spcBef>
            </a:pPr>
            <a:r>
              <a:rPr lang="en-US" sz="3000" spc="-5" dirty="0">
                <a:latin typeface="Georgia"/>
                <a:cs typeface="Georgia"/>
              </a:rPr>
              <a:t>1. </a:t>
            </a:r>
            <a:r>
              <a:rPr sz="3000" spc="-5" dirty="0">
                <a:latin typeface="Georgia"/>
                <a:cs typeface="Georgia"/>
              </a:rPr>
              <a:t>Last </a:t>
            </a:r>
            <a:r>
              <a:rPr sz="3000" spc="-10" dirty="0">
                <a:latin typeface="Georgia"/>
                <a:cs typeface="Georgia"/>
              </a:rPr>
              <a:t>minute </a:t>
            </a:r>
            <a:r>
              <a:rPr sz="3000" spc="-5" dirty="0">
                <a:latin typeface="Georgia"/>
                <a:cs typeface="Georgia"/>
              </a:rPr>
              <a:t>changes  Developed by</a:t>
            </a:r>
            <a:r>
              <a:rPr sz="3000" spc="-90" dirty="0">
                <a:latin typeface="Georgia"/>
                <a:cs typeface="Georgia"/>
              </a:rPr>
              <a:t> </a:t>
            </a:r>
            <a:r>
              <a:rPr sz="3000" spc="-5" dirty="0">
                <a:latin typeface="Georgia"/>
                <a:cs typeface="Georgia"/>
              </a:rPr>
              <a:t>humans</a:t>
            </a:r>
            <a:endParaRPr sz="3000" dirty="0">
              <a:latin typeface="Georgia"/>
              <a:cs typeface="Georgia"/>
            </a:endParaRPr>
          </a:p>
          <a:p>
            <a:pPr marL="927100">
              <a:lnSpc>
                <a:spcPct val="100000"/>
              </a:lnSpc>
              <a:spcBef>
                <a:spcPts val="600"/>
              </a:spcBef>
            </a:pPr>
            <a:r>
              <a:rPr sz="3000" spc="-5" dirty="0">
                <a:latin typeface="Georgia"/>
                <a:cs typeface="Georgia"/>
              </a:rPr>
              <a:t>Communication</a:t>
            </a:r>
            <a:r>
              <a:rPr sz="3000" spc="-10" dirty="0">
                <a:latin typeface="Georgia"/>
                <a:cs typeface="Georgia"/>
              </a:rPr>
              <a:t> </a:t>
            </a:r>
            <a:r>
              <a:rPr sz="3000" spc="-5" dirty="0">
                <a:latin typeface="Georgia"/>
                <a:cs typeface="Georgia"/>
              </a:rPr>
              <a:t>failure</a:t>
            </a:r>
            <a:endParaRPr sz="3000" dirty="0">
              <a:latin typeface="Georgia"/>
              <a:cs typeface="Georgia"/>
            </a:endParaRPr>
          </a:p>
          <a:p>
            <a:pPr marL="12700" marR="1323975" indent="1371600">
              <a:lnSpc>
                <a:spcPts val="4200"/>
              </a:lnSpc>
              <a:spcBef>
                <a:spcPts val="240"/>
              </a:spcBef>
            </a:pPr>
            <a:r>
              <a:rPr sz="3000" spc="-10" dirty="0">
                <a:latin typeface="Georgia"/>
                <a:cs typeface="Georgia"/>
              </a:rPr>
              <a:t>Poor </a:t>
            </a:r>
            <a:r>
              <a:rPr sz="3000" spc="-5" dirty="0">
                <a:latin typeface="Georgia"/>
                <a:cs typeface="Georgia"/>
              </a:rPr>
              <a:t>developing techniques  </a:t>
            </a:r>
            <a:r>
              <a:rPr lang="en-US" sz="3000" spc="-5" dirty="0">
                <a:latin typeface="Georgia"/>
                <a:cs typeface="Georgia"/>
              </a:rPr>
              <a:t>2. </a:t>
            </a:r>
            <a:r>
              <a:rPr sz="3000" spc="-5" dirty="0">
                <a:latin typeface="Georgia"/>
                <a:cs typeface="Georgia"/>
              </a:rPr>
              <a:t>Lack of trained testing</a:t>
            </a:r>
            <a:r>
              <a:rPr sz="3000" spc="-25" dirty="0">
                <a:latin typeface="Georgia"/>
                <a:cs typeface="Georgia"/>
              </a:rPr>
              <a:t> </a:t>
            </a:r>
            <a:r>
              <a:rPr sz="3000" spc="-5" dirty="0">
                <a:latin typeface="Georgia"/>
                <a:cs typeface="Georgia"/>
              </a:rPr>
              <a:t>staff</a:t>
            </a:r>
            <a:endParaRPr sz="3000" dirty="0">
              <a:latin typeface="Georgia"/>
              <a:cs typeface="Georgia"/>
            </a:endParaRPr>
          </a:p>
          <a:p>
            <a:pPr marL="927100" marR="1564005" indent="-457200">
              <a:lnSpc>
                <a:spcPts val="4200"/>
              </a:lnSpc>
            </a:pPr>
            <a:r>
              <a:rPr sz="3000" spc="-5" dirty="0">
                <a:latin typeface="Georgia"/>
                <a:cs typeface="Georgia"/>
              </a:rPr>
              <a:t>Buggy third-party instruments  Misapplication of</a:t>
            </a:r>
            <a:r>
              <a:rPr sz="3000" spc="-90" dirty="0">
                <a:latin typeface="Georgia"/>
                <a:cs typeface="Georgia"/>
              </a:rPr>
              <a:t> </a:t>
            </a:r>
            <a:r>
              <a:rPr sz="3000" spc="-5" dirty="0">
                <a:latin typeface="Georgia"/>
                <a:cs typeface="Georgia"/>
              </a:rPr>
              <a:t>technology</a:t>
            </a:r>
            <a:endParaRPr sz="3000" dirty="0">
              <a:latin typeface="Georgia"/>
              <a:cs typeface="Georgia"/>
            </a:endParaRPr>
          </a:p>
          <a:p>
            <a:pPr marL="1384300">
              <a:lnSpc>
                <a:spcPct val="100000"/>
              </a:lnSpc>
              <a:spcBef>
                <a:spcPts val="360"/>
              </a:spcBef>
            </a:pPr>
            <a:r>
              <a:rPr sz="3000" spc="-5" dirty="0">
                <a:latin typeface="Georgia"/>
                <a:cs typeface="Georgia"/>
              </a:rPr>
              <a:t>Unrealistic development</a:t>
            </a:r>
            <a:r>
              <a:rPr sz="3000" spc="-85" dirty="0">
                <a:latin typeface="Georgia"/>
                <a:cs typeface="Georgia"/>
              </a:rPr>
              <a:t> </a:t>
            </a:r>
            <a:r>
              <a:rPr sz="3000" spc="-5" dirty="0">
                <a:latin typeface="Georgia"/>
                <a:cs typeface="Georgia"/>
              </a:rPr>
              <a:t>timeframe</a:t>
            </a:r>
            <a:endParaRPr sz="3000" dirty="0">
              <a:latin typeface="Georgia"/>
              <a:cs typeface="Georgia"/>
            </a:endParaRPr>
          </a:p>
        </p:txBody>
      </p:sp>
      <p:sp>
        <p:nvSpPr>
          <p:cNvPr id="4" name="object 4"/>
          <p:cNvSpPr/>
          <p:nvPr/>
        </p:nvSpPr>
        <p:spPr>
          <a:xfrm>
            <a:off x="6073867" y="1730374"/>
            <a:ext cx="2612932" cy="1733826"/>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794001"/>
            <a:ext cx="8083550" cy="5601533"/>
          </a:xfrm>
        </p:spPr>
        <p:txBody>
          <a:bodyPr/>
          <a:lstStyle/>
          <a:p>
            <a:r>
              <a:rPr lang="en-US" sz="2800" dirty="0">
                <a:latin typeface="Times New Roman" panose="02020603050405020304" pitchFamily="18" charset="0"/>
                <a:cs typeface="Times New Roman" panose="02020603050405020304" pitchFamily="18" charset="0"/>
              </a:rPr>
              <a:t>3. Miscommunication or no communication</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Quite often, the requirements from the business is not communicated to the development team.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Product owners have an idea of what the feature should look like and how it should behave, but if not communicated properly to developers and testers, the finished product might not be as expected.</a:t>
            </a:r>
          </a:p>
          <a:p>
            <a:r>
              <a:rPr lang="en-US" sz="2800" dirty="0">
                <a:latin typeface="Times New Roman" panose="02020603050405020304" pitchFamily="18" charset="0"/>
                <a:cs typeface="Times New Roman" panose="02020603050405020304" pitchFamily="18" charset="0"/>
              </a:rPr>
              <a:t>4. Software complexity</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complexity of current software applications can be difficult to comprehend for anyone without experience in modern-day software development.</a:t>
            </a:r>
          </a:p>
          <a:p>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8919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794001"/>
            <a:ext cx="8083550" cy="3447098"/>
          </a:xfrm>
        </p:spPr>
        <p:txBody>
          <a:bodyPr/>
          <a:lstStyle/>
          <a:p>
            <a:r>
              <a:rPr lang="en-US" sz="2800" dirty="0">
                <a:latin typeface="Times New Roman" panose="02020603050405020304" pitchFamily="18" charset="0"/>
                <a:cs typeface="Times New Roman" panose="02020603050405020304" pitchFamily="18" charset="0"/>
              </a:rPr>
              <a:t>5. Changing requirements</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end-user may not understand the effects of changes, or may understand and request them anyway – redesign, rescheduling of engineers, effects on other projects, work already completed that may have to be redone or thrown out, hardware requirements that may be affected, etc.</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8963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794001"/>
            <a:ext cx="8083550" cy="4739759"/>
          </a:xfrm>
        </p:spPr>
        <p:txBody>
          <a:bodyPr/>
          <a:lstStyle/>
          <a:p>
            <a:r>
              <a:rPr lang="en-US" sz="2800" dirty="0">
                <a:latin typeface="Times New Roman" panose="02020603050405020304" pitchFamily="18" charset="0"/>
                <a:cs typeface="Times New Roman" panose="02020603050405020304" pitchFamily="18" charset="0"/>
              </a:rPr>
              <a:t>6. Poorly documented code</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It’s tough to maintain and modify code that is badly written or poorly documented; the result is bugs.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 many organizations management provides no incentive for programmers to document their code or write clear, understandable, maintainable code.</a:t>
            </a:r>
          </a:p>
          <a:p>
            <a:r>
              <a:rPr lang="en-US" sz="2800" dirty="0">
                <a:latin typeface="Times New Roman" panose="02020603050405020304" pitchFamily="18" charset="0"/>
                <a:cs typeface="Times New Roman" panose="02020603050405020304" pitchFamily="18" charset="0"/>
              </a:rPr>
              <a:t>7. Software development tools</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Visual tools, class libraries, compilers, scripting tools, etc. often introduce their own bugs or are poorly documented, resulting in added bugs.</a:t>
            </a:r>
            <a:endParaRPr lang="en-US" sz="2800" b="1"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5831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225" y="990600"/>
            <a:ext cx="8083550" cy="538609"/>
          </a:xfrm>
        </p:spPr>
        <p:txBody>
          <a:bodyPr/>
          <a:lstStyle/>
          <a:p>
            <a:r>
              <a:rPr lang="en-US" sz="3500" b="1" dirty="0">
                <a:solidFill>
                  <a:srgbClr val="FF0000"/>
                </a:solidFill>
                <a:latin typeface="Times New Roman" panose="02020603050405020304" pitchFamily="18" charset="0"/>
                <a:cs typeface="Times New Roman" panose="02020603050405020304" pitchFamily="18" charset="0"/>
              </a:rPr>
              <a:t>Defect Life Cycle In Detail</a:t>
            </a:r>
          </a:p>
        </p:txBody>
      </p:sp>
      <p:sp>
        <p:nvSpPr>
          <p:cNvPr id="3" name="Text Placeholder 2"/>
          <p:cNvSpPr>
            <a:spLocks noGrp="1"/>
          </p:cNvSpPr>
          <p:nvPr>
            <p:ph type="body" idx="1"/>
          </p:nvPr>
        </p:nvSpPr>
        <p:spPr>
          <a:xfrm>
            <a:off x="530225" y="1794001"/>
            <a:ext cx="8083550" cy="3016210"/>
          </a:xfrm>
        </p:spPr>
        <p:txBody>
          <a:bodyPr/>
          <a:lstStyle/>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 Defect life cycle, also known as a Bug life cycle, is a cycle of a defect from which it goes through covering the different states in its entire life.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This starts as soon as any new defect is found by a tester and comes to an end when a tester closes that defect assuring that it won’t get reproduced again.</a:t>
            </a:r>
          </a:p>
          <a:p>
            <a:pPr marL="457200" indent="-457200">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1575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0600" y="1676400"/>
            <a:ext cx="7162800" cy="4608420"/>
          </a:xfrm>
          <a:prstGeom prst="rect">
            <a:avLst/>
          </a:prstGeom>
        </p:spPr>
      </p:pic>
      <p:sp>
        <p:nvSpPr>
          <p:cNvPr id="5" name="Title 1"/>
          <p:cNvSpPr>
            <a:spLocks noGrp="1"/>
          </p:cNvSpPr>
          <p:nvPr>
            <p:ph type="title"/>
          </p:nvPr>
        </p:nvSpPr>
        <p:spPr>
          <a:xfrm>
            <a:off x="530225" y="990600"/>
            <a:ext cx="8083550" cy="538609"/>
          </a:xfrm>
        </p:spPr>
        <p:txBody>
          <a:bodyPr/>
          <a:lstStyle/>
          <a:p>
            <a:r>
              <a:rPr lang="en-US" sz="3500" b="1" dirty="0">
                <a:solidFill>
                  <a:srgbClr val="FF0000"/>
                </a:solidFill>
                <a:latin typeface="Times New Roman" panose="02020603050405020304" pitchFamily="18" charset="0"/>
                <a:cs typeface="Times New Roman" panose="02020603050405020304" pitchFamily="18" charset="0"/>
              </a:rPr>
              <a:t>Defect Life Cycle In Detail</a:t>
            </a:r>
          </a:p>
        </p:txBody>
      </p:sp>
    </p:spTree>
    <p:extLst>
      <p:ext uri="{BB962C8B-B14F-4D97-AF65-F5344CB8AC3E}">
        <p14:creationId xmlns:p14="http://schemas.microsoft.com/office/powerpoint/2010/main" val="1482382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794001"/>
            <a:ext cx="8083550" cy="3693319"/>
          </a:xfrm>
        </p:spPr>
        <p:txBody>
          <a:bodyPr/>
          <a:lstStyle/>
          <a:p>
            <a:r>
              <a:rPr lang="en-US" sz="2400" b="1" dirty="0">
                <a:latin typeface="Times New Roman" panose="02020603050405020304" pitchFamily="18" charset="0"/>
                <a:cs typeface="Times New Roman" panose="02020603050405020304" pitchFamily="18" charset="0"/>
              </a:rPr>
              <a:t>1. New</a:t>
            </a:r>
            <a:r>
              <a:rPr lang="en-US" sz="2400" dirty="0">
                <a:latin typeface="Times New Roman" panose="02020603050405020304" pitchFamily="18" charset="0"/>
                <a:cs typeface="Times New Roman" panose="02020603050405020304" pitchFamily="18" charset="0"/>
              </a:rPr>
              <a:t>: This is the first state of a defect in the Defect Life Cycle.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When any new defect is found, it falls in a ‘New’ state and validations and testing are performed on this defect in the later stages of the Defect Life Cycle.</a:t>
            </a:r>
          </a:p>
          <a:p>
            <a:r>
              <a:rPr lang="en-US" sz="2400" b="1" dirty="0">
                <a:latin typeface="Times New Roman" panose="02020603050405020304" pitchFamily="18" charset="0"/>
                <a:cs typeface="Times New Roman" panose="02020603050405020304" pitchFamily="18" charset="0"/>
              </a:rPr>
              <a:t>2. Assigned:</a:t>
            </a:r>
            <a:r>
              <a:rPr lang="en-US" sz="2400" dirty="0">
                <a:latin typeface="Times New Roman" panose="02020603050405020304" pitchFamily="18" charset="0"/>
                <a:cs typeface="Times New Roman" panose="02020603050405020304" pitchFamily="18" charset="0"/>
              </a:rPr>
              <a:t> In this stage, a newly created defect is assigned to the development team for working on the defect.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This is assigned by the project lead or the manager of the testing team to a developer.</a:t>
            </a:r>
          </a:p>
          <a:p>
            <a:r>
              <a:rPr lang="en-US" sz="2400" b="1" dirty="0">
                <a:latin typeface="Times New Roman" panose="02020603050405020304" pitchFamily="18" charset="0"/>
                <a:cs typeface="Times New Roman" panose="02020603050405020304" pitchFamily="18" charset="0"/>
              </a:rPr>
              <a:t>3. Open: </a:t>
            </a:r>
            <a:r>
              <a:rPr lang="en-US" sz="2400" dirty="0">
                <a:latin typeface="Times New Roman" panose="02020603050405020304" pitchFamily="18" charset="0"/>
                <a:cs typeface="Times New Roman" panose="02020603050405020304" pitchFamily="18" charset="0"/>
              </a:rPr>
              <a:t>Here, the developer starts the process of analyzing the defect and works on fixing it, if required. </a:t>
            </a:r>
          </a:p>
        </p:txBody>
      </p:sp>
    </p:spTree>
    <p:extLst>
      <p:ext uri="{BB962C8B-B14F-4D97-AF65-F5344CB8AC3E}">
        <p14:creationId xmlns:p14="http://schemas.microsoft.com/office/powerpoint/2010/main" val="4078762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794001"/>
            <a:ext cx="8083550" cy="4801314"/>
          </a:xfrm>
        </p:spPr>
        <p:txBody>
          <a:bodyPr/>
          <a:lstStyle/>
          <a:p>
            <a:pPr marL="457200"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If the developer feels that the defect is not appropriate then it may get transferred to any of the below four states namely </a:t>
            </a:r>
            <a:r>
              <a:rPr lang="en-US" sz="2600" b="1" dirty="0">
                <a:latin typeface="Times New Roman" panose="02020603050405020304" pitchFamily="18" charset="0"/>
                <a:cs typeface="Times New Roman" panose="02020603050405020304" pitchFamily="18" charset="0"/>
              </a:rPr>
              <a:t>Duplicate, Deferred, Rejected or Not a Bug</a:t>
            </a:r>
            <a:r>
              <a:rPr lang="en-US" sz="2600" dirty="0">
                <a:latin typeface="Times New Roman" panose="02020603050405020304" pitchFamily="18" charset="0"/>
                <a:cs typeface="Times New Roman" panose="02020603050405020304" pitchFamily="18" charset="0"/>
              </a:rPr>
              <a:t>-based upon the specific reason.</a:t>
            </a:r>
          </a:p>
          <a:p>
            <a:r>
              <a:rPr lang="en-US" sz="2600" b="1" dirty="0">
                <a:latin typeface="Times New Roman" panose="02020603050405020304" pitchFamily="18" charset="0"/>
                <a:cs typeface="Times New Roman" panose="02020603050405020304" pitchFamily="18" charset="0"/>
              </a:rPr>
              <a:t>4. Fixed: </a:t>
            </a:r>
            <a:r>
              <a:rPr lang="en-US" sz="2600" dirty="0">
                <a:latin typeface="Times New Roman" panose="02020603050405020304" pitchFamily="18" charset="0"/>
                <a:cs typeface="Times New Roman" panose="02020603050405020304" pitchFamily="18" charset="0"/>
              </a:rPr>
              <a:t>When the developer finishes the task of fixing a defect by making the required changes then he can mark the status of the defect as ‘Fixed’.</a:t>
            </a:r>
          </a:p>
          <a:p>
            <a:r>
              <a:rPr lang="en-US" sz="2600" b="1" dirty="0">
                <a:latin typeface="Times New Roman" panose="02020603050405020304" pitchFamily="18" charset="0"/>
                <a:cs typeface="Times New Roman" panose="02020603050405020304" pitchFamily="18" charset="0"/>
              </a:rPr>
              <a:t>5. Pending Retest: </a:t>
            </a:r>
            <a:r>
              <a:rPr lang="en-US" sz="2600" dirty="0">
                <a:latin typeface="Times New Roman" panose="02020603050405020304" pitchFamily="18" charset="0"/>
                <a:cs typeface="Times New Roman" panose="02020603050405020304" pitchFamily="18" charset="0"/>
              </a:rPr>
              <a:t>After fixing the defect, the developer assigns the defect to the tester for retesting the defect at their end and till the tester works on retesting the defect, the state of the defect remains in ‘Pending Retest’.</a:t>
            </a:r>
          </a:p>
          <a:p>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0560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794001"/>
            <a:ext cx="8083550" cy="3447098"/>
          </a:xfrm>
        </p:spPr>
        <p:txBody>
          <a:bodyPr/>
          <a:lstStyle/>
          <a:p>
            <a:r>
              <a:rPr lang="en-US" sz="2800" b="1" dirty="0">
                <a:latin typeface="Times New Roman" panose="02020603050405020304" pitchFamily="18" charset="0"/>
                <a:cs typeface="Times New Roman" panose="02020603050405020304" pitchFamily="18" charset="0"/>
              </a:rPr>
              <a:t>6. Retest: </a:t>
            </a:r>
            <a:r>
              <a:rPr lang="en-US" sz="2800" dirty="0">
                <a:latin typeface="Times New Roman" panose="02020603050405020304" pitchFamily="18" charset="0"/>
                <a:cs typeface="Times New Roman" panose="02020603050405020304" pitchFamily="18" charset="0"/>
              </a:rPr>
              <a:t>At this point, the tester starts the task of working on the retesting of the defect to verify if the defect is fixed accurately by the developer as per the requirements or not.</a:t>
            </a:r>
          </a:p>
          <a:p>
            <a:r>
              <a:rPr lang="en-US" sz="2800" b="1" dirty="0">
                <a:latin typeface="Times New Roman" panose="02020603050405020304" pitchFamily="18" charset="0"/>
                <a:cs typeface="Times New Roman" panose="02020603050405020304" pitchFamily="18" charset="0"/>
              </a:rPr>
              <a:t>7. Reopen: </a:t>
            </a:r>
            <a:r>
              <a:rPr lang="en-US" sz="2800" dirty="0">
                <a:latin typeface="Times New Roman" panose="02020603050405020304" pitchFamily="18" charset="0"/>
                <a:cs typeface="Times New Roman" panose="02020603050405020304" pitchFamily="18" charset="0"/>
              </a:rPr>
              <a:t>If any issue still persists in the defect then it will be assigned to the developer again for testing and the status of the defect gets changed to ‘Reopen’.</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420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794001"/>
            <a:ext cx="8083550" cy="3447098"/>
          </a:xfrm>
        </p:spPr>
        <p:txBody>
          <a:bodyPr/>
          <a:lstStyle/>
          <a:p>
            <a:r>
              <a:rPr lang="en-US" sz="2800" b="1" dirty="0">
                <a:latin typeface="Times New Roman" panose="02020603050405020304" pitchFamily="18" charset="0"/>
                <a:cs typeface="Times New Roman" panose="02020603050405020304" pitchFamily="18" charset="0"/>
              </a:rPr>
              <a:t>8. Verified: </a:t>
            </a:r>
            <a:r>
              <a:rPr lang="en-US" sz="2800" dirty="0">
                <a:latin typeface="Times New Roman" panose="02020603050405020304" pitchFamily="18" charset="0"/>
                <a:cs typeface="Times New Roman" panose="02020603050405020304" pitchFamily="18" charset="0"/>
              </a:rPr>
              <a:t>If the tester does not find any issue in the defect after being assigned to the developer for retesting and he feels that if the defect has been fixed accurately then the status of the defect gets assigned to ‘Verified’.</a:t>
            </a:r>
          </a:p>
          <a:p>
            <a:r>
              <a:rPr lang="en-US" sz="2800" b="1" dirty="0">
                <a:latin typeface="Times New Roman" panose="02020603050405020304" pitchFamily="18" charset="0"/>
                <a:cs typeface="Times New Roman" panose="02020603050405020304" pitchFamily="18" charset="0"/>
              </a:rPr>
              <a:t>10. Closed: </a:t>
            </a:r>
            <a:r>
              <a:rPr lang="en-US" sz="2800" dirty="0">
                <a:latin typeface="Times New Roman" panose="02020603050405020304" pitchFamily="18" charset="0"/>
                <a:cs typeface="Times New Roman" panose="02020603050405020304" pitchFamily="18" charset="0"/>
              </a:rPr>
              <a:t>When the defect does not exist any longer then the tester changes the status of the defect to ‘Closed’.</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1454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0225" y="743870"/>
            <a:ext cx="6139180" cy="756920"/>
          </a:xfrm>
          <a:prstGeom prst="rect">
            <a:avLst/>
          </a:prstGeom>
        </p:spPr>
        <p:txBody>
          <a:bodyPr vert="horz" wrap="square" lIns="0" tIns="12700" rIns="0" bIns="0" rtlCol="0">
            <a:spAutoFit/>
          </a:bodyPr>
          <a:lstStyle/>
          <a:p>
            <a:pPr marL="12700">
              <a:lnSpc>
                <a:spcPct val="100000"/>
              </a:lnSpc>
              <a:spcBef>
                <a:spcPts val="100"/>
              </a:spcBef>
            </a:pPr>
            <a:r>
              <a:rPr spc="-10" dirty="0"/>
              <a:t>Types </a:t>
            </a:r>
            <a:r>
              <a:rPr spc="-5" dirty="0"/>
              <a:t>of software</a:t>
            </a:r>
            <a:r>
              <a:rPr spc="-85" dirty="0"/>
              <a:t> </a:t>
            </a:r>
            <a:r>
              <a:rPr spc="-5" dirty="0"/>
              <a:t>bugs</a:t>
            </a:r>
          </a:p>
        </p:txBody>
      </p:sp>
      <p:sp>
        <p:nvSpPr>
          <p:cNvPr id="3" name="object 3"/>
          <p:cNvSpPr/>
          <p:nvPr/>
        </p:nvSpPr>
        <p:spPr>
          <a:xfrm>
            <a:off x="6458875" y="3960402"/>
            <a:ext cx="2512039" cy="2091048"/>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516329" y="4516367"/>
            <a:ext cx="1942545" cy="1985870"/>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6897150" y="683365"/>
            <a:ext cx="2063750" cy="2063750"/>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668750" y="4192737"/>
            <a:ext cx="2823654" cy="2117053"/>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5686181" y="2251016"/>
            <a:ext cx="1830040" cy="1818321"/>
          </a:xfrm>
          <a:prstGeom prst="rect">
            <a:avLst/>
          </a:prstGeom>
          <a:blipFill>
            <a:blip r:embed="rId6" cstate="print"/>
            <a:stretch>
              <a:fillRect/>
            </a:stretch>
          </a:blipFill>
        </p:spPr>
        <p:txBody>
          <a:bodyPr wrap="square" lIns="0" tIns="0" rIns="0" bIns="0" rtlCol="0"/>
          <a:lstStyle/>
          <a:p>
            <a:endParaRPr/>
          </a:p>
        </p:txBody>
      </p:sp>
      <p:sp>
        <p:nvSpPr>
          <p:cNvPr id="8" name="object 8"/>
          <p:cNvSpPr/>
          <p:nvPr/>
        </p:nvSpPr>
        <p:spPr>
          <a:xfrm>
            <a:off x="3687786" y="2974877"/>
            <a:ext cx="1768426" cy="1770798"/>
          </a:xfrm>
          <a:prstGeom prst="rect">
            <a:avLst/>
          </a:prstGeom>
          <a:blipFill>
            <a:blip r:embed="rId7" cstate="print"/>
            <a:stretch>
              <a:fillRect/>
            </a:stretch>
          </a:blipFill>
        </p:spPr>
        <p:txBody>
          <a:bodyPr wrap="square" lIns="0" tIns="0" rIns="0" bIns="0" rtlCol="0"/>
          <a:lstStyle/>
          <a:p>
            <a:endParaRPr/>
          </a:p>
        </p:txBody>
      </p:sp>
      <p:sp>
        <p:nvSpPr>
          <p:cNvPr id="9" name="object 9"/>
          <p:cNvSpPr/>
          <p:nvPr/>
        </p:nvSpPr>
        <p:spPr>
          <a:xfrm>
            <a:off x="1031290" y="2226818"/>
            <a:ext cx="1516572" cy="1575731"/>
          </a:xfrm>
          <a:prstGeom prst="rect">
            <a:avLst/>
          </a:prstGeom>
          <a:blipFill>
            <a:blip r:embed="rId8" cstate="print"/>
            <a:stretch>
              <a:fillRect/>
            </a:stretch>
          </a:blipFill>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4" name="Text Placeholder 3"/>
          <p:cNvSpPr>
            <a:spLocks noGrp="1"/>
          </p:cNvSpPr>
          <p:nvPr>
            <p:ph type="body" idx="1"/>
          </p:nvPr>
        </p:nvSpPr>
        <p:spPr>
          <a:xfrm>
            <a:off x="530225" y="1794001"/>
            <a:ext cx="8083550" cy="5416868"/>
          </a:xfrm>
        </p:spPr>
        <p:txBody>
          <a:bodyPr/>
          <a:lstStyle/>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There is no software without bugs. Every day testers all over the world encounter new and new software defects and issues.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But some of them have become sort of common as they appear more frequently than others.</a:t>
            </a:r>
          </a:p>
          <a:p>
            <a:pPr fontAlgn="t"/>
            <a:r>
              <a:rPr lang="en-US" sz="2800" b="1" dirty="0">
                <a:latin typeface="Times New Roman" panose="02020603050405020304" pitchFamily="18" charset="0"/>
                <a:cs typeface="Times New Roman" panose="02020603050405020304" pitchFamily="18" charset="0"/>
              </a:rPr>
              <a:t>1. Incorrect calculations</a:t>
            </a:r>
          </a:p>
          <a:p>
            <a:pPr marL="457200" indent="-457200" fontAlgn="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This type of problem can be caused by a lot of reasons, e.g., wrong algorithm, data type mismatch or just coding errors. </a:t>
            </a:r>
          </a:p>
          <a:p>
            <a:pPr marL="457200" indent="-457200" fontAlgn="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Sometimes, a cost of these bugs can be very high. </a:t>
            </a:r>
          </a:p>
          <a:p>
            <a:pPr marL="457200" indent="-457200" fontAlgn="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History knows a lot of examples when a wrong number provoked accidents or huge financial losses.</a:t>
            </a:r>
          </a:p>
          <a:p>
            <a:pPr marL="457200" indent="-457200">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7952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600201"/>
            <a:ext cx="8083550" cy="5201424"/>
          </a:xfrm>
        </p:spPr>
        <p:txBody>
          <a:bodyPr/>
          <a:lstStyle/>
          <a:p>
            <a:r>
              <a:rPr lang="en-US" sz="2600" b="1" dirty="0">
                <a:latin typeface="Times New Roman" panose="02020603050405020304" pitchFamily="18" charset="0"/>
                <a:cs typeface="Times New Roman" panose="02020603050405020304" pitchFamily="18" charset="0"/>
              </a:rPr>
              <a:t>2. Functional errors</a:t>
            </a:r>
          </a:p>
          <a:p>
            <a:pPr marL="457200"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All the functionality of any program should operate correctly. It means that an expected result of operations should coincide with an actual one. </a:t>
            </a:r>
          </a:p>
          <a:p>
            <a:pPr marL="457200"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But often they don’t. </a:t>
            </a:r>
          </a:p>
          <a:p>
            <a:pPr marL="457200"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As far as there are programs, which have quite a big range of functions, there is a great probability of bug omission.</a:t>
            </a:r>
          </a:p>
          <a:p>
            <a:pPr fontAlgn="t"/>
            <a:r>
              <a:rPr lang="en-US" sz="2600" b="1" dirty="0">
                <a:latin typeface="Times New Roman" panose="02020603050405020304" pitchFamily="18" charset="0"/>
                <a:cs typeface="Times New Roman" panose="02020603050405020304" pitchFamily="18" charset="0"/>
              </a:rPr>
              <a:t>3. Error handling errors</a:t>
            </a:r>
          </a:p>
          <a:p>
            <a:pPr marL="457200" indent="-457200" fontAlgn="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All the software problems occurred during an interaction with the user should be handled successfully. </a:t>
            </a:r>
          </a:p>
          <a:p>
            <a:pPr marL="457200" indent="-457200" fontAlgn="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Besides, a user should be clearly informed about the cause of the problem and possible ways out. </a:t>
            </a:r>
          </a:p>
        </p:txBody>
      </p:sp>
    </p:spTree>
    <p:extLst>
      <p:ext uri="{BB962C8B-B14F-4D97-AF65-F5344CB8AC3E}">
        <p14:creationId xmlns:p14="http://schemas.microsoft.com/office/powerpoint/2010/main" val="3202081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500791"/>
            <a:ext cx="8083550" cy="5357210"/>
          </a:xfrm>
        </p:spPr>
        <p:txBody>
          <a:bodyPr/>
          <a:lstStyle/>
          <a:p>
            <a:pPr marL="457200" indent="-457200" fontAlgn="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If a user types something incorrectly, he / she should receive a quite informative message not to do the same mistake again</a:t>
            </a:r>
          </a:p>
          <a:p>
            <a:pPr fontAlgn="t"/>
            <a:r>
              <a:rPr lang="en-US" sz="2400" b="1" dirty="0">
                <a:latin typeface="Times New Roman" panose="02020603050405020304" pitchFamily="18" charset="0"/>
                <a:cs typeface="Times New Roman" panose="02020603050405020304" pitchFamily="18" charset="0"/>
              </a:rPr>
              <a:t>4. Communication errors</a:t>
            </a:r>
          </a:p>
          <a:p>
            <a:pPr marL="457200" indent="-457200" fontAlgn="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Software should be easy to use and provide all necessary instructions and recommendations for users to interact with a program. </a:t>
            </a:r>
          </a:p>
          <a:p>
            <a:pPr marL="457200" indent="-457200" fontAlgn="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Sometimes it happens that a new feature is implemented, but you cannot find it even using documentation.</a:t>
            </a:r>
          </a:p>
          <a:p>
            <a:pPr fontAlgn="t"/>
            <a:r>
              <a:rPr lang="en-US" sz="2400" b="1" dirty="0">
                <a:latin typeface="Times New Roman" panose="02020603050405020304" pitchFamily="18" charset="0"/>
                <a:cs typeface="Times New Roman" panose="02020603050405020304" pitchFamily="18" charset="0"/>
              </a:rPr>
              <a:t>5. Syntactic errors</a:t>
            </a:r>
          </a:p>
          <a:p>
            <a:pPr marL="457200" indent="-457200" fontAlgn="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We all are humans and may make grammar mistakes. Especially, it happens when the product is translated into different languages. </a:t>
            </a:r>
          </a:p>
          <a:p>
            <a:pPr marL="457200" indent="-457200" fontAlgn="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While testing GUI of the product, it is important to switch languages and check the correspondence of the elements with the documentation.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348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30225" y="1794001"/>
            <a:ext cx="8083550" cy="5386090"/>
          </a:xfrm>
        </p:spPr>
        <p:txBody>
          <a:bodyPr/>
          <a:lstStyle/>
          <a:p>
            <a:pPr fontAlgn="t"/>
            <a:r>
              <a:rPr lang="en-US" sz="2500" b="1" dirty="0">
                <a:latin typeface="Times New Roman" panose="02020603050405020304" pitchFamily="18" charset="0"/>
                <a:cs typeface="Times New Roman" panose="02020603050405020304" pitchFamily="18" charset="0"/>
              </a:rPr>
              <a:t>6. Missing command errors</a:t>
            </a:r>
          </a:p>
          <a:p>
            <a:pPr marL="457200" indent="-457200" fontAlgn="t">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Sometimes it happens, that you cannot close a pop-up window without performing some actions, even if you don’t want to. </a:t>
            </a:r>
          </a:p>
          <a:p>
            <a:pPr marL="457200" indent="-457200" fontAlgn="t">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This is missing command errors. </a:t>
            </a:r>
          </a:p>
          <a:p>
            <a:pPr marL="457200" indent="-457200" fontAlgn="t">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That can be not only the absence of button but also the absence of a logical option</a:t>
            </a:r>
          </a:p>
          <a:p>
            <a:pPr fontAlgn="t"/>
            <a:r>
              <a:rPr lang="en-US" sz="2500" b="1" dirty="0">
                <a:latin typeface="Times New Roman" panose="02020603050405020304" pitchFamily="18" charset="0"/>
                <a:cs typeface="Times New Roman" panose="02020603050405020304" pitchFamily="18" charset="0"/>
              </a:rPr>
              <a:t>7. Boundary related errors</a:t>
            </a:r>
          </a:p>
          <a:p>
            <a:pPr marL="457200" indent="-457200" fontAlgn="t">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In our life, everything has a limit. </a:t>
            </a:r>
          </a:p>
          <a:p>
            <a:pPr marL="457200" indent="-457200" fontAlgn="t">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The same we can say about software resources. </a:t>
            </a:r>
          </a:p>
          <a:p>
            <a:pPr marL="457200" indent="-457200" fontAlgn="t">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Maximum text size, maximum number of simultaneous users, memory limit allocated for one element – if all of this is not anticipated by developers it will definitely cause problems.</a:t>
            </a:r>
          </a:p>
        </p:txBody>
      </p:sp>
    </p:spTree>
    <p:extLst>
      <p:ext uri="{BB962C8B-B14F-4D97-AF65-F5344CB8AC3E}">
        <p14:creationId xmlns:p14="http://schemas.microsoft.com/office/powerpoint/2010/main" val="1243361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1307"/>
            <a:ext cx="8766175" cy="1487587"/>
          </a:xfrm>
          <a:prstGeom prst="rect">
            <a:avLst/>
          </a:prstGeom>
        </p:spPr>
        <p:txBody>
          <a:bodyPr vert="horz" wrap="square" lIns="0" tIns="10160" rIns="0" bIns="0" rtlCol="0">
            <a:spAutoFit/>
          </a:bodyPr>
          <a:lstStyle/>
          <a:p>
            <a:pPr marL="2890520" marR="5080" indent="-2145665" algn="l">
              <a:lnSpc>
                <a:spcPct val="100299"/>
              </a:lnSpc>
              <a:spcBef>
                <a:spcPts val="80"/>
              </a:spcBef>
            </a:pPr>
            <a:r>
              <a:rPr lang="en-US" b="1" spc="-5" dirty="0">
                <a:solidFill>
                  <a:srgbClr val="FF0000"/>
                </a:solidFill>
                <a:latin typeface="Times New Roman" panose="02020603050405020304" pitchFamily="18" charset="0"/>
                <a:cs typeface="Times New Roman" panose="02020603050405020304" pitchFamily="18" charset="0"/>
              </a:rPr>
              <a:t>What are the consequence's of bugs in a software? </a:t>
            </a:r>
            <a:endParaRPr b="1" spc="-5" dirty="0">
              <a:solidFill>
                <a:srgbClr val="FF0000"/>
              </a:solidFill>
              <a:latin typeface="Times New Roman" panose="02020603050405020304" pitchFamily="18" charset="0"/>
              <a:cs typeface="Times New Roman" panose="02020603050405020304" pitchFamily="18" charset="0"/>
            </a:endParaRPr>
          </a:p>
        </p:txBody>
      </p:sp>
      <p:sp>
        <p:nvSpPr>
          <p:cNvPr id="3" name="object 3"/>
          <p:cNvSpPr/>
          <p:nvPr/>
        </p:nvSpPr>
        <p:spPr>
          <a:xfrm>
            <a:off x="0" y="4476143"/>
            <a:ext cx="3178263" cy="238185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217860" y="1804385"/>
            <a:ext cx="1870488" cy="1938043"/>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6999344" y="2308911"/>
            <a:ext cx="2144654" cy="1700838"/>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3720446" y="2949653"/>
            <a:ext cx="3084542" cy="2025000"/>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5890031" y="4974653"/>
            <a:ext cx="2601118" cy="1746355"/>
          </a:xfrm>
          <a:prstGeom prst="rect">
            <a:avLst/>
          </a:prstGeom>
          <a:blipFill>
            <a:blip r:embed="rId6" cstate="print"/>
            <a:stretch>
              <a:fillRect/>
            </a:stretch>
          </a:blipFill>
        </p:spPr>
        <p:txBody>
          <a:bodyPr wrap="square" lIns="0" tIns="0" rIns="0" bIns="0" rtlCol="0"/>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0A3026-D355-4A44-B6FC-F177E6A2BC3D}"/>
              </a:ext>
            </a:extLst>
          </p:cNvPr>
          <p:cNvSpPr>
            <a:spLocks noGrp="1"/>
          </p:cNvSpPr>
          <p:nvPr>
            <p:ph type="title"/>
          </p:nvPr>
        </p:nvSpPr>
        <p:spPr>
          <a:xfrm>
            <a:off x="530225" y="762000"/>
            <a:ext cx="8083550" cy="461665"/>
          </a:xfrm>
        </p:spPr>
        <p:txBody>
          <a:bodyPr/>
          <a:lstStyle/>
          <a:p>
            <a:pPr algn="ctr"/>
            <a:r>
              <a:rPr lang="en-US" sz="3000" b="1" dirty="0">
                <a:solidFill>
                  <a:srgbClr val="FF0000"/>
                </a:solidFill>
                <a:latin typeface="Times New Roman" panose="02020603050405020304" pitchFamily="18" charset="0"/>
                <a:cs typeface="Times New Roman" panose="02020603050405020304" pitchFamily="18" charset="0"/>
              </a:rPr>
              <a:t>How are bugs fixed?</a:t>
            </a:r>
          </a:p>
        </p:txBody>
      </p:sp>
      <p:sp>
        <p:nvSpPr>
          <p:cNvPr id="4" name="Text Placeholder 3">
            <a:extLst>
              <a:ext uri="{FF2B5EF4-FFF2-40B4-BE49-F238E27FC236}">
                <a16:creationId xmlns:a16="http://schemas.microsoft.com/office/drawing/2014/main" id="{8CB02BF9-3D5E-4F57-923F-19222D3D2D6B}"/>
              </a:ext>
            </a:extLst>
          </p:cNvPr>
          <p:cNvSpPr>
            <a:spLocks noGrp="1"/>
          </p:cNvSpPr>
          <p:nvPr>
            <p:ph type="body" idx="1"/>
          </p:nvPr>
        </p:nvSpPr>
        <p:spPr>
          <a:xfrm>
            <a:off x="530225" y="1447799"/>
            <a:ext cx="8083550" cy="5001369"/>
          </a:xfrm>
        </p:spPr>
        <p:txBody>
          <a:bodyPr/>
          <a:lstStyle/>
          <a:p>
            <a:r>
              <a:rPr lang="en-US" sz="2500" dirty="0">
                <a:latin typeface="Times New Roman" panose="02020603050405020304" pitchFamily="18" charset="0"/>
                <a:cs typeface="Times New Roman" panose="02020603050405020304" pitchFamily="18" charset="0"/>
              </a:rPr>
              <a:t>1. Bug identification</a:t>
            </a:r>
          </a:p>
          <a:p>
            <a:r>
              <a:rPr lang="en-US" sz="2500" dirty="0">
                <a:latin typeface="Times New Roman" panose="02020603050405020304" pitchFamily="18" charset="0"/>
                <a:cs typeface="Times New Roman" panose="02020603050405020304" pitchFamily="18" charset="0"/>
              </a:rPr>
              <a:t>2. Bug reporting: Once a bug is identified, it needs to be reported effectively. </a:t>
            </a:r>
          </a:p>
          <a:p>
            <a:r>
              <a:rPr lang="en-US" sz="2500" dirty="0">
                <a:latin typeface="Times New Roman" panose="02020603050405020304" pitchFamily="18" charset="0"/>
                <a:cs typeface="Times New Roman" panose="02020603050405020304" pitchFamily="18" charset="0"/>
              </a:rPr>
              <a:t>3. Bug prioritization: Not all bugs have the same impact on the software or its users</a:t>
            </a:r>
          </a:p>
          <a:p>
            <a:r>
              <a:rPr lang="en-US" sz="2500" dirty="0">
                <a:latin typeface="Times New Roman" panose="02020603050405020304" pitchFamily="18" charset="0"/>
                <a:cs typeface="Times New Roman" panose="02020603050405020304" pitchFamily="18" charset="0"/>
              </a:rPr>
              <a:t>4. Bug assignment: Bugs are typically assigned to developers or development teams for resolution. The developer or team responsible for fixing the bug will analyze it to determine the root cause.</a:t>
            </a:r>
          </a:p>
          <a:p>
            <a:r>
              <a:rPr lang="en-US" sz="2500" dirty="0">
                <a:latin typeface="Times New Roman" panose="02020603050405020304" pitchFamily="18" charset="0"/>
                <a:cs typeface="Times New Roman" panose="02020603050405020304" pitchFamily="18" charset="0"/>
              </a:rPr>
              <a:t>5. Bug Analysis and Fixing: Developers analyze the bug, identify the underlying cause, and then proceed to fix it. The fixing process may involve modifying code, configuration settings, or data.</a:t>
            </a:r>
          </a:p>
        </p:txBody>
      </p:sp>
    </p:spTree>
    <p:extLst>
      <p:ext uri="{BB962C8B-B14F-4D97-AF65-F5344CB8AC3E}">
        <p14:creationId xmlns:p14="http://schemas.microsoft.com/office/powerpoint/2010/main" val="124709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DD8BA-5490-41A4-9BEB-8FEC4363727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1F563DF-299A-46E3-A4CE-B98CA3158D0C}"/>
              </a:ext>
            </a:extLst>
          </p:cNvPr>
          <p:cNvSpPr>
            <a:spLocks noGrp="1"/>
          </p:cNvSpPr>
          <p:nvPr>
            <p:ph type="body" idx="1"/>
          </p:nvPr>
        </p:nvSpPr>
        <p:spPr>
          <a:xfrm>
            <a:off x="530225" y="1794001"/>
            <a:ext cx="8083550" cy="5386090"/>
          </a:xfrm>
        </p:spPr>
        <p:txBody>
          <a:bodyPr/>
          <a:lstStyle/>
          <a:p>
            <a:pPr algn="just"/>
            <a:r>
              <a:rPr lang="en-US" sz="2500" dirty="0">
                <a:latin typeface="Times New Roman" panose="02020603050405020304" pitchFamily="18" charset="0"/>
                <a:cs typeface="Times New Roman" panose="02020603050405020304" pitchFamily="18" charset="0"/>
              </a:rPr>
              <a:t>6. Regression Testing</a:t>
            </a:r>
          </a:p>
          <a:p>
            <a:pPr marL="342900" indent="-342900" algn="just">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After a bug is fixed, regression testing is performed. This type of testing ensures that the bug fix didn't introduce new issues or affect other parts of the software</a:t>
            </a:r>
          </a:p>
          <a:p>
            <a:pPr algn="just"/>
            <a:r>
              <a:rPr lang="en-US" sz="2500" dirty="0">
                <a:latin typeface="Times New Roman" panose="02020603050405020304" pitchFamily="18" charset="0"/>
                <a:cs typeface="Times New Roman" panose="02020603050405020304" pitchFamily="18" charset="0"/>
              </a:rPr>
              <a:t>7. Verification and Validation</a:t>
            </a:r>
          </a:p>
          <a:p>
            <a:pPr marL="342900" indent="-342900" algn="just">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Verification is the process of ensuring that the bug fix successfully resolves the reported issue.</a:t>
            </a:r>
          </a:p>
          <a:p>
            <a:pPr algn="just"/>
            <a:r>
              <a:rPr lang="en-US" sz="2500" dirty="0">
                <a:latin typeface="Times New Roman" panose="02020603050405020304" pitchFamily="18" charset="0"/>
                <a:cs typeface="Times New Roman" panose="02020603050405020304" pitchFamily="18" charset="0"/>
              </a:rPr>
              <a:t>8. Release and Deployment</a:t>
            </a:r>
          </a:p>
          <a:p>
            <a:pPr marL="342900" indent="-342900" algn="just">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Once a bug is fixed and verified, the software can be released or deployed. The bug fix is typically included in the next software release or update.</a:t>
            </a:r>
          </a:p>
          <a:p>
            <a:pPr algn="just"/>
            <a:r>
              <a:rPr lang="en-US" sz="2500" dirty="0">
                <a:latin typeface="Times New Roman" panose="02020603050405020304" pitchFamily="18" charset="0"/>
                <a:cs typeface="Times New Roman" panose="02020603050405020304" pitchFamily="18" charset="0"/>
              </a:rPr>
              <a:t>9. Documentation</a:t>
            </a:r>
          </a:p>
          <a:p>
            <a:pPr marL="342900" indent="-342900" algn="just">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Keeping records of fixed bugs, their solutions, and testing outcomes is essential for future reference</a:t>
            </a:r>
          </a:p>
        </p:txBody>
      </p:sp>
    </p:spTree>
    <p:extLst>
      <p:ext uri="{BB962C8B-B14F-4D97-AF65-F5344CB8AC3E}">
        <p14:creationId xmlns:p14="http://schemas.microsoft.com/office/powerpoint/2010/main" val="769211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D2190-F951-4576-A84B-44904D69825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8B11BD1-71AF-45C9-8346-BF94B2CBC230}"/>
              </a:ext>
            </a:extLst>
          </p:cNvPr>
          <p:cNvSpPr>
            <a:spLocks noGrp="1"/>
          </p:cNvSpPr>
          <p:nvPr>
            <p:ph type="body" idx="1"/>
          </p:nvPr>
        </p:nvSpPr>
        <p:spPr>
          <a:xfrm>
            <a:off x="530225" y="1794001"/>
            <a:ext cx="8083550" cy="2308324"/>
          </a:xfrm>
        </p:spPr>
        <p:txBody>
          <a:bodyPr/>
          <a:lstStyle/>
          <a:p>
            <a:r>
              <a:rPr lang="en-US" sz="2500" dirty="0">
                <a:latin typeface="Times New Roman" panose="02020603050405020304" pitchFamily="18" charset="0"/>
                <a:cs typeface="Times New Roman" panose="02020603050405020304" pitchFamily="18" charset="0"/>
              </a:rPr>
              <a:t>10. Bug Prevention:</a:t>
            </a:r>
          </a:p>
          <a:p>
            <a:pPr marL="342900" indent="-342900">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To reduce the occurrence of bugs, development teams can implement best coding practices, conduct code reviews, and use automated testing tools. </a:t>
            </a:r>
          </a:p>
          <a:p>
            <a:pPr marL="342900" indent="-342900">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Preventing bugs is more cost-effective than fixing them later in the development cycle.</a:t>
            </a:r>
          </a:p>
        </p:txBody>
      </p:sp>
    </p:spTree>
    <p:extLst>
      <p:ext uri="{BB962C8B-B14F-4D97-AF65-F5344CB8AC3E}">
        <p14:creationId xmlns:p14="http://schemas.microsoft.com/office/powerpoint/2010/main" val="3452326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TotalTime>
  <Words>1870</Words>
  <Application>Microsoft Office PowerPoint</Application>
  <PresentationFormat>On-screen Show (4:3)</PresentationFormat>
  <Paragraphs>109</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Calibri</vt:lpstr>
      <vt:lpstr>Georgia</vt:lpstr>
      <vt:lpstr>Times New Roman</vt:lpstr>
      <vt:lpstr>Wingdings</vt:lpstr>
      <vt:lpstr>Office Theme</vt:lpstr>
      <vt:lpstr>PowerPoint Presentation</vt:lpstr>
      <vt:lpstr>What is software Bugs?</vt:lpstr>
      <vt:lpstr>PowerPoint Presentation</vt:lpstr>
      <vt:lpstr>Some of the worst bugs in history include:</vt:lpstr>
      <vt:lpstr>Importance of Understanding Software Bugs</vt:lpstr>
      <vt:lpstr>PowerPoint Presentation</vt:lpstr>
      <vt:lpstr>Reasons why bugs get into  software</vt:lpstr>
      <vt:lpstr>PowerPoint Presentation</vt:lpstr>
      <vt:lpstr>PowerPoint Presentation</vt:lpstr>
      <vt:lpstr>PowerPoint Presentation</vt:lpstr>
      <vt:lpstr>Defect Life Cycle In Detail</vt:lpstr>
      <vt:lpstr>Defect Life Cycle In Detail</vt:lpstr>
      <vt:lpstr>PowerPoint Presentation</vt:lpstr>
      <vt:lpstr>PowerPoint Presentation</vt:lpstr>
      <vt:lpstr>PowerPoint Presentation</vt:lpstr>
      <vt:lpstr>PowerPoint Presentation</vt:lpstr>
      <vt:lpstr>Types of software bugs</vt:lpstr>
      <vt:lpstr>PowerPoint Presentation</vt:lpstr>
      <vt:lpstr>PowerPoint Presentation</vt:lpstr>
      <vt:lpstr>PowerPoint Presentation</vt:lpstr>
      <vt:lpstr>PowerPoint Presentation</vt:lpstr>
      <vt:lpstr>What are the consequence's of bugs in a software? </vt:lpstr>
      <vt:lpstr>How are bugs fixed?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user</cp:lastModifiedBy>
  <cp:revision>13</cp:revision>
  <dcterms:created xsi:type="dcterms:W3CDTF">2019-11-05T14:32:27Z</dcterms:created>
  <dcterms:modified xsi:type="dcterms:W3CDTF">2023-11-07T12:13:47Z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