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3" r:id="rId3"/>
    <p:sldId id="264" r:id="rId4"/>
    <p:sldId id="265" r:id="rId5"/>
    <p:sldId id="266" r:id="rId6"/>
    <p:sldId id="267" r:id="rId7"/>
    <p:sldId id="268" r:id="rId8"/>
    <p:sldId id="257" r:id="rId9"/>
    <p:sldId id="258" r:id="rId10"/>
    <p:sldId id="259" r:id="rId11"/>
    <p:sldId id="260" r:id="rId12"/>
    <p:sldId id="261" r:id="rId13"/>
    <p:sldId id="271" r:id="rId14"/>
    <p:sldId id="272" r:id="rId15"/>
    <p:sldId id="280" r:id="rId16"/>
    <p:sldId id="269" r:id="rId17"/>
    <p:sldId id="262" r:id="rId18"/>
    <p:sldId id="273" r:id="rId19"/>
    <p:sldId id="274" r:id="rId20"/>
    <p:sldId id="275" r:id="rId21"/>
    <p:sldId id="276" r:id="rId22"/>
    <p:sldId id="277" r:id="rId23"/>
    <p:sldId id="278" r:id="rId24"/>
    <p:sldId id="279" r:id="rId25"/>
    <p:sldId id="281" r:id="rId26"/>
    <p:sldId id="282"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148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1A9F4D-C49E-4E15-A0AE-A365243E8963}" type="datetimeFigureOut">
              <a:rPr lang="en-US"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BF8A05-E5F5-4F5D-9F38-ACD81E6756F1}" type="slidenum">
              <a:rPr lang="en-US" smtClean="0"/>
              <a:t>‹#›</a:t>
            </a:fld>
            <a:endParaRPr lang="en-US"/>
          </a:p>
        </p:txBody>
      </p:sp>
    </p:spTree>
    <p:extLst>
      <p:ext uri="{BB962C8B-B14F-4D97-AF65-F5344CB8AC3E}">
        <p14:creationId xmlns:p14="http://schemas.microsoft.com/office/powerpoint/2010/main" val="4106928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1A9F4D-C49E-4E15-A0AE-A365243E8963}" type="datetimeFigureOut">
              <a:rPr lang="en-US"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BF8A05-E5F5-4F5D-9F38-ACD81E6756F1}" type="slidenum">
              <a:rPr lang="en-US" smtClean="0"/>
              <a:t>‹#›</a:t>
            </a:fld>
            <a:endParaRPr lang="en-US"/>
          </a:p>
        </p:txBody>
      </p:sp>
    </p:spTree>
    <p:extLst>
      <p:ext uri="{BB962C8B-B14F-4D97-AF65-F5344CB8AC3E}">
        <p14:creationId xmlns:p14="http://schemas.microsoft.com/office/powerpoint/2010/main" val="3416424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C1A9F4D-C49E-4E15-A0AE-A365243E8963}" type="datetimeFigureOut">
              <a:rPr lang="en-US"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BF8A05-E5F5-4F5D-9F38-ACD81E6756F1}" type="slidenum">
              <a:rPr lang="en-US" smtClean="0"/>
              <a:t>‹#›</a:t>
            </a:fld>
            <a:endParaRPr lang="en-US"/>
          </a:p>
        </p:txBody>
      </p:sp>
    </p:spTree>
    <p:extLst>
      <p:ext uri="{BB962C8B-B14F-4D97-AF65-F5344CB8AC3E}">
        <p14:creationId xmlns:p14="http://schemas.microsoft.com/office/powerpoint/2010/main" val="3613868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1A9F4D-C49E-4E15-A0AE-A365243E8963}" type="datetimeFigureOut">
              <a:rPr lang="en-US" smtClean="0"/>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BF8A05-E5F5-4F5D-9F38-ACD81E6756F1}" type="slidenum">
              <a:rPr lang="en-US" smtClean="0"/>
              <a:t>‹#›</a:t>
            </a:fld>
            <a:endParaRPr lang="en-US"/>
          </a:p>
        </p:txBody>
      </p:sp>
    </p:spTree>
    <p:extLst>
      <p:ext uri="{BB962C8B-B14F-4D97-AF65-F5344CB8AC3E}">
        <p14:creationId xmlns:p14="http://schemas.microsoft.com/office/powerpoint/2010/main" val="2853585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1A9F4D-C49E-4E15-A0AE-A365243E8963}" type="datetimeFigureOut">
              <a:rPr lang="en-US" smtClean="0"/>
              <a:t>10/24/2023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9BF8A05-E5F5-4F5D-9F38-ACD81E6756F1}" type="slidenum">
              <a:rPr lang="en-US" smtClean="0"/>
              <a:t>‹#›</a:t>
            </a:fld>
            <a:endParaRPr lang="en-US"/>
          </a:p>
        </p:txBody>
      </p:sp>
    </p:spTree>
    <p:extLst>
      <p:ext uri="{BB962C8B-B14F-4D97-AF65-F5344CB8AC3E}">
        <p14:creationId xmlns:p14="http://schemas.microsoft.com/office/powerpoint/2010/main" val="1061620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1A9F4D-C49E-4E15-A0AE-A365243E8963}" type="datetimeFigureOut">
              <a:rPr lang="en-US" smtClean="0"/>
              <a:t>10/24/2023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9BF8A05-E5F5-4F5D-9F38-ACD81E6756F1}" type="slidenum">
              <a:rPr lang="en-US" smtClean="0"/>
              <a:t>‹#›</a:t>
            </a:fld>
            <a:endParaRPr lang="en-US"/>
          </a:p>
        </p:txBody>
      </p:sp>
    </p:spTree>
    <p:extLst>
      <p:ext uri="{BB962C8B-B14F-4D97-AF65-F5344CB8AC3E}">
        <p14:creationId xmlns:p14="http://schemas.microsoft.com/office/powerpoint/2010/main" val="3526851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1A9F4D-C49E-4E15-A0AE-A365243E8963}" type="datetimeFigureOut">
              <a:rPr lang="en-US" smtClean="0"/>
              <a:t>10/24/2023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9BF8A05-E5F5-4F5D-9F38-ACD81E6756F1}" type="slidenum">
              <a:rPr lang="en-US" smtClean="0"/>
              <a:t>‹#›</a:t>
            </a:fld>
            <a:endParaRPr lang="en-US"/>
          </a:p>
        </p:txBody>
      </p:sp>
    </p:spTree>
    <p:extLst>
      <p:ext uri="{BB962C8B-B14F-4D97-AF65-F5344CB8AC3E}">
        <p14:creationId xmlns:p14="http://schemas.microsoft.com/office/powerpoint/2010/main" val="1307525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1A9F4D-C49E-4E15-A0AE-A365243E8963}" type="datetimeFigureOut">
              <a:rPr lang="en-US" smtClean="0"/>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BF8A05-E5F5-4F5D-9F38-ACD81E6756F1}" type="slidenum">
              <a:rPr lang="en-US" smtClean="0"/>
              <a:t>‹#›</a:t>
            </a:fld>
            <a:endParaRPr lang="en-US"/>
          </a:p>
        </p:txBody>
      </p:sp>
    </p:spTree>
    <p:extLst>
      <p:ext uri="{BB962C8B-B14F-4D97-AF65-F5344CB8AC3E}">
        <p14:creationId xmlns:p14="http://schemas.microsoft.com/office/powerpoint/2010/main" val="146433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1A9F4D-C49E-4E15-A0AE-A365243E8963}" type="datetimeFigureOut">
              <a:rPr lang="en-US" smtClean="0"/>
              <a:t>10/24/2023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9BF8A05-E5F5-4F5D-9F38-ACD81E6756F1}" type="slidenum">
              <a:rPr lang="en-US" smtClean="0"/>
              <a:t>‹#›</a:t>
            </a:fld>
            <a:endParaRPr lang="en-US"/>
          </a:p>
        </p:txBody>
      </p:sp>
    </p:spTree>
    <p:extLst>
      <p:ext uri="{BB962C8B-B14F-4D97-AF65-F5344CB8AC3E}">
        <p14:creationId xmlns:p14="http://schemas.microsoft.com/office/powerpoint/2010/main" val="356982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1A9F4D-C49E-4E15-A0AE-A365243E8963}" type="datetimeFigureOut">
              <a:rPr lang="en-US"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BF8A05-E5F5-4F5D-9F38-ACD81E6756F1}" type="slidenum">
              <a:rPr lang="en-US" smtClean="0"/>
              <a:t>‹#›</a:t>
            </a:fld>
            <a:endParaRPr lang="en-US"/>
          </a:p>
        </p:txBody>
      </p:sp>
    </p:spTree>
    <p:extLst>
      <p:ext uri="{BB962C8B-B14F-4D97-AF65-F5344CB8AC3E}">
        <p14:creationId xmlns:p14="http://schemas.microsoft.com/office/powerpoint/2010/main" val="7987208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1A9F4D-C49E-4E15-A0AE-A365243E8963}" type="datetimeFigureOut">
              <a:rPr lang="en-US" smtClean="0"/>
              <a:t>10/24/2023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BF8A05-E5F5-4F5D-9F38-ACD81E6756F1}" type="slidenum">
              <a:rPr lang="en-US" smtClean="0"/>
              <a:t>‹#›</a:t>
            </a:fld>
            <a:endParaRPr lang="en-US"/>
          </a:p>
        </p:txBody>
      </p:sp>
    </p:spTree>
    <p:extLst>
      <p:ext uri="{BB962C8B-B14F-4D97-AF65-F5344CB8AC3E}">
        <p14:creationId xmlns:p14="http://schemas.microsoft.com/office/powerpoint/2010/main" val="1676230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1A9F4D-C49E-4E15-A0AE-A365243E8963}" type="datetimeFigureOut">
              <a:rPr lang="en-US" smtClean="0"/>
              <a:t>10/24/2023</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BF8A05-E5F5-4F5D-9F38-ACD81E6756F1}" type="slidenum">
              <a:rPr lang="en-US" smtClean="0"/>
              <a:t>‹#›</a:t>
            </a:fld>
            <a:endParaRPr lang="en-US"/>
          </a:p>
        </p:txBody>
      </p:sp>
    </p:spTree>
    <p:extLst>
      <p:ext uri="{BB962C8B-B14F-4D97-AF65-F5344CB8AC3E}">
        <p14:creationId xmlns:p14="http://schemas.microsoft.com/office/powerpoint/2010/main" val="16491394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CODE REVIEW</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88315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What is Code Coverage?</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Code Coverage testing is determining how much code is being tested.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Term used in software testing to describe how much program source code is covered by a testing plan</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 can be calculated using the formula:</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Code Coverage = (Number of lines of code exercised)/(Total Number of lines of code) * 100%</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01088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Developers look at the number of program subroutines and lines of code that are covered by a set of testing resources and techniques.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Using code coverage analysis, development teams can provide reassurance that their programs have been broadly tested for bugs and should be relatively error-free.</a:t>
            </a:r>
          </a:p>
        </p:txBody>
      </p:sp>
    </p:spTree>
    <p:extLst>
      <p:ext uri="{BB962C8B-B14F-4D97-AF65-F5344CB8AC3E}">
        <p14:creationId xmlns:p14="http://schemas.microsoft.com/office/powerpoint/2010/main" val="1168281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sz="3000" b="1" dirty="0">
                <a:solidFill>
                  <a:srgbClr val="FF0000"/>
                </a:solidFill>
                <a:latin typeface="Times New Roman" panose="02020603050405020304" pitchFamily="18" charset="0"/>
                <a:cs typeface="Times New Roman" panose="02020603050405020304" pitchFamily="18" charset="0"/>
              </a:rPr>
              <a:t>What is Code Freeze?</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Code Freeze means the code is frozen and there will not be any further modifications from the developers.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After the code freeze, the code should not be changed by the developers.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Only in case of critical defects, developers change the code after the approval of the change control board and make the changes required to fix that critical defect.</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Code freeze will happen only in the final stages of the software development.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Post Code freeze, the build is deployed to production environment.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2932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1" dirty="0">
                <a:solidFill>
                  <a:srgbClr val="FF0000"/>
                </a:solidFill>
                <a:latin typeface="Times New Roman" panose="02020603050405020304" pitchFamily="18" charset="0"/>
                <a:cs typeface="Times New Roman" panose="02020603050405020304" pitchFamily="18" charset="0"/>
              </a:rPr>
              <a:t>What is code Inspection?</a:t>
            </a:r>
          </a:p>
          <a:p>
            <a:r>
              <a:rPr lang="en-US" sz="2600" dirty="0">
                <a:latin typeface="Times New Roman" panose="02020603050405020304" pitchFamily="18" charset="0"/>
                <a:cs typeface="Times New Roman" panose="02020603050405020304" pitchFamily="18" charset="0"/>
              </a:rPr>
              <a:t>Code Inspection is the most formal type of review, which is a kind of static testing to avoid the defect multiplication at a later stage.</a:t>
            </a:r>
          </a:p>
          <a:p>
            <a:r>
              <a:rPr lang="en-US" sz="2600" dirty="0">
                <a:latin typeface="Times New Roman" panose="02020603050405020304" pitchFamily="18" charset="0"/>
                <a:cs typeface="Times New Roman" panose="02020603050405020304" pitchFamily="18" charset="0"/>
              </a:rPr>
              <a:t>The main purpose of code inspection is to find defects and it can also spot any process improvement if any.</a:t>
            </a:r>
          </a:p>
          <a:p>
            <a:r>
              <a:rPr lang="en-US" sz="2600" dirty="0">
                <a:latin typeface="Times New Roman" panose="02020603050405020304" pitchFamily="18" charset="0"/>
                <a:cs typeface="Times New Roman" panose="02020603050405020304" pitchFamily="18" charset="0"/>
              </a:rPr>
              <a:t>An inspection report lists the findings, which include metrics that can be used to aid improvements to the process as well as correcting defects in the document under review.</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7787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Preparation before the meeting is essential, which includes reading of any source documents to ensure consistency.</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Inspections are often led by a trained moderator, who is not the author of the code.</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inspection process is the most formal type of review based on rules and checklists and makes use of entry and exit criteria.</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 usually involves peer examination of the code and each one has a defined set of roles.</a:t>
            </a:r>
          </a:p>
        </p:txBody>
      </p:sp>
    </p:spTree>
    <p:extLst>
      <p:ext uri="{BB962C8B-B14F-4D97-AF65-F5344CB8AC3E}">
        <p14:creationId xmlns:p14="http://schemas.microsoft.com/office/powerpoint/2010/main" val="1928764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Where Code Inspection fits in ?</a:t>
            </a:r>
          </a:p>
          <a:p>
            <a:endParaRPr lang="en-US" dirty="0"/>
          </a:p>
        </p:txBody>
      </p:sp>
      <p:pic>
        <p:nvPicPr>
          <p:cNvPr id="4" name="Picture 3"/>
          <p:cNvPicPr>
            <a:picLocks noChangeAspect="1"/>
          </p:cNvPicPr>
          <p:nvPr/>
        </p:nvPicPr>
        <p:blipFill>
          <a:blip r:embed="rId2"/>
          <a:stretch>
            <a:fillRect/>
          </a:stretch>
        </p:blipFill>
        <p:spPr>
          <a:xfrm>
            <a:off x="1435780" y="2487839"/>
            <a:ext cx="5953125" cy="3333750"/>
          </a:xfrm>
          <a:prstGeom prst="rect">
            <a:avLst/>
          </a:prstGeom>
        </p:spPr>
      </p:pic>
    </p:spTree>
    <p:extLst>
      <p:ext uri="{BB962C8B-B14F-4D97-AF65-F5344CB8AC3E}">
        <p14:creationId xmlns:p14="http://schemas.microsoft.com/office/powerpoint/2010/main" val="4067436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Times New Roman" panose="02020603050405020304" pitchFamily="18" charset="0"/>
                <a:cs typeface="Times New Roman" panose="02020603050405020304" pitchFamily="18" charset="0"/>
              </a:rPr>
              <a:t>What is code review?</a:t>
            </a:r>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Code Review is a systematic examination, which can find and remove the vulnerabilities in the code such as memory leaks and buffer overflows.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Technical reviews are well documented and use a well-defined defect detection process that includes peers and technical experts.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It is ideally led by a trained moderator, who is NOT the author.</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8496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This kind of review is usually performed as a peer review without management participation.</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Reviewers prepare for the review meeting and prepare a review report with a list of findings.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Technical reviews may be quite informal or very formal and can have a number of purposes but not limited to discussion, decision making, evaluation of alternatives, finding defects and solving technical problems.</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8496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Where Code Review fits in ?</a:t>
            </a:r>
          </a:p>
          <a:p>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402443" y="2637064"/>
            <a:ext cx="6019800" cy="3238500"/>
          </a:xfrm>
          <a:prstGeom prst="rect">
            <a:avLst/>
          </a:prstGeom>
        </p:spPr>
      </p:pic>
    </p:spTree>
    <p:extLst>
      <p:ext uri="{BB962C8B-B14F-4D97-AF65-F5344CB8AC3E}">
        <p14:creationId xmlns:p14="http://schemas.microsoft.com/office/powerpoint/2010/main" val="3322933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What is Code Walkthrough?</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Code Walkthrough is a form of peer review in which a programmer leads the review process and the other team members ask questions and spot possible errors against development standards and other issues.</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The meeting is usually led by the author of the document under review and attended by other members of the team.</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Review sessions may be formal or informal.</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759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latin typeface="Times New Roman" panose="02020603050405020304" pitchFamily="18" charset="0"/>
                <a:cs typeface="Times New Roman" panose="02020603050405020304" pitchFamily="18" charset="0"/>
              </a:rPr>
              <a:t>Before the walkthrough meeting, the preparation by reviewers and then a review report with a list of findings.</a:t>
            </a:r>
          </a:p>
          <a:p>
            <a:r>
              <a:rPr lang="en-US" dirty="0">
                <a:latin typeface="Times New Roman" panose="02020603050405020304" pitchFamily="18" charset="0"/>
                <a:cs typeface="Times New Roman" panose="02020603050405020304" pitchFamily="18" charset="0"/>
              </a:rPr>
              <a:t>The scribe, who is not the author, marks the minutes of meeting and note down all the defects/issues so that it can be tracked to closure.</a:t>
            </a:r>
          </a:p>
          <a:p>
            <a:r>
              <a:rPr lang="en-US" dirty="0">
                <a:latin typeface="Times New Roman" panose="02020603050405020304" pitchFamily="18" charset="0"/>
                <a:cs typeface="Times New Roman" panose="02020603050405020304" pitchFamily="18" charset="0"/>
              </a:rPr>
              <a:t>The main purpose of walkthrough is to enable learning about the content of the document under review to help team members gain an understanding of the content of the document and also to find defects.</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3116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What is Security Code Review?</a:t>
            </a:r>
          </a:p>
          <a:p>
            <a:r>
              <a:rPr lang="en-US" dirty="0">
                <a:latin typeface="Times New Roman" panose="02020603050405020304" pitchFamily="18" charset="0"/>
                <a:cs typeface="Times New Roman" panose="02020603050405020304" pitchFamily="18" charset="0"/>
              </a:rPr>
              <a:t>Is the process of auditing the source code for an application to verify</a:t>
            </a:r>
          </a:p>
          <a:p>
            <a:pPr lvl="1"/>
            <a:r>
              <a:rPr lang="en-US" dirty="0">
                <a:latin typeface="Times New Roman" panose="02020603050405020304" pitchFamily="18" charset="0"/>
                <a:cs typeface="Times New Roman" panose="02020603050405020304" pitchFamily="18" charset="0"/>
              </a:rPr>
              <a:t>that the proper security controls are present, </a:t>
            </a:r>
          </a:p>
          <a:p>
            <a:pPr lvl="1"/>
            <a:r>
              <a:rPr lang="en-US" dirty="0">
                <a:latin typeface="Times New Roman" panose="02020603050405020304" pitchFamily="18" charset="0"/>
                <a:cs typeface="Times New Roman" panose="02020603050405020304" pitchFamily="18" charset="0"/>
              </a:rPr>
              <a:t>that they work as intended, and </a:t>
            </a:r>
          </a:p>
          <a:p>
            <a:pPr lvl="1"/>
            <a:r>
              <a:rPr lang="en-US" dirty="0">
                <a:latin typeface="Times New Roman" panose="02020603050405020304" pitchFamily="18" charset="0"/>
                <a:cs typeface="Times New Roman" panose="02020603050405020304" pitchFamily="18" charset="0"/>
              </a:rPr>
              <a:t>that they have been used in all the right places. </a:t>
            </a:r>
          </a:p>
          <a:p>
            <a:r>
              <a:rPr lang="en-US" dirty="0">
                <a:latin typeface="Times New Roman" panose="02020603050405020304" pitchFamily="18" charset="0"/>
                <a:cs typeface="Times New Roman" panose="02020603050405020304" pitchFamily="18" charset="0"/>
              </a:rPr>
              <a:t>Code review is a way of ensuring that the application has been developed so as to be “self-defending” in its given environment.</a:t>
            </a:r>
          </a:p>
        </p:txBody>
      </p:sp>
    </p:spTree>
    <p:extLst>
      <p:ext uri="{BB962C8B-B14F-4D97-AF65-F5344CB8AC3E}">
        <p14:creationId xmlns:p14="http://schemas.microsoft.com/office/powerpoint/2010/main" val="12369009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All security code reviews are a combination of human effort and technology support.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At one end of the spectrum is an inexperienced person with a text editor.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At the other end of the scale is a security expert with an advanced static analysis tool. </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Unfortunately, it takes a fairly serious level of expertise to use the current application security tools effectively.</a:t>
            </a:r>
          </a:p>
        </p:txBody>
      </p:sp>
    </p:spTree>
    <p:extLst>
      <p:ext uri="{BB962C8B-B14F-4D97-AF65-F5344CB8AC3E}">
        <p14:creationId xmlns:p14="http://schemas.microsoft.com/office/powerpoint/2010/main" val="1634012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28650" y="986971"/>
            <a:ext cx="7886700" cy="703718"/>
          </a:xfrm>
        </p:spPr>
        <p:txBody>
          <a:bodyPr>
            <a:normAutofit/>
          </a:bodyPr>
          <a:lstStyle/>
          <a:p>
            <a:pPr eaLnBrk="1" hangingPunct="1"/>
            <a:r>
              <a:rPr lang="en-US" altLang="en-US" sz="3600" dirty="0">
                <a:solidFill>
                  <a:srgbClr val="FF0000"/>
                </a:solidFill>
                <a:latin typeface="Times New Roman" panose="02020603050405020304" pitchFamily="18" charset="0"/>
                <a:cs typeface="Times New Roman" panose="02020603050405020304" pitchFamily="18" charset="0"/>
              </a:rPr>
              <a:t>Objectives of Code Review</a:t>
            </a:r>
          </a:p>
        </p:txBody>
      </p:sp>
      <p:sp>
        <p:nvSpPr>
          <p:cNvPr id="6147" name="Rectangle 3"/>
          <p:cNvSpPr>
            <a:spLocks noGrp="1" noChangeArrowheads="1"/>
          </p:cNvSpPr>
          <p:nvPr>
            <p:ph type="body" idx="1"/>
          </p:nvPr>
        </p:nvSpPr>
        <p:spPr/>
        <p:txBody>
          <a:bodyPr/>
          <a:lstStyle/>
          <a:p>
            <a:pPr marL="0" indent="0" eaLnBrk="1" hangingPunct="1">
              <a:lnSpc>
                <a:spcPct val="110000"/>
              </a:lnSpc>
              <a:buNone/>
            </a:pPr>
            <a:r>
              <a:rPr lang="en-US" altLang="en-US" dirty="0">
                <a:latin typeface="Times New Roman" panose="02020603050405020304" pitchFamily="18" charset="0"/>
                <a:cs typeface="Times New Roman" panose="02020603050405020304" pitchFamily="18" charset="0"/>
              </a:rPr>
              <a:t>1. Identify erroneous/wrong code</a:t>
            </a:r>
          </a:p>
          <a:p>
            <a:pPr marL="0" indent="0" eaLnBrk="1" hangingPunct="1">
              <a:lnSpc>
                <a:spcPct val="110000"/>
              </a:lnSpc>
              <a:buNone/>
            </a:pPr>
            <a:r>
              <a:rPr lang="en-US" altLang="en-US" dirty="0">
                <a:latin typeface="Times New Roman" panose="02020603050405020304" pitchFamily="18" charset="0"/>
                <a:cs typeface="Times New Roman" panose="02020603050405020304" pitchFamily="18" charset="0"/>
              </a:rPr>
              <a:t>2. Identify unauthorized code</a:t>
            </a:r>
          </a:p>
          <a:p>
            <a:pPr marL="0" indent="0" eaLnBrk="1" hangingPunct="1">
              <a:lnSpc>
                <a:spcPct val="110000"/>
              </a:lnSpc>
              <a:buNone/>
            </a:pPr>
            <a:r>
              <a:rPr lang="en-US" altLang="en-US" dirty="0">
                <a:latin typeface="Times New Roman" panose="02020603050405020304" pitchFamily="18" charset="0"/>
                <a:cs typeface="Times New Roman" panose="02020603050405020304" pitchFamily="18" charset="0"/>
              </a:rPr>
              <a:t>3. Identify ineffective/useless code</a:t>
            </a:r>
          </a:p>
          <a:p>
            <a:pPr marL="0" indent="0" eaLnBrk="1" hangingPunct="1">
              <a:lnSpc>
                <a:spcPct val="110000"/>
              </a:lnSpc>
              <a:buNone/>
            </a:pPr>
            <a:r>
              <a:rPr lang="en-US" altLang="en-US" dirty="0">
                <a:latin typeface="Times New Roman" panose="02020603050405020304" pitchFamily="18" charset="0"/>
                <a:cs typeface="Times New Roman" panose="02020603050405020304" pitchFamily="18" charset="0"/>
              </a:rPr>
              <a:t>4. Identify unproductive code</a:t>
            </a:r>
          </a:p>
          <a:p>
            <a:pPr marL="0" indent="0" eaLnBrk="1" hangingPunct="1">
              <a:lnSpc>
                <a:spcPct val="110000"/>
              </a:lnSpc>
              <a:buNone/>
            </a:pPr>
            <a:r>
              <a:rPr lang="en-US" altLang="en-US" dirty="0">
                <a:latin typeface="Times New Roman" panose="02020603050405020304" pitchFamily="18" charset="0"/>
                <a:cs typeface="Times New Roman" panose="02020603050405020304" pitchFamily="18" charset="0"/>
              </a:rPr>
              <a:t>5. Identify nonstandard code</a:t>
            </a:r>
          </a:p>
        </p:txBody>
      </p:sp>
    </p:spTree>
    <p:extLst>
      <p:ext uri="{BB962C8B-B14F-4D97-AF65-F5344CB8AC3E}">
        <p14:creationId xmlns:p14="http://schemas.microsoft.com/office/powerpoint/2010/main" val="2266215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sz="3600" dirty="0">
                <a:solidFill>
                  <a:srgbClr val="FF0000"/>
                </a:solidFill>
                <a:latin typeface="Times New Roman" panose="02020603050405020304" pitchFamily="18" charset="0"/>
                <a:cs typeface="Times New Roman" panose="02020603050405020304" pitchFamily="18" charset="0"/>
              </a:rPr>
              <a:t>Where Do Program Defects Occur?</a:t>
            </a:r>
          </a:p>
        </p:txBody>
      </p:sp>
      <p:sp>
        <p:nvSpPr>
          <p:cNvPr id="5123" name="Rectangle 3"/>
          <p:cNvSpPr>
            <a:spLocks noGrp="1" noChangeArrowheads="1"/>
          </p:cNvSpPr>
          <p:nvPr>
            <p:ph type="body" idx="1"/>
          </p:nvPr>
        </p:nvSpPr>
        <p:spPr/>
        <p:txBody>
          <a:bodyPr/>
          <a:lstStyle/>
          <a:p>
            <a:pPr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Tentative Conclusions a small number of program modules will have a large number of faults</a:t>
            </a:r>
          </a:p>
          <a:p>
            <a:pPr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Requirement specifications and design errors are as prominent as coding errors</a:t>
            </a:r>
          </a:p>
          <a:p>
            <a:pPr eaLnBrk="1" hangingPunct="1">
              <a:buFont typeface="Wingdings" panose="05000000000000000000" pitchFamily="2" charset="2"/>
              <a:buChar char="§"/>
            </a:pPr>
            <a:r>
              <a:rPr lang="en-US" altLang="en-US" dirty="0">
                <a:latin typeface="Times New Roman" panose="02020603050405020304" pitchFamily="18" charset="0"/>
                <a:cs typeface="Times New Roman" panose="02020603050405020304" pitchFamily="18" charset="0"/>
              </a:rPr>
              <a:t>Design errors relate to interface problems with users</a:t>
            </a:r>
          </a:p>
        </p:txBody>
      </p:sp>
    </p:spTree>
    <p:extLst>
      <p:ext uri="{BB962C8B-B14F-4D97-AF65-F5344CB8AC3E}">
        <p14:creationId xmlns:p14="http://schemas.microsoft.com/office/powerpoint/2010/main" val="797171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Types of review processes</a:t>
            </a:r>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There are many variations of code review processes, some of which are detailed below.</a:t>
            </a:r>
          </a:p>
          <a:p>
            <a:pPr marL="0" indent="0">
              <a:buNone/>
            </a:pPr>
            <a:r>
              <a:rPr lang="en-US" b="1" dirty="0">
                <a:latin typeface="Times New Roman" panose="02020603050405020304" pitchFamily="18" charset="0"/>
                <a:cs typeface="Times New Roman" panose="02020603050405020304" pitchFamily="18" charset="0"/>
              </a:rPr>
              <a:t>1. Formal inspection</a:t>
            </a:r>
          </a:p>
          <a:p>
            <a:r>
              <a:rPr lang="en-US" dirty="0">
                <a:latin typeface="Times New Roman" panose="02020603050405020304" pitchFamily="18" charset="0"/>
                <a:cs typeface="Times New Roman" panose="02020603050405020304" pitchFamily="18" charset="0"/>
              </a:rPr>
              <a:t> involves a careful and detailed execution with multiple participants and multiple phases. </a:t>
            </a:r>
          </a:p>
          <a:p>
            <a:r>
              <a:rPr lang="en-US" dirty="0">
                <a:latin typeface="Times New Roman" panose="02020603050405020304" pitchFamily="18" charset="0"/>
                <a:cs typeface="Times New Roman" panose="02020603050405020304" pitchFamily="18" charset="0"/>
              </a:rPr>
              <a:t>Formal code reviews are the traditional method of review, in which software developers attend a series of meetings and review code line by line, usually using printed copies of the material. </a:t>
            </a:r>
          </a:p>
          <a:p>
            <a:r>
              <a:rPr lang="en-US" dirty="0">
                <a:latin typeface="Times New Roman" panose="02020603050405020304" pitchFamily="18" charset="0"/>
                <a:cs typeface="Times New Roman" panose="02020603050405020304" pitchFamily="18" charset="0"/>
              </a:rPr>
              <a:t>Formal inspections are extremely thorough and have been proven effective at finding defects in the code under review</a:t>
            </a:r>
          </a:p>
        </p:txBody>
      </p:sp>
    </p:spTree>
    <p:extLst>
      <p:ext uri="{BB962C8B-B14F-4D97-AF65-F5344CB8AC3E}">
        <p14:creationId xmlns:p14="http://schemas.microsoft.com/office/powerpoint/2010/main" val="2220854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An important byproduct of a properly conducted formal code review is a written record describing:</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Who: Names of those involved in the Review.</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When: Date and time the Review was conducted.</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Why: Best-Practice, Error Detection, Vulnerability Exposure, Malware Discovery or a combination.</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What: Name of the class, method, or program, plus line ranges and other particulars specific to the reviewed code.</a:t>
            </a:r>
          </a:p>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Result: What was disclosed during the course of the Review.</a:t>
            </a:r>
          </a:p>
          <a:p>
            <a:pPr>
              <a:buFont typeface="Wingdings" panose="05000000000000000000" pitchFamily="2" charset="2"/>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4056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2. Regular change-based code review</a:t>
            </a:r>
          </a:p>
          <a:p>
            <a:r>
              <a:rPr lang="en-US" dirty="0">
                <a:latin typeface="Times New Roman" panose="02020603050405020304" pitchFamily="18" charset="0"/>
                <a:cs typeface="Times New Roman" panose="02020603050405020304" pitchFamily="18" charset="0"/>
              </a:rPr>
              <a:t>Its main characteristic is that the scope of each review is based on the changes to the codebase performed in a ticket, user story, commit, or some other unit of work. ... </a:t>
            </a:r>
          </a:p>
          <a:p>
            <a:r>
              <a:rPr lang="en-US" dirty="0">
                <a:latin typeface="Times New Roman" panose="02020603050405020304" pitchFamily="18" charset="0"/>
                <a:cs typeface="Times New Roman" panose="02020603050405020304" pitchFamily="18" charset="0"/>
              </a:rPr>
              <a:t>Such a review process is called "regular, change-based code review". </a:t>
            </a:r>
          </a:p>
          <a:p>
            <a:r>
              <a:rPr lang="en-US" dirty="0">
                <a:latin typeface="Times New Roman" panose="02020603050405020304" pitchFamily="18" charset="0"/>
                <a:cs typeface="Times New Roman" panose="02020603050405020304" pitchFamily="18" charset="0"/>
              </a:rPr>
              <a:t>There are many variations of this basic process</a:t>
            </a:r>
          </a:p>
        </p:txBody>
      </p:sp>
    </p:spTree>
    <p:extLst>
      <p:ext uri="{BB962C8B-B14F-4D97-AF65-F5344CB8AC3E}">
        <p14:creationId xmlns:p14="http://schemas.microsoft.com/office/powerpoint/2010/main" val="1545446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To perform change-based reviews smoothly, authors and reviewers use software tools: </a:t>
            </a:r>
          </a:p>
          <a:p>
            <a:pPr lvl="1"/>
            <a:r>
              <a:rPr lang="en-US" dirty="0">
                <a:latin typeface="Times New Roman" panose="02020603050405020304" pitchFamily="18" charset="0"/>
                <a:cs typeface="Times New Roman" panose="02020603050405020304" pitchFamily="18" charset="0"/>
              </a:rPr>
              <a:t>informal ones such as </a:t>
            </a:r>
            <a:r>
              <a:rPr lang="en-US" dirty="0" err="1">
                <a:latin typeface="Times New Roman" panose="02020603050405020304" pitchFamily="18" charset="0"/>
                <a:cs typeface="Times New Roman" panose="02020603050405020304" pitchFamily="18" charset="0"/>
              </a:rPr>
              <a:t>pastebins</a:t>
            </a:r>
            <a:r>
              <a:rPr lang="en-US" dirty="0">
                <a:latin typeface="Times New Roman" panose="02020603050405020304" pitchFamily="18" charset="0"/>
                <a:cs typeface="Times New Roman" panose="02020603050405020304" pitchFamily="18" charset="0"/>
              </a:rPr>
              <a:t> and IRC, </a:t>
            </a:r>
          </a:p>
          <a:p>
            <a:pPr lvl="1"/>
            <a:r>
              <a:rPr lang="en-US" dirty="0">
                <a:latin typeface="Times New Roman" panose="02020603050405020304" pitchFamily="18" charset="0"/>
                <a:cs typeface="Times New Roman" panose="02020603050405020304" pitchFamily="18" charset="0"/>
              </a:rPr>
              <a:t>or specialized tools designed for peer code review such as </a:t>
            </a:r>
            <a:r>
              <a:rPr lang="en-US" dirty="0" err="1">
                <a:latin typeface="Times New Roman" panose="02020603050405020304" pitchFamily="18" charset="0"/>
                <a:cs typeface="Times New Roman" panose="02020603050405020304" pitchFamily="18" charset="0"/>
              </a:rPr>
              <a:t>Gerrit</a:t>
            </a:r>
            <a:r>
              <a:rPr lang="en-US" dirty="0">
                <a:latin typeface="Times New Roman" panose="02020603050405020304" pitchFamily="18" charset="0"/>
                <a:cs typeface="Times New Roman" panose="02020603050405020304" pitchFamily="18" charset="0"/>
              </a:rPr>
              <a:t> and GitHub's pull requests.</a:t>
            </a:r>
          </a:p>
          <a:p>
            <a:pPr marL="0" indent="0">
              <a:buNone/>
            </a:pPr>
            <a:r>
              <a:rPr lang="en-US" dirty="0">
                <a:latin typeface="Times New Roman" panose="02020603050405020304" pitchFamily="18" charset="0"/>
                <a:cs typeface="Times New Roman" panose="02020603050405020304" pitchFamily="18" charset="0"/>
              </a:rPr>
              <a:t>3. Over-the-shoulder: one developer looks over the author's shoulder as the latter walks through the code.</a:t>
            </a:r>
          </a:p>
          <a:p>
            <a:pPr marL="0" indent="0">
              <a:buNone/>
            </a:pPr>
            <a:r>
              <a:rPr lang="en-US" dirty="0">
                <a:latin typeface="Times New Roman" panose="02020603050405020304" pitchFamily="18" charset="0"/>
                <a:cs typeface="Times New Roman" panose="02020603050405020304" pitchFamily="18" charset="0"/>
              </a:rPr>
              <a:t>4. Email pass-around: source code management system emails code to reviewers automatically after </a:t>
            </a:r>
            <a:r>
              <a:rPr lang="en-US" dirty="0" err="1">
                <a:latin typeface="Times New Roman" panose="02020603050405020304" pitchFamily="18" charset="0"/>
                <a:cs typeface="Times New Roman" panose="02020603050405020304" pitchFamily="18" charset="0"/>
              </a:rPr>
              <a:t>checkin</a:t>
            </a:r>
            <a:r>
              <a:rPr lang="en-US" dirty="0">
                <a:latin typeface="Times New Roman" panose="02020603050405020304" pitchFamily="18" charset="0"/>
                <a:cs typeface="Times New Roman" panose="02020603050405020304" pitchFamily="18" charset="0"/>
              </a:rPr>
              <a:t> is made.</a:t>
            </a:r>
          </a:p>
          <a:p>
            <a:pPr marL="0" lvl="1"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3927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5. Walkthroughs, usually with an emphasis on the presentation and discussion of the code in a meeting.</a:t>
            </a:r>
          </a:p>
          <a:p>
            <a:pPr marL="0" indent="0">
              <a:buNone/>
            </a:pPr>
            <a:r>
              <a:rPr lang="en-US" dirty="0">
                <a:latin typeface="Times New Roman" panose="02020603050405020304" pitchFamily="18" charset="0"/>
                <a:cs typeface="Times New Roman" panose="02020603050405020304" pitchFamily="18" charset="0"/>
              </a:rPr>
              <a:t>6. Pair programming, i.e., two authors that develop code together at the same workstation, is very similar to code review but not a code review in the narrow sense.</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07188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827314"/>
            <a:ext cx="7886700" cy="863375"/>
          </a:xfrm>
        </p:spPr>
        <p:txBody>
          <a:bodyPr>
            <a:normAutofit/>
          </a:bodyPr>
          <a:lstStyle/>
          <a:p>
            <a:r>
              <a:rPr lang="en-US" sz="3600" dirty="0">
                <a:solidFill>
                  <a:srgbClr val="FF0000"/>
                </a:solidFill>
                <a:latin typeface="Times New Roman" panose="02020603050405020304" pitchFamily="18" charset="0"/>
                <a:cs typeface="Times New Roman" panose="02020603050405020304" pitchFamily="18" charset="0"/>
              </a:rPr>
              <a:t>Code Review Preparation</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In order to effectively review a code baseline, it is critical that the review team understands the business purpose of the application and the most critical business impacts. </a:t>
            </a:r>
          </a:p>
          <a:p>
            <a:r>
              <a:rPr lang="en-US" dirty="0">
                <a:latin typeface="Times New Roman" panose="02020603050405020304" pitchFamily="18" charset="0"/>
                <a:cs typeface="Times New Roman" panose="02020603050405020304" pitchFamily="18" charset="0"/>
              </a:rPr>
              <a:t>This will guide them in their search for serious vulnerabilities. </a:t>
            </a:r>
          </a:p>
          <a:p>
            <a:r>
              <a:rPr lang="en-US" dirty="0">
                <a:latin typeface="Times New Roman" panose="02020603050405020304" pitchFamily="18" charset="0"/>
                <a:cs typeface="Times New Roman" panose="02020603050405020304" pitchFamily="18" charset="0"/>
              </a:rPr>
              <a:t>The team should also identify the different threat agents, their motivation, and how they could potentially attack the application.</a:t>
            </a:r>
          </a:p>
        </p:txBody>
      </p:sp>
    </p:spTree>
    <p:extLst>
      <p:ext uri="{BB962C8B-B14F-4D97-AF65-F5344CB8AC3E}">
        <p14:creationId xmlns:p14="http://schemas.microsoft.com/office/powerpoint/2010/main" val="22652011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Before you start, the reviewers should be familiar with:</a:t>
            </a:r>
          </a:p>
          <a:p>
            <a:pPr marL="0" indent="0">
              <a:buNone/>
            </a:pPr>
            <a:r>
              <a:rPr lang="en-US" b="1" dirty="0">
                <a:latin typeface="Times New Roman" panose="02020603050405020304" pitchFamily="18" charset="0"/>
                <a:cs typeface="Times New Roman" panose="02020603050405020304" pitchFamily="18" charset="0"/>
              </a:rPr>
              <a:t>1. Code</a:t>
            </a:r>
            <a:r>
              <a:rPr lang="en-US" dirty="0">
                <a:latin typeface="Times New Roman" panose="02020603050405020304" pitchFamily="18" charset="0"/>
                <a:cs typeface="Times New Roman" panose="02020603050405020304" pitchFamily="18" charset="0"/>
              </a:rPr>
              <a:t>: The language(s) used, the features and issues of that language from a security perspective. </a:t>
            </a:r>
          </a:p>
          <a:p>
            <a:r>
              <a:rPr lang="en-US" dirty="0">
                <a:latin typeface="Times New Roman" panose="02020603050405020304" pitchFamily="18" charset="0"/>
                <a:cs typeface="Times New Roman" panose="02020603050405020304" pitchFamily="18" charset="0"/>
              </a:rPr>
              <a:t>The issues one needs to look out for and best practices from a security and performance perspective.</a:t>
            </a:r>
          </a:p>
          <a:p>
            <a:pPr marL="0" indent="0">
              <a:buNone/>
            </a:pPr>
            <a:r>
              <a:rPr lang="en-US" b="1" dirty="0">
                <a:latin typeface="Times New Roman" panose="02020603050405020304" pitchFamily="18" charset="0"/>
                <a:cs typeface="Times New Roman" panose="02020603050405020304" pitchFamily="18" charset="0"/>
              </a:rPr>
              <a:t>2. Context</a:t>
            </a:r>
            <a:r>
              <a:rPr lang="en-US" dirty="0">
                <a:latin typeface="Times New Roman" panose="02020603050405020304" pitchFamily="18" charset="0"/>
                <a:cs typeface="Times New Roman" panose="02020603050405020304" pitchFamily="18" charset="0"/>
              </a:rPr>
              <a:t>: The working of the application being reviewed. </a:t>
            </a:r>
          </a:p>
          <a:p>
            <a:r>
              <a:rPr lang="en-US" dirty="0">
                <a:latin typeface="Times New Roman" panose="02020603050405020304" pitchFamily="18" charset="0"/>
                <a:cs typeface="Times New Roman" panose="02020603050405020304" pitchFamily="18" charset="0"/>
              </a:rPr>
              <a:t>All security is in context of what we are trying to secure.  </a:t>
            </a:r>
          </a:p>
          <a:p>
            <a:r>
              <a:rPr lang="en-US" dirty="0">
                <a:latin typeface="Times New Roman" panose="02020603050405020304" pitchFamily="18" charset="0"/>
                <a:cs typeface="Times New Roman" panose="02020603050405020304" pitchFamily="18" charset="0"/>
              </a:rPr>
              <a:t>What type of data is being manipulated or processed, and what would the damage to the company be if this data was compromised?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4365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b="1" dirty="0">
                <a:latin typeface="Times New Roman" panose="02020603050405020304" pitchFamily="18" charset="0"/>
                <a:cs typeface="Times New Roman" panose="02020603050405020304" pitchFamily="18" charset="0"/>
              </a:rPr>
              <a:t>3. Audience</a:t>
            </a:r>
            <a:r>
              <a:rPr lang="en-US" dirty="0">
                <a:latin typeface="Times New Roman" panose="02020603050405020304" pitchFamily="18" charset="0"/>
                <a:cs typeface="Times New Roman" panose="02020603050405020304" pitchFamily="18" charset="0"/>
              </a:rPr>
              <a:t>: The intended users of the application. Is it externally facing or internal to “trusted” users? Does this application talk to other entities (machines/services)? Do humans use this application?</a:t>
            </a:r>
          </a:p>
          <a:p>
            <a:pPr marL="0" indent="0">
              <a:buNone/>
            </a:pPr>
            <a:r>
              <a:rPr lang="en-US" b="1" dirty="0">
                <a:latin typeface="Times New Roman" panose="02020603050405020304" pitchFamily="18" charset="0"/>
                <a:cs typeface="Times New Roman" panose="02020603050405020304" pitchFamily="18" charset="0"/>
              </a:rPr>
              <a:t>4. Importance</a:t>
            </a:r>
            <a:r>
              <a:rPr lang="en-US" dirty="0">
                <a:latin typeface="Times New Roman" panose="02020603050405020304" pitchFamily="18" charset="0"/>
                <a:cs typeface="Times New Roman" panose="02020603050405020304" pitchFamily="18" charset="0"/>
              </a:rPr>
              <a:t>: The size of the consequences of failure. Shall the enterprise be affected in any great way if the application can not perform its functions as intended?</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8827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1DC6E-632F-4549-AAF5-5672F2A66BB7}"/>
              </a:ext>
            </a:extLst>
          </p:cNvPr>
          <p:cNvSpPr>
            <a:spLocks noGrp="1"/>
          </p:cNvSpPr>
          <p:nvPr>
            <p:ph type="title"/>
          </p:nvPr>
        </p:nvSpPr>
        <p:spPr/>
        <p:txBody>
          <a:bodyPr>
            <a:normAutofit/>
          </a:bodyPr>
          <a:lstStyle/>
          <a:p>
            <a:r>
              <a:rPr lang="en-US" sz="3000" b="1" dirty="0">
                <a:latin typeface="Times New Roman" panose="02020603050405020304" pitchFamily="18" charset="0"/>
                <a:cs typeface="Times New Roman" panose="02020603050405020304" pitchFamily="18" charset="0"/>
              </a:rPr>
              <a:t>Challenges of code review</a:t>
            </a:r>
          </a:p>
        </p:txBody>
      </p:sp>
      <p:sp>
        <p:nvSpPr>
          <p:cNvPr id="3" name="Content Placeholder 2">
            <a:extLst>
              <a:ext uri="{FF2B5EF4-FFF2-40B4-BE49-F238E27FC236}">
                <a16:creationId xmlns:a16="http://schemas.microsoft.com/office/drawing/2014/main" id="{885B5651-1E2F-482A-8DBA-5C421D1DF35B}"/>
              </a:ext>
            </a:extLst>
          </p:cNvPr>
          <p:cNvSpPr>
            <a:spLocks noGrp="1"/>
          </p:cNvSpPr>
          <p:nvPr>
            <p:ph idx="1"/>
          </p:nvPr>
        </p:nvSpPr>
        <p:spPr/>
        <p:txBody>
          <a:bodyPr>
            <a:normAutofit fontScale="92500" lnSpcReduction="20000"/>
          </a:bodyPr>
          <a:lstStyle/>
          <a:p>
            <a:pPr marL="0" indent="0">
              <a:buNone/>
            </a:pPr>
            <a:r>
              <a:rPr lang="en-US" dirty="0"/>
              <a:t>1. Time Constraints: Code reviews can be time-consuming, especially for large and complex code changes. Developers and reviewers may have tight deadlines, making it challenging to allocate sufficient time for a thorough review.</a:t>
            </a:r>
          </a:p>
          <a:p>
            <a:pPr marL="0" indent="0">
              <a:buNone/>
            </a:pPr>
            <a:r>
              <a:rPr lang="en-US" dirty="0"/>
              <a:t>2. Resource Allocation: Finding qualified reviewers and coordinating their schedules can be difficult. In smaller teams, there might be limited expertise available for reviewing certain code areas.</a:t>
            </a:r>
          </a:p>
          <a:p>
            <a:pPr marL="0" indent="0">
              <a:buNone/>
            </a:pPr>
            <a:r>
              <a:rPr lang="en-US" dirty="0"/>
              <a:t>3. Reviewer Bias: Reviewers may inadvertently introduce their personal biases into the review process. This can include coding style preferences or preconceived notions about the code's functionality.</a:t>
            </a:r>
          </a:p>
        </p:txBody>
      </p:sp>
    </p:spTree>
    <p:extLst>
      <p:ext uri="{BB962C8B-B14F-4D97-AF65-F5344CB8AC3E}">
        <p14:creationId xmlns:p14="http://schemas.microsoft.com/office/powerpoint/2010/main" val="1775861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6518A-839A-4E45-870E-E977CFBE26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355AAE5-FBFA-47D0-AD89-BD2052E723BA}"/>
              </a:ext>
            </a:extLst>
          </p:cNvPr>
          <p:cNvSpPr>
            <a:spLocks noGrp="1"/>
          </p:cNvSpPr>
          <p:nvPr>
            <p:ph idx="1"/>
          </p:nvPr>
        </p:nvSpPr>
        <p:spPr/>
        <p:txBody>
          <a:bodyPr>
            <a:normAutofit fontScale="92500" lnSpcReduction="10000"/>
          </a:bodyPr>
          <a:lstStyle/>
          <a:p>
            <a:pPr marL="0" indent="0">
              <a:buNone/>
            </a:pPr>
            <a:r>
              <a:rPr lang="en-US" dirty="0">
                <a:latin typeface="Söhne"/>
              </a:rPr>
              <a:t>4. Overwhelming Feedback: Providing too much feedback on a single code change can overwhelm the author. It's essential to strike a balance between pointing out issues and providing constructive feedback.</a:t>
            </a:r>
          </a:p>
          <a:p>
            <a:pPr marL="0" indent="0">
              <a:buNone/>
            </a:pPr>
            <a:r>
              <a:rPr lang="en-US" dirty="0">
                <a:latin typeface="Söhne"/>
              </a:rPr>
              <a:t>5. Resistance to Feedback: Developers may sometimes resist feedback, especially if they've invested a significant amount of time in their code. This resistance can hinder the learning and improvement process.</a:t>
            </a:r>
          </a:p>
          <a:p>
            <a:pPr marL="0" indent="0">
              <a:buNone/>
            </a:pPr>
            <a:r>
              <a:rPr lang="en-US" dirty="0">
                <a:latin typeface="Söhne"/>
              </a:rPr>
              <a:t>5. Code Complexity: Highly complex code can be challenging to review effectively. It may require a deep understanding of the underlying algorithms and data structures.</a:t>
            </a:r>
          </a:p>
          <a:p>
            <a:endParaRPr lang="en-US" dirty="0"/>
          </a:p>
        </p:txBody>
      </p:sp>
    </p:spTree>
    <p:extLst>
      <p:ext uri="{BB962C8B-B14F-4D97-AF65-F5344CB8AC3E}">
        <p14:creationId xmlns:p14="http://schemas.microsoft.com/office/powerpoint/2010/main" val="22992245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233</TotalTime>
  <Words>1698</Words>
  <Application>Microsoft Office PowerPoint</Application>
  <PresentationFormat>On-screen Show (4:3)</PresentationFormat>
  <Paragraphs>100</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Söhne</vt:lpstr>
      <vt:lpstr>Times New Roman</vt:lpstr>
      <vt:lpstr>Wingdings</vt:lpstr>
      <vt:lpstr>Office Theme</vt:lpstr>
      <vt:lpstr>CODE REVIEW</vt:lpstr>
      <vt:lpstr>PowerPoint Presentation</vt:lpstr>
      <vt:lpstr>PowerPoint Presentation</vt:lpstr>
      <vt:lpstr>PowerPoint Presentation</vt:lpstr>
      <vt:lpstr>PowerPoint Presentation</vt:lpstr>
      <vt:lpstr>PowerPoint Presentation</vt:lpstr>
      <vt:lpstr>PowerPoint Presentation</vt:lpstr>
      <vt:lpstr>What is code review?</vt:lpstr>
      <vt:lpstr>PowerPoint Presentation</vt:lpstr>
      <vt:lpstr>PowerPoint Presentation</vt:lpstr>
      <vt:lpstr>PowerPoint Presentation</vt:lpstr>
      <vt:lpstr>PowerPoint Presentation</vt:lpstr>
      <vt:lpstr>PowerPoint Presentation</vt:lpstr>
      <vt:lpstr>PowerPoint Presentation</vt:lpstr>
      <vt:lpstr>Objectives of Code Review</vt:lpstr>
      <vt:lpstr>Where Do Program Defects Occur?</vt:lpstr>
      <vt:lpstr>Types of review processes</vt:lpstr>
      <vt:lpstr>PowerPoint Presentation</vt:lpstr>
      <vt:lpstr>PowerPoint Presentation</vt:lpstr>
      <vt:lpstr>PowerPoint Presentation</vt:lpstr>
      <vt:lpstr>PowerPoint Presentation</vt:lpstr>
      <vt:lpstr>Code Review Preparation</vt:lpstr>
      <vt:lpstr>PowerPoint Presentation</vt:lpstr>
      <vt:lpstr>PowerPoint Presentation</vt:lpstr>
      <vt:lpstr>Challenges of code review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REVIEW</dc:title>
  <dc:creator>MR ASADU</dc:creator>
  <cp:lastModifiedBy>user</cp:lastModifiedBy>
  <cp:revision>25</cp:revision>
  <dcterms:created xsi:type="dcterms:W3CDTF">2019-09-12T12:11:50Z</dcterms:created>
  <dcterms:modified xsi:type="dcterms:W3CDTF">2023-10-24T11:57:13Z</dcterms:modified>
</cp:coreProperties>
</file>