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1" r:id="rId6"/>
    <p:sldId id="263" r:id="rId7"/>
    <p:sldId id="264" r:id="rId8"/>
    <p:sldId id="262" r:id="rId9"/>
    <p:sldId id="267" r:id="rId10"/>
    <p:sldId id="288" r:id="rId11"/>
    <p:sldId id="310" r:id="rId12"/>
    <p:sldId id="273" r:id="rId13"/>
    <p:sldId id="274" r:id="rId14"/>
    <p:sldId id="286" r:id="rId15"/>
    <p:sldId id="276" r:id="rId16"/>
    <p:sldId id="278" r:id="rId17"/>
    <p:sldId id="279" r:id="rId18"/>
    <p:sldId id="281" r:id="rId19"/>
    <p:sldId id="312" r:id="rId20"/>
    <p:sldId id="313" r:id="rId21"/>
    <p:sldId id="314" r:id="rId22"/>
    <p:sldId id="315"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A50021"/>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p:scale>
          <a:sx n="86" d="100"/>
          <a:sy n="86" d="100"/>
        </p:scale>
        <p:origin x="48" y="1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customXml" Target="../customXml/item3.xml"/><Relationship Id="rId3" Type="http://schemas.openxmlformats.org/officeDocument/2006/relationships/slide" Target="slides/slide1.xml"/><Relationship Id="rId29" Type="http://schemas.openxmlformats.org/officeDocument/2006/relationships/customXml" Target="../customXml/item2.xml"/><Relationship Id="rId28" Type="http://schemas.openxmlformats.org/officeDocument/2006/relationships/customXml" Target="../customXml/item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83129"/>
            <a:ext cx="6663948" cy="4241983"/>
          </a:xfrm>
        </p:spPr>
        <p:txBody>
          <a:bodyPr>
            <a:normAutofit fontScale="90000"/>
          </a:bodyPr>
          <a:lstStyle/>
          <a:p>
            <a:pPr marL="0" marR="0">
              <a:lnSpc>
                <a:spcPct val="150000"/>
              </a:lnSpc>
              <a:spcBef>
                <a:spcPts val="0"/>
              </a:spcBef>
              <a:spcAft>
                <a:spcPts val="0"/>
              </a:spcAft>
            </a:pPr>
            <a:br>
              <a:rPr lang="en-US" sz="1800" dirty="0">
                <a:effectLst/>
                <a:latin typeface="Times New Roman" panose="02020603050405020304" pitchFamily="18" charset="0"/>
                <a:ea typeface="等线" panose="02010600030101010101" pitchFamily="2" charset="-122"/>
              </a:rPr>
            </a:br>
            <a:r>
              <a:rPr lang="en-US" sz="2200" b="1" dirty="0">
                <a:solidFill>
                  <a:srgbClr val="000000"/>
                </a:solidFill>
                <a:effectLst/>
                <a:latin typeface="Times New Roman" panose="02020603050405020304" pitchFamily="18" charset="0"/>
                <a:ea typeface="等线" panose="02010600030101010101" pitchFamily="2" charset="-122"/>
              </a:rPr>
              <a:t> </a:t>
            </a: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r>
              <a:rPr lang="en-US" sz="2400" b="1" dirty="0">
                <a:solidFill>
                  <a:srgbClr val="000000"/>
                </a:solidFill>
                <a:effectLst/>
                <a:latin typeface="Times New Roman" panose="02020603050405020304" pitchFamily="18" charset="0"/>
                <a:ea typeface="等线" panose="02010600030101010101" pitchFamily="2" charset="-122"/>
              </a:rPr>
              <a:t>FOR</a:t>
            </a:r>
            <a:br>
              <a:rPr lang="en-US" sz="1800" dirty="0">
                <a:effectLst/>
                <a:latin typeface="Times New Roman" panose="02020603050405020304" pitchFamily="18" charset="0"/>
                <a:ea typeface="等线" panose="02010600030101010101" pitchFamily="2" charset="-122"/>
              </a:rPr>
            </a:br>
            <a:r>
              <a:rPr lang="en-US" sz="2700" b="1" dirty="0">
                <a:solidFill>
                  <a:srgbClr val="00B050"/>
                </a:solidFill>
                <a:effectLst/>
                <a:latin typeface="Times New Roman" panose="02020603050405020304" pitchFamily="18" charset="0"/>
                <a:ea typeface="等线" panose="02010600030101010101" pitchFamily="2" charset="-122"/>
              </a:rPr>
              <a:t>WOMEN’S INSTITUTE OF TECHNOLOGY &amp; INNOVATION (WITI)</a:t>
            </a:r>
            <a:endParaRPr lang="en-US" sz="8000" dirty="0"/>
          </a:p>
        </p:txBody>
      </p:sp>
      <p:sp>
        <p:nvSpPr>
          <p:cNvPr id="3" name="Subtitle 2"/>
          <p:cNvSpPr>
            <a:spLocks noGrp="1"/>
          </p:cNvSpPr>
          <p:nvPr>
            <p:ph type="subTitle" idx="1"/>
          </p:nvPr>
        </p:nvSpPr>
        <p:spPr>
          <a:xfrm>
            <a:off x="5289753" y="4672739"/>
            <a:ext cx="6269347" cy="1506388"/>
          </a:xfrm>
        </p:spPr>
        <p:txBody>
          <a:bodyPr>
            <a:normAutofit fontScale="92500" lnSpcReduction="10000"/>
          </a:bodyPr>
          <a:lstStyle/>
          <a:p>
            <a:pPr>
              <a:lnSpc>
                <a:spcPct val="150000"/>
              </a:lnSpc>
            </a:pPr>
            <a:r>
              <a:rPr lang="en-US" sz="2400" b="1" dirty="0">
                <a:effectLst/>
                <a:latin typeface="Times New Roman" panose="02020603050405020304" pitchFamily="18" charset="0"/>
                <a:ea typeface="等线" panose="02010600030101010101" pitchFamily="2" charset="-122"/>
              </a:rPr>
              <a:t>PREPARED ON: </a:t>
            </a:r>
            <a:r>
              <a:rPr lang="en-US" sz="2400" dirty="0">
                <a:effectLst/>
                <a:latin typeface="Times New Roman" panose="02020603050405020304" pitchFamily="18" charset="0"/>
                <a:ea typeface="等线" panose="02010600030101010101" pitchFamily="2" charset="-122"/>
              </a:rPr>
              <a:t>11th/12/2024 </a:t>
            </a:r>
            <a:br>
              <a:rPr lang="en-US" sz="2400" dirty="0">
                <a:effectLst/>
                <a:latin typeface="Times New Roman" panose="02020603050405020304" pitchFamily="18" charset="0"/>
                <a:ea typeface="等线" panose="02010600030101010101" pitchFamily="2" charset="-122"/>
              </a:rPr>
            </a:br>
            <a:r>
              <a:rPr lang="en-US" sz="2400" b="1" dirty="0">
                <a:effectLst/>
                <a:latin typeface="Times New Roman" panose="02020603050405020304" pitchFamily="18" charset="0"/>
                <a:ea typeface="等线" panose="02010600030101010101" pitchFamily="2" charset="-122"/>
              </a:rPr>
              <a:t>BY: </a:t>
            </a:r>
            <a:r>
              <a:rPr lang="en-US" sz="2400" dirty="0">
                <a:effectLst/>
                <a:latin typeface="Times New Roman" panose="02020603050405020304" pitchFamily="18" charset="0"/>
                <a:ea typeface="等线" panose="02010600030101010101" pitchFamily="2" charset="-122"/>
              </a:rPr>
              <a:t>NABATANZI GORRET &amp; KOBUMANZI ESETHER</a:t>
            </a:r>
            <a:endParaRPr lang="en-US" sz="2400" dirty="0">
              <a:solidFill>
                <a:schemeClr val="tx1">
                  <a:lumMod val="85000"/>
                  <a:lumOff val="15000"/>
                </a:schemeClr>
              </a:solidFill>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795" y="0"/>
            <a:ext cx="4568190" cy="6858000"/>
          </a:xfrm>
          <a:prstGeom prst="rect">
            <a:avLst/>
          </a:prstGeom>
        </p:spPr>
      </p:pic>
      <p:sp>
        <p:nvSpPr>
          <p:cNvPr id="4" name="Rectangle 3"/>
          <p:cNvSpPr/>
          <p:nvPr/>
        </p:nvSpPr>
        <p:spPr>
          <a:xfrm>
            <a:off x="5289753" y="166254"/>
            <a:ext cx="6586363" cy="2222500"/>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3000" b="1" dirty="0">
                <a:solidFill>
                  <a:schemeClr val="bg1"/>
                </a:solidFill>
                <a:effectLst/>
                <a:latin typeface="Times New Roman" panose="02020603050405020304" pitchFamily="18" charset="0"/>
                <a:ea typeface="等线" panose="02010600030101010101" pitchFamily="2" charset="-122"/>
              </a:rPr>
              <a:t>A</a:t>
            </a:r>
            <a:r>
              <a:rPr lang="en-US" altLang="en-US" sz="3000" b="1" dirty="0">
                <a:solidFill>
                  <a:schemeClr val="bg1"/>
                </a:solidFill>
                <a:effectLst/>
                <a:latin typeface="Times New Roman" panose="02020603050405020304" pitchFamily="18" charset="0"/>
                <a:ea typeface="等线" panose="02010600030101010101" pitchFamily="2" charset="-122"/>
              </a:rPr>
              <a:t> PROJECT REPORT ON A PROPOSED STUDENT MANAGEMENT SYSTEM (SMS) </a:t>
            </a:r>
            <a:r>
              <a:rPr lang="en-US" sz="3000" b="1" dirty="0">
                <a:solidFill>
                  <a:schemeClr val="bg1"/>
                </a:solidFill>
                <a:effectLst/>
                <a:latin typeface="Times New Roman" panose="02020603050405020304" pitchFamily="18" charset="0"/>
                <a:ea typeface="等线" panose="02010600030101010101" pitchFamily="2" charset="-122"/>
              </a:rPr>
              <a:t>    </a:t>
            </a:r>
            <a:endParaRPr lang="en-US" sz="3000" b="1" dirty="0">
              <a:solidFill>
                <a:schemeClr val="bg1"/>
              </a:solidFill>
            </a:endParaRPr>
          </a:p>
        </p:txBody>
      </p:sp>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058400" cy="4237182"/>
          </a:xfrm>
        </p:spPr>
        <p:txBody>
          <a:bodyPr>
            <a:normAutofit/>
          </a:bodyPr>
          <a:lstStyle/>
          <a:p>
            <a:pPr marL="0" indent="0">
              <a:lnSpc>
                <a:spcPct val="150000"/>
              </a:lnSpc>
              <a:buFont typeface="Wingdings" panose="05000000000000000000" pitchFamily="2" charset="2"/>
              <a:buNone/>
            </a:pPr>
            <a:r>
              <a:rPr lang="en-US" sz="2500" dirty="0">
                <a:effectLst/>
                <a:latin typeface="Times New Roman" panose="02020603050405020304" pitchFamily="18" charset="0"/>
                <a:ea typeface="等线" panose="02010600030101010101" pitchFamily="2" charset="-122"/>
              </a:rPr>
              <a:t>The Student Management System (SMS) for Women’s Institute In Technology and Innovation Uganda (WITI) is a digital solution designed to streamline the management of student records, attendance, grades, and notifications. The project aims to replace traditional paper-based and file-based methods with a centralized, automated system to improve accuracy, accessibility, and operational efficiency..</a:t>
            </a:r>
            <a:endParaRPr lang="en-US" sz="2500" dirty="0">
              <a:effectLst/>
              <a:latin typeface="Times New Roman" panose="02020603050405020304" pitchFamily="18" charset="0"/>
              <a:ea typeface="等线" panose="02010600030101010101" pitchFamily="2" charset="-122"/>
            </a:endParaRPr>
          </a:p>
          <a:p>
            <a:endParaRPr lang="en-US" dirty="0">
              <a:solidFill>
                <a:srgbClr val="FFFFFF"/>
              </a:solidFill>
            </a:endParaRPr>
          </a:p>
        </p:txBody>
      </p:sp>
      <p:sp>
        <p:nvSpPr>
          <p:cNvPr id="4" name="Rectangle 3"/>
          <p:cNvSpPr/>
          <p:nvPr/>
        </p:nvSpPr>
        <p:spPr>
          <a:xfrm>
            <a:off x="1185949" y="404554"/>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effectLst/>
                <a:latin typeface="Times New Roman" panose="02020603050405020304" pitchFamily="18" charset="0"/>
                <a:ea typeface="SimSun" panose="02010600030101010101" pitchFamily="2" charset="-122"/>
                <a:cs typeface="SimSun" panose="02010600030101010101" pitchFamily="2" charset="-122"/>
              </a:rPr>
              <a:t>INTRODUCTION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pic>
        <p:nvPicPr>
          <p:cNvPr id="8" name="Content Placeholder 7" descr="home-1"/>
          <p:cNvPicPr>
            <a:picLocks noChangeAspect="1"/>
          </p:cNvPicPr>
          <p:nvPr>
            <p:ph sz="half" idx="2"/>
          </p:nvPr>
        </p:nvPicPr>
        <p:blipFill>
          <a:blip r:embed="rId1"/>
          <a:stretch>
            <a:fillRect/>
          </a:stretch>
        </p:blipFill>
        <p:spPr>
          <a:xfrm>
            <a:off x="1097280" y="2104390"/>
            <a:ext cx="5139690" cy="4006215"/>
          </a:xfrm>
          <a:prstGeom prst="rect">
            <a:avLst/>
          </a:prstGeom>
        </p:spPr>
      </p:pic>
      <p:sp>
        <p:nvSpPr>
          <p:cNvPr id="7" name="Content Placeholder 6"/>
          <p:cNvSpPr>
            <a:spLocks noGrp="1"/>
          </p:cNvSpPr>
          <p:nvPr>
            <p:ph sz="quarter" idx="4"/>
          </p:nvPr>
        </p:nvSpPr>
        <p:spPr>
          <a:xfrm>
            <a:off x="6515735" y="1933575"/>
            <a:ext cx="4996815" cy="4305300"/>
          </a:xfrm>
        </p:spPr>
        <p:txBody>
          <a:bodyPr>
            <a:noAutofit/>
          </a:bodyPr>
          <a:p>
            <a:pPr marL="0" indent="0" algn="just">
              <a:lnSpc>
                <a:spcPct val="150000"/>
              </a:lnSpc>
              <a:buFont typeface="Wingdings" panose="05000000000000000000" pitchFamily="2" charset="2"/>
              <a:buNone/>
            </a:pPr>
            <a:r>
              <a:rPr lang="en-US" sz="1600" b="1" dirty="0">
                <a:solidFill>
                  <a:srgbClr val="00B050"/>
                </a:solidFill>
                <a:latin typeface="Times New Roman" panose="02020603050405020304" pitchFamily="18" charset="0"/>
                <a:ea typeface="等线" panose="02010600030101010101" pitchFamily="2" charset="-122"/>
                <a:sym typeface="+mn-ea"/>
              </a:rPr>
              <a:t>Women’s Institute of Technology and Innovation </a:t>
            </a:r>
            <a:r>
              <a:rPr lang="en-US" sz="1600" dirty="0">
                <a:latin typeface="Times New Roman" panose="02020603050405020304" pitchFamily="18" charset="0"/>
                <a:ea typeface="等线" panose="02010600030101010101" pitchFamily="2" charset="-122"/>
                <a:sym typeface="+mn-ea"/>
              </a:rPr>
              <a:t>(WITI) is a Code Academy founded by Women In Technology Uganda (WITU) with a strong vision to close the technological gender gap in Uganda. </a:t>
            </a:r>
            <a:endParaRPr lang="en-US" sz="1600" dirty="0">
              <a:latin typeface="Times New Roman" panose="02020603050405020304" pitchFamily="18" charset="0"/>
              <a:ea typeface="等线" panose="02010600030101010101" pitchFamily="2" charset="-122"/>
            </a:endParaRPr>
          </a:p>
          <a:p>
            <a:pPr marL="0" indent="0" algn="just">
              <a:lnSpc>
                <a:spcPct val="150000"/>
              </a:lnSpc>
              <a:buFont typeface="Wingdings" panose="05000000000000000000" pitchFamily="2" charset="2"/>
              <a:buNone/>
            </a:pPr>
            <a:r>
              <a:rPr lang="en-US" sz="1600" dirty="0">
                <a:latin typeface="Times New Roman" panose="02020603050405020304" pitchFamily="18" charset="0"/>
                <a:ea typeface="等线" panose="02010600030101010101" pitchFamily="2" charset="-122"/>
                <a:sym typeface="+mn-ea"/>
              </a:rPr>
              <a:t>Located in Kamokya, Kanjokya Street, opposite Cavendish University, WITI focuses on empowering young women with the necessary skills to excel in the technology sector. The institute offers a Diploma in Computer Science and Entrepreneurship, catering to female students who have completed the Ugandan Advanced Certificate of Education (UACE) with a science-focused curriculum at their A-level.</a:t>
            </a:r>
            <a:endParaRPr lang="en-US" sz="16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Organization background</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pic>
        <p:nvPicPr>
          <p:cNvPr id="10" name="Picture 9" descr="WITI_logo(1)(1)"/>
          <p:cNvPicPr>
            <a:picLocks noChangeAspect="1"/>
          </p:cNvPicPr>
          <p:nvPr/>
        </p:nvPicPr>
        <p:blipFill>
          <a:blip r:embed="rId2"/>
          <a:stretch>
            <a:fillRect/>
          </a:stretch>
        </p:blipFill>
        <p:spPr>
          <a:xfrm>
            <a:off x="5474970" y="5332730"/>
            <a:ext cx="762000" cy="7778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307782" cy="4026593"/>
          </a:xfrm>
        </p:spPr>
        <p:txBody>
          <a:bodyPr>
            <a:normAutofit/>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Women’s Institute of Technology and Innovation (WITI) currently  relies on  file-based approaches for managing student records  and paper-based methods for attendance tracking. This  leads to duplication of records, frequent errors in record-keeping and attendance tracking and delays in accessing vital  information. The absence of a centralized system hinders efficient data management and timely decision-making, affecting both students and staff.</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Problem Statement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lnSpcReduction="10000"/>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design and implement a comprehensive Student Management System (SMS) WITI that digitizes students records management. which will replace the file-based approaches and paper- based methods with a centralized digital solution improving accuracy, eliminating data redundancy, ease accessibility and operational efficiency.</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main Objective of the PROPOSED SYSTEM</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86180" y="4016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gather requirements for the proposed digital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Design the process flows for the proposed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Develop a digitized Student Management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Test, Deploy and Implement the proposed system.</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specific Objectives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Autofit/>
          </a:bodyPr>
          <a:lstStyle/>
          <a:p>
            <a:pPr algn="just">
              <a:lnSpc>
                <a:spcPct val="150000"/>
              </a:lnSpc>
              <a:buFont typeface="Wingdings" panose="05000000000000000000" pitchFamily="2" charset="2"/>
              <a:buChar char="Ø"/>
            </a:pPr>
            <a:r>
              <a:rPr lang="en-US" sz="2000" dirty="0">
                <a:latin typeface="Times New Roman" panose="02020603050405020304" pitchFamily="18" charset="0"/>
                <a:ea typeface="等线" panose="02010600030101010101" pitchFamily="2" charset="-122"/>
              </a:rPr>
              <a:t>The proposed system enhances WITI’s operational efficiency by transitioning from the existing manual processes to a modern digital system. The implementation of the Student Management System is expected to improve data accuracy of student records, eliminate data redundancy and streamline administrative tasks.</a:t>
            </a:r>
            <a:endParaRPr lang="en-US" sz="2000" dirty="0">
              <a:latin typeface="Times New Roman" panose="02020603050405020304" pitchFamily="18" charset="0"/>
              <a:ea typeface="等线" panose="02010600030101010101" pitchFamily="2" charset="-122"/>
            </a:endParaRPr>
          </a:p>
        </p:txBody>
      </p:sp>
      <p:sp>
        <p:nvSpPr>
          <p:cNvPr id="6" name="Content Placeholder 5"/>
          <p:cNvSpPr>
            <a:spLocks noGrp="1"/>
          </p:cNvSpPr>
          <p:nvPr>
            <p:ph sz="half" idx="2"/>
          </p:nvPr>
        </p:nvSpPr>
        <p:spPr/>
        <p:txBody>
          <a:bodyPr>
            <a:noAutofit/>
          </a:bodyPr>
          <a:p>
            <a:pPr algn="just">
              <a:lnSpc>
                <a:spcPct val="150000"/>
              </a:lnSpc>
              <a:buSzTx/>
              <a:buFont typeface="Wingdings" panose="05000000000000000000" pitchFamily="2" charset="2"/>
              <a:buChar char="Ø"/>
            </a:pPr>
            <a:r>
              <a:rPr lang="en-US" sz="2000" dirty="0">
                <a:latin typeface="Times New Roman" panose="02020603050405020304" pitchFamily="18" charset="0"/>
                <a:ea typeface="等线" panose="02010600030101010101" pitchFamily="2" charset="-122"/>
              </a:rPr>
              <a:t>The Student Management System addresses the inefficiencies that arise from managing student data in the existing file-based system. By digitizing the student management system, we shall have centralized information management which in turn makes general administration easier and more efficient.</a:t>
            </a:r>
            <a:endParaRPr lang="en-US" sz="2000" dirty="0">
              <a:latin typeface="Times New Roman" panose="02020603050405020304" pitchFamily="18" charset="0"/>
              <a:ea typeface="等线" panose="02010600030101010101" pitchFamily="2" charset="-122"/>
            </a:endParaRPr>
          </a:p>
        </p:txBody>
      </p:sp>
      <p:sp>
        <p:nvSpPr>
          <p:cNvPr id="4" name="Rectangle 3"/>
          <p:cNvSpPr/>
          <p:nvPr/>
        </p:nvSpPr>
        <p:spPr>
          <a:xfrm>
            <a:off x="1147445" y="603885"/>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 </a:t>
            </a: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Significance of the System</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7" name="Rectangle 3"/>
          <p:cNvSpPr/>
          <p:nvPr/>
        </p:nvSpPr>
        <p:spPr>
          <a:xfrm>
            <a:off x="6663690" y="527050"/>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lvl="0" algn="ctr">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JUSTIFICATION</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Content Placeholder 2"/>
          <p:cNvSpPr>
            <a:spLocks noGrp="1"/>
          </p:cNvSpPr>
          <p:nvPr>
            <p:ph idx="1"/>
          </p:nvPr>
        </p:nvSpPr>
        <p:spPr/>
        <p:txBody>
          <a:bodyPr>
            <a:normAutofit lnSpcReduction="20000"/>
          </a:bodyPr>
          <a:p>
            <a:pPr marL="342900" indent="-342900" algn="just">
              <a:lnSpc>
                <a:spcPct val="150000"/>
              </a:lnSpc>
              <a:spcBef>
                <a:spcPts val="500"/>
              </a:spcBef>
              <a:spcAft>
                <a:spcPts val="500"/>
              </a:spcAft>
              <a:buSzTx/>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The feasibility study explored the practicability of developing and implementing a Student Management System (SMS) for Women’s Institute of Technology and Innovation (WITI).</a:t>
            </a:r>
            <a:endParaRPr lang="en-US" sz="2800" dirty="0">
              <a:effectLst/>
              <a:latin typeface="Times New Roman" panose="02020603050405020304" pitchFamily="18" charset="0"/>
              <a:ea typeface="SimSun" panose="02010600030101010101" pitchFamily="2" charset="-122"/>
            </a:endParaRPr>
          </a:p>
          <a:p>
            <a:pPr marL="342900" indent="-342900" algn="just">
              <a:lnSpc>
                <a:spcPct val="150000"/>
              </a:lnSpc>
              <a:spcBef>
                <a:spcPts val="500"/>
              </a:spcBef>
              <a:spcAft>
                <a:spcPts val="500"/>
              </a:spcAft>
              <a:buSzTx/>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The </a:t>
            </a:r>
            <a:r>
              <a:rPr lang="en-US" sz="2800" dirty="0">
                <a:solidFill>
                  <a:srgbClr val="00B050"/>
                </a:solidFill>
                <a:effectLst/>
                <a:latin typeface="Times New Roman" panose="02020603050405020304" pitchFamily="18" charset="0"/>
                <a:ea typeface="SimSun" panose="02010600030101010101" pitchFamily="2" charset="-122"/>
              </a:rPr>
              <a:t>purpose </a:t>
            </a:r>
            <a:r>
              <a:rPr lang="en-US" sz="2800" dirty="0">
                <a:effectLst/>
                <a:latin typeface="Times New Roman" panose="02020603050405020304" pitchFamily="18" charset="0"/>
                <a:ea typeface="SimSun" panose="02010600030101010101" pitchFamily="2" charset="-122"/>
              </a:rPr>
              <a:t>of the feasibility study was to evaluate the potential of implementing a Student Management System (SMS) at Women’s Institute of Technology and Innovation (WITI).</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804949" y="6682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FEASIBILITY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10605770" y="4820920"/>
            <a:ext cx="1257300" cy="1908175"/>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1"/>
          </p:nvPr>
        </p:nvSpPr>
        <p:spPr/>
        <p:txBody>
          <a:bodyPr>
            <a:noAutofit/>
          </a:bodyPr>
          <a:lstStyle/>
          <a:p>
            <a:pPr algn="just">
              <a:lnSpc>
                <a:spcPct val="150000"/>
              </a:lnSpc>
              <a:buSzTx/>
              <a:buFont typeface="Wingdings" panose="05000000000000000000" pitchFamily="2" charset="2"/>
              <a:buChar char="Ø"/>
            </a:pPr>
            <a:r>
              <a:rPr lang="en-US" sz="2200" b="1" dirty="0">
                <a:solidFill>
                  <a:srgbClr val="00B050"/>
                </a:solidFill>
                <a:latin typeface="Times New Roman" panose="02020603050405020304" pitchFamily="18" charset="0"/>
                <a:ea typeface="等线" panose="02010600030101010101" pitchFamily="2" charset="-122"/>
              </a:rPr>
              <a:t>Identify Challenges:</a:t>
            </a:r>
            <a:r>
              <a:rPr lang="en-US" sz="2200" dirty="0">
                <a:latin typeface="Times New Roman" panose="02020603050405020304" pitchFamily="18" charset="0"/>
                <a:ea typeface="等线" panose="02010600030101010101" pitchFamily="2" charset="-122"/>
              </a:rPr>
              <a:t> Assess the current challenges faced by the manual student management system, including inefficiencies and inaccuracies in data handling.</a:t>
            </a:r>
            <a:endParaRPr lang="en-US" sz="22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2200" b="1" dirty="0">
                <a:solidFill>
                  <a:srgbClr val="00B050"/>
                </a:solidFill>
                <a:latin typeface="Times New Roman" panose="02020603050405020304" pitchFamily="18" charset="0"/>
                <a:ea typeface="等线" panose="02010600030101010101" pitchFamily="2" charset="-122"/>
              </a:rPr>
              <a:t>Evaluate Feasibility:</a:t>
            </a:r>
            <a:r>
              <a:rPr lang="en-US" sz="2200" dirty="0">
                <a:latin typeface="Times New Roman" panose="02020603050405020304" pitchFamily="18" charset="0"/>
                <a:ea typeface="等线" panose="02010600030101010101" pitchFamily="2" charset="-122"/>
              </a:rPr>
              <a:t> Determine the feasibility of transitioning to a Student Management System (SMS) that improves accuracy, efficiency, and user experience.</a:t>
            </a:r>
            <a:endParaRPr lang="en-US" sz="22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2200" b="1" dirty="0">
                <a:solidFill>
                  <a:srgbClr val="00B050"/>
                </a:solidFill>
                <a:latin typeface="Times New Roman" panose="02020603050405020304" pitchFamily="18" charset="0"/>
                <a:ea typeface="等线" panose="02010600030101010101" pitchFamily="2" charset="-122"/>
              </a:rPr>
              <a:t>Analyze Costs and Benefits:</a:t>
            </a:r>
            <a:r>
              <a:rPr lang="en-US" sz="2200" dirty="0">
                <a:latin typeface="Times New Roman" panose="02020603050405020304" pitchFamily="18" charset="0"/>
                <a:ea typeface="等线" panose="02010600030101010101" pitchFamily="2" charset="-122"/>
              </a:rPr>
              <a:t> Evaluate the potential costs and benefits associated with implementing the SMS, including impacts on administrative processes and overall institutional performance.</a:t>
            </a:r>
            <a:endParaRPr lang="en-US" sz="2200" dirty="0">
              <a:latin typeface="Times New Roman" panose="02020603050405020304" pitchFamily="18" charset="0"/>
              <a:ea typeface="等线" panose="02010600030101010101" pitchFamily="2" charset="-122"/>
            </a:endParaRPr>
          </a:p>
        </p:txBody>
      </p:sp>
      <p:sp>
        <p:nvSpPr>
          <p:cNvPr id="4" name="Rectangle 3"/>
          <p:cNvSpPr/>
          <p:nvPr/>
        </p:nvSpPr>
        <p:spPr>
          <a:xfrm>
            <a:off x="1147445" y="603885"/>
            <a:ext cx="1007618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Objectives of the Study</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6" name="Content Placeholder 5"/>
          <p:cNvSpPr>
            <a:spLocks noGrp="1"/>
          </p:cNvSpPr>
          <p:nvPr>
            <p:ph idx="1"/>
          </p:nvPr>
        </p:nvSpPr>
        <p:spPr>
          <a:xfrm>
            <a:off x="1097280" y="1864995"/>
            <a:ext cx="10058400" cy="4004310"/>
          </a:xfrm>
        </p:spPr>
        <p:txBody>
          <a:bodyPr>
            <a:noAutofit/>
          </a:bodyPr>
          <a:p>
            <a:pPr algn="just">
              <a:lnSpc>
                <a:spcPct val="150000"/>
              </a:lnSpc>
              <a:buSzTx/>
              <a:buFont typeface="Wingdings" panose="05000000000000000000" pitchFamily="2" charset="2"/>
              <a:buChar char="Ø"/>
            </a:pPr>
            <a:r>
              <a:rPr lang="en-US" altLang="en-US" sz="2000" b="1">
                <a:solidFill>
                  <a:srgbClr val="00B050"/>
                </a:solidFill>
                <a:latin typeface="Times New Roman" panose="02020603050405020304" pitchFamily="18" charset="0"/>
                <a:cs typeface="Times New Roman" panose="02020603050405020304" pitchFamily="18" charset="0"/>
              </a:rPr>
              <a:t>This feasibility study encompassed the following areas:</a:t>
            </a:r>
            <a:endParaRPr lang="en-US" altLang="en-US" sz="2000" b="1">
              <a:solidFill>
                <a:srgbClr val="00B050"/>
              </a:solidFill>
              <a:latin typeface="Times New Roman" panose="02020603050405020304" pitchFamily="18" charset="0"/>
              <a:cs typeface="Times New Roman" panose="02020603050405020304" pitchFamily="18" charset="0"/>
            </a:endParaRPr>
          </a:p>
          <a:p>
            <a:pPr marL="457200" indent="-457200" algn="just">
              <a:lnSpc>
                <a:spcPct val="150000"/>
              </a:lnSpc>
              <a:buSzTx/>
              <a:buFont typeface="+mj-lt"/>
              <a:buAutoNum type="arabicPeriod"/>
            </a:pPr>
            <a:r>
              <a:rPr lang="en-US" altLang="en-US" sz="2000" b="1">
                <a:solidFill>
                  <a:srgbClr val="00B050"/>
                </a:solidFill>
                <a:latin typeface="Times New Roman" panose="02020603050405020304" pitchFamily="18" charset="0"/>
                <a:cs typeface="Times New Roman" panose="02020603050405020304" pitchFamily="18" charset="0"/>
              </a:rPr>
              <a:t>Technical Aspects:</a:t>
            </a:r>
            <a:r>
              <a:rPr lang="en-US" altLang="en-US" sz="2000">
                <a:latin typeface="Times New Roman" panose="02020603050405020304" pitchFamily="18" charset="0"/>
                <a:cs typeface="Times New Roman" panose="02020603050405020304" pitchFamily="18" charset="0"/>
              </a:rPr>
              <a:t> Evaluation of the technical requirements for implementing a Student Management System (SMS), including infrastructure, software, and hardware capabilities necessary for efficient operation.</a:t>
            </a:r>
            <a:endParaRPr lang="en-US" altLang="en-US" sz="2000">
              <a:latin typeface="Times New Roman" panose="02020603050405020304" pitchFamily="18" charset="0"/>
              <a:cs typeface="Times New Roman" panose="02020603050405020304" pitchFamily="18" charset="0"/>
            </a:endParaRPr>
          </a:p>
          <a:p>
            <a:pPr marL="457200" indent="-457200" algn="just">
              <a:lnSpc>
                <a:spcPct val="150000"/>
              </a:lnSpc>
              <a:buSzTx/>
              <a:buFont typeface="+mj-lt"/>
              <a:buAutoNum type="arabicPeriod"/>
            </a:pPr>
            <a:r>
              <a:rPr lang="en-US" altLang="en-US" sz="2000" b="1">
                <a:solidFill>
                  <a:srgbClr val="00B050"/>
                </a:solidFill>
                <a:latin typeface="Times New Roman" panose="02020603050405020304" pitchFamily="18" charset="0"/>
                <a:cs typeface="Times New Roman" panose="02020603050405020304" pitchFamily="18" charset="0"/>
              </a:rPr>
              <a:t>Economic Aspects:</a:t>
            </a:r>
            <a:r>
              <a:rPr lang="en-US" altLang="en-US" sz="2000">
                <a:latin typeface="Times New Roman" panose="02020603050405020304" pitchFamily="18" charset="0"/>
                <a:cs typeface="Times New Roman" panose="02020603050405020304" pitchFamily="18" charset="0"/>
              </a:rPr>
              <a:t> Analysis of the financial implications of transitioning to an SMS, including initial costs, potential savings, and return on investment.</a:t>
            </a:r>
            <a:endParaRPr lang="en-US" altLang="en-US" sz="2000">
              <a:latin typeface="Times New Roman" panose="02020603050405020304" pitchFamily="18" charset="0"/>
              <a:cs typeface="Times New Roman" panose="02020603050405020304" pitchFamily="18" charset="0"/>
            </a:endParaRPr>
          </a:p>
          <a:p>
            <a:pPr marL="457200" indent="-457200" algn="just">
              <a:lnSpc>
                <a:spcPct val="150000"/>
              </a:lnSpc>
              <a:buSzTx/>
              <a:buFont typeface="+mj-lt"/>
              <a:buAutoNum type="arabicPeriod"/>
            </a:pPr>
            <a:r>
              <a:rPr lang="en-US" altLang="en-US" sz="2000" b="1">
                <a:solidFill>
                  <a:srgbClr val="00B050"/>
                </a:solidFill>
                <a:latin typeface="Times New Roman" panose="02020603050405020304" pitchFamily="18" charset="0"/>
                <a:cs typeface="Times New Roman" panose="02020603050405020304" pitchFamily="18" charset="0"/>
              </a:rPr>
              <a:t>Operational Aspects:</a:t>
            </a:r>
            <a:r>
              <a:rPr lang="en-US" altLang="en-US" sz="2000">
                <a:latin typeface="Times New Roman" panose="02020603050405020304" pitchFamily="18" charset="0"/>
                <a:cs typeface="Times New Roman" panose="02020603050405020304" pitchFamily="18" charset="0"/>
              </a:rPr>
              <a:t> Examination of how the SMS will integrate into existing workflows, improve administrative processes, and enhance overall institutional efficiency.</a:t>
            </a:r>
            <a:endParaRPr lang="en-US" altLang="en-US" sz="2000">
              <a:latin typeface="Times New Roman" panose="02020603050405020304" pitchFamily="18" charset="0"/>
              <a:cs typeface="Times New Roman" panose="02020603050405020304" pitchFamily="18" charset="0"/>
            </a:endParaRPr>
          </a:p>
        </p:txBody>
      </p:sp>
      <p:sp>
        <p:nvSpPr>
          <p:cNvPr id="7" name="Rectangle 3"/>
          <p:cNvSpPr/>
          <p:nvPr/>
        </p:nvSpPr>
        <p:spPr>
          <a:xfrm>
            <a:off x="1097280" y="349885"/>
            <a:ext cx="1005840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lvl="0" algn="ctr">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 Scope of the Study</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033954"/>
            <a:ext cx="10307782" cy="5438890"/>
          </a:xfrm>
        </p:spPr>
        <p:txBody>
          <a:bodyPr>
            <a:noAutofit/>
          </a:bodyPr>
          <a:lstStyle/>
          <a:p>
            <a:pPr marL="0" marR="0" lvl="0" indent="0" algn="just">
              <a:lnSpc>
                <a:spcPct val="15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WITI possesses a robust technological infrastructure, including:</a:t>
            </a:r>
            <a:endParaRPr lang="en-US" sz="18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Hardware: </a:t>
            </a:r>
            <a:r>
              <a:rPr lang="en-US" sz="1660" dirty="0">
                <a:latin typeface="Times New Roman" panose="02020603050405020304" pitchFamily="18" charset="0"/>
                <a:ea typeface="等线" panose="02010600030101010101" pitchFamily="2" charset="-122"/>
              </a:rPr>
              <a:t>Sufficient computers in student labs and laptops provided to staff, all equipped with  necessary software (like, web browsing).</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Network: </a:t>
            </a:r>
            <a:r>
              <a:rPr lang="en-US" sz="1660" dirty="0">
                <a:latin typeface="Times New Roman" panose="02020603050405020304" pitchFamily="18" charset="0"/>
                <a:ea typeface="等线" panose="02010600030101010101" pitchFamily="2" charset="-122"/>
              </a:rPr>
              <a:t>Reliable Wi-Fi access supported by a network server.</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Cloud Hosting: </a:t>
            </a:r>
            <a:r>
              <a:rPr lang="en-US" sz="1660" dirty="0">
                <a:latin typeface="Times New Roman" panose="02020603050405020304" pitchFamily="18" charset="0"/>
                <a:ea typeface="等线" panose="02010600030101010101" pitchFamily="2" charset="-122"/>
              </a:rPr>
              <a:t>A cloud shared hosting server already in use for the institution’s website, with good security protocols, including secure protocols and SSL certificates.</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Operating Systems: </a:t>
            </a:r>
            <a:r>
              <a:rPr lang="en-US" sz="1660" dirty="0">
                <a:latin typeface="Times New Roman" panose="02020603050405020304" pitchFamily="18" charset="0"/>
                <a:ea typeface="等线" panose="02010600030101010101" pitchFamily="2" charset="-122"/>
              </a:rPr>
              <a:t>Both the computers  in the computer and the laptops provided to the staff member have up to date Operating Systems (Windows, Ubuntu, MacOS). During system use, the system will be multi-platform independent.</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solidFill>
                  <a:srgbClr val="00B050"/>
                </a:solidFill>
                <a:latin typeface="Times New Roman" panose="02020603050405020304" pitchFamily="18" charset="0"/>
                <a:ea typeface="等线" panose="02010600030101010101" pitchFamily="2" charset="-122"/>
              </a:rPr>
              <a:t>Support for the Proposed SMS: </a:t>
            </a:r>
            <a:r>
              <a:rPr lang="en-US" sz="1660" dirty="0">
                <a:latin typeface="Times New Roman" panose="02020603050405020304" pitchFamily="18" charset="0"/>
                <a:ea typeface="等线" panose="02010600030101010101" pitchFamily="2" charset="-122"/>
              </a:rPr>
              <a:t>The existing infrastructure is capable of supporting the proposed SMS, as all necessary components are in place. The cloud server can accommodate the SMS, ensuring secure and efficient operations.</a:t>
            </a:r>
            <a:endParaRPr lang="en-US" sz="1660" dirty="0">
              <a:latin typeface="Times New Roman" panose="02020603050405020304" pitchFamily="18" charset="0"/>
              <a:ea typeface="等线" panose="02010600030101010101" pitchFamily="2" charset="-122"/>
            </a:endParaRPr>
          </a:p>
        </p:txBody>
      </p:sp>
      <p:sp>
        <p:nvSpPr>
          <p:cNvPr id="4" name="Rectangle 3"/>
          <p:cNvSpPr/>
          <p:nvPr/>
        </p:nvSpPr>
        <p:spPr>
          <a:xfrm>
            <a:off x="1041862" y="64135"/>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Current Infrastructure Assessment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Autofit/>
          </a:bodyPr>
          <a:lstStyle/>
          <a:p>
            <a:pPr marL="0" indent="0" algn="just">
              <a:lnSpc>
                <a:spcPct val="150000"/>
              </a:lnSpc>
              <a:spcBef>
                <a:spcPts val="500"/>
              </a:spcBef>
              <a:spcAft>
                <a:spcPts val="500"/>
              </a:spcAft>
              <a:buNone/>
            </a:pPr>
            <a:r>
              <a:rPr lang="en-US" sz="1900" b="1" dirty="0">
                <a:solidFill>
                  <a:srgbClr val="00B050"/>
                </a:solidFill>
                <a:latin typeface="Times New Roman" panose="02020603050405020304" pitchFamily="18" charset="0"/>
                <a:ea typeface="等线" panose="02010600030101010101" pitchFamily="2" charset="-122"/>
              </a:rPr>
              <a:t>1. Technical Stack</a:t>
            </a:r>
            <a:endParaRPr lang="en-US" sz="19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900" b="1" dirty="0">
                <a:latin typeface="Times New Roman" panose="02020603050405020304" pitchFamily="18" charset="0"/>
                <a:ea typeface="等线" panose="02010600030101010101" pitchFamily="2" charset="-122"/>
              </a:rPr>
              <a:t>Frontend: Frameworks</a:t>
            </a:r>
            <a:endParaRPr lang="en-US" sz="1900" b="1"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1900" b="1" dirty="0">
                <a:latin typeface="Times New Roman" panose="02020603050405020304" pitchFamily="18" charset="0"/>
                <a:ea typeface="等线" panose="02010600030101010101" pitchFamily="2" charset="-122"/>
              </a:rPr>
              <a:t> Laravel Blade</a:t>
            </a:r>
            <a:r>
              <a:rPr lang="en-US" sz="1900" dirty="0">
                <a:latin typeface="Times New Roman" panose="02020603050405020304" pitchFamily="18" charset="0"/>
                <a:ea typeface="等线" panose="02010600030101010101" pitchFamily="2" charset="-122"/>
              </a:rPr>
              <a:t>: for templating, alongside Laravel Livewire for dynamic components.</a:t>
            </a:r>
            <a:endParaRPr lang="en-US" sz="19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900" b="1" dirty="0">
                <a:latin typeface="Times New Roman" panose="02020603050405020304" pitchFamily="18" charset="0"/>
                <a:ea typeface="等线" panose="02010600030101010101" pitchFamily="2" charset="-122"/>
              </a:rPr>
              <a:t>Backend: </a:t>
            </a:r>
            <a:r>
              <a:rPr lang="en-US" sz="1900" dirty="0">
                <a:latin typeface="Times New Roman" panose="02020603050405020304" pitchFamily="18" charset="0"/>
                <a:ea typeface="等线" panose="02010600030101010101" pitchFamily="2" charset="-122"/>
              </a:rPr>
              <a:t>PHP (Laravel framework) and a </a:t>
            </a:r>
            <a:r>
              <a:rPr lang="en-US" sz="1900" b="1" dirty="0">
                <a:latin typeface="Times New Roman" panose="02020603050405020304" pitchFamily="18" charset="0"/>
                <a:ea typeface="等线" panose="02010600030101010101" pitchFamily="2" charset="-122"/>
              </a:rPr>
              <a:t> </a:t>
            </a:r>
            <a:r>
              <a:rPr lang="en-US" sz="1900" dirty="0">
                <a:latin typeface="Times New Roman" panose="02020603050405020304" pitchFamily="18" charset="0"/>
                <a:ea typeface="等线" panose="02010600030101010101" pitchFamily="2" charset="-122"/>
              </a:rPr>
              <a:t>MySQL </a:t>
            </a:r>
            <a:r>
              <a:rPr lang="en-US" sz="1900" b="1" dirty="0">
                <a:latin typeface="Times New Roman" panose="02020603050405020304" pitchFamily="18" charset="0"/>
                <a:ea typeface="等线" panose="02010600030101010101" pitchFamily="2" charset="-122"/>
                <a:sym typeface="+mn-ea"/>
              </a:rPr>
              <a:t>Database</a:t>
            </a:r>
            <a:endParaRPr lang="en-US" sz="19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4" y="2120900"/>
            <a:ext cx="4639736" cy="4091478"/>
          </a:xfrm>
        </p:spPr>
        <p:txBody>
          <a:bodyPr>
            <a:noAutofit/>
          </a:bodyPr>
          <a:lstStyle/>
          <a:p>
            <a:pPr marL="0" lvl="0" indent="0" algn="just">
              <a:lnSpc>
                <a:spcPct val="13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2. Security: </a:t>
            </a:r>
            <a:r>
              <a:rPr lang="en-US" sz="1800" dirty="0">
                <a:latin typeface="Times New Roman" panose="02020603050405020304" pitchFamily="18" charset="0"/>
                <a:ea typeface="等线" panose="02010600030101010101" pitchFamily="2" charset="-122"/>
              </a:rPr>
              <a:t>Implementing security features such as encryption for sensitive data, multi-factor user authentication, and regular backups to ensure data integrity and security.</a:t>
            </a:r>
            <a:endParaRPr lang="en-US" sz="18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3. Hosting: </a:t>
            </a:r>
            <a:r>
              <a:rPr lang="en-US" sz="1800" dirty="0">
                <a:latin typeface="Times New Roman" panose="02020603050405020304" pitchFamily="18" charset="0"/>
                <a:ea typeface="等线" panose="02010600030101010101" pitchFamily="2" charset="-122"/>
              </a:rPr>
              <a:t>The SMS will be hosted in the cloud, providing cost-effectiveness and scalability.</a:t>
            </a:r>
            <a:endParaRPr lang="en-US" sz="18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4. Operating System: </a:t>
            </a:r>
            <a:r>
              <a:rPr lang="en-US" sz="1800" dirty="0">
                <a:latin typeface="Times New Roman" panose="02020603050405020304" pitchFamily="18" charset="0"/>
                <a:ea typeface="等线" panose="02010600030101010101" pitchFamily="2" charset="-122"/>
              </a:rPr>
              <a:t>The system will run on a server with a compatible OS, such as Ubuntu or CentOS, which are suitable for web applications and provide a stable environment for PHP and </a:t>
            </a:r>
            <a:r>
              <a:rPr lang="en-US" sz="1800" kern="0" dirty="0">
                <a:effectLst/>
                <a:latin typeface="Times New Roman" panose="02020603050405020304" pitchFamily="18" charset="0"/>
                <a:ea typeface="SimSun" panose="02010600030101010101" pitchFamily="2" charset="-122"/>
              </a:rPr>
              <a:t>MySQL.</a:t>
            </a:r>
            <a:endParaRPr lang="en-US" sz="1800" dirty="0">
              <a:effectLst/>
              <a:latin typeface="Times New Roman" panose="02020603050405020304" pitchFamily="18" charset="0"/>
              <a:ea typeface="等线" panose="02010600030101010101" pitchFamily="2" charset="-122"/>
            </a:endParaRPr>
          </a:p>
          <a:p>
            <a:pPr>
              <a:lnSpc>
                <a:spcPct val="100000"/>
              </a:lnSpc>
            </a:pPr>
            <a:endParaRPr lang="en-US" sz="1800" dirty="0"/>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Technology Requirements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2"/>
          </p:nvPr>
        </p:nvSpPr>
        <p:spPr>
          <a:xfrm>
            <a:off x="1097280" y="2113280"/>
            <a:ext cx="5377815" cy="3756025"/>
          </a:xfrm>
        </p:spPr>
        <p:txBody>
          <a:bodyPr>
            <a:noAutofit/>
          </a:bodyPr>
          <a:lstStyle/>
          <a:p>
            <a:pPr marL="342900" indent="-342900" algn="just">
              <a:lnSpc>
                <a:spcPct val="150000"/>
              </a:lnSpc>
              <a:spcBef>
                <a:spcPts val="500"/>
              </a:spcBef>
              <a:spcAft>
                <a:spcPts val="500"/>
              </a:spcAft>
              <a:buSzTx/>
              <a:buFont typeface="Wingdings" panose="05000000000000000000" pitchFamily="2" charset="2"/>
              <a:buChar char=""/>
            </a:pPr>
            <a:r>
              <a:rPr lang="en-US" sz="1800" b="1" dirty="0">
                <a:solidFill>
                  <a:srgbClr val="00B050"/>
                </a:solidFill>
                <a:effectLst/>
                <a:latin typeface="Times New Roman" panose="02020603050405020304" pitchFamily="18" charset="0"/>
                <a:ea typeface="SimSun" panose="02010600030101010101" pitchFamily="2" charset="-122"/>
              </a:rPr>
              <a:t>Conclusion: </a:t>
            </a:r>
            <a:r>
              <a:rPr lang="en-US" sz="1800" dirty="0">
                <a:effectLst/>
                <a:latin typeface="Times New Roman" panose="02020603050405020304" pitchFamily="18" charset="0"/>
                <a:ea typeface="SimSun" panose="02010600030101010101" pitchFamily="2" charset="-122"/>
              </a:rPr>
              <a:t>The proposed Student Management System (SMS) was technically feasible, supported by WITI’s existing infrastructure, including sufficient hardware, reliable Wi-Fi, and a capable cloud hosting server. Recommended upgrades to the cloud package and internet connectivity will enhance performance. Overall, the institution is prepared for a successful SMS implementation.</a:t>
            </a:r>
            <a:endParaRPr lang="en-US" sz="1800" dirty="0">
              <a:effectLst/>
              <a:latin typeface="Times New Roman" panose="02020603050405020304" pitchFamily="18" charset="0"/>
              <a:ea typeface="SimSun" panose="02010600030101010101" pitchFamily="2" charset="-122"/>
            </a:endParaRPr>
          </a:p>
        </p:txBody>
      </p:sp>
      <p:sp>
        <p:nvSpPr>
          <p:cNvPr id="8" name="Content Placeholder 7"/>
          <p:cNvSpPr>
            <a:spLocks noGrp="1"/>
          </p:cNvSpPr>
          <p:nvPr>
            <p:ph sz="quarter" idx="4"/>
          </p:nvPr>
        </p:nvSpPr>
        <p:spPr>
          <a:xfrm>
            <a:off x="6753225" y="2178685"/>
            <a:ext cx="4402455" cy="3690620"/>
          </a:xfrm>
        </p:spPr>
        <p:txBody>
          <a:bodyPr>
            <a:normAutofit/>
          </a:bodyPr>
          <a:p>
            <a:endParaRPr lang="en-US"/>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sym typeface="+mn-ea"/>
              </a:rPr>
              <a:t>Technical Feasibility: Conclusion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Autofit/>
          </a:bodyPr>
          <a:lstStyle/>
          <a:p>
            <a:pPr marL="0" marR="0" algn="just">
              <a:lnSpc>
                <a:spcPct val="150000"/>
              </a:lnSpc>
              <a:spcBef>
                <a:spcPts val="500"/>
              </a:spcBef>
              <a:spcAft>
                <a:spcPts val="500"/>
              </a:spcAft>
            </a:pPr>
            <a:r>
              <a:rPr lang="en-US" sz="1700" b="1" dirty="0">
                <a:effectLst/>
                <a:latin typeface="Times New Roman" panose="02020603050405020304" pitchFamily="18" charset="0"/>
                <a:ea typeface="SimSun" panose="02010600030101010101" pitchFamily="2" charset="-122"/>
              </a:rPr>
              <a:t>Staff and Student Readiness:</a:t>
            </a:r>
            <a:r>
              <a:rPr lang="en-US" sz="1700" kern="0" dirty="0">
                <a:effectLst/>
                <a:latin typeface="Times New Roman" panose="02020603050405020304" pitchFamily="18" charset="0"/>
                <a:ea typeface="SimSun" panose="02010600030101010101" pitchFamily="2" charset="-122"/>
              </a:rPr>
              <a:t> WITI’s staff and students are prepared to adapt to the new Student Management System (SMS). Staff members are proficient in similar systems, while many have software development knowledge.</a:t>
            </a:r>
            <a:endParaRPr lang="en-US" sz="17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700" b="1" dirty="0">
                <a:effectLst/>
                <a:latin typeface="Times New Roman" panose="02020603050405020304" pitchFamily="18" charset="0"/>
                <a:ea typeface="SimSun" panose="02010600030101010101" pitchFamily="2" charset="-122"/>
              </a:rPr>
              <a:t>Integration into Current Workflows:</a:t>
            </a:r>
            <a:r>
              <a:rPr lang="en-US" sz="1700" kern="0" dirty="0">
                <a:effectLst/>
                <a:latin typeface="Times New Roman" panose="02020603050405020304" pitchFamily="18" charset="0"/>
                <a:ea typeface="SimSun" panose="02010600030101010101" pitchFamily="2" charset="-122"/>
              </a:rPr>
              <a:t> The SMS will streamline tasks like registration, attendance tracking, and grading, reducing manual efforts and enhancing workflow efficiency.</a:t>
            </a:r>
            <a:endParaRPr lang="en-US" sz="1700" kern="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700" b="1" dirty="0">
                <a:effectLst/>
                <a:latin typeface="Times New Roman" panose="02020603050405020304" pitchFamily="18" charset="0"/>
                <a:ea typeface="SimSun" panose="02010600030101010101" pitchFamily="2" charset="-122"/>
              </a:rPr>
              <a:t>Training Requirements</a:t>
            </a:r>
            <a:endParaRPr lang="en-US" sz="17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b="1" dirty="0">
                <a:effectLst/>
                <a:latin typeface="Times New Roman" panose="02020603050405020304" pitchFamily="18" charset="0"/>
                <a:ea typeface="SimSun" panose="02010600030101010101" pitchFamily="2" charset="-122"/>
              </a:rPr>
              <a:t>Staff: </a:t>
            </a:r>
            <a:r>
              <a:rPr lang="en-US" sz="1700" b="0" dirty="0">
                <a:effectLst/>
                <a:latin typeface="Times New Roman" panose="02020603050405020304" pitchFamily="18" charset="0"/>
                <a:ea typeface="SimSun" panose="02010600030101010101" pitchFamily="2" charset="-122"/>
              </a:rPr>
              <a:t>No training needed as they are already skilled </a:t>
            </a:r>
            <a:r>
              <a:rPr lang="en-US" sz="1700" b="0" dirty="0" err="1">
                <a:effectLst/>
                <a:latin typeface="Times New Roman" panose="02020603050405020304" pitchFamily="18" charset="0"/>
                <a:ea typeface="SimSun" panose="02010600030101010101" pitchFamily="2" charset="-122"/>
              </a:rPr>
              <a:t>interms</a:t>
            </a:r>
            <a:r>
              <a:rPr lang="en-US" sz="1700" b="0" dirty="0">
                <a:effectLst/>
                <a:latin typeface="Times New Roman" panose="02020603050405020304" pitchFamily="18" charset="0"/>
                <a:ea typeface="SimSun" panose="02010600030101010101" pitchFamily="2" charset="-122"/>
              </a:rPr>
              <a:t> of the use of such systems</a:t>
            </a:r>
            <a:endParaRPr lang="en-US" sz="17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b="1" dirty="0">
                <a:effectLst/>
                <a:latin typeface="Times New Roman" panose="02020603050405020304" pitchFamily="18" charset="0"/>
                <a:ea typeface="SimSun" panose="02010600030101010101" pitchFamily="2" charset="-122"/>
              </a:rPr>
              <a:t>Students: </a:t>
            </a:r>
            <a:r>
              <a:rPr lang="en-US" sz="1700" b="0" dirty="0">
                <a:effectLst/>
                <a:latin typeface="Times New Roman" panose="02020603050405020304" pitchFamily="18" charset="0"/>
                <a:ea typeface="SimSun" panose="02010600030101010101" pitchFamily="2" charset="-122"/>
              </a:rPr>
              <a:t>Basic training sessions may be offered by staff to ensure familiarity with the SMS features.</a:t>
            </a:r>
            <a:endParaRPr lang="en-US" sz="1700" dirty="0">
              <a:effectLst/>
              <a:latin typeface="Times New Roman" panose="02020603050405020304" pitchFamily="18" charset="0"/>
              <a:ea typeface="SimSun" panose="02010600030101010101" pitchFamily="2" charset="-122"/>
            </a:endParaRPr>
          </a:p>
          <a:p>
            <a:pPr algn="just">
              <a:lnSpc>
                <a:spcPct val="156000"/>
              </a:lnSpc>
              <a:spcBef>
                <a:spcPts val="1400"/>
              </a:spcBef>
              <a:spcAft>
                <a:spcPts val="1450"/>
              </a:spcAft>
            </a:pPr>
            <a:r>
              <a:rPr lang="en-US" sz="1700" b="1" dirty="0">
                <a:solidFill>
                  <a:srgbClr val="00B050"/>
                </a:solidFill>
                <a:effectLst/>
                <a:latin typeface="Times New Roman" panose="02020603050405020304" pitchFamily="18" charset="0"/>
                <a:ea typeface="等线" panose="02010600030101010101" pitchFamily="2" charset="-122"/>
              </a:rPr>
              <a:t>Conclusion: </a:t>
            </a:r>
            <a:r>
              <a:rPr lang="en-US" sz="1700" b="0" dirty="0">
                <a:effectLst/>
                <a:latin typeface="Times New Roman" panose="02020603050405020304" pitchFamily="18" charset="0"/>
                <a:ea typeface="等线" panose="02010600030101010101" pitchFamily="2" charset="-122"/>
              </a:rPr>
              <a:t>Overall, the operational feasibility of implementing the SMS at WITI is strong, given the readiness of both staff and students, the positive impact on existing workflows, and the minimal training requirements.  This readiness supports the successful adoption and long-term use of the  proposed system</a:t>
            </a:r>
            <a:endParaRPr lang="en-US" sz="1700" b="1" dirty="0">
              <a:effectLst/>
              <a:latin typeface="Times New Roman" panose="02020603050405020304" pitchFamily="18" charset="0"/>
              <a:ea typeface="等线" panose="02010600030101010101" pitchFamily="2" charset="-122"/>
            </a:endParaRPr>
          </a:p>
          <a:p>
            <a:pPr marL="0" marR="0" algn="just">
              <a:lnSpc>
                <a:spcPct val="150000"/>
              </a:lnSpc>
              <a:spcBef>
                <a:spcPts val="500"/>
              </a:spcBef>
              <a:spcAft>
                <a:spcPts val="500"/>
              </a:spcAft>
            </a:pPr>
            <a:endParaRPr lang="en-US" sz="1700" dirty="0">
              <a:effectLst/>
              <a:latin typeface="Times New Roman" panose="02020603050405020304" pitchFamily="18" charset="0"/>
              <a:ea typeface="SimSun" panose="02010600030101010101" pitchFamily="2" charset="-122"/>
            </a:endParaRPr>
          </a:p>
          <a:p>
            <a:pPr marL="0" marR="0" lvl="0" indent="0" algn="just">
              <a:lnSpc>
                <a:spcPct val="150000"/>
              </a:lnSpc>
              <a:spcBef>
                <a:spcPts val="500"/>
              </a:spcBef>
              <a:spcAft>
                <a:spcPts val="500"/>
              </a:spcAft>
              <a:buNone/>
            </a:pPr>
            <a:endParaRPr lang="en-US" sz="15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Operational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a:xfrm>
            <a:off x="1097280" y="1256421"/>
            <a:ext cx="4639736" cy="5066795"/>
          </a:xfrm>
        </p:spPr>
        <p:txBody>
          <a:bodyPr>
            <a:noAutofit/>
          </a:bodyPr>
          <a:lstStyle/>
          <a:p>
            <a:pPr marL="0" lv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1. Development Costs</a:t>
            </a:r>
            <a:endParaRPr lang="en-US" b="1" dirty="0">
              <a:solidFill>
                <a:srgbClr val="00B050"/>
              </a:solidFill>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Student Developers</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5 Best students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5 students × UGX 300,000 × 3 months = </a:t>
            </a:r>
            <a:r>
              <a:rPr lang="en-US" b="1" dirty="0">
                <a:effectLst/>
                <a:latin typeface="Times New Roman" panose="02020603050405020304" pitchFamily="18" charset="0"/>
                <a:ea typeface="SimSun" panose="02010600030101010101" pitchFamily="2" charset="-122"/>
              </a:rPr>
              <a:t>UGX 4,500,000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Professional Developer</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1 Proficient developer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UGX 2,000,000 ×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 = </a:t>
            </a:r>
            <a:r>
              <a:rPr lang="en-US" b="1" dirty="0">
                <a:effectLst/>
                <a:latin typeface="Times New Roman" panose="02020603050405020304" pitchFamily="18" charset="0"/>
                <a:ea typeface="SimSun" panose="02010600030101010101" pitchFamily="2" charset="-122"/>
              </a:rPr>
              <a:t>UGX 6,000,000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endParaRPr lang="en-US" sz="17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3" y="1396538"/>
            <a:ext cx="4927912" cy="5015346"/>
          </a:xfrm>
        </p:spPr>
        <p:txBody>
          <a:bodyPr>
            <a:noAutofit/>
          </a:bodyPr>
          <a:lstStyle/>
          <a:p>
            <a:pPr mar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2. Infrastructure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200000"/>
              </a:lnSpc>
              <a:buFont typeface="Wingdings" panose="05000000000000000000" pitchFamily="2" charset="2"/>
              <a:buChar char="Ø"/>
            </a:pPr>
            <a:r>
              <a:rPr lang="en-US" b="1" dirty="0">
                <a:latin typeface="Times New Roman" panose="02020603050405020304" pitchFamily="18" charset="0"/>
                <a:ea typeface="等线" panose="02010600030101010101" pitchFamily="2" charset="-122"/>
              </a:rPr>
              <a:t>Cloud Hosting: </a:t>
            </a:r>
            <a:r>
              <a:rPr lang="en-US" dirty="0">
                <a:latin typeface="Times New Roman" panose="02020603050405020304" pitchFamily="18" charset="0"/>
                <a:ea typeface="等线" panose="02010600030101010101" pitchFamily="2" charset="-122"/>
              </a:rPr>
              <a:t>UGX 200,000 per year.</a:t>
            </a:r>
            <a:endParaRPr lang="en-US" dirty="0">
              <a:latin typeface="Times New Roman" panose="02020603050405020304" pitchFamily="18" charset="0"/>
              <a:ea typeface="等线" panose="02010600030101010101" pitchFamily="2" charset="-122"/>
            </a:endParaRPr>
          </a:p>
          <a:p>
            <a:pPr marL="0" indent="0" algn="just">
              <a:lnSpc>
                <a:spcPct val="80000"/>
              </a:lnSpc>
              <a:buNone/>
            </a:pPr>
            <a:r>
              <a:rPr lang="en-US" b="1" dirty="0">
                <a:solidFill>
                  <a:srgbClr val="00B050"/>
                </a:solidFill>
                <a:latin typeface="Times New Roman" panose="02020603050405020304" pitchFamily="18" charset="0"/>
                <a:ea typeface="等线" panose="02010600030101010101" pitchFamily="2" charset="-122"/>
              </a:rPr>
              <a:t>3.  Testing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Since WITI staff can effectively test the functional features and provide feedback, this will reduce additional costs associated with third-party testing. Therefore, UGX 0 for testing</a:t>
            </a:r>
            <a:r>
              <a:rPr lang="en-US" sz="1800" b="1" dirty="0">
                <a:latin typeface="Times New Roman" panose="02020603050405020304" pitchFamily="18" charset="0"/>
                <a:ea typeface="等线" panose="02010600030101010101" pitchFamily="2" charset="-122"/>
              </a:rPr>
              <a:t>.</a:t>
            </a:r>
            <a:endParaRPr lang="en-US" sz="1800" b="1" dirty="0">
              <a:latin typeface="Times New Roman" panose="02020603050405020304" pitchFamily="18" charset="0"/>
              <a:ea typeface="等线" panose="02010600030101010101" pitchFamily="2" charset="-122"/>
            </a:endParaRPr>
          </a:p>
          <a:p>
            <a:pPr algn="just">
              <a:lnSpc>
                <a:spcPct val="80000"/>
              </a:lnSpc>
            </a:pPr>
            <a:r>
              <a:rPr lang="en-US" sz="1700" b="1" dirty="0">
                <a:latin typeface="Times New Roman" panose="02020603050405020304" pitchFamily="18" charset="0"/>
                <a:ea typeface="等线" panose="02010600030101010101" pitchFamily="2" charset="-122"/>
              </a:rPr>
              <a:t>4. Maintenance Costs:</a:t>
            </a:r>
            <a:endParaRPr lang="en-US" sz="1700" b="1" dirty="0">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Estimated at UGX 600,000 annually for the developer’s maintenance support after deployment.</a:t>
            </a: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91597"/>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sym typeface="+mn-ea"/>
              </a:rPr>
              <a:t> Economic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87768"/>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1"/>
          </p:nvPr>
        </p:nvSpPr>
        <p:spPr>
          <a:xfrm>
            <a:off x="1097279" y="1256423"/>
            <a:ext cx="10401993" cy="5133294"/>
          </a:xfrm>
        </p:spPr>
        <p:txBody>
          <a:bodyPr>
            <a:noAutofit/>
          </a:bodyPr>
          <a:lstStyle/>
          <a:p>
            <a:pPr algn="just">
              <a:lnSpc>
                <a:spcPct val="156000"/>
              </a:lnSpc>
              <a:spcBef>
                <a:spcPts val="1400"/>
              </a:spcBef>
              <a:spcAft>
                <a:spcPts val="1450"/>
              </a:spcAft>
            </a:pPr>
            <a:r>
              <a:rPr lang="en-US" sz="1800" b="1" dirty="0">
                <a:solidFill>
                  <a:srgbClr val="00B050"/>
                </a:solidFill>
                <a:effectLst/>
                <a:latin typeface="Times New Roman" panose="02020603050405020304" pitchFamily="18" charset="0"/>
                <a:ea typeface="SimSun" panose="02010600030101010101" pitchFamily="2" charset="-122"/>
              </a:rPr>
              <a:t>Expected Benefits</a:t>
            </a:r>
            <a:endParaRPr lang="en-US" sz="1800" b="1" dirty="0">
              <a:solidFill>
                <a:srgbClr val="00B050"/>
              </a:solidFill>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By leveraging the expertise of WITI's best students and a proficient developer, the institution minimizes development costs while providing valuable learning opportunities for students.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collaboration will enhance students' skills and practical experience while ensuring that the system aligns with WITI's needs.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anticipated benefits of increased operational efficiency, improved data management, and support for WITI’s mission to bridge the technological gender gap will outweigh the development and maintenance costs.</a:t>
            </a:r>
            <a:endParaRPr lang="en-US" sz="17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solidFill>
                  <a:srgbClr val="00B050"/>
                </a:solidFill>
                <a:effectLst/>
                <a:latin typeface="Times New Roman" panose="02020603050405020304" pitchFamily="18" charset="0"/>
                <a:ea typeface="等线" panose="02010600030101010101" pitchFamily="2" charset="-122"/>
              </a:rPr>
              <a:t>Conclusion</a:t>
            </a:r>
            <a:r>
              <a:rPr lang="en-US" sz="1800" b="1" dirty="0">
                <a:effectLst/>
                <a:latin typeface="Times New Roman" panose="02020603050405020304" pitchFamily="18" charset="0"/>
                <a:ea typeface="等线" panose="02010600030101010101" pitchFamily="2" charset="-122"/>
              </a:rPr>
              <a:t>: </a:t>
            </a:r>
            <a:r>
              <a:rPr lang="en-US" sz="1800" dirty="0">
                <a:effectLst/>
                <a:latin typeface="Times New Roman" panose="02020603050405020304" pitchFamily="18" charset="0"/>
                <a:ea typeface="等线" panose="02010600030101010101" pitchFamily="2" charset="-122"/>
              </a:rPr>
              <a:t>The economic feasibility of the SMS at WITI indicates a viable project with costs totaling </a:t>
            </a:r>
            <a:endParaRPr lang="en-US" sz="18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solidFill>
                  <a:srgbClr val="00B050"/>
                </a:solidFill>
                <a:effectLst/>
                <a:latin typeface="Times New Roman" panose="02020603050405020304" pitchFamily="18" charset="0"/>
                <a:ea typeface="等线" panose="02010600030101010101" pitchFamily="2" charset="-122"/>
              </a:rPr>
              <a:t>UGX 11,300,000</a:t>
            </a:r>
            <a:r>
              <a:rPr lang="en-US" sz="1800" b="1" dirty="0">
                <a:effectLst/>
                <a:latin typeface="Times New Roman" panose="02020603050405020304" pitchFamily="18" charset="0"/>
                <a:ea typeface="等线" panose="02010600030101010101" pitchFamily="2" charset="-122"/>
              </a:rPr>
              <a:t>. </a:t>
            </a:r>
            <a:r>
              <a:rPr lang="en-US" sz="1800" dirty="0">
                <a:effectLst/>
                <a:latin typeface="Times New Roman" panose="02020603050405020304" pitchFamily="18" charset="0"/>
                <a:ea typeface="等线" panose="02010600030101010101" pitchFamily="2" charset="-122"/>
              </a:rPr>
              <a:t>Utilizing existing resources and student developers minimizes expenses while enhancing efficiency and data accuracy. The anticipated benefits outweigh the costs, confirming the project's feasibility.</a:t>
            </a:r>
            <a:endParaRPr lang="en-US" sz="1800" dirty="0">
              <a:effectLst/>
              <a:latin typeface="Times New Roman" panose="02020603050405020304" pitchFamily="18" charset="0"/>
              <a:ea typeface="等线" panose="02010600030101010101" pitchFamily="2" charset="-122"/>
            </a:endParaRPr>
          </a:p>
          <a:p>
            <a:pPr marL="0" marR="0" lvl="0" indent="0" algn="just">
              <a:lnSpc>
                <a:spcPct val="150000"/>
              </a:lnSpc>
              <a:spcBef>
                <a:spcPts val="500"/>
              </a:spcBef>
              <a:spcAft>
                <a:spcPts val="500"/>
              </a:spcAft>
              <a:buNone/>
            </a:pP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74972"/>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Cost-Benefit Analysis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013258" y="1029596"/>
            <a:ext cx="10513724" cy="4549775"/>
          </a:xfrm>
        </p:spPr>
        <p:txBody>
          <a:bodyPr>
            <a:noAutofit/>
          </a:bodyPr>
          <a:lstStyle/>
          <a:p>
            <a:pPr marL="0" marR="0" indent="0" algn="just">
              <a:lnSpc>
                <a:spcPct val="150000"/>
              </a:lnSpc>
              <a:spcBef>
                <a:spcPts val="500"/>
              </a:spcBef>
              <a:spcAft>
                <a:spcPts val="500"/>
              </a:spcAft>
              <a:buNone/>
            </a:pPr>
            <a:r>
              <a:rPr lang="en-US" sz="1800" b="1" kern="0" dirty="0">
                <a:solidFill>
                  <a:srgbClr val="00B050"/>
                </a:solidFill>
                <a:effectLst/>
                <a:latin typeface="Times New Roman" panose="02020603050405020304" pitchFamily="18" charset="0"/>
                <a:ea typeface="SimSun" panose="02010600030101010101" pitchFamily="2" charset="-122"/>
              </a:rPr>
              <a:t>The feasibility study </a:t>
            </a:r>
            <a:r>
              <a:rPr lang="en-US" sz="1800" kern="0" dirty="0">
                <a:effectLst/>
                <a:latin typeface="Times New Roman" panose="02020603050405020304" pitchFamily="18" charset="0"/>
                <a:ea typeface="SimSun" panose="02010600030101010101" pitchFamily="2" charset="-122"/>
              </a:rPr>
              <a:t>for the proposed Student Management System (SMS) at the Women’s Institute of Technology and Innovation (WITI) supports its implementation across all dimensions.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kern="0" dirty="0">
                <a:solidFill>
                  <a:srgbClr val="00B050"/>
                </a:solidFill>
                <a:effectLst/>
                <a:latin typeface="Times New Roman" panose="02020603050405020304" pitchFamily="18" charset="0"/>
                <a:ea typeface="SimSun" panose="02010600030101010101" pitchFamily="2" charset="-122"/>
              </a:rPr>
              <a:t>Technical Feasibility</a:t>
            </a:r>
            <a:r>
              <a:rPr lang="en-US" sz="1800" b="1" dirty="0">
                <a:solidFill>
                  <a:srgbClr val="00B050"/>
                </a:solidFill>
                <a:effectLst/>
                <a:latin typeface="Times New Roman" panose="02020603050405020304" pitchFamily="18" charset="0"/>
                <a:ea typeface="SimSun" panose="02010600030101010101" pitchFamily="2" charset="-122"/>
              </a:rPr>
              <a:t>:</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WITI has the necessary hardware, software, and network infrastructure, including cloud hosting, to support the SMS, which will utilize PHP (Laravel) and MySQL.</a:t>
            </a:r>
            <a:endParaRPr lang="en-US" sz="1800" dirty="0">
              <a:effectLst/>
              <a:latin typeface="Times New Roman" panose="02020603050405020304" pitchFamily="18" charset="0"/>
              <a:ea typeface="SimSun" panose="02010600030101010101" pitchFamily="2" charset="-122"/>
            </a:endParaRPr>
          </a:p>
          <a:p>
            <a:pPr marL="39560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Operational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Staff and students are ready to adapt to the new system, with proficient staff available to train students. Student developers will collaborate on the project, ensuring smooth integration into existing workflows.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Economic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The estimated cost for development and maintenance is </a:t>
            </a:r>
            <a:r>
              <a:rPr lang="en-US" sz="1800" b="1" dirty="0">
                <a:effectLst/>
                <a:latin typeface="Times New Roman" panose="02020603050405020304" pitchFamily="18" charset="0"/>
                <a:ea typeface="SimSun" panose="02010600030101010101" pitchFamily="2" charset="-122"/>
              </a:rPr>
              <a:t>UGX 11,300,000</a:t>
            </a:r>
            <a:r>
              <a:rPr lang="en-US" sz="1800" kern="0" dirty="0">
                <a:effectLst/>
                <a:latin typeface="Times New Roman" panose="02020603050405020304" pitchFamily="18" charset="0"/>
                <a:ea typeface="SimSun" panose="02010600030101010101" pitchFamily="2" charset="-122"/>
              </a:rPr>
              <a:t>. Utilizing existing resources and student involvement minimizes costs while enhancing efficiency and data accuracy.</a:t>
            </a:r>
            <a:endParaRPr lang="en-US" sz="18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 </a:t>
            </a:r>
            <a:endParaRPr lang="en-US" sz="1800" dirty="0">
              <a:effectLst/>
              <a:latin typeface="Times New Roman" panose="02020603050405020304" pitchFamily="18" charset="0"/>
              <a:ea typeface="SimSun" panose="02010600030101010101" pitchFamily="2" charset="-122"/>
            </a:endParaRPr>
          </a:p>
        </p:txBody>
      </p:sp>
      <p:sp>
        <p:nvSpPr>
          <p:cNvPr id="5" name="Rectangle 4"/>
          <p:cNvSpPr/>
          <p:nvPr/>
        </p:nvSpPr>
        <p:spPr>
          <a:xfrm>
            <a:off x="1096385" y="530987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500"/>
              </a:spcBef>
              <a:spcAft>
                <a:spcPts val="500"/>
              </a:spcAft>
            </a:pPr>
            <a:endParaRPr lang="en-US" sz="2200" b="1" kern="0" dirty="0">
              <a:effectLst/>
              <a:latin typeface="Times New Roman" panose="02020603050405020304" pitchFamily="18" charset="0"/>
              <a:ea typeface="SimSun" panose="02010600030101010101" pitchFamily="2" charset="-122"/>
            </a:endParaRPr>
          </a:p>
          <a:p>
            <a:pPr>
              <a:spcBef>
                <a:spcPts val="500"/>
              </a:spcBef>
              <a:spcAft>
                <a:spcPts val="500"/>
              </a:spcAft>
            </a:pPr>
            <a:r>
              <a:rPr lang="en-US" sz="2200" b="1" kern="0" dirty="0">
                <a:effectLst/>
                <a:latin typeface="Times New Roman" panose="02020603050405020304" pitchFamily="18" charset="0"/>
                <a:ea typeface="SimSun" panose="02010600030101010101" pitchFamily="2" charset="-122"/>
              </a:rPr>
              <a:t>In summary, the SMS project is feasible and aligns with WITI’s mission to provide quality education and bridge the technological gender gap in Uganda.</a:t>
            </a:r>
            <a:endParaRPr lang="en-US" sz="2200" b="1" dirty="0">
              <a:effectLst/>
              <a:latin typeface="Times New Roman" panose="02020603050405020304" pitchFamily="18" charset="0"/>
              <a:ea typeface="SimSun" panose="02010600030101010101" pitchFamily="2" charset="-122"/>
            </a:endParaRPr>
          </a:p>
          <a:p>
            <a:pPr lvl="0">
              <a:spcBef>
                <a:spcPts val="500"/>
              </a:spcBef>
              <a:spcAft>
                <a:spcPts val="500"/>
              </a:spcAft>
            </a:pPr>
            <a:endParaRPr lang="en-US" sz="22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4" name="Rectangle 3"/>
          <p:cNvSpPr/>
          <p:nvPr/>
        </p:nvSpPr>
        <p:spPr>
          <a:xfrm>
            <a:off x="1071649" y="-46757"/>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Conclusion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Autofit/>
          </a:bodyPr>
          <a:lstStyle/>
          <a:p>
            <a:pPr marL="0" marR="0" lvl="0" indent="0" algn="just">
              <a:lnSpc>
                <a:spcPct val="150000"/>
              </a:lnSpc>
              <a:spcBef>
                <a:spcPts val="500"/>
              </a:spcBef>
              <a:spcAft>
                <a:spcPts val="500"/>
              </a:spcAft>
              <a:buNone/>
            </a:pPr>
            <a:r>
              <a:rPr lang="en-US" altLang="en-US" sz="2000" b="1">
                <a:solidFill>
                  <a:srgbClr val="00B050"/>
                </a:solidFill>
                <a:latin typeface="Times New Roman" panose="02020603050405020304" pitchFamily="18" charset="0"/>
                <a:cs typeface="Times New Roman" panose="02020603050405020304" pitchFamily="18" charset="0"/>
              </a:rPr>
              <a:t>Objective of Requirement Gathering: </a:t>
            </a:r>
            <a:r>
              <a:rPr lang="en-US" altLang="en-US" sz="2000">
                <a:latin typeface="Times New Roman" panose="02020603050405020304" pitchFamily="18" charset="0"/>
                <a:cs typeface="Times New Roman" panose="02020603050405020304" pitchFamily="18" charset="0"/>
              </a:rPr>
              <a:t>The objective of requirement gathering for the Student Management System (SMS) was to fully understand user needs, define essential functionalities, and establish standards for security, usability, and performance. This process also identifies any technical or organizational constraints and sets business rules to ensure data integrity and proper access, creating a system that supports the institution’s academic and administrative needs effectively</a:t>
            </a:r>
            <a:endParaRPr lang="en-US" altLang="en-US" sz="2000">
              <a:latin typeface="Times New Roman" panose="02020603050405020304" pitchFamily="18" charset="0"/>
              <a:cs typeface="Times New Roman" panose="02020603050405020304" pitchFamily="18" charset="0"/>
            </a:endParaRPr>
          </a:p>
          <a:p>
            <a:pPr marL="0" marR="0" lvl="0" algn="just">
              <a:lnSpc>
                <a:spcPct val="150000"/>
              </a:lnSpc>
              <a:spcBef>
                <a:spcPts val="500"/>
              </a:spcBef>
              <a:spcAft>
                <a:spcPts val="500"/>
              </a:spcAft>
              <a:buSzTx/>
              <a:buNone/>
            </a:pPr>
            <a:r>
              <a:rPr lang="en-US" altLang="en-US" sz="2000" b="1">
                <a:solidFill>
                  <a:srgbClr val="00B050"/>
                </a:solidFill>
                <a:latin typeface="Times New Roman" panose="02020603050405020304" pitchFamily="18" charset="0"/>
                <a:cs typeface="Times New Roman" panose="02020603050405020304" pitchFamily="18" charset="0"/>
              </a:rPr>
              <a:t>Methodology for Requirement Gathering: </a:t>
            </a:r>
            <a:r>
              <a:rPr lang="en-US" altLang="en-US" sz="2000">
                <a:latin typeface="Times New Roman" panose="02020603050405020304" pitchFamily="18" charset="0"/>
                <a:cs typeface="Times New Roman" panose="02020603050405020304" pitchFamily="18" charset="0"/>
              </a:rPr>
              <a:t>The primary requirements gathering instrument was interviews with guided questions. This format enabled us to capture in-depth responses, allowing participants to elaborate on their experiences and expectations for the SMS. </a:t>
            </a:r>
            <a:endParaRPr lang="en-US" altLang="en-US" sz="2000">
              <a:latin typeface="Times New Roman" panose="02020603050405020304" pitchFamily="18" charset="0"/>
              <a:cs typeface="Times New Roman" panose="02020603050405020304" pitchFamily="18" charset="0"/>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REQUIREMENTS GATHERING</a:t>
            </a:r>
            <a:endPar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Autofit/>
          </a:bodyPr>
          <a:lstStyle/>
          <a:p>
            <a:pPr marL="0" marR="0" lvl="0" indent="0" algn="just">
              <a:lnSpc>
                <a:spcPct val="150000"/>
              </a:lnSpc>
              <a:spcBef>
                <a:spcPts val="500"/>
              </a:spcBef>
              <a:spcAft>
                <a:spcPts val="500"/>
              </a:spcAft>
              <a:buNone/>
            </a:pPr>
            <a:r>
              <a:rPr lang="en-US" altLang="en-US" sz="2000" b="1">
                <a:solidFill>
                  <a:srgbClr val="00B050"/>
                </a:solidFill>
                <a:latin typeface="Times New Roman" panose="02020603050405020304" pitchFamily="18" charset="0"/>
                <a:cs typeface="Times New Roman" panose="02020603050405020304" pitchFamily="18" charset="0"/>
              </a:rPr>
              <a:t>The interview questions covered the following areas;</a:t>
            </a:r>
            <a:endParaRPr lang="en-US" altLang="en-US" sz="2000" b="1">
              <a:solidFill>
                <a:srgbClr val="00B050"/>
              </a:solidFill>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sz="2000">
                <a:latin typeface="Times New Roman" panose="02020603050405020304" pitchFamily="18" charset="0"/>
                <a:cs typeface="Times New Roman" panose="02020603050405020304" pitchFamily="18" charset="0"/>
              </a:rPr>
              <a:t>1. Desired functionalities in the SMS.</a:t>
            </a:r>
            <a:endParaRPr lang="en-US" altLang="en-US" sz="2000">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sz="2000">
                <a:latin typeface="Times New Roman" panose="02020603050405020304" pitchFamily="18" charset="0"/>
                <a:cs typeface="Times New Roman" panose="02020603050405020304" pitchFamily="18" charset="0"/>
              </a:rPr>
              <a:t>2.Challenges with the current file-based system.</a:t>
            </a:r>
            <a:endParaRPr lang="en-US" altLang="en-US" sz="2000">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sz="2000">
                <a:latin typeface="Times New Roman" panose="02020603050405020304" pitchFamily="18" charset="0"/>
                <a:cs typeface="Times New Roman" panose="02020603050405020304" pitchFamily="18" charset="0"/>
              </a:rPr>
              <a:t>3.Expected roles and tasks for different user types.</a:t>
            </a:r>
            <a:endParaRPr lang="en-US" altLang="en-US" sz="2000">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sz="2000">
                <a:latin typeface="Times New Roman" panose="02020603050405020304" pitchFamily="18" charset="0"/>
                <a:cs typeface="Times New Roman" panose="02020603050405020304" pitchFamily="18" charset="0"/>
              </a:rPr>
              <a:t>4.Types of student information the SMS should manage.</a:t>
            </a:r>
            <a:endParaRPr lang="en-US" altLang="en-US" sz="2000">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sz="2000">
                <a:latin typeface="Times New Roman" panose="02020603050405020304" pitchFamily="18" charset="0"/>
                <a:cs typeface="Times New Roman" panose="02020603050405020304" pitchFamily="18" charset="0"/>
              </a:rPr>
              <a:t>5.Specific reporting and data insights required.</a:t>
            </a:r>
            <a:endParaRPr lang="en-US" altLang="en-US" sz="2000">
              <a:latin typeface="Times New Roman" panose="02020603050405020304" pitchFamily="18" charset="0"/>
              <a:cs typeface="Times New Roman" panose="02020603050405020304" pitchFamily="18" charset="0"/>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REQUIREMENTS GATHERING</a:t>
            </a:r>
            <a:endPar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5" name="Text Placeholder 4"/>
          <p:cNvSpPr>
            <a:spLocks noGrp="1"/>
          </p:cNvSpPr>
          <p:nvPr>
            <p:ph type="body" idx="1"/>
          </p:nvPr>
        </p:nvSpPr>
        <p:spPr>
          <a:xfrm>
            <a:off x="1097280" y="1628775"/>
            <a:ext cx="4639736" cy="736282"/>
          </a:xfrm>
        </p:spPr>
        <p:txBody>
          <a:bodyPr>
            <a:noAutofit/>
          </a:bodyPr>
          <a:p>
            <a:pPr algn="just">
              <a:lnSpc>
                <a:spcPct val="150000"/>
              </a:lnSpc>
              <a:spcBef>
                <a:spcPts val="500"/>
              </a:spcBef>
              <a:spcAft>
                <a:spcPts val="500"/>
              </a:spcAft>
              <a:buSzTx/>
              <a:buNone/>
            </a:pPr>
            <a:r>
              <a:rPr lang="en-US" altLang="en-US" sz="1600" cap="none">
                <a:solidFill>
                  <a:schemeClr val="tx1">
                    <a:lumMod val="75000"/>
                    <a:lumOff val="25000"/>
                  </a:schemeClr>
                </a:solidFill>
                <a:latin typeface="Times New Roman" panose="02020603050405020304" pitchFamily="18" charset="0"/>
                <a:cs typeface="Times New Roman" panose="02020603050405020304" pitchFamily="18" charset="0"/>
                <a:sym typeface="+mn-ea"/>
              </a:rPr>
              <a:t>Based on interview responses, the following functional requirements have been identified for the SMS:</a:t>
            </a:r>
            <a:endParaRPr lang="en-US" altLang="en-US" sz="1600" cap="none">
              <a:solidFill>
                <a:schemeClr val="tx1">
                  <a:lumMod val="75000"/>
                  <a:lumOff val="25000"/>
                </a:schemeClr>
              </a:solidFill>
              <a:latin typeface="Times New Roman" panose="02020603050405020304" pitchFamily="18" charset="0"/>
              <a:cs typeface="Times New Roman" panose="02020603050405020304" pitchFamily="18" charset="0"/>
            </a:endParaRPr>
          </a:p>
          <a:p>
            <a:endParaRPr lang="en-US" altLang="en-US" sz="1600" cap="none">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sz="half" idx="2"/>
          </p:nvPr>
        </p:nvSpPr>
        <p:spPr>
          <a:xfrm>
            <a:off x="1147445" y="2422334"/>
            <a:ext cx="4639736" cy="2910821"/>
          </a:xfrm>
        </p:spPr>
        <p:txBody>
          <a:bodyPr>
            <a:noAutofit/>
          </a:bodyPr>
          <a:lstStyle/>
          <a:p>
            <a:pPr marL="0" marR="0" lvl="0" indent="0" algn="just">
              <a:lnSpc>
                <a:spcPct val="150000"/>
              </a:lnSpc>
              <a:spcBef>
                <a:spcPts val="500"/>
              </a:spcBef>
              <a:spcAft>
                <a:spcPts val="500"/>
              </a:spcAft>
              <a:buNone/>
            </a:pPr>
            <a:r>
              <a:rPr lang="en-US" altLang="en-US">
                <a:latin typeface="Times New Roman" panose="02020603050405020304" pitchFamily="18" charset="0"/>
                <a:cs typeface="Times New Roman" panose="02020603050405020304" pitchFamily="18" charset="0"/>
              </a:rPr>
              <a:t>1.User Management</a:t>
            </a:r>
            <a:endParaRPr lang="en-US" altLang="en-US">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a:latin typeface="Times New Roman" panose="02020603050405020304" pitchFamily="18" charset="0"/>
                <a:cs typeface="Times New Roman" panose="02020603050405020304" pitchFamily="18" charset="0"/>
              </a:rPr>
              <a:t>Define roles (Student, Lecturer, Admin) with specific access permissions.</a:t>
            </a:r>
            <a:endParaRPr lang="en-US" altLang="en-US">
              <a:latin typeface="Times New Roman" panose="02020603050405020304" pitchFamily="18" charset="0"/>
              <a:cs typeface="Times New Roman" panose="02020603050405020304" pitchFamily="18" charset="0"/>
            </a:endParaRPr>
          </a:p>
          <a:p>
            <a:pPr marL="0" marR="0" lvl="0" indent="0" algn="just">
              <a:lnSpc>
                <a:spcPct val="150000"/>
              </a:lnSpc>
              <a:spcBef>
                <a:spcPts val="500"/>
              </a:spcBef>
              <a:spcAft>
                <a:spcPts val="500"/>
              </a:spcAft>
              <a:buNone/>
            </a:pPr>
            <a:r>
              <a:rPr lang="en-US" altLang="en-US">
                <a:latin typeface="Times New Roman" panose="02020603050405020304" pitchFamily="18" charset="0"/>
                <a:cs typeface="Times New Roman" panose="02020603050405020304" pitchFamily="18" charset="0"/>
              </a:rPr>
              <a:t>Manage user profiles, including secure login credentials and role-based access.</a:t>
            </a:r>
            <a:endParaRPr lang="en-US" altLang="en-US">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sz="quarter" idx="4"/>
          </p:nvPr>
        </p:nvSpPr>
        <p:spPr>
          <a:xfrm>
            <a:off x="6515735" y="1988185"/>
            <a:ext cx="4639945" cy="3881120"/>
          </a:xfrm>
        </p:spPr>
        <p:txBody>
          <a:bodyPr>
            <a:normAutofit/>
          </a:bodyPr>
          <a:p>
            <a:pPr marL="0" marR="0" lvl="0" algn="just">
              <a:lnSpc>
                <a:spcPct val="150000"/>
              </a:lnSpc>
              <a:spcBef>
                <a:spcPts val="500"/>
              </a:spcBef>
              <a:spcAft>
                <a:spcPts val="500"/>
              </a:spcAft>
              <a:buSzTx/>
              <a:buNone/>
            </a:pPr>
            <a:r>
              <a:rPr lang="en-US" altLang="en-US">
                <a:latin typeface="Times New Roman" panose="02020603050405020304" pitchFamily="18" charset="0"/>
                <a:cs typeface="Times New Roman" panose="02020603050405020304" pitchFamily="18" charset="0"/>
                <a:sym typeface="+mn-ea"/>
              </a:rPr>
              <a:t>Student Information Management</a:t>
            </a:r>
            <a:endParaRPr lang="en-US" altLang="en-US">
              <a:latin typeface="Times New Roman" panose="02020603050405020304" pitchFamily="18" charset="0"/>
              <a:cs typeface="Times New Roman" panose="02020603050405020304" pitchFamily="18" charset="0"/>
            </a:endParaRPr>
          </a:p>
          <a:p>
            <a:pPr marL="0" marR="0" lvl="0" algn="just">
              <a:lnSpc>
                <a:spcPct val="150000"/>
              </a:lnSpc>
              <a:spcBef>
                <a:spcPts val="500"/>
              </a:spcBef>
              <a:spcAft>
                <a:spcPts val="500"/>
              </a:spcAft>
              <a:buSzTx/>
              <a:buNone/>
            </a:pPr>
            <a:r>
              <a:rPr lang="en-US" altLang="en-US">
                <a:latin typeface="Times New Roman" panose="02020603050405020304" pitchFamily="18" charset="0"/>
                <a:cs typeface="Times New Roman" panose="02020603050405020304" pitchFamily="18" charset="0"/>
                <a:sym typeface="+mn-ea"/>
              </a:rPr>
              <a:t>Store and manage essential student details, such as ID, contact information, and academic records.Enable easy access to attendance records, grades, and feedback from lecturers.</a:t>
            </a:r>
            <a:endParaRPr lang="en-US" altLang="en-US">
              <a:latin typeface="Times New Roman" panose="02020603050405020304" pitchFamily="18" charset="0"/>
              <a:cs typeface="Times New Roman" panose="02020603050405020304" pitchFamily="18" charset="0"/>
            </a:endParaRPr>
          </a:p>
          <a:p>
            <a:pPr marL="0" marR="0" lvl="0" algn="just">
              <a:lnSpc>
                <a:spcPct val="150000"/>
              </a:lnSpc>
              <a:spcBef>
                <a:spcPts val="500"/>
              </a:spcBef>
              <a:spcAft>
                <a:spcPts val="500"/>
              </a:spcAft>
              <a:buSzTx/>
              <a:buNone/>
            </a:pPr>
            <a:r>
              <a:rPr lang="en-US" altLang="en-US">
                <a:latin typeface="Times New Roman" panose="02020603050405020304" pitchFamily="18" charset="0"/>
                <a:cs typeface="Times New Roman" panose="02020603050405020304" pitchFamily="18" charset="0"/>
                <a:sym typeface="+mn-ea"/>
              </a:rPr>
              <a:t>.Enrollment and Registration</a:t>
            </a:r>
            <a:endParaRPr lang="en-US" altLang="en-US">
              <a:latin typeface="Times New Roman" panose="02020603050405020304" pitchFamily="18" charset="0"/>
              <a:cs typeface="Times New Roman" panose="02020603050405020304" pitchFamily="18" charset="0"/>
            </a:endParaRPr>
          </a:p>
          <a:p>
            <a:pPr marL="0" marR="0" lvl="0" algn="just">
              <a:lnSpc>
                <a:spcPct val="150000"/>
              </a:lnSpc>
              <a:spcBef>
                <a:spcPts val="500"/>
              </a:spcBef>
              <a:spcAft>
                <a:spcPts val="500"/>
              </a:spcAft>
              <a:buSzTx/>
              <a:buNone/>
            </a:pPr>
            <a:r>
              <a:rPr lang="en-US" altLang="en-US">
                <a:latin typeface="Times New Roman" panose="02020603050405020304" pitchFamily="18" charset="0"/>
                <a:cs typeface="Times New Roman" panose="02020603050405020304" pitchFamily="18" charset="0"/>
                <a:sym typeface="+mn-ea"/>
              </a:rPr>
              <a:t>Allow students to register for courses digitally.</a:t>
            </a:r>
            <a:endParaRPr lang="en-US" altLang="en-US">
              <a:latin typeface="Times New Roman" panose="02020603050405020304" pitchFamily="18" charset="0"/>
              <a:cs typeface="Times New Roman" panose="02020603050405020304" pitchFamily="18" charset="0"/>
            </a:endParaRPr>
          </a:p>
          <a:p>
            <a:pPr marL="0" marR="0" lvl="0" algn="just">
              <a:lnSpc>
                <a:spcPct val="150000"/>
              </a:lnSpc>
              <a:spcBef>
                <a:spcPts val="500"/>
              </a:spcBef>
              <a:spcAft>
                <a:spcPts val="500"/>
              </a:spcAft>
              <a:buSzTx/>
              <a:buNone/>
            </a:pPr>
            <a:endParaRPr lang="en-US" altLang="en-US">
              <a:latin typeface="Times New Roman" panose="02020603050405020304" pitchFamily="18" charset="0"/>
              <a:cs typeface="Times New Roman" panose="02020603050405020304" pitchFamily="18" charset="0"/>
            </a:endParaRPr>
          </a:p>
        </p:txBody>
      </p:sp>
      <p:sp>
        <p:nvSpPr>
          <p:cNvPr id="4" name="Rectangle 3"/>
          <p:cNvSpPr/>
          <p:nvPr/>
        </p:nvSpPr>
        <p:spPr>
          <a:xfrm>
            <a:off x="1147156" y="156441"/>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Functional Requirements</a:t>
            </a:r>
            <a:endPar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5" name="Text Placeholder 4"/>
          <p:cNvSpPr>
            <a:spLocks noGrp="1"/>
          </p:cNvSpPr>
          <p:nvPr>
            <p:ph type="body" idx="1"/>
          </p:nvPr>
        </p:nvSpPr>
        <p:spPr/>
        <p:txBody>
          <a:bodyPr>
            <a:normAutofit fontScale="60000"/>
          </a:bodyPr>
          <a:p>
            <a:r>
              <a:rPr lang="en-US" altLang="en-US" b="1">
                <a:solidFill>
                  <a:srgbClr val="00B050"/>
                </a:solidFill>
                <a:latin typeface="Times New Roman" panose="02020603050405020304" pitchFamily="18" charset="0"/>
                <a:cs typeface="Times New Roman" panose="02020603050405020304" pitchFamily="18" charset="0"/>
                <a:sym typeface="+mn-ea"/>
              </a:rPr>
              <a:t>Based on interview responses, the following functional requirements have been identified for the SMS:</a:t>
            </a:r>
            <a:endParaRPr lang="en-US" altLang="en-US" b="1">
              <a:solidFill>
                <a:srgbClr val="00B050"/>
              </a:solidFill>
              <a:latin typeface="Times New Roman" panose="02020603050405020304" pitchFamily="18" charset="0"/>
              <a:cs typeface="Times New Roman" panose="02020603050405020304" pitchFamily="18" charset="0"/>
            </a:endParaRPr>
          </a:p>
          <a:p>
            <a:endParaRPr lang="en-US"/>
          </a:p>
        </p:txBody>
      </p:sp>
      <p:sp>
        <p:nvSpPr>
          <p:cNvPr id="3" name="Subtitle 2"/>
          <p:cNvSpPr>
            <a:spLocks noGrp="1"/>
          </p:cNvSpPr>
          <p:nvPr>
            <p:ph sz="half" idx="2"/>
          </p:nvPr>
        </p:nvSpPr>
        <p:spPr/>
        <p:txBody>
          <a:bodyPr>
            <a:noAutofit/>
          </a:bodyPr>
          <a:lstStyle/>
          <a:p>
            <a:pPr marL="0" marR="0" lvl="0" indent="0" algn="just">
              <a:lnSpc>
                <a:spcPct val="150000"/>
              </a:lnSpc>
              <a:spcBef>
                <a:spcPts val="500"/>
              </a:spcBef>
              <a:spcAft>
                <a:spcPts val="500"/>
              </a:spcAft>
              <a:buNone/>
            </a:pPr>
            <a:r>
              <a:rPr lang="en-US" altLang="en-US"/>
              <a:t>●3●Enable administrative oversight of course enrollment status.</a:t>
            </a:r>
            <a:endParaRPr lang="en-US" altLang="en-US"/>
          </a:p>
          <a:p>
            <a:pPr marL="0" marR="0" lvl="0" indent="0" algn="just">
              <a:lnSpc>
                <a:spcPct val="150000"/>
              </a:lnSpc>
              <a:spcBef>
                <a:spcPts val="500"/>
              </a:spcBef>
              <a:spcAft>
                <a:spcPts val="500"/>
              </a:spcAft>
              <a:buNone/>
            </a:pPr>
            <a:r>
              <a:rPr lang="en-US" altLang="en-US"/>
              <a:t>4.Course Management</a:t>
            </a:r>
            <a:endParaRPr lang="en-US" altLang="en-US"/>
          </a:p>
          <a:p>
            <a:pPr marL="0" marR="0" lvl="0" indent="0" algn="just">
              <a:lnSpc>
                <a:spcPct val="150000"/>
              </a:lnSpc>
              <a:spcBef>
                <a:spcPts val="500"/>
              </a:spcBef>
              <a:spcAft>
                <a:spcPts val="500"/>
              </a:spcAft>
              <a:buNone/>
            </a:pPr>
            <a:r>
              <a:rPr lang="en-US" altLang="en-US"/>
              <a:t>●Manage course information, including objectives, outcomes, and content.</a:t>
            </a:r>
            <a:endParaRPr lang="en-US" altLang="en-US"/>
          </a:p>
          <a:p>
            <a:pPr marL="0" marR="0" lvl="0" indent="0" algn="just">
              <a:lnSpc>
                <a:spcPct val="150000"/>
              </a:lnSpc>
              <a:spcBef>
                <a:spcPts val="500"/>
              </a:spcBef>
              <a:spcAft>
                <a:spcPts val="500"/>
              </a:spcAft>
              <a:buNone/>
            </a:pPr>
            <a:r>
              <a:rPr lang="en-US" altLang="en-US"/>
              <a:t>●Allow lecturers to update course-related materials and assessments.</a:t>
            </a:r>
            <a:endParaRPr lang="en-US" altLang="en-US"/>
          </a:p>
          <a:p>
            <a:pPr marL="0" marR="0" lvl="0" indent="0" algn="just">
              <a:lnSpc>
                <a:spcPct val="150000"/>
              </a:lnSpc>
              <a:spcBef>
                <a:spcPts val="500"/>
              </a:spcBef>
              <a:spcAft>
                <a:spcPts val="500"/>
              </a:spcAft>
              <a:buNone/>
            </a:pPr>
            <a:r>
              <a:rPr lang="en-US" altLang="en-US"/>
              <a:t>5.Attendance Tracking </a:t>
            </a:r>
            <a:endParaRPr lang="en-US" altLang="en-US"/>
          </a:p>
          <a:p>
            <a:pPr marL="0" marR="0" lvl="0" indent="0" algn="just">
              <a:lnSpc>
                <a:spcPct val="150000"/>
              </a:lnSpc>
              <a:spcBef>
                <a:spcPts val="500"/>
              </a:spcBef>
              <a:spcAft>
                <a:spcPts val="500"/>
              </a:spcAft>
              <a:buNone/>
            </a:pPr>
            <a:r>
              <a:rPr lang="en-US" altLang="en-US"/>
              <a:t>●Provide QR code scanning for quick attendance logging.</a:t>
            </a:r>
            <a:endParaRPr lang="en-US" altLang="en-US"/>
          </a:p>
          <a:p>
            <a:pPr marL="0" marR="0" lvl="0" indent="0" algn="just">
              <a:lnSpc>
                <a:spcPct val="150000"/>
              </a:lnSpc>
              <a:spcBef>
                <a:spcPts val="500"/>
              </a:spcBef>
              <a:spcAft>
                <a:spcPts val="500"/>
              </a:spcAft>
              <a:buNone/>
            </a:pPr>
            <a:r>
              <a:rPr lang="en-US" altLang="en-US"/>
              <a:t>●Track attendance and generate reports on student engagement.</a:t>
            </a:r>
            <a:endParaRPr lang="en-US" altLang="en-US"/>
          </a:p>
          <a:p>
            <a:pPr marL="0" marR="0" lvl="0" indent="0" algn="just">
              <a:lnSpc>
                <a:spcPct val="150000"/>
              </a:lnSpc>
              <a:spcBef>
                <a:spcPts val="500"/>
              </a:spcBef>
              <a:spcAft>
                <a:spcPts val="500"/>
              </a:spcAft>
              <a:buNone/>
            </a:pPr>
            <a:r>
              <a:rPr lang="en-US" altLang="en-US"/>
              <a:t>6.Student Application</a:t>
            </a:r>
            <a:endParaRPr lang="en-US" altLang="en-US"/>
          </a:p>
          <a:p>
            <a:pPr marL="0" marR="0" lvl="0" indent="0" algn="just">
              <a:lnSpc>
                <a:spcPct val="150000"/>
              </a:lnSpc>
              <a:spcBef>
                <a:spcPts val="500"/>
              </a:spcBef>
              <a:spcAft>
                <a:spcPts val="500"/>
              </a:spcAft>
              <a:buNone/>
            </a:pPr>
            <a:r>
              <a:rPr lang="en-US" altLang="en-US"/>
              <a:t>●Streamline the application process with an online submission, review, and tracking mechanism.</a:t>
            </a:r>
            <a:endParaRPr lang="en-US" altLang="en-US"/>
          </a:p>
          <a:p>
            <a:pPr marL="0" marR="0" lvl="0" indent="0" algn="just">
              <a:lnSpc>
                <a:spcPct val="150000"/>
              </a:lnSpc>
              <a:spcBef>
                <a:spcPts val="500"/>
              </a:spcBef>
              <a:spcAft>
                <a:spcPts val="500"/>
              </a:spcAft>
              <a:buNone/>
            </a:pPr>
            <a:r>
              <a:rPr lang="en-US" altLang="en-US"/>
              <a:t>●Allow administrative staff to review applications, manage enrollment statuses, and notify applicants.</a:t>
            </a:r>
            <a:endParaRPr lang="en-US" altLang="en-US"/>
          </a:p>
          <a:p>
            <a:pPr marL="0" marR="0" lvl="0" indent="0" algn="just">
              <a:lnSpc>
                <a:spcPct val="150000"/>
              </a:lnSpc>
              <a:spcBef>
                <a:spcPts val="500"/>
              </a:spcBef>
              <a:spcAft>
                <a:spcPts val="500"/>
              </a:spcAft>
              <a:buNone/>
            </a:pPr>
            <a:r>
              <a:rPr lang="en-US" altLang="en-US"/>
              <a:t>7.Academic Calendar</a:t>
            </a:r>
            <a:endParaRPr lang="en-US" altLang="en-US"/>
          </a:p>
          <a:p>
            <a:pPr marL="0" marR="0" lvl="0" indent="0" algn="just">
              <a:lnSpc>
                <a:spcPct val="150000"/>
              </a:lnSpc>
              <a:spcBef>
                <a:spcPts val="500"/>
              </a:spcBef>
              <a:spcAft>
                <a:spcPts val="500"/>
              </a:spcAft>
              <a:buNone/>
            </a:pPr>
            <a:r>
              <a:rPr lang="en-US" altLang="en-US"/>
              <a:t>●Maintain a centralized calendar with key dates, such as assignment deadlines and exam schedules.</a:t>
            </a:r>
            <a:endParaRPr lang="en-US" altLang="en-US"/>
          </a:p>
          <a:p>
            <a:pPr marL="0" marR="0" lvl="0" indent="0" algn="just">
              <a:lnSpc>
                <a:spcPct val="150000"/>
              </a:lnSpc>
              <a:spcBef>
                <a:spcPts val="500"/>
              </a:spcBef>
              <a:spcAft>
                <a:spcPts val="500"/>
              </a:spcAft>
              <a:buNone/>
            </a:pPr>
            <a:r>
              <a:rPr lang="en-US" altLang="en-US"/>
              <a:t>●Allow updates by administrative staff for real-time access.</a:t>
            </a:r>
            <a:endParaRPr lang="en-US" altLang="en-US"/>
          </a:p>
          <a:p>
            <a:pPr marL="0" marR="0" lvl="0" indent="0" algn="just">
              <a:lnSpc>
                <a:spcPct val="150000"/>
              </a:lnSpc>
              <a:spcBef>
                <a:spcPts val="500"/>
              </a:spcBef>
              <a:spcAft>
                <a:spcPts val="500"/>
              </a:spcAft>
              <a:buNone/>
            </a:pPr>
            <a:r>
              <a:rPr lang="en-US" altLang="en-US"/>
              <a:t>8.Payment Processing</a:t>
            </a:r>
            <a:endParaRPr lang="en-US" altLang="en-US"/>
          </a:p>
          <a:p>
            <a:pPr marL="0" marR="0" lvl="0" indent="0" algn="just">
              <a:lnSpc>
                <a:spcPct val="150000"/>
              </a:lnSpc>
              <a:spcBef>
                <a:spcPts val="500"/>
              </a:spcBef>
              <a:spcAft>
                <a:spcPts val="500"/>
              </a:spcAft>
              <a:buNone/>
            </a:pPr>
            <a:r>
              <a:rPr lang="en-US" altLang="en-US"/>
              <a:t>●Track tuition and fee payments, with receipt generation and reporting.</a:t>
            </a:r>
            <a:endParaRPr lang="en-US" altLang="en-US"/>
          </a:p>
          <a:p>
            <a:pPr marL="0" marR="0" lvl="0" indent="0" algn="just">
              <a:lnSpc>
                <a:spcPct val="150000"/>
              </a:lnSpc>
              <a:spcBef>
                <a:spcPts val="500"/>
              </a:spcBef>
              <a:spcAft>
                <a:spcPts val="500"/>
              </a:spcAft>
              <a:buNone/>
            </a:pPr>
            <a:r>
              <a:rPr lang="en-US" altLang="en-US"/>
              <a:t>●Enable administrators to monitor payment records for financial management.</a:t>
            </a:r>
            <a:endParaRPr lang="en-US" altLang="en-US"/>
          </a:p>
          <a:p>
            <a:pPr marL="0" marR="0" lvl="0" indent="0" algn="just">
              <a:lnSpc>
                <a:spcPct val="150000"/>
              </a:lnSpc>
              <a:spcBef>
                <a:spcPts val="500"/>
              </a:spcBef>
              <a:spcAft>
                <a:spcPts val="500"/>
              </a:spcAft>
              <a:buNone/>
            </a:pPr>
            <a:r>
              <a:rPr lang="en-US" altLang="en-US"/>
              <a:t>9.Grading and Assessment</a:t>
            </a:r>
            <a:endParaRPr lang="en-US" altLang="en-US"/>
          </a:p>
          <a:p>
            <a:pPr marL="0" marR="0" lvl="0" indent="0" algn="just">
              <a:lnSpc>
                <a:spcPct val="150000"/>
              </a:lnSpc>
              <a:spcBef>
                <a:spcPts val="500"/>
              </a:spcBef>
              <a:spcAft>
                <a:spcPts val="500"/>
              </a:spcAft>
              <a:buNone/>
            </a:pPr>
            <a:r>
              <a:rPr lang="en-US" altLang="en-US"/>
              <a:t>●Allow lecturers to input grades and provide feedback.</a:t>
            </a:r>
            <a:endParaRPr lang="en-US" altLang="en-US"/>
          </a:p>
          <a:p>
            <a:pPr marL="0" marR="0" lvl="0" indent="0" algn="just">
              <a:lnSpc>
                <a:spcPct val="150000"/>
              </a:lnSpc>
              <a:spcBef>
                <a:spcPts val="500"/>
              </a:spcBef>
              <a:spcAft>
                <a:spcPts val="500"/>
              </a:spcAft>
              <a:buNone/>
            </a:pPr>
            <a:r>
              <a:rPr lang="en-US" altLang="en-US"/>
              <a:t>●Enable students to view grades and comments in real time.</a:t>
            </a:r>
            <a:endParaRPr lang="en-US" altLang="en-US"/>
          </a:p>
          <a:p>
            <a:pPr marL="0" marR="0" lvl="0" indent="0" algn="just">
              <a:lnSpc>
                <a:spcPct val="150000"/>
              </a:lnSpc>
              <a:spcBef>
                <a:spcPts val="500"/>
              </a:spcBef>
              <a:spcAft>
                <a:spcPts val="500"/>
              </a:spcAft>
              <a:buNone/>
            </a:pPr>
            <a:r>
              <a:rPr lang="en-US" altLang="en-US"/>
              <a:t>10.Reports and Analytics</a:t>
            </a:r>
            <a:endParaRPr lang="en-US" altLang="en-US"/>
          </a:p>
          <a:p>
            <a:pPr marL="0" marR="0" lvl="0" indent="0" algn="just">
              <a:lnSpc>
                <a:spcPct val="150000"/>
              </a:lnSpc>
              <a:spcBef>
                <a:spcPts val="500"/>
              </a:spcBef>
              <a:spcAft>
                <a:spcPts val="500"/>
              </a:spcAft>
              <a:buNone/>
            </a:pPr>
            <a:r>
              <a:rPr lang="en-US" altLang="en-US"/>
              <a:t>●Generate customized reports on attendance, grades, and course progress.</a:t>
            </a:r>
            <a:endParaRPr lang="en-US" altLang="en-US"/>
          </a:p>
          <a:p>
            <a:pPr marL="0" marR="0" lvl="0" indent="0" algn="just">
              <a:lnSpc>
                <a:spcPct val="150000"/>
              </a:lnSpc>
              <a:spcBef>
                <a:spcPts val="500"/>
              </a:spcBef>
              <a:spcAft>
                <a:spcPts val="500"/>
              </a:spcAft>
              <a:buNone/>
            </a:pPr>
            <a:r>
              <a:rPr lang="en-US" altLang="en-US"/>
              <a:t>●Provide analytics to aid in academic and administrative decision-making.</a:t>
            </a:r>
            <a:endParaRPr lang="en-US" altLang="en-US"/>
          </a:p>
        </p:txBody>
      </p:sp>
      <p:sp>
        <p:nvSpPr>
          <p:cNvPr id="7" name="Content Placeholder 6"/>
          <p:cNvSpPr>
            <a:spLocks noGrp="1"/>
          </p:cNvSpPr>
          <p:nvPr>
            <p:ph sz="quarter" idx="4"/>
          </p:nvPr>
        </p:nvSpPr>
        <p:spPr>
          <a:xfrm>
            <a:off x="6515735" y="1988185"/>
            <a:ext cx="4639945" cy="3881120"/>
          </a:xfrm>
        </p:spPr>
        <p:txBody>
          <a:bodyPr>
            <a:normAutofit fontScale="90000" lnSpcReduction="10000"/>
          </a:bodyPr>
          <a:p>
            <a:pPr marL="0" marR="0" lvl="0" indent="0" algn="just">
              <a:lnSpc>
                <a:spcPct val="150000"/>
              </a:lnSpc>
              <a:spcBef>
                <a:spcPts val="500"/>
              </a:spcBef>
              <a:spcAft>
                <a:spcPts val="500"/>
              </a:spcAft>
              <a:buNone/>
            </a:pPr>
            <a:r>
              <a:rPr lang="en-US" altLang="en-US">
                <a:sym typeface="+mn-ea"/>
              </a:rPr>
              <a:t>Student Information Management</a:t>
            </a:r>
            <a:endParaRPr lang="en-US" altLang="en-US"/>
          </a:p>
          <a:p>
            <a:pPr marL="0" marR="0" lvl="0" indent="0" algn="just">
              <a:lnSpc>
                <a:spcPct val="150000"/>
              </a:lnSpc>
              <a:spcBef>
                <a:spcPts val="500"/>
              </a:spcBef>
              <a:spcAft>
                <a:spcPts val="500"/>
              </a:spcAft>
              <a:buNone/>
            </a:pPr>
            <a:r>
              <a:rPr lang="en-US" altLang="en-US">
                <a:sym typeface="+mn-ea"/>
              </a:rPr>
              <a:t>●Store and manage essential student details, such as ID, contact information, and academic records.Enable easy access to attendance records, grades, and feedback from lecturers.</a:t>
            </a:r>
            <a:endParaRPr lang="en-US" altLang="en-US"/>
          </a:p>
          <a:p>
            <a:pPr marL="0" marR="0" lvl="0" indent="0" algn="just">
              <a:lnSpc>
                <a:spcPct val="150000"/>
              </a:lnSpc>
              <a:spcBef>
                <a:spcPts val="500"/>
              </a:spcBef>
              <a:spcAft>
                <a:spcPts val="500"/>
              </a:spcAft>
              <a:buNone/>
            </a:pPr>
            <a:r>
              <a:rPr lang="en-US" altLang="en-US">
                <a:sym typeface="+mn-ea"/>
              </a:rPr>
              <a:t>.Enrollment and Registration</a:t>
            </a:r>
            <a:endParaRPr lang="en-US" altLang="en-US"/>
          </a:p>
          <a:p>
            <a:pPr marL="0" marR="0" lvl="0" indent="0" algn="just">
              <a:lnSpc>
                <a:spcPct val="150000"/>
              </a:lnSpc>
              <a:spcBef>
                <a:spcPts val="500"/>
              </a:spcBef>
              <a:spcAft>
                <a:spcPts val="500"/>
              </a:spcAft>
              <a:buNone/>
            </a:pPr>
            <a:r>
              <a:rPr lang="en-US" altLang="en-US">
                <a:sym typeface="+mn-ea"/>
              </a:rPr>
              <a:t>●Allow students to register for courses digitally.</a:t>
            </a:r>
            <a:endParaRPr lang="en-US" altLang="en-US"/>
          </a:p>
          <a:p>
            <a:pPr marL="0" marR="0" lvl="0" indent="0" algn="just">
              <a:lnSpc>
                <a:spcPct val="150000"/>
              </a:lnSpc>
              <a:spcBef>
                <a:spcPts val="500"/>
              </a:spcBef>
              <a:spcAft>
                <a:spcPts val="500"/>
              </a:spcAft>
              <a:buNone/>
            </a:pPr>
            <a:endParaRPr lang="en-US"/>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Functional Requirements</a:t>
            </a:r>
            <a:endPar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3480264" y="853441"/>
            <a:ext cx="4815840" cy="4123112"/>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50000"/>
              </a:lnSpc>
              <a:spcBef>
                <a:spcPts val="0"/>
              </a:spcBef>
              <a:spcAft>
                <a:spcPts val="0"/>
              </a:spcAft>
            </a:pP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b="1" dirty="0">
                <a:effectLst/>
                <a:latin typeface="Times New Roman" panose="02020603050405020304" pitchFamily="18" charset="0"/>
                <a:ea typeface="等线" panose="02010600030101010101" pitchFamily="2" charset="-122"/>
              </a:rPr>
              <a:t>PREPARED BY</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NABATANZI GORRET </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and</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KOBUMANZI ESETHER</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Date: October 14, 2024</a:t>
            </a:r>
            <a:br>
              <a:rPr lang="en-US" sz="2400" dirty="0">
                <a:effectLst/>
                <a:latin typeface="Times New Roman" panose="02020603050405020304" pitchFamily="18" charset="0"/>
                <a:ea typeface="等线" panose="02010600030101010101" pitchFamily="2" charset="-122"/>
              </a:rPr>
            </a:br>
            <a:endParaRPr lang="en-US" sz="24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Triangle 2"/>
          <p:cNvSpPr/>
          <p:nvPr/>
        </p:nvSpPr>
        <p:spPr>
          <a:xfrm rot="10800000">
            <a:off x="9756368" y="0"/>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{A590E009-5C5F-4699-B83D-A978FA0B91CF}tf56160789_win32</Template>
  <TotalTime>0</TotalTime>
  <Words>15343</Words>
  <Application>WPS Presentation</Application>
  <PresentationFormat>Widescreen</PresentationFormat>
  <Paragraphs>242</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SimSun</vt:lpstr>
      <vt:lpstr>Wingdings</vt:lpstr>
      <vt:lpstr>Calibri</vt:lpstr>
      <vt:lpstr>Times New Roman</vt:lpstr>
      <vt:lpstr>等线</vt:lpstr>
      <vt:lpstr>Franklin Gothic Book</vt:lpstr>
      <vt:lpstr>Bookman Old Style</vt:lpstr>
      <vt:lpstr>Segoe Print</vt:lpstr>
      <vt:lpstr>Microsoft YaHei</vt:lpstr>
      <vt:lpstr>Arial Unicode MS</vt:lpstr>
      <vt:lpstr>Wingdings</vt:lpstr>
      <vt:lpstr>Custom</vt:lpstr>
      <vt:lpstr>         FOR WOMEN’S INSTITUTE OF TECHNOLOGY &amp; INNOVATION (WITI)  </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GOLDEN</dc:creator>
  <cp:lastModifiedBy>GOLDEN</cp:lastModifiedBy>
  <cp:revision>10</cp:revision>
  <dcterms:created xsi:type="dcterms:W3CDTF">2024-10-19T03:58:00Z</dcterms:created>
  <dcterms:modified xsi:type="dcterms:W3CDTF">2024-12-14T19:19:02Z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1D8B95DC3A974C4994EB6FAAE59ACD96_13</vt:lpwstr>
  </property>
  <property fmtid="{D5CDD505-2E9C-101B-9397-08002B2CF9AE}" pid="4" name="KSOProductBuildVer">
    <vt:lpwstr>1033-12.2.0.19307</vt:lpwstr>
  </property>
</Properties>
</file>