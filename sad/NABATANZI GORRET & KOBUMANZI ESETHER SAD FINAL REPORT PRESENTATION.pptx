
<file path=[Content_Types].xml><?xml version="1.0" encoding="utf-8"?>
<Types xmlns="http://schemas.openxmlformats.org/package/2006/content-types">
  <Default Extension="xml" ContentType="application/xml"/>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60" r:id="rId5"/>
    <p:sldId id="259"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A50021"/>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p:scale>
          <a:sx n="86" d="100"/>
          <a:sy n="86" d="100"/>
        </p:scale>
        <p:origin x="48" y="1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customXml" Target="../customXml/item3.xml"/><Relationship Id="rId32" Type="http://schemas.openxmlformats.org/officeDocument/2006/relationships/customXml" Target="../customXml/item2.xml"/><Relationship Id="rId31" Type="http://schemas.openxmlformats.org/officeDocument/2006/relationships/customXml" Target="../customXml/item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83129"/>
            <a:ext cx="6663948" cy="4241983"/>
          </a:xfrm>
        </p:spPr>
        <p:txBody>
          <a:bodyPr>
            <a:normAutofit fontScale="90000"/>
          </a:bodyPr>
          <a:lstStyle/>
          <a:p>
            <a:pPr marL="0" marR="0">
              <a:lnSpc>
                <a:spcPct val="150000"/>
              </a:lnSpc>
              <a:spcBef>
                <a:spcPts val="0"/>
              </a:spcBef>
              <a:spcAft>
                <a:spcPts val="0"/>
              </a:spcAft>
            </a:pPr>
            <a:br>
              <a:rPr lang="en-US" sz="1800" dirty="0">
                <a:effectLst/>
                <a:latin typeface="Times New Roman" panose="02020603050405020304" pitchFamily="18" charset="0"/>
                <a:ea typeface="等线" panose="02010600030101010101" pitchFamily="2" charset="-122"/>
              </a:rPr>
            </a:br>
            <a:r>
              <a:rPr lang="en-US" sz="2200" b="1" dirty="0">
                <a:solidFill>
                  <a:srgbClr val="000000"/>
                </a:solidFill>
                <a:effectLst/>
                <a:latin typeface="Times New Roman" panose="02020603050405020304" pitchFamily="18" charset="0"/>
                <a:ea typeface="等线" panose="02010600030101010101" pitchFamily="2" charset="-122"/>
              </a:rPr>
              <a:t> </a:t>
            </a: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r>
              <a:rPr lang="en-US" sz="2400" b="1" dirty="0">
                <a:solidFill>
                  <a:srgbClr val="000000"/>
                </a:solidFill>
                <a:effectLst/>
                <a:latin typeface="Times New Roman" panose="02020603050405020304" pitchFamily="18" charset="0"/>
                <a:ea typeface="等线" panose="02010600030101010101" pitchFamily="2" charset="-122"/>
              </a:rPr>
              <a:t>FOR</a:t>
            </a:r>
            <a:br>
              <a:rPr lang="en-US" sz="1800" dirty="0">
                <a:effectLst/>
                <a:latin typeface="Times New Roman" panose="02020603050405020304" pitchFamily="18" charset="0"/>
                <a:ea typeface="等线" panose="02010600030101010101" pitchFamily="2" charset="-122"/>
              </a:rPr>
            </a:br>
            <a:r>
              <a:rPr lang="en-US" sz="2700" b="1" dirty="0">
                <a:solidFill>
                  <a:srgbClr val="00B050"/>
                </a:solidFill>
                <a:effectLst/>
                <a:latin typeface="Times New Roman" panose="02020603050405020304" pitchFamily="18" charset="0"/>
                <a:ea typeface="等线" panose="02010600030101010101" pitchFamily="2" charset="-122"/>
              </a:rPr>
              <a:t>WOMEN’S INSTITUTE OF TECHNOLOGY &amp; INNOVATION (WITI)</a:t>
            </a:r>
            <a:br>
              <a:rPr lang="en-US" sz="1800" b="1" dirty="0">
                <a:solidFill>
                  <a:srgbClr val="000000"/>
                </a:solidFill>
                <a:effectLst/>
                <a:latin typeface="Times New Roman" panose="02020603050405020304" pitchFamily="18" charset="0"/>
                <a:ea typeface="等线" panose="02010600030101010101" pitchFamily="2" charset="-122"/>
              </a:rPr>
            </a:br>
            <a:r>
              <a:rPr lang="en-US" sz="1800" b="1" dirty="0">
                <a:solidFill>
                  <a:srgbClr val="000000"/>
                </a:solidFill>
                <a:effectLst/>
                <a:latin typeface="Times New Roman" panose="02020603050405020304" pitchFamily="18" charset="0"/>
                <a:ea typeface="等线" panose="02010600030101010101" pitchFamily="2" charset="-122"/>
              </a:rPr>
              <a:t> </a:t>
            </a:r>
            <a:endParaRPr lang="en-US" sz="8000" dirty="0"/>
          </a:p>
        </p:txBody>
      </p:sp>
      <p:sp>
        <p:nvSpPr>
          <p:cNvPr id="3" name="Subtitle 2"/>
          <p:cNvSpPr>
            <a:spLocks noGrp="1"/>
          </p:cNvSpPr>
          <p:nvPr>
            <p:ph type="subTitle" idx="1"/>
          </p:nvPr>
        </p:nvSpPr>
        <p:spPr>
          <a:xfrm>
            <a:off x="5289753" y="4672739"/>
            <a:ext cx="6269347" cy="1506388"/>
          </a:xfrm>
        </p:spPr>
        <p:txBody>
          <a:bodyPr>
            <a:normAutofit fontScale="92500" lnSpcReduction="10000"/>
          </a:bodyPr>
          <a:lstStyle/>
          <a:p>
            <a:pPr>
              <a:lnSpc>
                <a:spcPct val="150000"/>
              </a:lnSpc>
            </a:pPr>
            <a:r>
              <a:rPr lang="en-US" sz="2400" b="1" dirty="0">
                <a:effectLst/>
                <a:latin typeface="Times New Roman" panose="02020603050405020304" pitchFamily="18" charset="0"/>
                <a:ea typeface="等线" panose="02010600030101010101" pitchFamily="2" charset="-122"/>
              </a:rPr>
              <a:t>PREPARED ON: </a:t>
            </a:r>
            <a:r>
              <a:rPr lang="en-US" sz="2400" dirty="0">
                <a:effectLst/>
                <a:latin typeface="Times New Roman" panose="02020603050405020304" pitchFamily="18" charset="0"/>
                <a:ea typeface="等线" panose="02010600030101010101" pitchFamily="2" charset="-122"/>
              </a:rPr>
              <a:t>14th/10/2024 </a:t>
            </a:r>
            <a:br>
              <a:rPr lang="en-US" sz="2400" dirty="0">
                <a:effectLst/>
                <a:latin typeface="Times New Roman" panose="02020603050405020304" pitchFamily="18" charset="0"/>
                <a:ea typeface="等线" panose="02010600030101010101" pitchFamily="2" charset="-122"/>
              </a:rPr>
            </a:br>
            <a:r>
              <a:rPr lang="en-US" sz="2400" b="1" dirty="0">
                <a:effectLst/>
                <a:latin typeface="Times New Roman" panose="02020603050405020304" pitchFamily="18" charset="0"/>
                <a:ea typeface="等线" panose="02010600030101010101" pitchFamily="2" charset="-122"/>
              </a:rPr>
              <a:t>BY: </a:t>
            </a:r>
            <a:r>
              <a:rPr lang="en-US" sz="2400" dirty="0">
                <a:effectLst/>
                <a:latin typeface="Times New Roman" panose="02020603050405020304" pitchFamily="18" charset="0"/>
                <a:ea typeface="等线" panose="02010600030101010101" pitchFamily="2" charset="-122"/>
              </a:rPr>
              <a:t>NABATANZI GORRET &amp; KOBUMANZI ESETHER</a:t>
            </a:r>
            <a:endParaRPr lang="en-US" sz="2400" dirty="0">
              <a:solidFill>
                <a:schemeClr val="tx1">
                  <a:lumMod val="85000"/>
                  <a:lumOff val="15000"/>
                </a:schemeClr>
              </a:solidFill>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795" y="0"/>
            <a:ext cx="4568190" cy="6858000"/>
          </a:xfrm>
          <a:prstGeom prst="rect">
            <a:avLst/>
          </a:prstGeom>
        </p:spPr>
      </p:pic>
      <p:sp>
        <p:nvSpPr>
          <p:cNvPr id="4" name="Rectangle 3"/>
          <p:cNvSpPr/>
          <p:nvPr/>
        </p:nvSpPr>
        <p:spPr>
          <a:xfrm>
            <a:off x="5289753" y="166254"/>
            <a:ext cx="6586363" cy="2222500"/>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3000" b="1" dirty="0">
                <a:solidFill>
                  <a:schemeClr val="bg1"/>
                </a:solidFill>
                <a:effectLst/>
                <a:latin typeface="Times New Roman" panose="02020603050405020304" pitchFamily="18" charset="0"/>
                <a:ea typeface="等线" panose="02010600030101010101" pitchFamily="2" charset="-122"/>
              </a:rPr>
              <a:t>A FEASIBILITY STUDY REPORT</a:t>
            </a:r>
            <a:r>
              <a:rPr lang="en-US" sz="3000" b="1" dirty="0">
                <a:solidFill>
                  <a:schemeClr val="bg1"/>
                </a:solidFill>
                <a:latin typeface="Times New Roman" panose="02020603050405020304" pitchFamily="18" charset="0"/>
                <a:ea typeface="等线" panose="02010600030101010101" pitchFamily="2" charset="-122"/>
              </a:rPr>
              <a:t>  ON  A </a:t>
            </a:r>
            <a:r>
              <a:rPr lang="en-US" sz="3000" b="1" dirty="0">
                <a:solidFill>
                  <a:schemeClr val="bg1"/>
                </a:solidFill>
                <a:effectLst/>
                <a:latin typeface="Times New Roman" panose="02020603050405020304" pitchFamily="18" charset="0"/>
                <a:ea typeface="等线" panose="02010600030101010101" pitchFamily="2" charset="-122"/>
              </a:rPr>
              <a:t>PROPOSED   STUDENT MANAGEMENT SYSTEM (SMS)</a:t>
            </a:r>
            <a:endParaRPr lang="en-US" sz="3000" b="1" dirty="0">
              <a:solidFill>
                <a:schemeClr val="bg1"/>
              </a:solidFill>
            </a:endParaRPr>
          </a:p>
        </p:txBody>
      </p:sp>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058400" cy="4237182"/>
          </a:xfrm>
        </p:spPr>
        <p:txBody>
          <a:bodyPr>
            <a:normAutofit fontScale="92500" lnSpcReduction="10000"/>
          </a:bodyPr>
          <a:lstStyle/>
          <a:p>
            <a:pPr>
              <a:lnSpc>
                <a:spcPct val="150000"/>
              </a:lnSpc>
              <a:buFont typeface="Wingdings" panose="05000000000000000000" pitchFamily="2" charset="2"/>
              <a:buChar char="Ø"/>
            </a:pPr>
            <a:r>
              <a:rPr lang="en-US" sz="2500" dirty="0">
                <a:effectLst/>
                <a:latin typeface="Times New Roman" panose="02020603050405020304" pitchFamily="18" charset="0"/>
                <a:ea typeface="等线" panose="02010600030101010101" pitchFamily="2" charset="-122"/>
              </a:rPr>
              <a:t>This feasibility study explores the practicability of developing and implementing a </a:t>
            </a:r>
            <a:r>
              <a:rPr lang="en-US" sz="2500" dirty="0">
                <a:solidFill>
                  <a:srgbClr val="00B050"/>
                </a:solidFill>
                <a:effectLst/>
                <a:latin typeface="Times New Roman" panose="02020603050405020304" pitchFamily="18" charset="0"/>
                <a:ea typeface="等线" panose="02010600030101010101" pitchFamily="2" charset="-122"/>
              </a:rPr>
              <a:t>Student Management System </a:t>
            </a:r>
            <a:r>
              <a:rPr lang="en-US" sz="2500" dirty="0">
                <a:effectLst/>
                <a:latin typeface="Times New Roman" panose="02020603050405020304" pitchFamily="18" charset="0"/>
                <a:ea typeface="等线" panose="02010600030101010101" pitchFamily="2" charset="-122"/>
              </a:rPr>
              <a:t>(SMS) for </a:t>
            </a:r>
            <a:r>
              <a:rPr lang="en-US" sz="2500" dirty="0">
                <a:solidFill>
                  <a:srgbClr val="00B050"/>
                </a:solidFill>
                <a:effectLst/>
                <a:latin typeface="Times New Roman" panose="02020603050405020304" pitchFamily="18" charset="0"/>
                <a:ea typeface="等线" panose="02010600030101010101" pitchFamily="2" charset="-122"/>
              </a:rPr>
              <a:t>Women’s Institute of Technology and Innovation</a:t>
            </a:r>
            <a:r>
              <a:rPr lang="en-US" sz="2500" dirty="0">
                <a:effectLst/>
                <a:latin typeface="Times New Roman" panose="02020603050405020304" pitchFamily="18" charset="0"/>
                <a:ea typeface="等线" panose="02010600030101010101" pitchFamily="2" charset="-122"/>
              </a:rPr>
              <a:t> (WITI). </a:t>
            </a:r>
            <a:endParaRPr lang="en-US" sz="2500" dirty="0">
              <a:effectLst/>
              <a:latin typeface="Times New Roman" panose="02020603050405020304" pitchFamily="18" charset="0"/>
              <a:ea typeface="等线" panose="02010600030101010101" pitchFamily="2" charset="-122"/>
            </a:endParaRPr>
          </a:p>
          <a:p>
            <a:pPr>
              <a:lnSpc>
                <a:spcPct val="150000"/>
              </a:lnSpc>
              <a:buFont typeface="Wingdings" panose="05000000000000000000" pitchFamily="2" charset="2"/>
              <a:buChar char="Ø"/>
            </a:pPr>
            <a:r>
              <a:rPr lang="en-US" sz="2500" dirty="0">
                <a:effectLst/>
                <a:latin typeface="Times New Roman" panose="02020603050405020304" pitchFamily="18" charset="0"/>
                <a:ea typeface="等线" panose="02010600030101010101" pitchFamily="2" charset="-122"/>
              </a:rPr>
              <a:t>The primary purpose of the SMS is to streamline administrative processes, enhance data accuracy and security, improve reporting capabilities, and support institutional growth. By addressing the current challenges of a manual system, the SMS aims to provide WITI with efficient management of student data and automated attendance tracking hence facilitating a more effective educational environment.</a:t>
            </a:r>
            <a:endParaRPr lang="en-US" sz="2500" dirty="0">
              <a:effectLst/>
              <a:latin typeface="Times New Roman" panose="02020603050405020304" pitchFamily="18" charset="0"/>
              <a:ea typeface="等线" panose="02010600030101010101" pitchFamily="2" charset="-122"/>
            </a:endParaRPr>
          </a:p>
          <a:p>
            <a:endParaRPr lang="en-US" dirty="0">
              <a:solidFill>
                <a:srgbClr val="FFFFFF"/>
              </a:solidFill>
            </a:endParaRPr>
          </a:p>
        </p:txBody>
      </p:sp>
      <p:sp>
        <p:nvSpPr>
          <p:cNvPr id="4" name="Rectangle 3"/>
          <p:cNvSpPr/>
          <p:nvPr/>
        </p:nvSpPr>
        <p:spPr>
          <a:xfrm>
            <a:off x="1185949" y="404554"/>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effectLst/>
                <a:latin typeface="Times New Roman" panose="02020603050405020304" pitchFamily="18" charset="0"/>
                <a:ea typeface="SimSun" panose="02010600030101010101" pitchFamily="2" charset="-122"/>
                <a:cs typeface="SimSun" panose="02010600030101010101" pitchFamily="2" charset="-122"/>
              </a:rPr>
              <a:t>Executive Summary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BACKGROUND</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058400" cy="4237182"/>
          </a:xfrm>
        </p:spPr>
        <p:txBody>
          <a:bodyPr>
            <a:normAutofit/>
          </a:bodyPr>
          <a:lstStyle/>
          <a:p>
            <a:pPr algn="just">
              <a:buFont typeface="Wingdings" panose="05000000000000000000" pitchFamily="2" charset="2"/>
              <a:buChar char="Ø"/>
            </a:pPr>
            <a:r>
              <a:rPr lang="en-US" sz="2500" b="1" dirty="0">
                <a:solidFill>
                  <a:srgbClr val="00B050"/>
                </a:solidFill>
                <a:latin typeface="Times New Roman" panose="02020603050405020304" pitchFamily="18" charset="0"/>
                <a:ea typeface="等线" panose="02010600030101010101" pitchFamily="2" charset="-122"/>
              </a:rPr>
              <a:t>Women’s Institute of Technology and Innovation </a:t>
            </a:r>
            <a:r>
              <a:rPr lang="en-US" sz="2500" dirty="0">
                <a:latin typeface="Times New Roman" panose="02020603050405020304" pitchFamily="18" charset="0"/>
                <a:ea typeface="等线" panose="02010600030101010101" pitchFamily="2" charset="-122"/>
              </a:rPr>
              <a:t>(WITI) is a Code Academy founded by Women In Technology Uganda (WITU) with a strong vision to close the technological gender gap in Uganda. </a:t>
            </a:r>
            <a:endParaRPr lang="en-US" sz="2500" dirty="0">
              <a:latin typeface="Times New Roman" panose="02020603050405020304" pitchFamily="18" charset="0"/>
              <a:ea typeface="等线" panose="02010600030101010101" pitchFamily="2" charset="-122"/>
            </a:endParaRPr>
          </a:p>
          <a:p>
            <a:pPr algn="just">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Located in Kamokya, Kanjokya Street, opposite Cavendish University, WITI focuses on empowering young women with the necessary skills to excel in the technology sector. The institute offers a Diploma in Computer Science and Entrepreneurship, catering to female students who have completed the Ugandan Advanced Certificate of Education (UACE) with a science-focused curriculum at their A-level.</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Organization background</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307782" cy="4026593"/>
          </a:xfrm>
        </p:spPr>
        <p:txBody>
          <a:bodyPr>
            <a:normAutofit/>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Women’s Institute of Technology and Innovation (WITI) currently  relies on  file-based approaches for managing student records  and paper-based methods for attendance tracking. This  leads to duplication of records, frequent errors in record-keeping and attendance tracking and delays in accessing vital  information. The absence of a centralized system hinders efficient data management and timely decision-making, affecting both students and staff.</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Problem Statement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2496127"/>
            <a:ext cx="10307782" cy="1998287"/>
          </a:xfrm>
        </p:spPr>
        <p:txBody>
          <a:bodyPr>
            <a:normAutofit/>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The </a:t>
            </a:r>
            <a:r>
              <a:rPr lang="en-US" sz="2500" dirty="0">
                <a:solidFill>
                  <a:srgbClr val="00B050"/>
                </a:solidFill>
                <a:latin typeface="Times New Roman" panose="02020603050405020304" pitchFamily="18" charset="0"/>
                <a:ea typeface="等线" panose="02010600030101010101" pitchFamily="2" charset="-122"/>
              </a:rPr>
              <a:t>purpose</a:t>
            </a:r>
            <a:r>
              <a:rPr lang="en-US" sz="2500" dirty="0">
                <a:latin typeface="Times New Roman" panose="02020603050405020304" pitchFamily="18" charset="0"/>
                <a:ea typeface="等线" panose="02010600030101010101" pitchFamily="2" charset="-122"/>
              </a:rPr>
              <a:t> of this feasibility study is to evaluate the potential of implementing a Student Management System (SMS) at  Women’s Institute of Technology and Innovation (WITI).</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Purpose for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lnSpcReduction="10000"/>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design and implement a comprehensive Student Management System (SMS) WITI that digitizes students records management. which will replace the file-based approaches and paper- based methods with a centralized digital solution improving accuracy, eliminating data redundancy, ease accessibility and operational efficiency.</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main Objective of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86180" y="4016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gather requirements for the proposed digital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Design the process flows for the proposed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Develop a digitized Student Management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Test, Deploy and Implement the proposed system.</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specific Objectives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fontScale="92500" lnSpcReduction="20000"/>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This feasibility study encompasses the following areas:</a:t>
            </a:r>
            <a:endParaRPr lang="en-US" sz="2500" b="1" dirty="0">
              <a:solidFill>
                <a:srgbClr val="00B050"/>
              </a:solidFill>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Technical Aspects</a:t>
            </a:r>
            <a:r>
              <a:rPr lang="en-US" sz="2500" dirty="0">
                <a:latin typeface="Times New Roman" panose="02020603050405020304" pitchFamily="18" charset="0"/>
                <a:ea typeface="等线" panose="02010600030101010101" pitchFamily="2" charset="-122"/>
              </a:rPr>
              <a:t>: Evaluation of the technical requirements for implementing a Student Management System (SMS), including infrastructure, software, and hardware capabilities necessary for efficient operation.</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Economic Aspects: </a:t>
            </a:r>
            <a:r>
              <a:rPr lang="en-US" sz="2500" dirty="0">
                <a:latin typeface="Times New Roman" panose="02020603050405020304" pitchFamily="18" charset="0"/>
                <a:ea typeface="等线" panose="02010600030101010101" pitchFamily="2" charset="-122"/>
              </a:rPr>
              <a:t>Analysis of the financial implications of transitioning to a SMS, including initial costs, potential savings, and return on investment.</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Operational Aspects: </a:t>
            </a:r>
            <a:r>
              <a:rPr lang="en-US" sz="2500" dirty="0">
                <a:latin typeface="Times New Roman" panose="02020603050405020304" pitchFamily="18" charset="0"/>
                <a:ea typeface="等线" panose="02010600030101010101" pitchFamily="2" charset="-122"/>
              </a:rPr>
              <a:t>Examination of how the SMS will integrate into existing workflows, improve administrative processes, and enhance overall institutional efficiency.</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Scope of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Description of the Proposed System</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The proposed system will automate administrative processes at WITI, including:</a:t>
            </a:r>
            <a:endParaRPr lang="en-US" sz="2500" b="1" dirty="0">
              <a:solidFill>
                <a:srgbClr val="00B050"/>
              </a:solidFill>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Student Registration</a:t>
            </a:r>
            <a:r>
              <a:rPr lang="en-US" sz="2300" b="1" dirty="0">
                <a:solidFill>
                  <a:srgbClr val="00B050"/>
                </a:solidFill>
                <a:latin typeface="Times New Roman" panose="02020603050405020304" pitchFamily="18" charset="0"/>
                <a:ea typeface="等线" panose="02010600030101010101" pitchFamily="2" charset="-122"/>
              </a:rPr>
              <a:t>: </a:t>
            </a:r>
            <a:r>
              <a:rPr lang="en-US" sz="2300" dirty="0">
                <a:latin typeface="Times New Roman" panose="02020603050405020304" pitchFamily="18" charset="0"/>
                <a:ea typeface="等线" panose="02010600030101010101" pitchFamily="2" charset="-122"/>
              </a:rPr>
              <a:t>Streamlining the enrollment process for new students</a:t>
            </a:r>
            <a:r>
              <a:rPr lang="en-US" sz="2300" b="1" dirty="0">
                <a:solidFill>
                  <a:schemeClr val="tx1"/>
                </a:solidFill>
                <a:latin typeface="Times New Roman" panose="02020603050405020304" pitchFamily="18" charset="0"/>
                <a:ea typeface="等线" panose="02010600030101010101" pitchFamily="2" charset="-122"/>
              </a:rPr>
              <a:t>.</a:t>
            </a:r>
            <a:endParaRPr lang="en-US" sz="2300" b="1" dirty="0">
              <a:solidFill>
                <a:schemeClr val="tx1"/>
              </a:solidFill>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Report Generation: </a:t>
            </a:r>
            <a:r>
              <a:rPr lang="en-US" sz="2300" dirty="0">
                <a:latin typeface="Times New Roman" panose="02020603050405020304" pitchFamily="18" charset="0"/>
                <a:ea typeface="等线" panose="02010600030101010101" pitchFamily="2" charset="-122"/>
              </a:rPr>
              <a:t>Generating detailed performance and attendance reports.</a:t>
            </a:r>
            <a:endParaRPr lang="en-US" sz="23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Grading Management: </a:t>
            </a:r>
            <a:r>
              <a:rPr lang="en-US" sz="2300" dirty="0">
                <a:latin typeface="Times New Roman" panose="02020603050405020304" pitchFamily="18" charset="0"/>
                <a:ea typeface="等线" panose="02010600030101010101" pitchFamily="2" charset="-122"/>
              </a:rPr>
              <a:t>Automating grade entry and access for students and faculty.</a:t>
            </a:r>
            <a:endParaRPr lang="en-US" sz="23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Attendance Tracking: </a:t>
            </a:r>
            <a:r>
              <a:rPr lang="en-US" sz="2300" dirty="0">
                <a:latin typeface="Times New Roman" panose="02020603050405020304" pitchFamily="18" charset="0"/>
                <a:ea typeface="等线" panose="02010600030101010101" pitchFamily="2" charset="-122"/>
              </a:rPr>
              <a:t>Real-time recording and monitoring of student attendance.</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Overview</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The Key features will include:</a:t>
            </a:r>
            <a:endParaRPr lang="en-US" sz="25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 User-Friendly Interface: </a:t>
            </a:r>
            <a:r>
              <a:rPr lang="en-US" sz="2300" dirty="0">
                <a:latin typeface="Times New Roman" panose="02020603050405020304" pitchFamily="18" charset="0"/>
                <a:ea typeface="等线" panose="02010600030101010101" pitchFamily="2" charset="-122"/>
              </a:rPr>
              <a:t>Intuitive navigation for students and administrators.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 Secure Data Management: </a:t>
            </a:r>
            <a:r>
              <a:rPr lang="en-US" sz="2300" dirty="0">
                <a:latin typeface="Times New Roman" panose="02020603050405020304" pitchFamily="18" charset="0"/>
                <a:ea typeface="等线" panose="02010600030101010101" pitchFamily="2" charset="-122"/>
              </a:rPr>
              <a:t>Protecting sensitive student information.</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Real-Time Analytics: </a:t>
            </a:r>
            <a:r>
              <a:rPr lang="en-US" sz="2300" dirty="0">
                <a:latin typeface="Times New Roman" panose="02020603050405020304" pitchFamily="18" charset="0"/>
                <a:ea typeface="等线" panose="02010600030101010101" pitchFamily="2" charset="-122"/>
              </a:rPr>
              <a:t>Dashboards for tracking progress efficiently.</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Integration Capabilities: </a:t>
            </a:r>
            <a:r>
              <a:rPr lang="en-US" sz="2300" dirty="0">
                <a:latin typeface="Times New Roman" panose="02020603050405020304" pitchFamily="18" charset="0"/>
                <a:ea typeface="等线" panose="02010600030101010101" pitchFamily="2" charset="-122"/>
              </a:rPr>
              <a:t>Smooth transition and data consistency with existing systems.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Mobile Accessibility: </a:t>
            </a:r>
            <a:r>
              <a:rPr lang="en-US" sz="2300" dirty="0">
                <a:latin typeface="Times New Roman" panose="02020603050405020304" pitchFamily="18" charset="0"/>
                <a:ea typeface="等线" panose="02010600030101010101" pitchFamily="2" charset="-122"/>
              </a:rPr>
              <a:t>Smooth access via mobile devices for convenience.</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Features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700" b="1" dirty="0">
                <a:solidFill>
                  <a:srgbClr val="00B050"/>
                </a:solidFill>
                <a:latin typeface="Times New Roman" panose="02020603050405020304" pitchFamily="18" charset="0"/>
                <a:ea typeface="等线" panose="02010600030101010101" pitchFamily="2" charset="-122"/>
              </a:rPr>
              <a:t>The anticipated system benefits for WITI include:</a:t>
            </a:r>
            <a:endParaRPr lang="en-US" sz="27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Increased Efficiency: </a:t>
            </a:r>
            <a:r>
              <a:rPr lang="en-US" sz="2300" dirty="0">
                <a:latin typeface="Times New Roman" panose="02020603050405020304" pitchFamily="18" charset="0"/>
                <a:ea typeface="等线" panose="02010600030101010101" pitchFamily="2" charset="-122"/>
              </a:rPr>
              <a:t>Reducing administrative workload and processing time.</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Improved Data Accuracy: </a:t>
            </a:r>
            <a:r>
              <a:rPr lang="en-US" sz="2300" dirty="0">
                <a:latin typeface="Times New Roman" panose="02020603050405020304" pitchFamily="18" charset="0"/>
                <a:ea typeface="等线" panose="02010600030101010101" pitchFamily="2" charset="-122"/>
              </a:rPr>
              <a:t>Minimizing errors through automation.</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Enhanced Student Monitoring: </a:t>
            </a:r>
            <a:r>
              <a:rPr lang="en-US" sz="2300" dirty="0">
                <a:latin typeface="Times New Roman" panose="02020603050405020304" pitchFamily="18" charset="0"/>
                <a:ea typeface="等线" panose="02010600030101010101" pitchFamily="2" charset="-122"/>
              </a:rPr>
              <a:t>Real-time tracking of attendance and performance.</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Better Resource Management: </a:t>
            </a:r>
            <a:r>
              <a:rPr lang="en-US" sz="2300" dirty="0">
                <a:latin typeface="Times New Roman" panose="02020603050405020304" pitchFamily="18" charset="0"/>
                <a:ea typeface="等线" panose="02010600030101010101" pitchFamily="2" charset="-122"/>
              </a:rPr>
              <a:t>Efficient allocation of resources.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Support for Decision-Making: </a:t>
            </a:r>
            <a:r>
              <a:rPr lang="en-US" sz="2300" dirty="0">
                <a:latin typeface="Times New Roman" panose="02020603050405020304" pitchFamily="18" charset="0"/>
                <a:ea typeface="等线" panose="02010600030101010101" pitchFamily="2" charset="-122"/>
              </a:rPr>
              <a:t>Data-driven insights for informed institutional decisions.</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Benefits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Feasibility Analysis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Technical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033954"/>
            <a:ext cx="10307782" cy="5438890"/>
          </a:xfrm>
        </p:spPr>
        <p:txBody>
          <a:bodyPr>
            <a:noAutofit/>
          </a:bodyPr>
          <a:lstStyle/>
          <a:p>
            <a:pPr marL="0" marR="0" lvl="0" indent="0" algn="just">
              <a:lnSpc>
                <a:spcPct val="15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WITI possesses a robust technological infrastructure, including:</a:t>
            </a:r>
            <a:endParaRPr lang="en-US" sz="18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Hardware: </a:t>
            </a:r>
            <a:r>
              <a:rPr lang="en-US" sz="1660" dirty="0">
                <a:latin typeface="Times New Roman" panose="02020603050405020304" pitchFamily="18" charset="0"/>
                <a:ea typeface="等线" panose="02010600030101010101" pitchFamily="2" charset="-122"/>
              </a:rPr>
              <a:t>Sufficient computers in student labs and laptops provided to staff, all equipped with  necessary software (like, web browsing).</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Network: </a:t>
            </a:r>
            <a:r>
              <a:rPr lang="en-US" sz="1660" dirty="0">
                <a:latin typeface="Times New Roman" panose="02020603050405020304" pitchFamily="18" charset="0"/>
                <a:ea typeface="等线" panose="02010600030101010101" pitchFamily="2" charset="-122"/>
              </a:rPr>
              <a:t>Reliable Wi-Fi access supported by a network server.</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Cloud Hosting: </a:t>
            </a:r>
            <a:r>
              <a:rPr lang="en-US" sz="1660" dirty="0">
                <a:latin typeface="Times New Roman" panose="02020603050405020304" pitchFamily="18" charset="0"/>
                <a:ea typeface="等线" panose="02010600030101010101" pitchFamily="2" charset="-122"/>
              </a:rPr>
              <a:t>A cloud shared hosting server already in use for the institution’s website, with good security protocols, including secure protocols and SSL certificates.</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Operating Systems: </a:t>
            </a:r>
            <a:r>
              <a:rPr lang="en-US" sz="1660" dirty="0">
                <a:latin typeface="Times New Roman" panose="02020603050405020304" pitchFamily="18" charset="0"/>
                <a:ea typeface="等线" panose="02010600030101010101" pitchFamily="2" charset="-122"/>
              </a:rPr>
              <a:t>Both the computers  in the computer and the laptops provided to the staff member have up to date Operating Systems (Windows, Ubuntu, MacOS). During system use, the system will be multi-platform independent.</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solidFill>
                  <a:srgbClr val="00B050"/>
                </a:solidFill>
                <a:latin typeface="Times New Roman" panose="02020603050405020304" pitchFamily="18" charset="0"/>
                <a:ea typeface="等线" panose="02010600030101010101" pitchFamily="2" charset="-122"/>
              </a:rPr>
              <a:t>Support for the Proposed SMS: </a:t>
            </a:r>
            <a:r>
              <a:rPr lang="en-US" sz="1660" dirty="0">
                <a:latin typeface="Times New Roman" panose="02020603050405020304" pitchFamily="18" charset="0"/>
                <a:ea typeface="等线" panose="02010600030101010101" pitchFamily="2" charset="-122"/>
              </a:rPr>
              <a:t>The existing infrastructure is capable of supporting the proposed SMS, as all necessary components are in place. The cloud server can accommodate the SMS, ensuring secure and efficient operations.</a:t>
            </a:r>
            <a:endParaRPr lang="en-US" sz="1660" dirty="0">
              <a:latin typeface="Times New Roman" panose="02020603050405020304" pitchFamily="18" charset="0"/>
              <a:ea typeface="等线" panose="02010600030101010101" pitchFamily="2" charset="-122"/>
            </a:endParaRPr>
          </a:p>
        </p:txBody>
      </p:sp>
      <p:sp>
        <p:nvSpPr>
          <p:cNvPr id="4" name="Rectangle 3"/>
          <p:cNvSpPr/>
          <p:nvPr/>
        </p:nvSpPr>
        <p:spPr>
          <a:xfrm>
            <a:off x="1041862" y="64135"/>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Current Infrastructure Assessment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rmAutofit fontScale="77500" lnSpcReduction="20000"/>
          </a:bodyPr>
          <a:lstStyle/>
          <a:p>
            <a:pPr marL="0" indent="0" algn="just">
              <a:lnSpc>
                <a:spcPct val="150000"/>
              </a:lnSpc>
              <a:spcBef>
                <a:spcPts val="500"/>
              </a:spcBef>
              <a:spcAft>
                <a:spcPts val="500"/>
              </a:spcAft>
              <a:buNone/>
            </a:pPr>
            <a:r>
              <a:rPr lang="en-US" sz="2600" b="1" dirty="0">
                <a:solidFill>
                  <a:srgbClr val="00B050"/>
                </a:solidFill>
                <a:latin typeface="Times New Roman" panose="02020603050405020304" pitchFamily="18" charset="0"/>
                <a:ea typeface="等线" panose="02010600030101010101" pitchFamily="2" charset="-122"/>
              </a:rPr>
              <a:t>1. Technical Stack</a:t>
            </a:r>
            <a:endParaRPr lang="en-US" sz="26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Frontend: Frameworks</a:t>
            </a:r>
            <a:endParaRPr lang="en-US" sz="2300" b="1"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100" b="1" dirty="0">
                <a:latin typeface="Times New Roman" panose="02020603050405020304" pitchFamily="18" charset="0"/>
                <a:ea typeface="等线" panose="02010600030101010101" pitchFamily="2" charset="-122"/>
              </a:rPr>
              <a:t> Laravel Blade</a:t>
            </a:r>
            <a:r>
              <a:rPr lang="en-US" sz="2100" dirty="0">
                <a:latin typeface="Times New Roman" panose="02020603050405020304" pitchFamily="18" charset="0"/>
                <a:ea typeface="等线" panose="02010600030101010101" pitchFamily="2" charset="-122"/>
              </a:rPr>
              <a:t>: for templating, alongside Laravel Livewire for dynamic components.</a:t>
            </a:r>
            <a:endParaRPr lang="en-US" sz="21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100" b="1" dirty="0">
                <a:latin typeface="Times New Roman" panose="02020603050405020304" pitchFamily="18" charset="0"/>
                <a:ea typeface="等线" panose="02010600030101010101" pitchFamily="2" charset="-122"/>
              </a:rPr>
              <a:t>Laravel InfyOm: </a:t>
            </a:r>
            <a:r>
              <a:rPr lang="en-US" sz="2100" dirty="0">
                <a:latin typeface="Times New Roman" panose="02020603050405020304" pitchFamily="18" charset="0"/>
                <a:ea typeface="等线" panose="02010600030101010101" pitchFamily="2" charset="-122"/>
              </a:rPr>
              <a:t>To streamline the development process with CRUD (Create, Read, Update, Delete) operations and scaffolding.</a:t>
            </a:r>
            <a:endParaRPr lang="en-US" sz="21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Backend: </a:t>
            </a:r>
            <a:r>
              <a:rPr lang="en-US" sz="2300" dirty="0">
                <a:latin typeface="Times New Roman" panose="02020603050405020304" pitchFamily="18" charset="0"/>
                <a:ea typeface="等线" panose="02010600030101010101" pitchFamily="2" charset="-122"/>
              </a:rPr>
              <a:t>PHP (Laravel framework)</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Database: </a:t>
            </a:r>
            <a:r>
              <a:rPr lang="en-US" sz="2300" dirty="0">
                <a:latin typeface="Times New Roman" panose="02020603050405020304" pitchFamily="18" charset="0"/>
                <a:ea typeface="等线" panose="02010600030101010101" pitchFamily="2" charset="-122"/>
              </a:rPr>
              <a:t>MySQL</a:t>
            </a:r>
            <a:endParaRPr lang="en-US" sz="23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4" y="2120900"/>
            <a:ext cx="4639736" cy="4091478"/>
          </a:xfrm>
        </p:spPr>
        <p:txBody>
          <a:bodyPr>
            <a:noAutofit/>
          </a:bodyPr>
          <a:lstStyle/>
          <a:p>
            <a:pPr marL="0" lvl="0" indent="0" algn="just">
              <a:lnSpc>
                <a:spcPct val="130000"/>
              </a:lnSpc>
              <a:spcBef>
                <a:spcPts val="500"/>
              </a:spcBef>
              <a:spcAft>
                <a:spcPts val="500"/>
              </a:spcAft>
              <a:buNone/>
            </a:pPr>
            <a:r>
              <a:rPr lang="en-US" sz="2000" b="1" dirty="0">
                <a:solidFill>
                  <a:srgbClr val="00B050"/>
                </a:solidFill>
                <a:latin typeface="Times New Roman" panose="02020603050405020304" pitchFamily="18" charset="0"/>
                <a:ea typeface="等线" panose="02010600030101010101" pitchFamily="2" charset="-122"/>
              </a:rPr>
              <a:t>2. Security: </a:t>
            </a:r>
            <a:r>
              <a:rPr lang="en-US" sz="1600" dirty="0">
                <a:latin typeface="Times New Roman" panose="02020603050405020304" pitchFamily="18" charset="0"/>
                <a:ea typeface="等线" panose="02010600030101010101" pitchFamily="2" charset="-122"/>
              </a:rPr>
              <a:t>Implementing security features such as encryption for sensitive data, multi-factor user authentication, and regular backups to ensure data integrity and security.</a:t>
            </a:r>
            <a:endParaRPr lang="en-US" sz="16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2000" b="1" dirty="0">
                <a:solidFill>
                  <a:srgbClr val="00B050"/>
                </a:solidFill>
                <a:latin typeface="Times New Roman" panose="02020603050405020304" pitchFamily="18" charset="0"/>
                <a:ea typeface="等线" panose="02010600030101010101" pitchFamily="2" charset="-122"/>
              </a:rPr>
              <a:t>3. Hosting: </a:t>
            </a:r>
            <a:r>
              <a:rPr lang="en-US" sz="1600" dirty="0">
                <a:latin typeface="Times New Roman" panose="02020603050405020304" pitchFamily="18" charset="0"/>
                <a:ea typeface="等线" panose="02010600030101010101" pitchFamily="2" charset="-122"/>
              </a:rPr>
              <a:t>The SMS will be hosted in the cloud, providing cost-effectiveness and scalability.</a:t>
            </a:r>
            <a:endParaRPr lang="en-US" sz="16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1600" b="1" dirty="0">
                <a:solidFill>
                  <a:srgbClr val="00B050"/>
                </a:solidFill>
                <a:latin typeface="Times New Roman" panose="02020603050405020304" pitchFamily="18" charset="0"/>
                <a:ea typeface="等线" panose="02010600030101010101" pitchFamily="2" charset="-122"/>
              </a:rPr>
              <a:t>4. </a:t>
            </a:r>
            <a:r>
              <a:rPr lang="en-US" sz="2000" b="1" dirty="0">
                <a:solidFill>
                  <a:srgbClr val="00B050"/>
                </a:solidFill>
                <a:latin typeface="Times New Roman" panose="02020603050405020304" pitchFamily="18" charset="0"/>
                <a:ea typeface="等线" panose="02010600030101010101" pitchFamily="2" charset="-122"/>
              </a:rPr>
              <a:t>Operating System: </a:t>
            </a:r>
            <a:r>
              <a:rPr lang="en-US" sz="1600" dirty="0">
                <a:latin typeface="Times New Roman" panose="02020603050405020304" pitchFamily="18" charset="0"/>
                <a:ea typeface="等线" panose="02010600030101010101" pitchFamily="2" charset="-122"/>
              </a:rPr>
              <a:t>The system will run on a server with a compatible OS, such as Ubuntu or CentOS, which are suitable for web applications and provide a stable environment for PHP and </a:t>
            </a:r>
            <a:r>
              <a:rPr lang="en-US" sz="1800" kern="0" dirty="0">
                <a:effectLst/>
                <a:latin typeface="Times New Roman" panose="02020603050405020304" pitchFamily="18" charset="0"/>
                <a:ea typeface="SimSun" panose="02010600030101010101" pitchFamily="2" charset="-122"/>
              </a:rPr>
              <a:t>MySQL.</a:t>
            </a:r>
            <a:endParaRPr lang="en-US" sz="1800" dirty="0">
              <a:effectLst/>
              <a:latin typeface="Times New Roman" panose="02020603050405020304" pitchFamily="18" charset="0"/>
              <a:ea typeface="等线" panose="02010600030101010101" pitchFamily="2" charset="-122"/>
            </a:endParaRPr>
          </a:p>
          <a:p>
            <a:pPr>
              <a:lnSpc>
                <a:spcPct val="100000"/>
              </a:lnSpc>
            </a:pPr>
            <a:endParaRPr lang="en-US" sz="1800" dirty="0"/>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Technology Requirements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Operational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fontScale="92500" lnSpcReduction="20000"/>
          </a:bodyPr>
          <a:lstStyle/>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Staff and Student Readiness:</a:t>
            </a:r>
            <a:r>
              <a:rPr lang="en-US" sz="1800" kern="0" dirty="0">
                <a:effectLst/>
                <a:latin typeface="Times New Roman" panose="02020603050405020304" pitchFamily="18" charset="0"/>
                <a:ea typeface="SimSun" panose="02010600030101010101" pitchFamily="2" charset="-122"/>
              </a:rPr>
              <a:t> WITI’s staff and students are prepared to adapt to the new Student Management System (SMS). Staff members are proficient in similar systems, while many have software development knowledge.</a:t>
            </a:r>
            <a:endParaRPr lang="en-US" sz="18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Integration into Current Workflows:</a:t>
            </a:r>
            <a:r>
              <a:rPr lang="en-US" sz="1800" kern="0" dirty="0">
                <a:effectLst/>
                <a:latin typeface="Times New Roman" panose="02020603050405020304" pitchFamily="18" charset="0"/>
                <a:ea typeface="SimSun" panose="02010600030101010101" pitchFamily="2" charset="-122"/>
              </a:rPr>
              <a:t> The SMS will streamline tasks like registration, attendance tracking, and grading, reducing manual efforts and enhancing workflow efficiency.</a:t>
            </a:r>
            <a:endParaRPr lang="en-US" sz="1800" kern="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Training Requirements</a:t>
            </a:r>
            <a:endParaRPr lang="en-US" sz="1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800" b="1" dirty="0">
                <a:effectLst/>
                <a:latin typeface="Times New Roman" panose="02020603050405020304" pitchFamily="18" charset="0"/>
                <a:ea typeface="SimSun" panose="02010600030101010101" pitchFamily="2" charset="-122"/>
              </a:rPr>
              <a:t>Staff: </a:t>
            </a:r>
            <a:r>
              <a:rPr lang="en-US" sz="1800" b="0" dirty="0">
                <a:effectLst/>
                <a:latin typeface="Times New Roman" panose="02020603050405020304" pitchFamily="18" charset="0"/>
                <a:ea typeface="SimSun" panose="02010600030101010101" pitchFamily="2" charset="-122"/>
              </a:rPr>
              <a:t>No training needed as they are already skilled </a:t>
            </a:r>
            <a:r>
              <a:rPr lang="en-US" sz="1800" b="0" dirty="0" err="1">
                <a:effectLst/>
                <a:latin typeface="Times New Roman" panose="02020603050405020304" pitchFamily="18" charset="0"/>
                <a:ea typeface="SimSun" panose="02010600030101010101" pitchFamily="2" charset="-122"/>
              </a:rPr>
              <a:t>interms</a:t>
            </a:r>
            <a:r>
              <a:rPr lang="en-US" sz="1800" b="0" dirty="0">
                <a:effectLst/>
                <a:latin typeface="Times New Roman" panose="02020603050405020304" pitchFamily="18" charset="0"/>
                <a:ea typeface="SimSun" panose="02010600030101010101" pitchFamily="2" charset="-122"/>
              </a:rPr>
              <a:t> of the use of such systems</a:t>
            </a:r>
            <a:endParaRPr lang="en-US" sz="1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800" b="1" dirty="0">
                <a:effectLst/>
                <a:latin typeface="Times New Roman" panose="02020603050405020304" pitchFamily="18" charset="0"/>
                <a:ea typeface="SimSun" panose="02010600030101010101" pitchFamily="2" charset="-122"/>
              </a:rPr>
              <a:t>Students: </a:t>
            </a:r>
            <a:r>
              <a:rPr lang="en-US" sz="1800" b="0" dirty="0">
                <a:effectLst/>
                <a:latin typeface="Times New Roman" panose="02020603050405020304" pitchFamily="18" charset="0"/>
                <a:ea typeface="SimSun" panose="02010600030101010101" pitchFamily="2" charset="-122"/>
              </a:rPr>
              <a:t>Basic training sessions may be offered by staff to ensure familiarity with the SMS features.</a:t>
            </a:r>
            <a:endParaRPr lang="en-US" sz="1800" dirty="0">
              <a:effectLst/>
              <a:latin typeface="Times New Roman" panose="02020603050405020304" pitchFamily="18" charset="0"/>
              <a:ea typeface="SimSun" panose="02010600030101010101" pitchFamily="2" charset="-122"/>
            </a:endParaRPr>
          </a:p>
          <a:p>
            <a:pPr algn="just">
              <a:lnSpc>
                <a:spcPct val="156000"/>
              </a:lnSpc>
              <a:spcBef>
                <a:spcPts val="1400"/>
              </a:spcBef>
              <a:spcAft>
                <a:spcPts val="1450"/>
              </a:spcAft>
            </a:pPr>
            <a:r>
              <a:rPr lang="en-US" sz="1800" b="1" dirty="0">
                <a:solidFill>
                  <a:srgbClr val="00B050"/>
                </a:solidFill>
                <a:effectLst/>
                <a:latin typeface="Times New Roman" panose="02020603050405020304" pitchFamily="18" charset="0"/>
                <a:ea typeface="等线" panose="02010600030101010101" pitchFamily="2" charset="-122"/>
              </a:rPr>
              <a:t>Conclusion: </a:t>
            </a:r>
            <a:r>
              <a:rPr lang="en-US" sz="1800" b="0" dirty="0">
                <a:effectLst/>
                <a:latin typeface="Times New Roman" panose="02020603050405020304" pitchFamily="18" charset="0"/>
                <a:ea typeface="等线" panose="02010600030101010101" pitchFamily="2" charset="-122"/>
              </a:rPr>
              <a:t>Overall, the operational feasibility of implementing the SMS at WITI is strong, given the readiness of both staff and students, the positive impact on existing workflows, and the minimal training requirements.  This readiness supports the successful adoption and long-term use of the  proposed system</a:t>
            </a:r>
            <a:endParaRPr lang="en-US" sz="1800" b="1" dirty="0">
              <a:effectLst/>
              <a:latin typeface="Times New Roman" panose="02020603050405020304" pitchFamily="18" charset="0"/>
              <a:ea typeface="等线" panose="02010600030101010101" pitchFamily="2" charset="-122"/>
            </a:endParaRPr>
          </a:p>
          <a:p>
            <a:pPr marL="0" marR="0" algn="just">
              <a:lnSpc>
                <a:spcPct val="150000"/>
              </a:lnSpc>
              <a:spcBef>
                <a:spcPts val="500"/>
              </a:spcBef>
              <a:spcAft>
                <a:spcPts val="500"/>
              </a:spcAft>
            </a:pPr>
            <a:endParaRPr lang="en-US" sz="1800" dirty="0">
              <a:effectLst/>
              <a:latin typeface="Times New Roman" panose="02020603050405020304" pitchFamily="18" charset="0"/>
              <a:ea typeface="SimSun" panose="02010600030101010101" pitchFamily="2" charset="-122"/>
            </a:endParaRPr>
          </a:p>
          <a:p>
            <a:pPr marL="0" marR="0" lvl="0" indent="0" algn="just">
              <a:lnSpc>
                <a:spcPct val="150000"/>
              </a:lnSpc>
              <a:spcBef>
                <a:spcPts val="500"/>
              </a:spcBef>
              <a:spcAft>
                <a:spcPts val="500"/>
              </a:spcAft>
              <a:buNone/>
            </a:pP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Operational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Economic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a:xfrm>
            <a:off x="1097280" y="1256421"/>
            <a:ext cx="4639736" cy="5066795"/>
          </a:xfrm>
        </p:spPr>
        <p:txBody>
          <a:bodyPr>
            <a:noAutofit/>
          </a:bodyPr>
          <a:lstStyle/>
          <a:p>
            <a:pPr marL="0" lv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1. Development Costs</a:t>
            </a:r>
            <a:endParaRPr lang="en-US" b="1" dirty="0">
              <a:solidFill>
                <a:srgbClr val="00B050"/>
              </a:solidFill>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Student Developers</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5 Best students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5 students × UGX 300,000 × 3 months = </a:t>
            </a:r>
            <a:r>
              <a:rPr lang="en-US" b="1" dirty="0">
                <a:effectLst/>
                <a:latin typeface="Times New Roman" panose="02020603050405020304" pitchFamily="18" charset="0"/>
                <a:ea typeface="SimSun" panose="02010600030101010101" pitchFamily="2" charset="-122"/>
              </a:rPr>
              <a:t>UGX 4,500,000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Professional Developer</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1 Proficient developer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UGX 2,000,000 ×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 = </a:t>
            </a:r>
            <a:r>
              <a:rPr lang="en-US" b="1" dirty="0">
                <a:effectLst/>
                <a:latin typeface="Times New Roman" panose="02020603050405020304" pitchFamily="18" charset="0"/>
                <a:ea typeface="SimSun" panose="02010600030101010101" pitchFamily="2" charset="-122"/>
              </a:rPr>
              <a:t>UGX 6,000,000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endParaRPr lang="en-US" sz="17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3" y="1396538"/>
            <a:ext cx="4927912" cy="5015346"/>
          </a:xfrm>
        </p:spPr>
        <p:txBody>
          <a:bodyPr>
            <a:noAutofit/>
          </a:bodyPr>
          <a:lstStyle/>
          <a:p>
            <a:pPr mar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2. Infrastructure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200000"/>
              </a:lnSpc>
              <a:buFont typeface="Wingdings" panose="05000000000000000000" pitchFamily="2" charset="2"/>
              <a:buChar char="Ø"/>
            </a:pPr>
            <a:r>
              <a:rPr lang="en-US" b="1" dirty="0">
                <a:latin typeface="Times New Roman" panose="02020603050405020304" pitchFamily="18" charset="0"/>
                <a:ea typeface="等线" panose="02010600030101010101" pitchFamily="2" charset="-122"/>
              </a:rPr>
              <a:t>Cloud Hosting: </a:t>
            </a:r>
            <a:r>
              <a:rPr lang="en-US" dirty="0">
                <a:latin typeface="Times New Roman" panose="02020603050405020304" pitchFamily="18" charset="0"/>
                <a:ea typeface="等线" panose="02010600030101010101" pitchFamily="2" charset="-122"/>
              </a:rPr>
              <a:t>UGX 200,000 per year.</a:t>
            </a:r>
            <a:endParaRPr lang="en-US" dirty="0">
              <a:latin typeface="Times New Roman" panose="02020603050405020304" pitchFamily="18" charset="0"/>
              <a:ea typeface="等线" panose="02010600030101010101" pitchFamily="2" charset="-122"/>
            </a:endParaRPr>
          </a:p>
          <a:p>
            <a:pPr marL="0" indent="0" algn="just">
              <a:lnSpc>
                <a:spcPct val="80000"/>
              </a:lnSpc>
              <a:buNone/>
            </a:pPr>
            <a:r>
              <a:rPr lang="en-US" b="1" dirty="0">
                <a:solidFill>
                  <a:srgbClr val="00B050"/>
                </a:solidFill>
                <a:latin typeface="Times New Roman" panose="02020603050405020304" pitchFamily="18" charset="0"/>
                <a:ea typeface="等线" panose="02010600030101010101" pitchFamily="2" charset="-122"/>
              </a:rPr>
              <a:t>3.  Testing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Since WITI staff can effectively test the functional features and provide feedback, this will reduce additional costs associated with third-party testing. Therefore, UGX 0 for testing</a:t>
            </a:r>
            <a:r>
              <a:rPr lang="en-US" sz="1800" b="1" dirty="0">
                <a:latin typeface="Times New Roman" panose="02020603050405020304" pitchFamily="18" charset="0"/>
                <a:ea typeface="等线" panose="02010600030101010101" pitchFamily="2" charset="-122"/>
              </a:rPr>
              <a:t>.</a:t>
            </a:r>
            <a:endParaRPr lang="en-US" sz="1800" b="1" dirty="0">
              <a:latin typeface="Times New Roman" panose="02020603050405020304" pitchFamily="18" charset="0"/>
              <a:ea typeface="等线" panose="02010600030101010101" pitchFamily="2" charset="-122"/>
            </a:endParaRPr>
          </a:p>
          <a:p>
            <a:pPr algn="just">
              <a:lnSpc>
                <a:spcPct val="80000"/>
              </a:lnSpc>
            </a:pPr>
            <a:r>
              <a:rPr lang="en-US" sz="1700" b="1" dirty="0">
                <a:latin typeface="Times New Roman" panose="02020603050405020304" pitchFamily="18" charset="0"/>
                <a:ea typeface="等线" panose="02010600030101010101" pitchFamily="2" charset="-122"/>
              </a:rPr>
              <a:t>4. Maintenance Costs:</a:t>
            </a:r>
            <a:endParaRPr lang="en-US" sz="1700" b="1" dirty="0">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Estimated at UGX 600,000 annually for the developer’s maintenance support after deployment.</a:t>
            </a: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91597"/>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Total Development Costs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87768"/>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1"/>
          </p:nvPr>
        </p:nvSpPr>
        <p:spPr>
          <a:xfrm>
            <a:off x="1097279" y="1256423"/>
            <a:ext cx="10401993" cy="5133294"/>
          </a:xfrm>
        </p:spPr>
        <p:txBody>
          <a:bodyPr>
            <a:noAutofit/>
          </a:bodyPr>
          <a:lstStyle/>
          <a:p>
            <a:pPr algn="just">
              <a:lnSpc>
                <a:spcPct val="156000"/>
              </a:lnSpc>
              <a:spcBef>
                <a:spcPts val="1400"/>
              </a:spcBef>
              <a:spcAft>
                <a:spcPts val="1450"/>
              </a:spcAft>
            </a:pPr>
            <a:r>
              <a:rPr lang="en-US" sz="1800" b="1" dirty="0">
                <a:solidFill>
                  <a:srgbClr val="00B050"/>
                </a:solidFill>
                <a:effectLst/>
                <a:latin typeface="Times New Roman" panose="02020603050405020304" pitchFamily="18" charset="0"/>
                <a:ea typeface="SimSun" panose="02010600030101010101" pitchFamily="2" charset="-122"/>
              </a:rPr>
              <a:t>Expected Benefits</a:t>
            </a:r>
            <a:endParaRPr lang="en-US" sz="1800" b="1" dirty="0">
              <a:solidFill>
                <a:srgbClr val="00B050"/>
              </a:solidFill>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By leveraging the expertise of WITI's best students and a proficient developer, the institution minimizes development costs while providing valuable learning opportunities for students.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collaboration will enhance students' skills and practical experience while ensuring that the system aligns with WITI's needs.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anticipated benefits of increased operational efficiency, improved data management, and support for WITI’s mission to bridge the technological gender gap will outweigh the development and maintenance costs.</a:t>
            </a:r>
            <a:endParaRPr lang="en-US" sz="17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solidFill>
                  <a:srgbClr val="00B050"/>
                </a:solidFill>
                <a:effectLst/>
                <a:latin typeface="Times New Roman" panose="02020603050405020304" pitchFamily="18" charset="0"/>
                <a:ea typeface="等线" panose="02010600030101010101" pitchFamily="2" charset="-122"/>
              </a:rPr>
              <a:t>Conclusion</a:t>
            </a:r>
            <a:r>
              <a:rPr lang="en-US" sz="1800" b="1" dirty="0">
                <a:effectLst/>
                <a:latin typeface="Times New Roman" panose="02020603050405020304" pitchFamily="18" charset="0"/>
                <a:ea typeface="等线" panose="02010600030101010101" pitchFamily="2" charset="-122"/>
              </a:rPr>
              <a:t>: </a:t>
            </a:r>
            <a:r>
              <a:rPr lang="en-US" sz="1800" dirty="0">
                <a:effectLst/>
                <a:latin typeface="Times New Roman" panose="02020603050405020304" pitchFamily="18" charset="0"/>
                <a:ea typeface="等线" panose="02010600030101010101" pitchFamily="2" charset="-122"/>
              </a:rPr>
              <a:t>The economic feasibility of the SMS at WITI indicates a viable project with costs totaling </a:t>
            </a:r>
            <a:endParaRPr lang="en-US" sz="18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effectLst/>
                <a:latin typeface="Times New Roman" panose="02020603050405020304" pitchFamily="18" charset="0"/>
                <a:ea typeface="等线" panose="02010600030101010101" pitchFamily="2" charset="-122"/>
              </a:rPr>
              <a:t>UGX 11,300,000. </a:t>
            </a:r>
            <a:r>
              <a:rPr lang="en-US" sz="1800" dirty="0">
                <a:effectLst/>
                <a:latin typeface="Times New Roman" panose="02020603050405020304" pitchFamily="18" charset="0"/>
                <a:ea typeface="等线" panose="02010600030101010101" pitchFamily="2" charset="-122"/>
              </a:rPr>
              <a:t>Utilizing existing resources and student developers minimizes expenses while enhancing efficiency and data accuracy. The anticipated benefits outweigh the costs, confirming the project's feasibility.</a:t>
            </a:r>
            <a:endParaRPr lang="en-US" sz="1800" dirty="0">
              <a:effectLst/>
              <a:latin typeface="Times New Roman" panose="02020603050405020304" pitchFamily="18" charset="0"/>
              <a:ea typeface="等线" panose="02010600030101010101" pitchFamily="2" charset="-122"/>
            </a:endParaRPr>
          </a:p>
          <a:p>
            <a:pPr marL="0" marR="0" lvl="0" indent="0" algn="just">
              <a:lnSpc>
                <a:spcPct val="150000"/>
              </a:lnSpc>
              <a:spcBef>
                <a:spcPts val="500"/>
              </a:spcBef>
              <a:spcAft>
                <a:spcPts val="500"/>
              </a:spcAft>
              <a:buNone/>
            </a:pP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74972"/>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Cost-Benefit Analysis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Conclusion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013258" y="338081"/>
            <a:ext cx="10513724" cy="4549775"/>
          </a:xfrm>
        </p:spPr>
        <p:txBody>
          <a:bodyPr>
            <a:noAutofit/>
          </a:bodyPr>
          <a:lstStyle/>
          <a:p>
            <a:pPr marL="0" marR="0" indent="0" algn="just">
              <a:lnSpc>
                <a:spcPct val="150000"/>
              </a:lnSpc>
              <a:spcBef>
                <a:spcPts val="500"/>
              </a:spcBef>
              <a:spcAft>
                <a:spcPts val="500"/>
              </a:spcAft>
              <a:buNone/>
            </a:pPr>
            <a:r>
              <a:rPr lang="en-US" sz="1800" b="1" kern="0" dirty="0">
                <a:solidFill>
                  <a:srgbClr val="00B050"/>
                </a:solidFill>
                <a:effectLst/>
                <a:latin typeface="Times New Roman" panose="02020603050405020304" pitchFamily="18" charset="0"/>
                <a:ea typeface="SimSun" panose="02010600030101010101" pitchFamily="2" charset="-122"/>
              </a:rPr>
              <a:t>The feasibility study </a:t>
            </a:r>
            <a:r>
              <a:rPr lang="en-US" sz="1800" kern="0" dirty="0">
                <a:effectLst/>
                <a:latin typeface="Times New Roman" panose="02020603050405020304" pitchFamily="18" charset="0"/>
                <a:ea typeface="SimSun" panose="02010600030101010101" pitchFamily="2" charset="-122"/>
              </a:rPr>
              <a:t>for the proposed Student Management System (SMS) at the Women’s Institute of Technology and Innovation (WITI) supports its implementation across all dimensions.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kern="0" dirty="0">
                <a:solidFill>
                  <a:srgbClr val="00B050"/>
                </a:solidFill>
                <a:effectLst/>
                <a:latin typeface="Times New Roman" panose="02020603050405020304" pitchFamily="18" charset="0"/>
                <a:ea typeface="SimSun" panose="02010600030101010101" pitchFamily="2" charset="-122"/>
              </a:rPr>
              <a:t>Technical Feasibility</a:t>
            </a:r>
            <a:r>
              <a:rPr lang="en-US" sz="1800" b="1" dirty="0">
                <a:solidFill>
                  <a:srgbClr val="00B050"/>
                </a:solidFill>
                <a:effectLst/>
                <a:latin typeface="Times New Roman" panose="02020603050405020304" pitchFamily="18" charset="0"/>
                <a:ea typeface="SimSun" panose="02010600030101010101" pitchFamily="2" charset="-122"/>
              </a:rPr>
              <a:t>:</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WITI has the necessary hardware, software, and network infrastructure, including cloud hosting, to support the SMS, which will utilize PHP (Laravel) and MySQL.</a:t>
            </a:r>
            <a:endParaRPr lang="en-US" sz="1800" dirty="0">
              <a:effectLst/>
              <a:latin typeface="Times New Roman" panose="02020603050405020304" pitchFamily="18" charset="0"/>
              <a:ea typeface="SimSun" panose="02010600030101010101" pitchFamily="2" charset="-122"/>
            </a:endParaRPr>
          </a:p>
          <a:p>
            <a:pPr marL="39560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Operational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Staff and students are ready to adapt to the new system, with proficient staff available to train students. Student developers will collaborate on the project, ensuring smooth integration into existing workflows.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Economic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The estimated cost for development and maintenance is </a:t>
            </a:r>
            <a:r>
              <a:rPr lang="en-US" sz="1800" b="1" dirty="0">
                <a:effectLst/>
                <a:latin typeface="Times New Roman" panose="02020603050405020304" pitchFamily="18" charset="0"/>
                <a:ea typeface="SimSun" panose="02010600030101010101" pitchFamily="2" charset="-122"/>
              </a:rPr>
              <a:t>UGX 11,300,000</a:t>
            </a:r>
            <a:r>
              <a:rPr lang="en-US" sz="1800" kern="0" dirty="0">
                <a:effectLst/>
                <a:latin typeface="Times New Roman" panose="02020603050405020304" pitchFamily="18" charset="0"/>
                <a:ea typeface="SimSun" panose="02010600030101010101" pitchFamily="2" charset="-122"/>
              </a:rPr>
              <a:t>. Utilizing existing resources and student involvement minimizes costs while enhancing efficiency and data accuracy.</a:t>
            </a:r>
            <a:endParaRPr lang="en-US" sz="18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 </a:t>
            </a:r>
            <a:endParaRPr lang="en-US" sz="1800" dirty="0">
              <a:effectLst/>
              <a:latin typeface="Times New Roman" panose="02020603050405020304" pitchFamily="18" charset="0"/>
              <a:ea typeface="SimSun" panose="02010600030101010101" pitchFamily="2" charset="-122"/>
            </a:endParaRPr>
          </a:p>
        </p:txBody>
      </p:sp>
      <p:sp>
        <p:nvSpPr>
          <p:cNvPr id="5" name="Rectangle 4"/>
          <p:cNvSpPr/>
          <p:nvPr/>
        </p:nvSpPr>
        <p:spPr>
          <a:xfrm>
            <a:off x="1096385" y="494411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500"/>
              </a:spcBef>
              <a:spcAft>
                <a:spcPts val="500"/>
              </a:spcAft>
            </a:pPr>
            <a:endParaRPr lang="en-US" sz="2200" b="1" kern="0" dirty="0">
              <a:effectLst/>
              <a:latin typeface="Times New Roman" panose="02020603050405020304" pitchFamily="18" charset="0"/>
              <a:ea typeface="SimSun" panose="02010600030101010101" pitchFamily="2" charset="-122"/>
            </a:endParaRPr>
          </a:p>
          <a:p>
            <a:pPr>
              <a:spcBef>
                <a:spcPts val="500"/>
              </a:spcBef>
              <a:spcAft>
                <a:spcPts val="500"/>
              </a:spcAft>
            </a:pPr>
            <a:r>
              <a:rPr lang="en-US" sz="2200" b="1" kern="0" dirty="0">
                <a:effectLst/>
                <a:latin typeface="Times New Roman" panose="02020603050405020304" pitchFamily="18" charset="0"/>
                <a:ea typeface="SimSun" panose="02010600030101010101" pitchFamily="2" charset="-122"/>
              </a:rPr>
              <a:t>In summary, the SMS project is feasible and aligns with WITI’s mission to provide quality education and bridge the technological gender gap in Uganda.</a:t>
            </a:r>
            <a:endParaRPr lang="en-US" sz="2200" b="1" dirty="0">
              <a:effectLst/>
              <a:latin typeface="Times New Roman" panose="02020603050405020304" pitchFamily="18" charset="0"/>
              <a:ea typeface="SimSun" panose="02010600030101010101" pitchFamily="2" charset="-122"/>
            </a:endParaRPr>
          </a:p>
          <a:p>
            <a:pPr lvl="0">
              <a:spcBef>
                <a:spcPts val="500"/>
              </a:spcBef>
              <a:spcAft>
                <a:spcPts val="500"/>
              </a:spcAft>
            </a:pPr>
            <a:endParaRPr lang="en-US" sz="22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5400000">
            <a:off x="-341024" y="308263"/>
            <a:ext cx="1662545" cy="1046019"/>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3480264" y="853441"/>
            <a:ext cx="4815840" cy="4123112"/>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50000"/>
              </a:lnSpc>
              <a:spcBef>
                <a:spcPts val="0"/>
              </a:spcBef>
              <a:spcAft>
                <a:spcPts val="0"/>
              </a:spcAft>
            </a:pP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b="1" dirty="0">
                <a:effectLst/>
                <a:latin typeface="Times New Roman" panose="02020603050405020304" pitchFamily="18" charset="0"/>
                <a:ea typeface="等线" panose="02010600030101010101" pitchFamily="2" charset="-122"/>
              </a:rPr>
              <a:t>PREPARED BY</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NABATANZI GORRET </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and</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KOBUMANZI ESETHER</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Date: October 14, 2024</a:t>
            </a:r>
            <a:br>
              <a:rPr lang="en-US" sz="2400" dirty="0">
                <a:effectLst/>
                <a:latin typeface="Times New Roman" panose="02020603050405020304" pitchFamily="18" charset="0"/>
                <a:ea typeface="等线" panose="02010600030101010101" pitchFamily="2" charset="-122"/>
              </a:rPr>
            </a:br>
            <a:endParaRPr lang="en-US" sz="24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Triangle 2"/>
          <p:cNvSpPr/>
          <p:nvPr/>
        </p:nvSpPr>
        <p:spPr>
          <a:xfrm rot="10800000">
            <a:off x="9756368" y="0"/>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{A590E009-5C5F-4699-B83D-A978FA0B91CF}tf56160789_win32</Template>
  <TotalTime>0</TotalTime>
  <Words>12275</Words>
  <Application>WPS Presentation</Application>
  <PresentationFormat>Widescreen</PresentationFormat>
  <Paragraphs>207</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Calibri</vt:lpstr>
      <vt:lpstr>Times New Roman</vt:lpstr>
      <vt:lpstr>等线</vt:lpstr>
      <vt:lpstr>Franklin Gothic Book</vt:lpstr>
      <vt:lpstr>Bookman Old Style</vt:lpstr>
      <vt:lpstr>Microsoft YaHei</vt:lpstr>
      <vt:lpstr>Arial Unicode MS</vt:lpstr>
      <vt:lpstr>Custom</vt:lpstr>
      <vt:lpstr>       FOR WOMEN’S INSTITUTE OF TECHNOLOGY &amp; INNOVATION (WITI)  </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GOLDEN</dc:creator>
  <cp:lastModifiedBy>Gorret Nabatanzi</cp:lastModifiedBy>
  <cp:revision>5</cp:revision>
  <dcterms:created xsi:type="dcterms:W3CDTF">2024-10-19T03:58:00Z</dcterms:created>
  <dcterms:modified xsi:type="dcterms:W3CDTF">2024-10-19T10:24:56Z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EA776C8C0B0A4EDC9F85457C223FE375_13</vt:lpwstr>
  </property>
  <property fmtid="{D5CDD505-2E9C-101B-9397-08002B2CF9AE}" pid="4" name="KSOProductBuildVer">
    <vt:lpwstr>1033-12.2.0.18607</vt:lpwstr>
  </property>
</Properties>
</file>