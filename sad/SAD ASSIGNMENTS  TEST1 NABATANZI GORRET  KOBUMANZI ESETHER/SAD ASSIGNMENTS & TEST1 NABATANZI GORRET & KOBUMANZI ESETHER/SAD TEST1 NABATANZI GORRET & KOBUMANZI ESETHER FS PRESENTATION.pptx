
<file path=[Content_Types].xml><?xml version="1.0" encoding="utf-8"?>
<Types xmlns="http://schemas.openxmlformats.org/package/2006/content-types">
  <Default Extension="xml" ContentType="application/xml"/>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1" r:id="rId6"/>
    <p:sldId id="263" r:id="rId7"/>
    <p:sldId id="264" r:id="rId8"/>
    <p:sldId id="262" r:id="rId9"/>
    <p:sldId id="267" r:id="rId10"/>
    <p:sldId id="288" r:id="rId11"/>
    <p:sldId id="284" r:id="rId12"/>
    <p:sldId id="286" r:id="rId13"/>
    <p:sldId id="289" r:id="rId14"/>
    <p:sldId id="266" r:id="rId15"/>
    <p:sldId id="285" r:id="rId16"/>
    <p:sldId id="28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A50021"/>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p:scale>
          <a:sx n="86" d="100"/>
          <a:sy n="86" d="100"/>
        </p:scale>
        <p:origin x="48" y="1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customXml" Target="../customXml/item3.xml"/><Relationship Id="rId37" Type="http://schemas.openxmlformats.org/officeDocument/2006/relationships/customXml" Target="../customXml/item2.xml"/><Relationship Id="rId36" Type="http://schemas.openxmlformats.org/officeDocument/2006/relationships/customXml" Target="../customXml/item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83129"/>
            <a:ext cx="6663948" cy="4241983"/>
          </a:xfrm>
        </p:spPr>
        <p:txBody>
          <a:bodyPr>
            <a:normAutofit fontScale="90000"/>
          </a:bodyPr>
          <a:lstStyle/>
          <a:p>
            <a:pPr marL="0" marR="0">
              <a:lnSpc>
                <a:spcPct val="150000"/>
              </a:lnSpc>
              <a:spcBef>
                <a:spcPts val="0"/>
              </a:spcBef>
              <a:spcAft>
                <a:spcPts val="0"/>
              </a:spcAft>
            </a:pPr>
            <a:br>
              <a:rPr lang="en-US" sz="1800" dirty="0">
                <a:effectLst/>
                <a:latin typeface="Times New Roman" panose="02020603050405020304" pitchFamily="18" charset="0"/>
                <a:ea typeface="等线" panose="02010600030101010101" pitchFamily="2" charset="-122"/>
              </a:rPr>
            </a:br>
            <a:r>
              <a:rPr lang="en-US" sz="2200" b="1" dirty="0">
                <a:solidFill>
                  <a:srgbClr val="000000"/>
                </a:solidFill>
                <a:effectLst/>
                <a:latin typeface="Times New Roman" panose="02020603050405020304" pitchFamily="18" charset="0"/>
                <a:ea typeface="等线" panose="02010600030101010101" pitchFamily="2" charset="-122"/>
              </a:rPr>
              <a:t> </a:t>
            </a: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br>
              <a:rPr lang="en-US" sz="2200" b="1" dirty="0">
                <a:solidFill>
                  <a:srgbClr val="000000"/>
                </a:solidFill>
                <a:effectLst/>
                <a:latin typeface="Times New Roman" panose="02020603050405020304" pitchFamily="18" charset="0"/>
                <a:ea typeface="等线" panose="02010600030101010101" pitchFamily="2" charset="-122"/>
              </a:rPr>
            </a:br>
            <a:r>
              <a:rPr lang="en-US" sz="2400" b="1" dirty="0">
                <a:solidFill>
                  <a:srgbClr val="000000"/>
                </a:solidFill>
                <a:effectLst/>
                <a:latin typeface="Times New Roman" panose="02020603050405020304" pitchFamily="18" charset="0"/>
                <a:ea typeface="等线" panose="02010600030101010101" pitchFamily="2" charset="-122"/>
              </a:rPr>
              <a:t>FOR</a:t>
            </a:r>
            <a:br>
              <a:rPr lang="en-US" sz="1800" dirty="0">
                <a:effectLst/>
                <a:latin typeface="Times New Roman" panose="02020603050405020304" pitchFamily="18" charset="0"/>
                <a:ea typeface="等线" panose="02010600030101010101" pitchFamily="2" charset="-122"/>
              </a:rPr>
            </a:br>
            <a:r>
              <a:rPr lang="en-US" sz="2700" b="1" dirty="0">
                <a:solidFill>
                  <a:srgbClr val="00B050"/>
                </a:solidFill>
                <a:effectLst/>
                <a:latin typeface="Times New Roman" panose="02020603050405020304" pitchFamily="18" charset="0"/>
                <a:ea typeface="等线" panose="02010600030101010101" pitchFamily="2" charset="-122"/>
              </a:rPr>
              <a:t>WOMEN’S INSTITUTE OF TECHNOLOGY &amp; INNOVATION (WITI)</a:t>
            </a:r>
            <a:br>
              <a:rPr lang="en-US" sz="1800" b="1" dirty="0">
                <a:solidFill>
                  <a:srgbClr val="000000"/>
                </a:solidFill>
                <a:effectLst/>
                <a:latin typeface="Times New Roman" panose="02020603050405020304" pitchFamily="18" charset="0"/>
                <a:ea typeface="等线" panose="02010600030101010101" pitchFamily="2" charset="-122"/>
              </a:rPr>
            </a:br>
            <a:r>
              <a:rPr lang="en-US" sz="1800" b="1" dirty="0">
                <a:solidFill>
                  <a:srgbClr val="000000"/>
                </a:solidFill>
                <a:effectLst/>
                <a:latin typeface="Times New Roman" panose="02020603050405020304" pitchFamily="18" charset="0"/>
                <a:ea typeface="等线" panose="02010600030101010101" pitchFamily="2" charset="-122"/>
              </a:rPr>
              <a:t> </a:t>
            </a:r>
            <a:endParaRPr lang="en-US" sz="8000" dirty="0"/>
          </a:p>
        </p:txBody>
      </p:sp>
      <p:sp>
        <p:nvSpPr>
          <p:cNvPr id="3" name="Subtitle 2"/>
          <p:cNvSpPr>
            <a:spLocks noGrp="1"/>
          </p:cNvSpPr>
          <p:nvPr>
            <p:ph type="subTitle" idx="1"/>
          </p:nvPr>
        </p:nvSpPr>
        <p:spPr>
          <a:xfrm>
            <a:off x="5289753" y="4672739"/>
            <a:ext cx="6269347" cy="1506388"/>
          </a:xfrm>
        </p:spPr>
        <p:txBody>
          <a:bodyPr>
            <a:normAutofit fontScale="92500" lnSpcReduction="10000"/>
          </a:bodyPr>
          <a:lstStyle/>
          <a:p>
            <a:pPr>
              <a:lnSpc>
                <a:spcPct val="150000"/>
              </a:lnSpc>
            </a:pPr>
            <a:r>
              <a:rPr lang="en-US" sz="2400" b="1" dirty="0">
                <a:effectLst/>
                <a:latin typeface="Times New Roman" panose="02020603050405020304" pitchFamily="18" charset="0"/>
                <a:ea typeface="等线" panose="02010600030101010101" pitchFamily="2" charset="-122"/>
              </a:rPr>
              <a:t>PREPARED ON: </a:t>
            </a:r>
            <a:r>
              <a:rPr lang="en-US" sz="2400" dirty="0">
                <a:effectLst/>
                <a:latin typeface="Times New Roman" panose="02020603050405020304" pitchFamily="18" charset="0"/>
                <a:ea typeface="等线" panose="02010600030101010101" pitchFamily="2" charset="-122"/>
              </a:rPr>
              <a:t>11th/12/2024 </a:t>
            </a:r>
            <a:br>
              <a:rPr lang="en-US" sz="2400" dirty="0">
                <a:effectLst/>
                <a:latin typeface="Times New Roman" panose="02020603050405020304" pitchFamily="18" charset="0"/>
                <a:ea typeface="等线" panose="02010600030101010101" pitchFamily="2" charset="-122"/>
              </a:rPr>
            </a:br>
            <a:r>
              <a:rPr lang="en-US" sz="2400" b="1" dirty="0">
                <a:effectLst/>
                <a:latin typeface="Times New Roman" panose="02020603050405020304" pitchFamily="18" charset="0"/>
                <a:ea typeface="等线" panose="02010600030101010101" pitchFamily="2" charset="-122"/>
              </a:rPr>
              <a:t>BY: </a:t>
            </a:r>
            <a:r>
              <a:rPr lang="en-US" sz="2400" dirty="0">
                <a:effectLst/>
                <a:latin typeface="Times New Roman" panose="02020603050405020304" pitchFamily="18" charset="0"/>
                <a:ea typeface="等线" panose="02010600030101010101" pitchFamily="2" charset="-122"/>
              </a:rPr>
              <a:t>NABATANZI GORRET &amp; KOBUMANZI ESETHER</a:t>
            </a:r>
            <a:endParaRPr lang="en-US" sz="2400" dirty="0">
              <a:solidFill>
                <a:schemeClr val="tx1">
                  <a:lumMod val="85000"/>
                  <a:lumOff val="15000"/>
                </a:schemeClr>
              </a:solidFill>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795" y="0"/>
            <a:ext cx="4568190" cy="6858000"/>
          </a:xfrm>
          <a:prstGeom prst="rect">
            <a:avLst/>
          </a:prstGeom>
        </p:spPr>
      </p:pic>
      <p:sp>
        <p:nvSpPr>
          <p:cNvPr id="4" name="Rectangle 3"/>
          <p:cNvSpPr/>
          <p:nvPr/>
        </p:nvSpPr>
        <p:spPr>
          <a:xfrm>
            <a:off x="5289753" y="166254"/>
            <a:ext cx="6586363" cy="2222500"/>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3000" b="1" dirty="0">
                <a:solidFill>
                  <a:schemeClr val="bg1"/>
                </a:solidFill>
                <a:effectLst/>
                <a:latin typeface="Times New Roman" panose="02020603050405020304" pitchFamily="18" charset="0"/>
                <a:ea typeface="等线" panose="02010600030101010101" pitchFamily="2" charset="-122"/>
              </a:rPr>
              <a:t>A</a:t>
            </a:r>
            <a:r>
              <a:rPr lang="en-US" altLang="en-US" sz="3000" b="1" dirty="0">
                <a:solidFill>
                  <a:schemeClr val="bg1"/>
                </a:solidFill>
                <a:effectLst/>
                <a:latin typeface="Times New Roman" panose="02020603050405020304" pitchFamily="18" charset="0"/>
                <a:ea typeface="等线" panose="02010600030101010101" pitchFamily="2" charset="-122"/>
              </a:rPr>
              <a:t> PROJECT REPORT ON A PROPOSED STUDENT MANAGEMENT SYSTEM (SMS) </a:t>
            </a:r>
            <a:r>
              <a:rPr lang="en-US" sz="3000" b="1" dirty="0">
                <a:solidFill>
                  <a:schemeClr val="bg1"/>
                </a:solidFill>
                <a:effectLst/>
                <a:latin typeface="Times New Roman" panose="02020603050405020304" pitchFamily="18" charset="0"/>
                <a:ea typeface="等线" panose="02010600030101010101" pitchFamily="2" charset="-122"/>
              </a:rPr>
              <a:t>    </a:t>
            </a:r>
            <a:endParaRPr lang="en-US" sz="3000" b="1" dirty="0">
              <a:solidFill>
                <a:schemeClr val="bg1"/>
              </a:solidFill>
            </a:endParaRPr>
          </a:p>
        </p:txBody>
      </p:sp>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770149"/>
            <a:ext cx="10058400" cy="4237182"/>
          </a:xfrm>
        </p:spPr>
        <p:txBody>
          <a:bodyPr>
            <a:normAutofit/>
          </a:bodyPr>
          <a:lstStyle/>
          <a:p>
            <a:pPr marL="0" indent="0">
              <a:lnSpc>
                <a:spcPct val="150000"/>
              </a:lnSpc>
              <a:buFont typeface="Wingdings" panose="05000000000000000000" pitchFamily="2" charset="2"/>
              <a:buNone/>
            </a:pPr>
            <a:r>
              <a:rPr lang="en-US" sz="2500" dirty="0">
                <a:effectLst/>
                <a:latin typeface="Times New Roman" panose="02020603050405020304" pitchFamily="18" charset="0"/>
                <a:ea typeface="等线" panose="02010600030101010101" pitchFamily="2" charset="-122"/>
              </a:rPr>
              <a:t>The Student Management System (SMS) for Women’s In Technology and Innovation - Uganda (WITI) is a digital solution designed to streamline the management of student records, attendance, grades, and notifications. The project aims to replace traditional paper-based and file-based methods with a centralized, automated system to improve accuracy, accessibility, and operational efficiency..</a:t>
            </a:r>
            <a:endParaRPr lang="en-US" sz="2500" dirty="0">
              <a:effectLst/>
              <a:latin typeface="Times New Roman" panose="02020603050405020304" pitchFamily="18" charset="0"/>
              <a:ea typeface="等线" panose="02010600030101010101" pitchFamily="2" charset="-122"/>
            </a:endParaRPr>
          </a:p>
          <a:p>
            <a:endParaRPr lang="en-US" dirty="0">
              <a:solidFill>
                <a:srgbClr val="FFFFFF"/>
              </a:solidFill>
            </a:endParaRPr>
          </a:p>
        </p:txBody>
      </p:sp>
      <p:sp>
        <p:nvSpPr>
          <p:cNvPr id="4" name="Rectangle 3"/>
          <p:cNvSpPr/>
          <p:nvPr/>
        </p:nvSpPr>
        <p:spPr>
          <a:xfrm>
            <a:off x="1185949" y="404554"/>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effectLst/>
                <a:latin typeface="Times New Roman" panose="02020603050405020304" pitchFamily="18" charset="0"/>
                <a:ea typeface="SimSun" panose="02010600030101010101" pitchFamily="2" charset="-122"/>
                <a:cs typeface="SimSun" panose="02010600030101010101" pitchFamily="2" charset="-122"/>
              </a:rPr>
              <a:t>INTRODUCTION</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2"/>
          </p:nvPr>
        </p:nvSpPr>
        <p:spPr>
          <a:xfrm>
            <a:off x="1097280" y="2196465"/>
            <a:ext cx="4639945" cy="3672840"/>
          </a:xfrm>
        </p:spPr>
        <p:txBody>
          <a:bodyPr>
            <a:normAutofit/>
          </a:bodyPr>
          <a:lstStyle/>
          <a:p>
            <a:pPr algn="just">
              <a:buFont typeface="Wingdings" panose="05000000000000000000" pitchFamily="2" charset="2"/>
              <a:buChar char="Ø"/>
            </a:pPr>
            <a:endParaRPr lang="en-US" sz="2500" dirty="0">
              <a:latin typeface="Times New Roman" panose="02020603050405020304" pitchFamily="18" charset="0"/>
              <a:ea typeface="等线" panose="02010600030101010101" pitchFamily="2" charset="-122"/>
            </a:endParaRPr>
          </a:p>
        </p:txBody>
      </p:sp>
      <p:sp>
        <p:nvSpPr>
          <p:cNvPr id="7" name="Content Placeholder 6"/>
          <p:cNvSpPr>
            <a:spLocks noGrp="1"/>
          </p:cNvSpPr>
          <p:nvPr>
            <p:ph sz="quarter" idx="4"/>
          </p:nvPr>
        </p:nvSpPr>
        <p:spPr>
          <a:xfrm>
            <a:off x="6515735" y="1933575"/>
            <a:ext cx="4639945" cy="3935730"/>
          </a:xfrm>
        </p:spPr>
        <p:txBody>
          <a:bodyPr>
            <a:noAutofit/>
          </a:bodyPr>
          <a:p>
            <a:pPr algn="just">
              <a:buFont typeface="Wingdings" panose="05000000000000000000" pitchFamily="2" charset="2"/>
              <a:buChar char="Ø"/>
            </a:pPr>
            <a:r>
              <a:rPr lang="en-US" sz="1700" b="1" dirty="0">
                <a:solidFill>
                  <a:srgbClr val="00B050"/>
                </a:solidFill>
                <a:latin typeface="Times New Roman" panose="02020603050405020304" pitchFamily="18" charset="0"/>
                <a:ea typeface="等线" panose="02010600030101010101" pitchFamily="2" charset="-122"/>
                <a:sym typeface="+mn-ea"/>
              </a:rPr>
              <a:t>Women’s Institute of Technology and Innovation </a:t>
            </a:r>
            <a:r>
              <a:rPr lang="en-US" sz="1700" dirty="0">
                <a:latin typeface="Times New Roman" panose="02020603050405020304" pitchFamily="18" charset="0"/>
                <a:ea typeface="等线" panose="02010600030101010101" pitchFamily="2" charset="-122"/>
                <a:sym typeface="+mn-ea"/>
              </a:rPr>
              <a:t>(WITI) is a Code Academy founded by Women In Technology Uganda (WITU) with a strong vision to close the technological gender gap in Uganda. </a:t>
            </a:r>
            <a:endParaRPr lang="en-US" sz="1700" dirty="0">
              <a:latin typeface="Times New Roman" panose="02020603050405020304" pitchFamily="18" charset="0"/>
              <a:ea typeface="等线" panose="02010600030101010101" pitchFamily="2" charset="-122"/>
            </a:endParaRPr>
          </a:p>
          <a:p>
            <a:pPr algn="just">
              <a:buFont typeface="Wingdings" panose="05000000000000000000" pitchFamily="2" charset="2"/>
              <a:buChar char="Ø"/>
            </a:pPr>
            <a:r>
              <a:rPr lang="en-US" sz="1700" dirty="0">
                <a:latin typeface="Times New Roman" panose="02020603050405020304" pitchFamily="18" charset="0"/>
                <a:ea typeface="等线" panose="02010600030101010101" pitchFamily="2" charset="-122"/>
                <a:sym typeface="+mn-ea"/>
              </a:rPr>
              <a:t>Located in Kamokya, Kanjokya Street, opposite Cavendish University, WITI focuses on empowering young women with the necessary skills to excel in the technology sector. The institute offers a Diploma in Computer Science and Entrepreneurship, catering to female students who have completed the Ugandan Advanced Certificate of Education (UACE) with a science-focused curriculum at their A-level.</a:t>
            </a:r>
            <a:endParaRPr lang="en-US" sz="1700" dirty="0">
              <a:latin typeface="Times New Roman" panose="02020603050405020304" pitchFamily="18" charset="0"/>
              <a:ea typeface="等线" panose="02010600030101010101" pitchFamily="2" charset="-122"/>
            </a:endParaRPr>
          </a:p>
          <a:p>
            <a:endParaRPr lang="en-US" sz="1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Organization background</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770149"/>
            <a:ext cx="10307782" cy="4026593"/>
          </a:xfrm>
        </p:spPr>
        <p:txBody>
          <a:bodyPr>
            <a:normAutofit/>
          </a:bodyPr>
          <a:lstStyle/>
          <a:p>
            <a:pPr algn="just">
              <a:lnSpc>
                <a:spcPct val="150000"/>
              </a:lnSpc>
              <a:buFont typeface="Wingdings" panose="05000000000000000000" pitchFamily="2" charset="2"/>
              <a:buChar char="Ø"/>
            </a:pPr>
            <a:r>
              <a:rPr lang="en-US" sz="2500" dirty="0">
                <a:latin typeface="Times New Roman" panose="02020603050405020304" pitchFamily="18" charset="0"/>
                <a:ea typeface="等线" panose="02010600030101010101" pitchFamily="2" charset="-122"/>
              </a:rPr>
              <a:t>Women’s Institute of Technology and Innovation (WITI) currently  relies on  file-based approaches for managing student records  and paper-based methods for attendance tracking. This  leads to duplication of records, frequent errors in record-keeping and attendance tracking and delays in accessing vital  information. The absence of a centralized system hinders efficient data management and timely decision-making, affecting both students and staff.</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Problem Statement</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lnSpcReduction="10000"/>
          </a:bodyPr>
          <a:lstStyle/>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To design and implement a comprehensive Student Management System (SMS) WITI that digitizes students records management. which will replace the file-based approaches and paper- based methods with a centralized digital solution improving accuracy, eliminating data redundancy, ease accessibility and operational efficiency.</a:t>
            </a:r>
            <a:endParaRPr lang="en-US" sz="2800" dirty="0">
              <a:effectLst/>
              <a:latin typeface="Times New Roman" panose="02020603050405020304" pitchFamily="18" charset="0"/>
              <a:ea typeface="SimSun"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main Objective of the PROPOSED SYSTEM</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86180" y="4016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To gather requirements for the proposed digital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Design the process flows for the proposed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Develop a digitized Student Management System. </a:t>
            </a:r>
            <a:endParaRPr lang="en-US" sz="2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Test, Deploy and Implement the proposed system.</a:t>
            </a:r>
            <a:endParaRPr lang="en-US" sz="2800" dirty="0">
              <a:effectLst/>
              <a:latin typeface="Times New Roman" panose="02020603050405020304" pitchFamily="18" charset="0"/>
              <a:ea typeface="SimSun"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specific Objectives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p:txBody>
          <a:bodyPr>
            <a:normAutofit fontScale="70000"/>
          </a:bodyPr>
          <a:lstStyle/>
          <a:p>
            <a:pPr algn="just">
              <a:lnSpc>
                <a:spcPct val="150000"/>
              </a:lnSpc>
              <a:buFont typeface="Wingdings" panose="05000000000000000000" pitchFamily="2" charset="2"/>
              <a:buChar char="Ø"/>
            </a:pPr>
            <a:r>
              <a:rPr lang="en-US" sz="2500" dirty="0">
                <a:latin typeface="Times New Roman" panose="02020603050405020304" pitchFamily="18" charset="0"/>
                <a:ea typeface="等线" panose="02010600030101010101" pitchFamily="2" charset="-122"/>
              </a:rPr>
              <a:t>The proposed system enhances WITI’s operational efficiency by transitioning from the existing manual processes to a modern digital system. The implementation of the Student Management System is expected to improve data accuracy of student records, eliminate data redundancy and streamline administrative tasks.</a:t>
            </a:r>
            <a:endParaRPr lang="en-US" sz="2500" dirty="0">
              <a:latin typeface="Times New Roman" panose="02020603050405020304" pitchFamily="18" charset="0"/>
              <a:ea typeface="等线" panose="02010600030101010101" pitchFamily="2" charset="-122"/>
            </a:endParaRPr>
          </a:p>
        </p:txBody>
      </p:sp>
      <p:sp>
        <p:nvSpPr>
          <p:cNvPr id="6" name="Content Placeholder 5"/>
          <p:cNvSpPr>
            <a:spLocks noGrp="1"/>
          </p:cNvSpPr>
          <p:nvPr>
            <p:ph sz="half" idx="2"/>
          </p:nvPr>
        </p:nvSpPr>
        <p:spPr/>
        <p:txBody>
          <a:bodyPr>
            <a:normAutofit fontScale="70000"/>
          </a:bodyPr>
          <a:p>
            <a:pPr algn="just">
              <a:lnSpc>
                <a:spcPct val="150000"/>
              </a:lnSpc>
              <a:buSzTx/>
              <a:buFont typeface="Wingdings" panose="05000000000000000000" pitchFamily="2" charset="2"/>
              <a:buChar char="Ø"/>
            </a:pPr>
            <a:r>
              <a:rPr lang="en-US" sz="2500" dirty="0">
                <a:latin typeface="Times New Roman" panose="02020603050405020304" pitchFamily="18" charset="0"/>
                <a:ea typeface="等线" panose="02010600030101010101" pitchFamily="2" charset="-122"/>
              </a:rPr>
              <a:t>The Student Management System addresses the inefficiencies that arise from managing student data in the existing file-based system. By digitizing the student management system, we shall have centralized information management which in turn makes general administration easier and more efficient.</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445" y="603885"/>
            <a:ext cx="4491990" cy="969645"/>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rPr>
              <a:t> </a:t>
            </a:r>
            <a:r>
              <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rPr>
              <a:t>Significance of the System</a:t>
            </a:r>
            <a:endPar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5" name="Right Triangle 4"/>
          <p:cNvSpPr/>
          <p:nvPr/>
        </p:nvSpPr>
        <p:spPr>
          <a:xfrm rot="16200000">
            <a:off x="9928165" y="414764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
          <p:cNvSpPr/>
          <p:nvPr/>
        </p:nvSpPr>
        <p:spPr>
          <a:xfrm>
            <a:off x="6663690" y="527050"/>
            <a:ext cx="4491990" cy="969645"/>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lvl="0" algn="ctr">
              <a:spcBef>
                <a:spcPts val="500"/>
              </a:spcBef>
              <a:spcAft>
                <a:spcPts val="500"/>
              </a:spcAft>
            </a:pPr>
            <a:r>
              <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rPr>
              <a:t>JUSTIFICATION</a:t>
            </a:r>
            <a:endPar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Content Placeholder 2"/>
          <p:cNvSpPr>
            <a:spLocks noGrp="1"/>
          </p:cNvSpPr>
          <p:nvPr>
            <p:ph idx="1"/>
          </p:nvPr>
        </p:nvSpPr>
        <p:spPr/>
        <p:txBody>
          <a:bodyPr>
            <a:normAutofit lnSpcReduction="20000"/>
          </a:bodyPr>
          <a:p>
            <a:pPr marL="342900" indent="-342900" algn="just">
              <a:lnSpc>
                <a:spcPct val="150000"/>
              </a:lnSpc>
              <a:spcBef>
                <a:spcPts val="500"/>
              </a:spcBef>
              <a:spcAft>
                <a:spcPts val="500"/>
              </a:spcAft>
              <a:buSzTx/>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The feasibility study explored the practicability of developing and implementing a Student Management System (SMS) for Women’s Institute of Technology and Innovation (WITI).</a:t>
            </a:r>
            <a:endParaRPr lang="en-US" sz="2800" dirty="0">
              <a:effectLst/>
              <a:latin typeface="Times New Roman" panose="02020603050405020304" pitchFamily="18" charset="0"/>
              <a:ea typeface="SimSun" panose="02010600030101010101" pitchFamily="2" charset="-122"/>
            </a:endParaRPr>
          </a:p>
          <a:p>
            <a:pPr marL="342900" indent="-342900" algn="just">
              <a:lnSpc>
                <a:spcPct val="150000"/>
              </a:lnSpc>
              <a:spcBef>
                <a:spcPts val="500"/>
              </a:spcBef>
              <a:spcAft>
                <a:spcPts val="500"/>
              </a:spcAft>
              <a:buSzTx/>
              <a:buFont typeface="Wingdings" panose="05000000000000000000" pitchFamily="2" charset="2"/>
              <a:buChar char=""/>
            </a:pPr>
            <a:r>
              <a:rPr lang="en-US" sz="2800" dirty="0">
                <a:effectLst/>
                <a:latin typeface="Times New Roman" panose="02020603050405020304" pitchFamily="18" charset="0"/>
                <a:ea typeface="SimSun" panose="02010600030101010101" pitchFamily="2" charset="-122"/>
              </a:rPr>
              <a:t>The </a:t>
            </a:r>
            <a:r>
              <a:rPr lang="en-US" sz="2800" dirty="0">
                <a:solidFill>
                  <a:srgbClr val="00B050"/>
                </a:solidFill>
                <a:effectLst/>
                <a:latin typeface="Times New Roman" panose="02020603050405020304" pitchFamily="18" charset="0"/>
                <a:ea typeface="SimSun" panose="02010600030101010101" pitchFamily="2" charset="-122"/>
              </a:rPr>
              <a:t>purpose </a:t>
            </a:r>
            <a:r>
              <a:rPr lang="en-US" sz="2800" dirty="0">
                <a:effectLst/>
                <a:latin typeface="Times New Roman" panose="02020603050405020304" pitchFamily="18" charset="0"/>
                <a:ea typeface="SimSun" panose="02010600030101010101" pitchFamily="2" charset="-122"/>
              </a:rPr>
              <a:t>of the feasibility study was to evaluate the potential of implementing a Student Management System (SMS) at Women’s Institute of Technology and Innovation (WITI).</a:t>
            </a:r>
            <a:endParaRPr lang="en-US" sz="2800" dirty="0">
              <a:effectLst/>
              <a:latin typeface="Times New Roman" panose="02020603050405020304" pitchFamily="18" charset="0"/>
              <a:ea typeface="SimSun" panose="02010600030101010101" pitchFamily="2" charset="-122"/>
            </a:endParaRPr>
          </a:p>
        </p:txBody>
      </p:sp>
      <p:sp>
        <p:nvSpPr>
          <p:cNvPr id="4" name="Rectangle 3"/>
          <p:cNvSpPr/>
          <p:nvPr/>
        </p:nvSpPr>
        <p:spPr>
          <a:xfrm>
            <a:off x="804949" y="6682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FEASIBILITY STUDY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p:txBody>
          <a:bodyPr>
            <a:noAutofit/>
          </a:bodyPr>
          <a:lstStyle/>
          <a:p>
            <a:pPr algn="just">
              <a:lnSpc>
                <a:spcPct val="150000"/>
              </a:lnSpc>
              <a:buSzTx/>
              <a:buFont typeface="Wingdings" panose="05000000000000000000" pitchFamily="2" charset="2"/>
              <a:buChar char="Ø"/>
            </a:pPr>
            <a:r>
              <a:rPr lang="en-US" sz="1100" dirty="0">
                <a:latin typeface="Times New Roman" panose="02020603050405020304" pitchFamily="18" charset="0"/>
                <a:ea typeface="等线" panose="02010600030101010101" pitchFamily="2" charset="-122"/>
              </a:rPr>
              <a:t>Identify Challenges: Assess the current challenges faced by the manual student management system, including inefficiencies and inaccuracies in data handling.</a:t>
            </a:r>
            <a:endParaRPr lang="en-US" sz="1100" dirty="0">
              <a:latin typeface="Times New Roman" panose="02020603050405020304" pitchFamily="18" charset="0"/>
              <a:ea typeface="等线" panose="02010600030101010101" pitchFamily="2" charset="-122"/>
            </a:endParaRPr>
          </a:p>
          <a:p>
            <a:pPr algn="just">
              <a:lnSpc>
                <a:spcPct val="150000"/>
              </a:lnSpc>
              <a:buSzTx/>
              <a:buFont typeface="Wingdings" panose="05000000000000000000" pitchFamily="2" charset="2"/>
              <a:buChar char="Ø"/>
            </a:pPr>
            <a:r>
              <a:rPr lang="en-US" sz="1100" dirty="0">
                <a:latin typeface="Times New Roman" panose="02020603050405020304" pitchFamily="18" charset="0"/>
                <a:ea typeface="等线" panose="02010600030101010101" pitchFamily="2" charset="-122"/>
              </a:rPr>
              <a:t>Evaluate Feasibility: Determine the feasibility of transitioning to a Student Management System (SMS) that improves accuracy, efficiency, and user experience.</a:t>
            </a:r>
            <a:endParaRPr lang="en-US" sz="1100" dirty="0">
              <a:latin typeface="Times New Roman" panose="02020603050405020304" pitchFamily="18" charset="0"/>
              <a:ea typeface="等线" panose="02010600030101010101" pitchFamily="2" charset="-122"/>
            </a:endParaRPr>
          </a:p>
          <a:p>
            <a:pPr algn="just">
              <a:lnSpc>
                <a:spcPct val="150000"/>
              </a:lnSpc>
              <a:buSzTx/>
              <a:buFont typeface="Wingdings" panose="05000000000000000000" pitchFamily="2" charset="2"/>
              <a:buChar char="Ø"/>
            </a:pPr>
            <a:r>
              <a:rPr lang="en-US" sz="1100" dirty="0">
                <a:latin typeface="Times New Roman" panose="02020603050405020304" pitchFamily="18" charset="0"/>
                <a:ea typeface="等线" panose="02010600030101010101" pitchFamily="2" charset="-122"/>
              </a:rPr>
              <a:t>Analyze Costs and Benefits: Evaluate the potential costs and benefits associated with implementing the SMS, including impacts on administrative processes and overall institutional performance.</a:t>
            </a:r>
            <a:endParaRPr lang="en-US" sz="1100" dirty="0">
              <a:latin typeface="Times New Roman" panose="02020603050405020304" pitchFamily="18" charset="0"/>
              <a:ea typeface="等线" panose="02010600030101010101" pitchFamily="2" charset="-122"/>
            </a:endParaRPr>
          </a:p>
          <a:p>
            <a:pPr algn="just">
              <a:lnSpc>
                <a:spcPct val="150000"/>
              </a:lnSpc>
              <a:buSzTx/>
              <a:buFont typeface="Wingdings" panose="05000000000000000000" pitchFamily="2" charset="2"/>
              <a:buChar char="Ø"/>
            </a:pPr>
            <a:r>
              <a:rPr lang="en-US" sz="1100" dirty="0">
                <a:latin typeface="Times New Roman" panose="02020603050405020304" pitchFamily="18" charset="0"/>
                <a:ea typeface="等线" panose="02010600030101010101" pitchFamily="2" charset="-122"/>
              </a:rPr>
              <a:t>Automate Administrative Processes: Streamline student registration, attendance tracking, and grading to reduce administrative workload.</a:t>
            </a:r>
            <a:endParaRPr lang="en-US" sz="1100" dirty="0">
              <a:latin typeface="Times New Roman" panose="02020603050405020304" pitchFamily="18" charset="0"/>
              <a:ea typeface="等线" panose="02010600030101010101" pitchFamily="2" charset="-122"/>
            </a:endParaRPr>
          </a:p>
          <a:p>
            <a:pPr algn="just">
              <a:lnSpc>
                <a:spcPct val="150000"/>
              </a:lnSpc>
              <a:buSzTx/>
              <a:buFont typeface="Wingdings" panose="05000000000000000000" pitchFamily="2" charset="2"/>
              <a:buChar char="Ø"/>
            </a:pPr>
            <a:r>
              <a:rPr lang="en-US" sz="1100" dirty="0">
                <a:latin typeface="Times New Roman" panose="02020603050405020304" pitchFamily="18" charset="0"/>
                <a:ea typeface="等线" panose="02010600030101010101" pitchFamily="2" charset="-122"/>
              </a:rPr>
              <a:t>Enhance Data Accuracy and Security: Securely store and manage student records to minimize errors and unauthorized access.</a:t>
            </a:r>
            <a:endParaRPr lang="en-US" sz="1100" dirty="0">
              <a:latin typeface="Times New Roman" panose="02020603050405020304" pitchFamily="18" charset="0"/>
              <a:ea typeface="等线" panose="02010600030101010101" pitchFamily="2" charset="-122"/>
            </a:endParaRPr>
          </a:p>
          <a:p>
            <a:pPr algn="just">
              <a:lnSpc>
                <a:spcPct val="150000"/>
              </a:lnSpc>
              <a:buSzTx/>
              <a:buFont typeface="Wingdings" panose="05000000000000000000" pitchFamily="2" charset="2"/>
              <a:buChar char="Ø"/>
            </a:pPr>
            <a:endParaRPr lang="en-US" sz="400" dirty="0">
              <a:latin typeface="Times New Roman" panose="02020603050405020304" pitchFamily="18" charset="0"/>
              <a:ea typeface="等线" panose="02010600030101010101" pitchFamily="2" charset="-122"/>
            </a:endParaRPr>
          </a:p>
        </p:txBody>
      </p:sp>
      <p:sp>
        <p:nvSpPr>
          <p:cNvPr id="6" name="Content Placeholder 5"/>
          <p:cNvSpPr>
            <a:spLocks noGrp="1"/>
          </p:cNvSpPr>
          <p:nvPr>
            <p:ph sz="half" idx="2"/>
          </p:nvPr>
        </p:nvSpPr>
        <p:spPr/>
        <p:txBody>
          <a:bodyPr>
            <a:normAutofit fontScale="60000"/>
          </a:bodyPr>
          <a:p>
            <a:pPr algn="just">
              <a:lnSpc>
                <a:spcPct val="150000"/>
              </a:lnSpc>
              <a:buSzTx/>
              <a:buFont typeface="Wingdings" panose="05000000000000000000" pitchFamily="2" charset="2"/>
              <a:buChar char="Ø"/>
            </a:pPr>
            <a:r>
              <a:rPr lang="en-US" altLang="en-US"/>
              <a:t>This feasibility study encompassed the following areas:</a:t>
            </a:r>
            <a:endParaRPr lang="en-US" altLang="en-US"/>
          </a:p>
          <a:p>
            <a:pPr algn="just">
              <a:lnSpc>
                <a:spcPct val="150000"/>
              </a:lnSpc>
              <a:buSzTx/>
              <a:buFont typeface="Wingdings" panose="05000000000000000000" pitchFamily="2" charset="2"/>
              <a:buChar char="Ø"/>
            </a:pPr>
            <a:r>
              <a:rPr lang="en-US" altLang="en-US"/>
              <a:t>1.Technical Aspects: Evaluation of the technical requirements for implementing a Student Management System (SMS), including infrastructure, software, and hardware capabilities necessary for efficient operation.</a:t>
            </a:r>
            <a:endParaRPr lang="en-US" altLang="en-US"/>
          </a:p>
          <a:p>
            <a:pPr algn="just">
              <a:lnSpc>
                <a:spcPct val="150000"/>
              </a:lnSpc>
              <a:buSzTx/>
              <a:buFont typeface="Wingdings" panose="05000000000000000000" pitchFamily="2" charset="2"/>
              <a:buChar char="Ø"/>
            </a:pPr>
            <a:r>
              <a:rPr lang="en-US" altLang="en-US"/>
              <a:t>2.Economic Aspects: Analysis of the financial implications of transitioning to an SMS, including initial costs, potential savings, and return on investment.</a:t>
            </a:r>
            <a:endParaRPr lang="en-US" altLang="en-US"/>
          </a:p>
          <a:p>
            <a:pPr algn="just">
              <a:lnSpc>
                <a:spcPct val="150000"/>
              </a:lnSpc>
              <a:buSzTx/>
              <a:buFont typeface="Wingdings" panose="05000000000000000000" pitchFamily="2" charset="2"/>
              <a:buChar char="Ø"/>
            </a:pPr>
            <a:r>
              <a:rPr lang="en-US" altLang="en-US"/>
              <a:t>Operational Aspects: Examination of how the SMS will integrate into existing workflows, improve administrative processes, and enhance overall institutional efficiency.</a:t>
            </a:r>
            <a:endParaRPr lang="en-US" altLang="en-US"/>
          </a:p>
        </p:txBody>
      </p:sp>
      <p:sp>
        <p:nvSpPr>
          <p:cNvPr id="4" name="Rectangle 3"/>
          <p:cNvSpPr/>
          <p:nvPr/>
        </p:nvSpPr>
        <p:spPr>
          <a:xfrm>
            <a:off x="1147445" y="603885"/>
            <a:ext cx="4491990" cy="969645"/>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spcBef>
                <a:spcPts val="500"/>
              </a:spcBef>
              <a:spcAft>
                <a:spcPts val="500"/>
              </a:spcAft>
            </a:pPr>
            <a:r>
              <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rPr>
              <a:t>Objectives of the Study</a:t>
            </a:r>
            <a:endPar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5" name="Right Triangle 4"/>
          <p:cNvSpPr/>
          <p:nvPr/>
        </p:nvSpPr>
        <p:spPr>
          <a:xfrm rot="16200000">
            <a:off x="9928165" y="414764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
          <p:cNvSpPr/>
          <p:nvPr/>
        </p:nvSpPr>
        <p:spPr>
          <a:xfrm>
            <a:off x="6663690" y="527050"/>
            <a:ext cx="4491990" cy="969645"/>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lvl="0" algn="ctr">
              <a:spcBef>
                <a:spcPts val="500"/>
              </a:spcBef>
              <a:spcAft>
                <a:spcPts val="500"/>
              </a:spcAft>
            </a:pPr>
            <a:r>
              <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rPr>
              <a:t> Scope of the Study</a:t>
            </a:r>
            <a:endParaRPr lang="en-US" altLang="en-US" sz="28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p:txBody>
          <a:bodyPr>
            <a:normAutofit fontScale="40000"/>
          </a:bodyPr>
          <a:lstStyle/>
          <a:p>
            <a:pPr algn="just">
              <a:lnSpc>
                <a:spcPct val="150000"/>
              </a:lnSpc>
              <a:buFont typeface="Wingdings" panose="05000000000000000000" pitchFamily="2" charset="2"/>
              <a:buChar char="Ø"/>
            </a:pPr>
            <a:r>
              <a:rPr lang="en-US" altLang="en-US"/>
              <a:t>Current Infrastructure Assessment</a:t>
            </a:r>
            <a:endParaRPr lang="en-US" altLang="en-US"/>
          </a:p>
          <a:p>
            <a:pPr algn="just">
              <a:lnSpc>
                <a:spcPct val="150000"/>
              </a:lnSpc>
              <a:buFont typeface="Wingdings" panose="05000000000000000000" pitchFamily="2" charset="2"/>
              <a:buChar char="Ø"/>
            </a:pPr>
            <a:r>
              <a:rPr lang="en-US" altLang="en-US"/>
              <a:t> WITI possesses a robust technological infrastructure, including:</a:t>
            </a:r>
            <a:endParaRPr lang="en-US" altLang="en-US"/>
          </a:p>
          <a:p>
            <a:pPr algn="just">
              <a:lnSpc>
                <a:spcPct val="150000"/>
              </a:lnSpc>
              <a:buFont typeface="Wingdings" panose="05000000000000000000" pitchFamily="2" charset="2"/>
              <a:buChar char="Ø"/>
            </a:pPr>
            <a:r>
              <a:rPr lang="en-US" altLang="en-US"/>
              <a:t>●Hardware: Sufficient computers in student labs and laptops provided to staff, all equipped with necessary software (like, web browsing).</a:t>
            </a:r>
            <a:endParaRPr lang="en-US" altLang="en-US"/>
          </a:p>
          <a:p>
            <a:pPr algn="just">
              <a:lnSpc>
                <a:spcPct val="150000"/>
              </a:lnSpc>
              <a:buFont typeface="Wingdings" panose="05000000000000000000" pitchFamily="2" charset="2"/>
              <a:buChar char="Ø"/>
            </a:pPr>
            <a:r>
              <a:rPr lang="en-US" altLang="en-US"/>
              <a:t>●Network: Reliable Wi-Fi access supported by a network server.</a:t>
            </a:r>
            <a:endParaRPr lang="en-US" altLang="en-US"/>
          </a:p>
          <a:p>
            <a:pPr algn="just">
              <a:lnSpc>
                <a:spcPct val="150000"/>
              </a:lnSpc>
              <a:buFont typeface="Wingdings" panose="05000000000000000000" pitchFamily="2" charset="2"/>
              <a:buChar char="Ø"/>
            </a:pPr>
            <a:r>
              <a:rPr lang="en-US" altLang="en-US"/>
              <a:t>●Cloud Hosting: A cloud shared hosting server already in use for the institution’s website, with good security protocols, including secure protocols and SSL certificates.</a:t>
            </a:r>
            <a:endParaRPr lang="en-US" altLang="en-US"/>
          </a:p>
          <a:p>
            <a:pPr algn="just">
              <a:lnSpc>
                <a:spcPct val="150000"/>
              </a:lnSpc>
              <a:buFont typeface="Wingdings" panose="05000000000000000000" pitchFamily="2" charset="2"/>
              <a:buChar char="Ø"/>
            </a:pPr>
            <a:r>
              <a:rPr lang="en-US" altLang="en-US"/>
              <a:t>●Operating Systems: Both the computers in the computer and the laptops provided to the staff member have up to date Operating Systems (Windows, Ubuntu, MacOs)</a:t>
            </a:r>
            <a:endParaRPr lang="en-US" altLang="en-US"/>
          </a:p>
          <a:p>
            <a:pPr algn="just">
              <a:lnSpc>
                <a:spcPct val="150000"/>
              </a:lnSpc>
              <a:buFont typeface="Wingdings" panose="05000000000000000000" pitchFamily="2" charset="2"/>
              <a:buChar char="Ø"/>
            </a:pPr>
            <a:r>
              <a:rPr lang="en-US" altLang="en-US"/>
              <a:t>●Support for the Proposed SMS: The existing infrastructure is capable of supporting the proposed SMS, as all necessary components are in place. The cloud server can accommodate the SMS, ensuring secure and efficient operations.</a:t>
            </a:r>
            <a:endParaRPr lang="en-US" altLang="en-US"/>
          </a:p>
        </p:txBody>
      </p:sp>
      <p:sp>
        <p:nvSpPr>
          <p:cNvPr id="6" name="Content Placeholder 5"/>
          <p:cNvSpPr>
            <a:spLocks noGrp="1"/>
          </p:cNvSpPr>
          <p:nvPr>
            <p:ph sz="half" idx="2"/>
          </p:nvPr>
        </p:nvSpPr>
        <p:spPr/>
        <p:txBody>
          <a:bodyPr>
            <a:normAutofit fontScale="30000"/>
          </a:bodyPr>
          <a:p>
            <a:r>
              <a:rPr lang="en-US" altLang="en-US"/>
              <a:t>Technology Requirements</a:t>
            </a:r>
            <a:endParaRPr lang="en-US" altLang="en-US"/>
          </a:p>
          <a:p>
            <a:r>
              <a:rPr lang="en-US" altLang="en-US"/>
              <a:t>1. Technology Stack</a:t>
            </a:r>
            <a:endParaRPr lang="en-US" altLang="en-US"/>
          </a:p>
          <a:p>
            <a:r>
              <a:rPr lang="en-US" altLang="en-US"/>
              <a:t>●Frontend:Frameworks: Laravel Blade for templating, alongside Laravel Livewire for dynamic components.</a:t>
            </a:r>
            <a:endParaRPr lang="en-US" altLang="en-US"/>
          </a:p>
          <a:p>
            <a:r>
              <a:rPr lang="en-US" altLang="en-US"/>
              <a:t>●InfyOm: To streamline the development process with CRUD (Create, Read, Update, Delete) operations and scaffolding. </a:t>
            </a:r>
            <a:endParaRPr lang="en-US" altLang="en-US"/>
          </a:p>
          <a:p>
            <a:r>
              <a:rPr lang="en-US" altLang="en-US"/>
              <a:t>●Backend: PHP (Laravel framework)</a:t>
            </a:r>
            <a:endParaRPr lang="en-US" altLang="en-US"/>
          </a:p>
          <a:p>
            <a:r>
              <a:rPr lang="en-US" altLang="en-US"/>
              <a:t>●Database: MySQL</a:t>
            </a:r>
            <a:endParaRPr lang="en-US" altLang="en-US"/>
          </a:p>
          <a:p>
            <a:r>
              <a:rPr lang="en-US" altLang="en-US"/>
              <a:t>2. Hosting: The SMS will be hosted in the cloud, providing cost-effectiveness and scalability.</a:t>
            </a:r>
            <a:endParaRPr lang="en-US" altLang="en-US"/>
          </a:p>
          <a:p>
            <a:r>
              <a:rPr lang="en-US" altLang="en-US"/>
              <a:t>3. Security: Implementing security features such as encryption for sensitive data, multi-factor user authentication, and regular backups to ensure data integrity and security.</a:t>
            </a:r>
            <a:endParaRPr lang="en-US" altLang="en-US"/>
          </a:p>
          <a:p>
            <a:r>
              <a:rPr lang="en-US" altLang="en-US"/>
              <a:t>4. Operating System: The system will run on a server with a compatible OS, such as Ubuntu or CentOS, which are suitable for web applications and provide a stable environment for PHP and MySQL. During system use, the system will be multi-platform independent.</a:t>
            </a:r>
            <a:endParaRPr lang="en-US" altLang="en-US"/>
          </a:p>
          <a:p>
            <a:r>
              <a:rPr lang="en-US" altLang="en-US"/>
              <a:t>5. Additional Requirements: To optimize system performance and ensure seamless integration, WITI may need to consider:</a:t>
            </a:r>
            <a:endParaRPr lang="en-US" altLang="en-US"/>
          </a:p>
          <a:p>
            <a:r>
              <a:rPr lang="en-US" altLang="en-US"/>
              <a:t>●Upgraded Cloud Hosting Package: Enhancing to a better cloud shared hosting plan to increase server capacity.</a:t>
            </a:r>
            <a:endParaRPr lang="en-US" altLang="en-US"/>
          </a:p>
          <a:p>
            <a:r>
              <a:rPr lang="en-US" altLang="en-US"/>
              <a:t>●Improved Internet Connectivity: Upgrading internet services to support increased traffic and ensure reliable access.</a:t>
            </a:r>
            <a:endParaRPr lang="en-US" altLang="en-US"/>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rPr>
              <a:t>Technical Feasibility</a:t>
            </a:r>
            <a:endPar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5" name="Right Triangle 4"/>
          <p:cNvSpPr/>
          <p:nvPr/>
        </p:nvSpPr>
        <p:spPr>
          <a:xfrm rot="16200000">
            <a:off x="9928165" y="414764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2496127"/>
            <a:ext cx="10307782" cy="1998287"/>
          </a:xfrm>
        </p:spPr>
        <p:txBody>
          <a:bodyPr>
            <a:normAutofit lnSpcReduction="20000"/>
          </a:bodyPr>
          <a:lstStyle/>
          <a:p>
            <a:pPr algn="just">
              <a:lnSpc>
                <a:spcPct val="150000"/>
              </a:lnSpc>
              <a:buFont typeface="Wingdings" panose="05000000000000000000" pitchFamily="2" charset="2"/>
              <a:buChar char="Ø"/>
            </a:pPr>
            <a:r>
              <a:rPr lang="en-US" altLang="en-US"/>
              <a:t>Conclusion: The proposed Student Management System (SMS) is technically feasible, supported by WITI’s existing infrastructure, including sufficient hardware, reliable Wi-Fi, and a capable cloud hosting server. Recommended upgrades to the cloud package and internet connectivity will enhance performance. Overall, the institution is prepared for a successful SMS implementation.</a:t>
            </a:r>
            <a:endParaRPr lang="en-US" altLang="en-US"/>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altLang="en-US" sz="3000" b="1" cap="all" dirty="0">
                <a:effectLst/>
                <a:latin typeface="Times New Roman" panose="02020603050405020304" pitchFamily="18" charset="0"/>
                <a:ea typeface="SimSun" panose="02010600030101010101" pitchFamily="2" charset="-122"/>
                <a:cs typeface="SimSun" panose="02010600030101010101" pitchFamily="2" charset="-122"/>
                <a:sym typeface="+mn-ea"/>
              </a:rPr>
              <a:t>Technical Feasibility: Conclusion</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5" name="Right Triangle 4"/>
          <p:cNvSpPr/>
          <p:nvPr/>
        </p:nvSpPr>
        <p:spPr>
          <a:xfrm rot="16200000">
            <a:off x="9928165" y="414764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2496127"/>
            <a:ext cx="10307782" cy="1998287"/>
          </a:xfrm>
        </p:spPr>
        <p:txBody>
          <a:bodyPr>
            <a:normAutofit fontScale="60000"/>
          </a:bodyPr>
          <a:lstStyle/>
          <a:p>
            <a:pPr algn="just">
              <a:lnSpc>
                <a:spcPct val="150000"/>
              </a:lnSpc>
              <a:buFont typeface="Wingdings" panose="05000000000000000000" pitchFamily="2" charset="2"/>
              <a:buChar char="Ø"/>
            </a:pPr>
            <a:r>
              <a:rPr lang="en-US" sz="2500" dirty="0">
                <a:latin typeface="Times New Roman" panose="02020603050405020304" pitchFamily="18" charset="0"/>
                <a:ea typeface="等线" panose="02010600030101010101" pitchFamily="2" charset="-122"/>
              </a:rPr>
              <a:t>The </a:t>
            </a:r>
            <a:r>
              <a:rPr lang="en-US" sz="2500" dirty="0">
                <a:solidFill>
                  <a:srgbClr val="00B050"/>
                </a:solidFill>
                <a:latin typeface="Times New Roman" panose="02020603050405020304" pitchFamily="18" charset="0"/>
                <a:ea typeface="等线" panose="02010600030101010101" pitchFamily="2" charset="-122"/>
              </a:rPr>
              <a:t>purpose</a:t>
            </a:r>
            <a:r>
              <a:rPr lang="en-US" sz="2500" dirty="0">
                <a:latin typeface="Times New Roman" panose="02020603050405020304" pitchFamily="18" charset="0"/>
                <a:ea typeface="等线" panose="02010600030101010101" pitchFamily="2" charset="-122"/>
              </a:rPr>
              <a:t> of this feasibility study is to evaluate the potential of implementing a Student Management System (SMS) at  Women’s Institute of Technology and Innovation (WITI). </a:t>
            </a:r>
            <a:r>
              <a:rPr lang="en-US" sz="2500" dirty="0">
                <a:latin typeface="Times New Roman" panose="02020603050405020304" pitchFamily="18" charset="0"/>
                <a:ea typeface="等线" panose="02010600030101010101" pitchFamily="2" charset="-122"/>
              </a:rPr>
              <a:t>The proposed system enhances WITI’s operational efficiency by transitioning from the existing manual processes to a modern digital system. The implementation of the Student Management System is expected to improve data accuracy of student records, eliminate data redundancy and streamline administrative tasks.</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kern="0" cap="all" dirty="0">
                <a:latin typeface="Times New Roman" panose="02020603050405020304" pitchFamily="18" charset="0"/>
                <a:ea typeface="SimSun" panose="02010600030101010101" pitchFamily="2" charset="-122"/>
                <a:cs typeface="SimSun" panose="02010600030101010101" pitchFamily="2" charset="-122"/>
              </a:rPr>
              <a:t>Purpose for the Study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5" name="Right Triangle 4"/>
          <p:cNvSpPr/>
          <p:nvPr/>
        </p:nvSpPr>
        <p:spPr>
          <a:xfrm rot="16200000">
            <a:off x="9928165" y="414764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fontScale="92500" lnSpcReduction="20000"/>
          </a:bodyPr>
          <a:lstStyle/>
          <a:p>
            <a:pPr marL="0" marR="0" lvl="0" indent="0" algn="just">
              <a:lnSpc>
                <a:spcPct val="150000"/>
              </a:lnSpc>
              <a:spcBef>
                <a:spcPts val="500"/>
              </a:spcBef>
              <a:spcAft>
                <a:spcPts val="500"/>
              </a:spcAft>
              <a:buNone/>
            </a:pPr>
            <a:r>
              <a:rPr lang="en-US" sz="2500" b="1" dirty="0">
                <a:solidFill>
                  <a:srgbClr val="00B050"/>
                </a:solidFill>
                <a:latin typeface="Times New Roman" panose="02020603050405020304" pitchFamily="18" charset="0"/>
                <a:ea typeface="等线" panose="02010600030101010101" pitchFamily="2" charset="-122"/>
              </a:rPr>
              <a:t> This feasibility study encompasses the following areas:</a:t>
            </a:r>
            <a:endParaRPr lang="en-US" sz="2500" b="1" dirty="0">
              <a:solidFill>
                <a:srgbClr val="00B050"/>
              </a:solidFill>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Technical Aspects</a:t>
            </a:r>
            <a:r>
              <a:rPr lang="en-US" sz="2500" dirty="0">
                <a:latin typeface="Times New Roman" panose="02020603050405020304" pitchFamily="18" charset="0"/>
                <a:ea typeface="等线" panose="02010600030101010101" pitchFamily="2" charset="-122"/>
              </a:rPr>
              <a:t>: Evaluation of the technical requirements for implementing a Student Management System (SMS), including infrastructure, software, and hardware capabilities necessary for efficient operation.</a:t>
            </a:r>
            <a:endParaRPr lang="en-US" sz="2500" dirty="0">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Economic Aspects: </a:t>
            </a:r>
            <a:r>
              <a:rPr lang="en-US" sz="2500" dirty="0">
                <a:latin typeface="Times New Roman" panose="02020603050405020304" pitchFamily="18" charset="0"/>
                <a:ea typeface="等线" panose="02010600030101010101" pitchFamily="2" charset="-122"/>
              </a:rPr>
              <a:t>Analysis of the financial implications of transitioning to a SMS, including initial costs, potential savings, and return on investment.</a:t>
            </a:r>
            <a:endParaRPr lang="en-US" sz="2500" dirty="0">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Operational Aspects: </a:t>
            </a:r>
            <a:r>
              <a:rPr lang="en-US" sz="2500" dirty="0">
                <a:latin typeface="Times New Roman" panose="02020603050405020304" pitchFamily="18" charset="0"/>
                <a:ea typeface="等线" panose="02010600030101010101" pitchFamily="2" charset="-122"/>
              </a:rPr>
              <a:t>Examination of how the SMS will integrate into existing workflows, improve administrative processes, and enhance overall institutional efficiency.</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Scope of the Study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fontScale="92500" lnSpcReduction="20000"/>
          </a:bodyPr>
          <a:lstStyle/>
          <a:p>
            <a:pPr marL="0" marR="0" lvl="0" indent="0" algn="just">
              <a:lnSpc>
                <a:spcPct val="150000"/>
              </a:lnSpc>
              <a:spcBef>
                <a:spcPts val="500"/>
              </a:spcBef>
              <a:spcAft>
                <a:spcPts val="500"/>
              </a:spcAft>
              <a:buNone/>
            </a:pPr>
            <a:r>
              <a:rPr lang="en-US" sz="2500" b="1" dirty="0">
                <a:solidFill>
                  <a:srgbClr val="00B050"/>
                </a:solidFill>
                <a:latin typeface="Times New Roman" panose="02020603050405020304" pitchFamily="18" charset="0"/>
                <a:ea typeface="等线" panose="02010600030101010101" pitchFamily="2" charset="-122"/>
              </a:rPr>
              <a:t> This feasibility study encompasses the following areas:</a:t>
            </a:r>
            <a:endParaRPr lang="en-US" sz="2500" b="1" dirty="0">
              <a:solidFill>
                <a:srgbClr val="00B050"/>
              </a:solidFill>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Technical Aspects</a:t>
            </a:r>
            <a:r>
              <a:rPr lang="en-US" sz="2500" dirty="0">
                <a:latin typeface="Times New Roman" panose="02020603050405020304" pitchFamily="18" charset="0"/>
                <a:ea typeface="等线" panose="02010600030101010101" pitchFamily="2" charset="-122"/>
              </a:rPr>
              <a:t>: Evaluation of the technical requirements for implementing a Student Management System (SMS), including infrastructure, software, and hardware capabilities necessary for efficient operation.</a:t>
            </a:r>
            <a:endParaRPr lang="en-US" sz="2500" dirty="0">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Economic Aspects: </a:t>
            </a:r>
            <a:r>
              <a:rPr lang="en-US" sz="2500" dirty="0">
                <a:latin typeface="Times New Roman" panose="02020603050405020304" pitchFamily="18" charset="0"/>
                <a:ea typeface="等线" panose="02010600030101010101" pitchFamily="2" charset="-122"/>
              </a:rPr>
              <a:t>Analysis of the financial implications of transitioning to a SMS, including initial costs, potential savings, and return on investment.</a:t>
            </a:r>
            <a:endParaRPr lang="en-US" sz="2500" dirty="0">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2500" b="1" dirty="0">
                <a:latin typeface="Times New Roman" panose="02020603050405020304" pitchFamily="18" charset="0"/>
                <a:ea typeface="等线" panose="02010600030101010101" pitchFamily="2" charset="-122"/>
              </a:rPr>
              <a:t>Operational Aspects: </a:t>
            </a:r>
            <a:r>
              <a:rPr lang="en-US" sz="2500" dirty="0">
                <a:latin typeface="Times New Roman" panose="02020603050405020304" pitchFamily="18" charset="0"/>
                <a:ea typeface="等线" panose="02010600030101010101" pitchFamily="2" charset="-122"/>
              </a:rPr>
              <a:t>Examination of how the SMS will integrate into existing workflows, improve administrative processes, and enhance overall institutional efficiency.</a:t>
            </a:r>
            <a:endParaRPr lang="en-US" sz="25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Scope of the Study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Description of the Proposed System</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0" marR="0" lvl="0" indent="0" algn="just">
              <a:lnSpc>
                <a:spcPct val="150000"/>
              </a:lnSpc>
              <a:spcBef>
                <a:spcPts val="500"/>
              </a:spcBef>
              <a:spcAft>
                <a:spcPts val="500"/>
              </a:spcAft>
              <a:buNone/>
            </a:pPr>
            <a:r>
              <a:rPr lang="en-US" sz="2500" b="1" dirty="0">
                <a:solidFill>
                  <a:srgbClr val="00B050"/>
                </a:solidFill>
                <a:latin typeface="Times New Roman" panose="02020603050405020304" pitchFamily="18" charset="0"/>
                <a:ea typeface="等线" panose="02010600030101010101" pitchFamily="2" charset="-122"/>
              </a:rPr>
              <a:t> The proposed system will automate administrative processes at WITI, including:</a:t>
            </a:r>
            <a:endParaRPr lang="en-US" sz="2500" b="1" dirty="0">
              <a:solidFill>
                <a:srgbClr val="00B050"/>
              </a:solidFill>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Student Registration</a:t>
            </a:r>
            <a:r>
              <a:rPr lang="en-US" sz="2300" b="1" dirty="0">
                <a:solidFill>
                  <a:srgbClr val="00B050"/>
                </a:solidFill>
                <a:latin typeface="Times New Roman" panose="02020603050405020304" pitchFamily="18" charset="0"/>
                <a:ea typeface="等线" panose="02010600030101010101" pitchFamily="2" charset="-122"/>
              </a:rPr>
              <a:t>: </a:t>
            </a:r>
            <a:r>
              <a:rPr lang="en-US" sz="2300" dirty="0">
                <a:latin typeface="Times New Roman" panose="02020603050405020304" pitchFamily="18" charset="0"/>
                <a:ea typeface="等线" panose="02010600030101010101" pitchFamily="2" charset="-122"/>
              </a:rPr>
              <a:t>Streamlining the enrollment process for new students</a:t>
            </a:r>
            <a:r>
              <a:rPr lang="en-US" sz="2300" b="1" dirty="0">
                <a:solidFill>
                  <a:schemeClr val="tx1"/>
                </a:solidFill>
                <a:latin typeface="Times New Roman" panose="02020603050405020304" pitchFamily="18" charset="0"/>
                <a:ea typeface="等线" panose="02010600030101010101" pitchFamily="2" charset="-122"/>
              </a:rPr>
              <a:t>.</a:t>
            </a:r>
            <a:endParaRPr lang="en-US" sz="2300" b="1" dirty="0">
              <a:solidFill>
                <a:schemeClr val="tx1"/>
              </a:solidFill>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Report Generation: </a:t>
            </a:r>
            <a:r>
              <a:rPr lang="en-US" sz="2300" dirty="0">
                <a:latin typeface="Times New Roman" panose="02020603050405020304" pitchFamily="18" charset="0"/>
                <a:ea typeface="等线" panose="02010600030101010101" pitchFamily="2" charset="-122"/>
              </a:rPr>
              <a:t>Generating detailed performance and attendance reports.</a:t>
            </a:r>
            <a:endParaRPr lang="en-US" sz="2300"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Grading Management: </a:t>
            </a:r>
            <a:r>
              <a:rPr lang="en-US" sz="2300" dirty="0">
                <a:latin typeface="Times New Roman" panose="02020603050405020304" pitchFamily="18" charset="0"/>
                <a:ea typeface="等线" panose="02010600030101010101" pitchFamily="2" charset="-122"/>
              </a:rPr>
              <a:t>Automating grade entry and access for students and faculty.</a:t>
            </a:r>
            <a:endParaRPr lang="en-US" sz="2300"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Attendance Tracking: </a:t>
            </a:r>
            <a:r>
              <a:rPr lang="en-US" sz="2300" dirty="0">
                <a:latin typeface="Times New Roman" panose="02020603050405020304" pitchFamily="18" charset="0"/>
                <a:ea typeface="等线" panose="02010600030101010101" pitchFamily="2" charset="-122"/>
              </a:rPr>
              <a:t>Real-time recording and monitoring of student attendance.</a:t>
            </a:r>
            <a:endParaRPr lang="en-US" sz="2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System Overview</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0" marR="0" lvl="0" indent="0" algn="just">
              <a:lnSpc>
                <a:spcPct val="150000"/>
              </a:lnSpc>
              <a:spcBef>
                <a:spcPts val="500"/>
              </a:spcBef>
              <a:spcAft>
                <a:spcPts val="500"/>
              </a:spcAft>
              <a:buNone/>
            </a:pPr>
            <a:r>
              <a:rPr lang="en-US" sz="2500" b="1" dirty="0">
                <a:solidFill>
                  <a:srgbClr val="00B050"/>
                </a:solidFill>
                <a:latin typeface="Times New Roman" panose="02020603050405020304" pitchFamily="18" charset="0"/>
                <a:ea typeface="等线" panose="02010600030101010101" pitchFamily="2" charset="-122"/>
              </a:rPr>
              <a:t> The Key features will include:</a:t>
            </a:r>
            <a:endParaRPr lang="en-US" sz="25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 User-Friendly Interface: </a:t>
            </a:r>
            <a:r>
              <a:rPr lang="en-US" sz="2300" dirty="0">
                <a:latin typeface="Times New Roman" panose="02020603050405020304" pitchFamily="18" charset="0"/>
                <a:ea typeface="等线" panose="02010600030101010101" pitchFamily="2" charset="-122"/>
              </a:rPr>
              <a:t>Intuitive navigation for students and administrators.</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 Secure Data Management: </a:t>
            </a:r>
            <a:r>
              <a:rPr lang="en-US" sz="2300" dirty="0">
                <a:latin typeface="Times New Roman" panose="02020603050405020304" pitchFamily="18" charset="0"/>
                <a:ea typeface="等线" panose="02010600030101010101" pitchFamily="2" charset="-122"/>
              </a:rPr>
              <a:t>Protecting sensitive student information.</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Real-Time Analytics: </a:t>
            </a:r>
            <a:r>
              <a:rPr lang="en-US" sz="2300" dirty="0">
                <a:latin typeface="Times New Roman" panose="02020603050405020304" pitchFamily="18" charset="0"/>
                <a:ea typeface="等线" panose="02010600030101010101" pitchFamily="2" charset="-122"/>
              </a:rPr>
              <a:t>Dashboards for tracking progress efficiently.</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Integration Capabilities: </a:t>
            </a:r>
            <a:r>
              <a:rPr lang="en-US" sz="2300" dirty="0">
                <a:latin typeface="Times New Roman" panose="02020603050405020304" pitchFamily="18" charset="0"/>
                <a:ea typeface="等线" panose="02010600030101010101" pitchFamily="2" charset="-122"/>
              </a:rPr>
              <a:t>Smooth transition and data consistency with existing systems.</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Mobile Accessibility: </a:t>
            </a:r>
            <a:r>
              <a:rPr lang="en-US" sz="2300" dirty="0">
                <a:latin typeface="Times New Roman" panose="02020603050405020304" pitchFamily="18" charset="0"/>
                <a:ea typeface="等线" panose="02010600030101010101" pitchFamily="2" charset="-122"/>
              </a:rPr>
              <a:t>Smooth access via mobile devices for convenience.</a:t>
            </a:r>
            <a:endParaRPr lang="en-US" sz="2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System Features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a:bodyPr>
          <a:lstStyle/>
          <a:p>
            <a:pPr marL="0" marR="0" lvl="0" indent="0" algn="just">
              <a:lnSpc>
                <a:spcPct val="150000"/>
              </a:lnSpc>
              <a:spcBef>
                <a:spcPts val="500"/>
              </a:spcBef>
              <a:spcAft>
                <a:spcPts val="500"/>
              </a:spcAft>
              <a:buNone/>
            </a:pPr>
            <a:r>
              <a:rPr lang="en-US" sz="2700" b="1" dirty="0">
                <a:solidFill>
                  <a:srgbClr val="00B050"/>
                </a:solidFill>
                <a:latin typeface="Times New Roman" panose="02020603050405020304" pitchFamily="18" charset="0"/>
                <a:ea typeface="等线" panose="02010600030101010101" pitchFamily="2" charset="-122"/>
              </a:rPr>
              <a:t>The anticipated system benefits for WITI include:</a:t>
            </a:r>
            <a:endParaRPr lang="en-US" sz="27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Increased Efficiency: </a:t>
            </a:r>
            <a:r>
              <a:rPr lang="en-US" sz="2300" dirty="0">
                <a:latin typeface="Times New Roman" panose="02020603050405020304" pitchFamily="18" charset="0"/>
                <a:ea typeface="等线" panose="02010600030101010101" pitchFamily="2" charset="-122"/>
              </a:rPr>
              <a:t>Reducing administrative workload and processing time.</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Improved Data Accuracy: </a:t>
            </a:r>
            <a:r>
              <a:rPr lang="en-US" sz="2300" dirty="0">
                <a:latin typeface="Times New Roman" panose="02020603050405020304" pitchFamily="18" charset="0"/>
                <a:ea typeface="等线" panose="02010600030101010101" pitchFamily="2" charset="-122"/>
              </a:rPr>
              <a:t>Minimizing errors through automation.</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Enhanced Student Monitoring: </a:t>
            </a:r>
            <a:r>
              <a:rPr lang="en-US" sz="2300" dirty="0">
                <a:latin typeface="Times New Roman" panose="02020603050405020304" pitchFamily="18" charset="0"/>
                <a:ea typeface="等线" panose="02010600030101010101" pitchFamily="2" charset="-122"/>
              </a:rPr>
              <a:t>Real-time tracking of attendance and performance.</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Better Resource Management: </a:t>
            </a:r>
            <a:r>
              <a:rPr lang="en-US" sz="2300" dirty="0">
                <a:latin typeface="Times New Roman" panose="02020603050405020304" pitchFamily="18" charset="0"/>
                <a:ea typeface="等线" panose="02010600030101010101" pitchFamily="2" charset="-122"/>
              </a:rPr>
              <a:t>Efficient allocation of resources.</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Support for Decision-Making: </a:t>
            </a:r>
            <a:r>
              <a:rPr lang="en-US" sz="2300" dirty="0">
                <a:latin typeface="Times New Roman" panose="02020603050405020304" pitchFamily="18" charset="0"/>
                <a:ea typeface="等线" panose="02010600030101010101" pitchFamily="2" charset="-122"/>
              </a:rPr>
              <a:t>Data-driven insights for informed institutional decisions.</a:t>
            </a:r>
            <a:endParaRPr lang="en-US" sz="2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System Benefits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Feasibility Analysis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Technical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033954"/>
            <a:ext cx="10307782" cy="5438890"/>
          </a:xfrm>
        </p:spPr>
        <p:txBody>
          <a:bodyPr>
            <a:noAutofit/>
          </a:bodyPr>
          <a:lstStyle/>
          <a:p>
            <a:pPr marL="0" marR="0" lvl="0" indent="0" algn="just">
              <a:lnSpc>
                <a:spcPct val="150000"/>
              </a:lnSpc>
              <a:spcBef>
                <a:spcPts val="500"/>
              </a:spcBef>
              <a:spcAft>
                <a:spcPts val="500"/>
              </a:spcAft>
              <a:buNone/>
            </a:pPr>
            <a:r>
              <a:rPr lang="en-US" sz="1800" b="1" dirty="0">
                <a:solidFill>
                  <a:srgbClr val="00B050"/>
                </a:solidFill>
                <a:latin typeface="Times New Roman" panose="02020603050405020304" pitchFamily="18" charset="0"/>
                <a:ea typeface="等线" panose="02010600030101010101" pitchFamily="2" charset="-122"/>
              </a:rPr>
              <a:t>WITI possesses a robust technological infrastructure, including:</a:t>
            </a:r>
            <a:endParaRPr lang="en-US" sz="18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Hardware: </a:t>
            </a:r>
            <a:r>
              <a:rPr lang="en-US" sz="1660" dirty="0">
                <a:latin typeface="Times New Roman" panose="02020603050405020304" pitchFamily="18" charset="0"/>
                <a:ea typeface="等线" panose="02010600030101010101" pitchFamily="2" charset="-122"/>
              </a:rPr>
              <a:t>Sufficient computers in student labs and laptops provided to staff, all equipped with  necessary software (like, web browsing).</a:t>
            </a:r>
            <a:endParaRPr lang="en-US" sz="166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Network: </a:t>
            </a:r>
            <a:r>
              <a:rPr lang="en-US" sz="1660" dirty="0">
                <a:latin typeface="Times New Roman" panose="02020603050405020304" pitchFamily="18" charset="0"/>
                <a:ea typeface="等线" panose="02010600030101010101" pitchFamily="2" charset="-122"/>
              </a:rPr>
              <a:t>Reliable Wi-Fi access supported by a network server.</a:t>
            </a:r>
            <a:endParaRPr lang="en-US" sz="166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Cloud Hosting: </a:t>
            </a:r>
            <a:r>
              <a:rPr lang="en-US" sz="1660" dirty="0">
                <a:latin typeface="Times New Roman" panose="02020603050405020304" pitchFamily="18" charset="0"/>
                <a:ea typeface="等线" panose="02010600030101010101" pitchFamily="2" charset="-122"/>
              </a:rPr>
              <a:t>A cloud shared hosting server already in use for the institution’s website, with good security protocols, including secure protocols and SSL certificates.</a:t>
            </a:r>
            <a:endParaRPr lang="en-US" sz="1660" dirty="0">
              <a:latin typeface="Times New Roman" panose="02020603050405020304" pitchFamily="18" charset="0"/>
              <a:ea typeface="等线" panose="02010600030101010101" pitchFamily="2" charset="-122"/>
            </a:endParaRPr>
          </a:p>
          <a:p>
            <a:pPr marR="0" lvl="0" algn="just">
              <a:lnSpc>
                <a:spcPct val="170000"/>
              </a:lnSpc>
              <a:spcBef>
                <a:spcPts val="500"/>
              </a:spcBef>
              <a:spcAft>
                <a:spcPts val="500"/>
              </a:spcAft>
              <a:buFont typeface="Wingdings" panose="05000000000000000000" pitchFamily="2" charset="2"/>
              <a:buChar char="Ø"/>
            </a:pPr>
            <a:r>
              <a:rPr lang="en-US" sz="1660" b="1" dirty="0">
                <a:latin typeface="Times New Roman" panose="02020603050405020304" pitchFamily="18" charset="0"/>
                <a:ea typeface="等线" panose="02010600030101010101" pitchFamily="2" charset="-122"/>
              </a:rPr>
              <a:t>Operating Systems: </a:t>
            </a:r>
            <a:r>
              <a:rPr lang="en-US" sz="1660" dirty="0">
                <a:latin typeface="Times New Roman" panose="02020603050405020304" pitchFamily="18" charset="0"/>
                <a:ea typeface="等线" panose="02010600030101010101" pitchFamily="2" charset="-122"/>
              </a:rPr>
              <a:t>Both the computers  in the computer and the laptops provided to the staff member have up to date Operating Systems (Windows, Ubuntu, MacOS). During system use, the system will be multi-platform independent.</a:t>
            </a:r>
            <a:endParaRPr lang="en-US" sz="1660" dirty="0">
              <a:latin typeface="Times New Roman" panose="02020603050405020304" pitchFamily="18" charset="0"/>
              <a:ea typeface="等线" panose="02010600030101010101" pitchFamily="2" charset="-122"/>
            </a:endParaRPr>
          </a:p>
          <a:p>
            <a:pPr marR="0" lvl="0" algn="just">
              <a:lnSpc>
                <a:spcPct val="170000"/>
              </a:lnSpc>
              <a:spcBef>
                <a:spcPts val="500"/>
              </a:spcBef>
              <a:spcAft>
                <a:spcPts val="500"/>
              </a:spcAft>
              <a:buFont typeface="Wingdings" panose="05000000000000000000" pitchFamily="2" charset="2"/>
              <a:buChar char="Ø"/>
            </a:pPr>
            <a:r>
              <a:rPr lang="en-US" sz="1660" b="1" dirty="0">
                <a:solidFill>
                  <a:srgbClr val="00B050"/>
                </a:solidFill>
                <a:latin typeface="Times New Roman" panose="02020603050405020304" pitchFamily="18" charset="0"/>
                <a:ea typeface="等线" panose="02010600030101010101" pitchFamily="2" charset="-122"/>
              </a:rPr>
              <a:t>Support for the Proposed SMS: </a:t>
            </a:r>
            <a:r>
              <a:rPr lang="en-US" sz="1660" dirty="0">
                <a:latin typeface="Times New Roman" panose="02020603050405020304" pitchFamily="18" charset="0"/>
                <a:ea typeface="等线" panose="02010600030101010101" pitchFamily="2" charset="-122"/>
              </a:rPr>
              <a:t>The existing infrastructure is capable of supporting the proposed SMS, as all necessary components are in place. The cloud server can accommodate the SMS, ensuring secure and efficient operations.</a:t>
            </a:r>
            <a:endParaRPr lang="en-US" sz="1660" dirty="0">
              <a:latin typeface="Times New Roman" panose="02020603050405020304" pitchFamily="18" charset="0"/>
              <a:ea typeface="等线" panose="02010600030101010101" pitchFamily="2" charset="-122"/>
            </a:endParaRPr>
          </a:p>
        </p:txBody>
      </p:sp>
      <p:sp>
        <p:nvSpPr>
          <p:cNvPr id="4" name="Rectangle 3"/>
          <p:cNvSpPr/>
          <p:nvPr/>
        </p:nvSpPr>
        <p:spPr>
          <a:xfrm>
            <a:off x="1041862" y="64135"/>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Current Infrastructure Assessment</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p:txBody>
          <a:bodyPr>
            <a:normAutofit fontScale="77500" lnSpcReduction="20000"/>
          </a:bodyPr>
          <a:lstStyle/>
          <a:p>
            <a:pPr marL="0" indent="0" algn="just">
              <a:lnSpc>
                <a:spcPct val="150000"/>
              </a:lnSpc>
              <a:spcBef>
                <a:spcPts val="500"/>
              </a:spcBef>
              <a:spcAft>
                <a:spcPts val="500"/>
              </a:spcAft>
              <a:buNone/>
            </a:pPr>
            <a:r>
              <a:rPr lang="en-US" sz="2600" b="1" dirty="0">
                <a:solidFill>
                  <a:srgbClr val="00B050"/>
                </a:solidFill>
                <a:latin typeface="Times New Roman" panose="02020603050405020304" pitchFamily="18" charset="0"/>
                <a:ea typeface="等线" panose="02010600030101010101" pitchFamily="2" charset="-122"/>
              </a:rPr>
              <a:t>1. Technical Stack</a:t>
            </a:r>
            <a:endParaRPr lang="en-US" sz="2600" b="1" dirty="0">
              <a:solidFill>
                <a:srgbClr val="00B050"/>
              </a:solidFill>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Frontend: Frameworks</a:t>
            </a:r>
            <a:endParaRPr lang="en-US" sz="2300" b="1"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100" b="1" dirty="0">
                <a:latin typeface="Times New Roman" panose="02020603050405020304" pitchFamily="18" charset="0"/>
                <a:ea typeface="等线" panose="02010600030101010101" pitchFamily="2" charset="-122"/>
              </a:rPr>
              <a:t> Laravel Blade</a:t>
            </a:r>
            <a:r>
              <a:rPr lang="en-US" sz="2100" dirty="0">
                <a:latin typeface="Times New Roman" panose="02020603050405020304" pitchFamily="18" charset="0"/>
                <a:ea typeface="等线" panose="02010600030101010101" pitchFamily="2" charset="-122"/>
              </a:rPr>
              <a:t>: for templating, alongside Laravel Livewire for dynamic components.</a:t>
            </a:r>
            <a:endParaRPr lang="en-US" sz="2100" dirty="0">
              <a:latin typeface="Times New Roman" panose="02020603050405020304" pitchFamily="18" charset="0"/>
              <a:ea typeface="等线" panose="02010600030101010101" pitchFamily="2" charset="-122"/>
            </a:endParaRPr>
          </a:p>
          <a:p>
            <a:pPr lvl="1" algn="just">
              <a:lnSpc>
                <a:spcPct val="150000"/>
              </a:lnSpc>
              <a:spcBef>
                <a:spcPts val="500"/>
              </a:spcBef>
              <a:spcAft>
                <a:spcPts val="500"/>
              </a:spcAft>
              <a:buFont typeface="Wingdings" panose="05000000000000000000" pitchFamily="2" charset="2"/>
              <a:buChar char="Ø"/>
            </a:pPr>
            <a:r>
              <a:rPr lang="en-US" sz="2100" b="1" dirty="0">
                <a:latin typeface="Times New Roman" panose="02020603050405020304" pitchFamily="18" charset="0"/>
                <a:ea typeface="等线" panose="02010600030101010101" pitchFamily="2" charset="-122"/>
              </a:rPr>
              <a:t>Laravel InfyOm: </a:t>
            </a:r>
            <a:r>
              <a:rPr lang="en-US" sz="2100" dirty="0">
                <a:latin typeface="Times New Roman" panose="02020603050405020304" pitchFamily="18" charset="0"/>
                <a:ea typeface="等线" panose="02010600030101010101" pitchFamily="2" charset="-122"/>
              </a:rPr>
              <a:t>To streamline the development process with CRUD (Create, Read, Update, Delete) operations and scaffolding.</a:t>
            </a:r>
            <a:endParaRPr lang="en-US" sz="21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Backend: </a:t>
            </a:r>
            <a:r>
              <a:rPr lang="en-US" sz="2300" dirty="0">
                <a:latin typeface="Times New Roman" panose="02020603050405020304" pitchFamily="18" charset="0"/>
                <a:ea typeface="等线" panose="02010600030101010101" pitchFamily="2" charset="-122"/>
              </a:rPr>
              <a:t>PHP (Laravel framework)</a:t>
            </a:r>
            <a:endParaRPr lang="en-US" sz="2300" dirty="0">
              <a:latin typeface="Times New Roman" panose="02020603050405020304" pitchFamily="18" charset="0"/>
              <a:ea typeface="等线" panose="02010600030101010101" pitchFamily="2" charset="-122"/>
            </a:endParaRPr>
          </a:p>
          <a:p>
            <a:pPr marR="0" lvl="0" algn="just">
              <a:lnSpc>
                <a:spcPct val="150000"/>
              </a:lnSpc>
              <a:spcBef>
                <a:spcPts val="500"/>
              </a:spcBef>
              <a:spcAft>
                <a:spcPts val="500"/>
              </a:spcAft>
              <a:buFont typeface="Wingdings" panose="05000000000000000000" pitchFamily="2" charset="2"/>
              <a:buChar char="Ø"/>
            </a:pPr>
            <a:r>
              <a:rPr lang="en-US" sz="2300" b="1" dirty="0">
                <a:latin typeface="Times New Roman" panose="02020603050405020304" pitchFamily="18" charset="0"/>
                <a:ea typeface="等线" panose="02010600030101010101" pitchFamily="2" charset="-122"/>
              </a:rPr>
              <a:t>Database: </a:t>
            </a:r>
            <a:r>
              <a:rPr lang="en-US" sz="2300" dirty="0">
                <a:latin typeface="Times New Roman" panose="02020603050405020304" pitchFamily="18" charset="0"/>
                <a:ea typeface="等线" panose="02010600030101010101" pitchFamily="2" charset="-122"/>
              </a:rPr>
              <a:t>MySQL</a:t>
            </a:r>
            <a:endParaRPr lang="en-US" sz="2300" dirty="0">
              <a:latin typeface="Times New Roman" panose="02020603050405020304" pitchFamily="18" charset="0"/>
              <a:ea typeface="等线" panose="02010600030101010101" pitchFamily="2" charset="-122"/>
            </a:endParaRPr>
          </a:p>
        </p:txBody>
      </p:sp>
      <p:sp>
        <p:nvSpPr>
          <p:cNvPr id="5" name="Content Placeholder 4"/>
          <p:cNvSpPr>
            <a:spLocks noGrp="1"/>
          </p:cNvSpPr>
          <p:nvPr>
            <p:ph sz="half" idx="2"/>
          </p:nvPr>
        </p:nvSpPr>
        <p:spPr>
          <a:xfrm>
            <a:off x="6515944" y="2120900"/>
            <a:ext cx="4639736" cy="4091478"/>
          </a:xfrm>
        </p:spPr>
        <p:txBody>
          <a:bodyPr>
            <a:noAutofit/>
          </a:bodyPr>
          <a:lstStyle/>
          <a:p>
            <a:pPr marL="0" lvl="0" indent="0" algn="just">
              <a:lnSpc>
                <a:spcPct val="130000"/>
              </a:lnSpc>
              <a:spcBef>
                <a:spcPts val="500"/>
              </a:spcBef>
              <a:spcAft>
                <a:spcPts val="500"/>
              </a:spcAft>
              <a:buNone/>
            </a:pPr>
            <a:r>
              <a:rPr lang="en-US" sz="2000" b="1" dirty="0">
                <a:solidFill>
                  <a:srgbClr val="00B050"/>
                </a:solidFill>
                <a:latin typeface="Times New Roman" panose="02020603050405020304" pitchFamily="18" charset="0"/>
                <a:ea typeface="等线" panose="02010600030101010101" pitchFamily="2" charset="-122"/>
              </a:rPr>
              <a:t>2. Security: </a:t>
            </a:r>
            <a:r>
              <a:rPr lang="en-US" sz="1600" dirty="0">
                <a:latin typeface="Times New Roman" panose="02020603050405020304" pitchFamily="18" charset="0"/>
                <a:ea typeface="等线" panose="02010600030101010101" pitchFamily="2" charset="-122"/>
              </a:rPr>
              <a:t>Implementing security features such as encryption for sensitive data, multi-factor user authentication, and regular backups to ensure data integrity and security.</a:t>
            </a:r>
            <a:endParaRPr lang="en-US" sz="1600" dirty="0">
              <a:latin typeface="Times New Roman" panose="02020603050405020304" pitchFamily="18" charset="0"/>
              <a:ea typeface="等线" panose="02010600030101010101" pitchFamily="2" charset="-122"/>
            </a:endParaRPr>
          </a:p>
          <a:p>
            <a:pPr marL="0" lvl="0" indent="0" algn="just">
              <a:lnSpc>
                <a:spcPct val="130000"/>
              </a:lnSpc>
              <a:spcBef>
                <a:spcPts val="500"/>
              </a:spcBef>
              <a:spcAft>
                <a:spcPts val="500"/>
              </a:spcAft>
              <a:buNone/>
            </a:pPr>
            <a:r>
              <a:rPr lang="en-US" sz="2000" b="1" dirty="0">
                <a:solidFill>
                  <a:srgbClr val="00B050"/>
                </a:solidFill>
                <a:latin typeface="Times New Roman" panose="02020603050405020304" pitchFamily="18" charset="0"/>
                <a:ea typeface="等线" panose="02010600030101010101" pitchFamily="2" charset="-122"/>
              </a:rPr>
              <a:t>3. Hosting: </a:t>
            </a:r>
            <a:r>
              <a:rPr lang="en-US" sz="1600" dirty="0">
                <a:latin typeface="Times New Roman" panose="02020603050405020304" pitchFamily="18" charset="0"/>
                <a:ea typeface="等线" panose="02010600030101010101" pitchFamily="2" charset="-122"/>
              </a:rPr>
              <a:t>The SMS will be hosted in the cloud, providing cost-effectiveness and scalability.</a:t>
            </a:r>
            <a:endParaRPr lang="en-US" sz="1600" dirty="0">
              <a:latin typeface="Times New Roman" panose="02020603050405020304" pitchFamily="18" charset="0"/>
              <a:ea typeface="等线" panose="02010600030101010101" pitchFamily="2" charset="-122"/>
            </a:endParaRPr>
          </a:p>
          <a:p>
            <a:pPr marL="0" lvl="0" indent="0" algn="just">
              <a:lnSpc>
                <a:spcPct val="130000"/>
              </a:lnSpc>
              <a:spcBef>
                <a:spcPts val="500"/>
              </a:spcBef>
              <a:spcAft>
                <a:spcPts val="500"/>
              </a:spcAft>
              <a:buNone/>
            </a:pPr>
            <a:r>
              <a:rPr lang="en-US" sz="1600" b="1" dirty="0">
                <a:solidFill>
                  <a:srgbClr val="00B050"/>
                </a:solidFill>
                <a:latin typeface="Times New Roman" panose="02020603050405020304" pitchFamily="18" charset="0"/>
                <a:ea typeface="等线" panose="02010600030101010101" pitchFamily="2" charset="-122"/>
              </a:rPr>
              <a:t>4. </a:t>
            </a:r>
            <a:r>
              <a:rPr lang="en-US" sz="2000" b="1" dirty="0">
                <a:solidFill>
                  <a:srgbClr val="00B050"/>
                </a:solidFill>
                <a:latin typeface="Times New Roman" panose="02020603050405020304" pitchFamily="18" charset="0"/>
                <a:ea typeface="等线" panose="02010600030101010101" pitchFamily="2" charset="-122"/>
              </a:rPr>
              <a:t>Operating System: </a:t>
            </a:r>
            <a:r>
              <a:rPr lang="en-US" sz="1600" dirty="0">
                <a:latin typeface="Times New Roman" panose="02020603050405020304" pitchFamily="18" charset="0"/>
                <a:ea typeface="等线" panose="02010600030101010101" pitchFamily="2" charset="-122"/>
              </a:rPr>
              <a:t>The system will run on a server with a compatible OS, such as Ubuntu or CentOS, which are suitable for web applications and provide a stable environment for PHP and </a:t>
            </a:r>
            <a:r>
              <a:rPr lang="en-US" sz="1800" kern="0" dirty="0">
                <a:effectLst/>
                <a:latin typeface="Times New Roman" panose="02020603050405020304" pitchFamily="18" charset="0"/>
                <a:ea typeface="SimSun" panose="02010600030101010101" pitchFamily="2" charset="-122"/>
              </a:rPr>
              <a:t>MySQL.</a:t>
            </a:r>
            <a:endParaRPr lang="en-US" sz="1800" dirty="0">
              <a:effectLst/>
              <a:latin typeface="Times New Roman" panose="02020603050405020304" pitchFamily="18" charset="0"/>
              <a:ea typeface="等线" panose="02010600030101010101" pitchFamily="2" charset="-122"/>
            </a:endParaRPr>
          </a:p>
          <a:p>
            <a:pPr>
              <a:lnSpc>
                <a:spcPct val="100000"/>
              </a:lnSpc>
            </a:pPr>
            <a:endParaRPr lang="en-US" sz="1800" dirty="0"/>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Technology Requirements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Operational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185949" y="1668087"/>
            <a:ext cx="10307782" cy="4566458"/>
          </a:xfrm>
        </p:spPr>
        <p:txBody>
          <a:bodyPr>
            <a:normAutofit fontScale="92500" lnSpcReduction="20000"/>
          </a:bodyPr>
          <a:lstStyle/>
          <a:p>
            <a:pPr marL="0" marR="0" algn="just">
              <a:lnSpc>
                <a:spcPct val="150000"/>
              </a:lnSpc>
              <a:spcBef>
                <a:spcPts val="500"/>
              </a:spcBef>
              <a:spcAft>
                <a:spcPts val="500"/>
              </a:spcAft>
            </a:pPr>
            <a:r>
              <a:rPr lang="en-US" sz="1800" b="1" dirty="0">
                <a:effectLst/>
                <a:latin typeface="Times New Roman" panose="02020603050405020304" pitchFamily="18" charset="0"/>
                <a:ea typeface="SimSun" panose="02010600030101010101" pitchFamily="2" charset="-122"/>
              </a:rPr>
              <a:t>Staff and Student Readiness:</a:t>
            </a:r>
            <a:r>
              <a:rPr lang="en-US" sz="1800" kern="0" dirty="0">
                <a:effectLst/>
                <a:latin typeface="Times New Roman" panose="02020603050405020304" pitchFamily="18" charset="0"/>
                <a:ea typeface="SimSun" panose="02010600030101010101" pitchFamily="2" charset="-122"/>
              </a:rPr>
              <a:t> WITI’s staff and students are prepared to adapt to the new Student Management System (SMS). Staff members are proficient in similar systems, while many have software development knowledge.</a:t>
            </a:r>
            <a:endParaRPr lang="en-US" sz="180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800" b="1" dirty="0">
                <a:effectLst/>
                <a:latin typeface="Times New Roman" panose="02020603050405020304" pitchFamily="18" charset="0"/>
                <a:ea typeface="SimSun" panose="02010600030101010101" pitchFamily="2" charset="-122"/>
              </a:rPr>
              <a:t>Integration into Current Workflows:</a:t>
            </a:r>
            <a:r>
              <a:rPr lang="en-US" sz="1800" kern="0" dirty="0">
                <a:effectLst/>
                <a:latin typeface="Times New Roman" panose="02020603050405020304" pitchFamily="18" charset="0"/>
                <a:ea typeface="SimSun" panose="02010600030101010101" pitchFamily="2" charset="-122"/>
              </a:rPr>
              <a:t> The SMS will streamline tasks like registration, attendance tracking, and grading, reducing manual efforts and enhancing workflow efficiency.</a:t>
            </a:r>
            <a:endParaRPr lang="en-US" sz="1800" kern="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800" b="1" dirty="0">
                <a:effectLst/>
                <a:latin typeface="Times New Roman" panose="02020603050405020304" pitchFamily="18" charset="0"/>
                <a:ea typeface="SimSun" panose="02010600030101010101" pitchFamily="2" charset="-122"/>
              </a:rPr>
              <a:t>Training Requirements</a:t>
            </a:r>
            <a:endParaRPr lang="en-US" sz="1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800" b="1" dirty="0">
                <a:effectLst/>
                <a:latin typeface="Times New Roman" panose="02020603050405020304" pitchFamily="18" charset="0"/>
                <a:ea typeface="SimSun" panose="02010600030101010101" pitchFamily="2" charset="-122"/>
              </a:rPr>
              <a:t>Staff: </a:t>
            </a:r>
            <a:r>
              <a:rPr lang="en-US" sz="1800" b="0" dirty="0">
                <a:effectLst/>
                <a:latin typeface="Times New Roman" panose="02020603050405020304" pitchFamily="18" charset="0"/>
                <a:ea typeface="SimSun" panose="02010600030101010101" pitchFamily="2" charset="-122"/>
              </a:rPr>
              <a:t>No training needed as they are already skilled </a:t>
            </a:r>
            <a:r>
              <a:rPr lang="en-US" sz="1800" b="0" dirty="0" err="1">
                <a:effectLst/>
                <a:latin typeface="Times New Roman" panose="02020603050405020304" pitchFamily="18" charset="0"/>
                <a:ea typeface="SimSun" panose="02010600030101010101" pitchFamily="2" charset="-122"/>
              </a:rPr>
              <a:t>interms</a:t>
            </a:r>
            <a:r>
              <a:rPr lang="en-US" sz="1800" b="0" dirty="0">
                <a:effectLst/>
                <a:latin typeface="Times New Roman" panose="02020603050405020304" pitchFamily="18" charset="0"/>
                <a:ea typeface="SimSun" panose="02010600030101010101" pitchFamily="2" charset="-122"/>
              </a:rPr>
              <a:t> of the use of such systems</a:t>
            </a:r>
            <a:endParaRPr lang="en-US" sz="1800" dirty="0">
              <a:effectLst/>
              <a:latin typeface="Times New Roman" panose="02020603050405020304" pitchFamily="18" charset="0"/>
              <a:ea typeface="SimSun"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800" b="1" dirty="0">
                <a:effectLst/>
                <a:latin typeface="Times New Roman" panose="02020603050405020304" pitchFamily="18" charset="0"/>
                <a:ea typeface="SimSun" panose="02010600030101010101" pitchFamily="2" charset="-122"/>
              </a:rPr>
              <a:t>Students: </a:t>
            </a:r>
            <a:r>
              <a:rPr lang="en-US" sz="1800" b="0" dirty="0">
                <a:effectLst/>
                <a:latin typeface="Times New Roman" panose="02020603050405020304" pitchFamily="18" charset="0"/>
                <a:ea typeface="SimSun" panose="02010600030101010101" pitchFamily="2" charset="-122"/>
              </a:rPr>
              <a:t>Basic training sessions may be offered by staff to ensure familiarity with the SMS features.</a:t>
            </a:r>
            <a:endParaRPr lang="en-US" sz="1800" dirty="0">
              <a:effectLst/>
              <a:latin typeface="Times New Roman" panose="02020603050405020304" pitchFamily="18" charset="0"/>
              <a:ea typeface="SimSun" panose="02010600030101010101" pitchFamily="2" charset="-122"/>
            </a:endParaRPr>
          </a:p>
          <a:p>
            <a:pPr algn="just">
              <a:lnSpc>
                <a:spcPct val="156000"/>
              </a:lnSpc>
              <a:spcBef>
                <a:spcPts val="1400"/>
              </a:spcBef>
              <a:spcAft>
                <a:spcPts val="1450"/>
              </a:spcAft>
            </a:pPr>
            <a:r>
              <a:rPr lang="en-US" sz="1800" b="1" dirty="0">
                <a:solidFill>
                  <a:srgbClr val="00B050"/>
                </a:solidFill>
                <a:effectLst/>
                <a:latin typeface="Times New Roman" panose="02020603050405020304" pitchFamily="18" charset="0"/>
                <a:ea typeface="等线" panose="02010600030101010101" pitchFamily="2" charset="-122"/>
              </a:rPr>
              <a:t>Conclusion: </a:t>
            </a:r>
            <a:r>
              <a:rPr lang="en-US" sz="1800" b="0" dirty="0">
                <a:effectLst/>
                <a:latin typeface="Times New Roman" panose="02020603050405020304" pitchFamily="18" charset="0"/>
                <a:ea typeface="等线" panose="02010600030101010101" pitchFamily="2" charset="-122"/>
              </a:rPr>
              <a:t>Overall, the operational feasibility of implementing the SMS at WITI is strong, given the readiness of both staff and students, the positive impact on existing workflows, and the minimal training requirements.  This readiness supports the successful adoption and long-term use of the  proposed system</a:t>
            </a:r>
            <a:endParaRPr lang="en-US" sz="1800" b="1" dirty="0">
              <a:effectLst/>
              <a:latin typeface="Times New Roman" panose="02020603050405020304" pitchFamily="18" charset="0"/>
              <a:ea typeface="等线" panose="02010600030101010101" pitchFamily="2" charset="-122"/>
            </a:endParaRPr>
          </a:p>
          <a:p>
            <a:pPr marL="0" marR="0" algn="just">
              <a:lnSpc>
                <a:spcPct val="150000"/>
              </a:lnSpc>
              <a:spcBef>
                <a:spcPts val="500"/>
              </a:spcBef>
              <a:spcAft>
                <a:spcPts val="500"/>
              </a:spcAft>
            </a:pPr>
            <a:endParaRPr lang="en-US" sz="1800" dirty="0">
              <a:effectLst/>
              <a:latin typeface="Times New Roman" panose="02020603050405020304" pitchFamily="18" charset="0"/>
              <a:ea typeface="SimSun" panose="02010600030101010101" pitchFamily="2" charset="-122"/>
            </a:endParaRPr>
          </a:p>
          <a:p>
            <a:pPr marL="0" marR="0" lvl="0" indent="0" algn="just">
              <a:lnSpc>
                <a:spcPct val="150000"/>
              </a:lnSpc>
              <a:spcBef>
                <a:spcPts val="500"/>
              </a:spcBef>
              <a:spcAft>
                <a:spcPts val="500"/>
              </a:spcAft>
              <a:buNone/>
            </a:pPr>
            <a:endParaRPr lang="en-US" sz="2300" dirty="0">
              <a:latin typeface="Times New Roman" panose="02020603050405020304" pitchFamily="18" charset="0"/>
              <a:ea typeface="等线" panose="02010600030101010101" pitchFamily="2" charset="-122"/>
            </a:endParaRPr>
          </a:p>
        </p:txBody>
      </p:sp>
      <p:sp>
        <p:nvSpPr>
          <p:cNvPr id="4" name="Rectangle 3"/>
          <p:cNvSpPr/>
          <p:nvPr/>
        </p:nvSpPr>
        <p:spPr>
          <a:xfrm>
            <a:off x="1147156" y="402186"/>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Operational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 Economic Feasibility</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sz="half" idx="1"/>
          </p:nvPr>
        </p:nvSpPr>
        <p:spPr>
          <a:xfrm>
            <a:off x="1097280" y="1256421"/>
            <a:ext cx="4639736" cy="5066795"/>
          </a:xfrm>
        </p:spPr>
        <p:txBody>
          <a:bodyPr>
            <a:noAutofit/>
          </a:bodyPr>
          <a:lstStyle/>
          <a:p>
            <a:pPr marL="0" lvl="0" indent="0" algn="just">
              <a:lnSpc>
                <a:spcPct val="150000"/>
              </a:lnSpc>
              <a:buNone/>
            </a:pPr>
            <a:r>
              <a:rPr lang="en-US" b="1" dirty="0">
                <a:solidFill>
                  <a:srgbClr val="00B050"/>
                </a:solidFill>
                <a:latin typeface="Times New Roman" panose="02020603050405020304" pitchFamily="18" charset="0"/>
                <a:ea typeface="等线" panose="02010600030101010101" pitchFamily="2" charset="-122"/>
              </a:rPr>
              <a:t>1. Development Costs</a:t>
            </a:r>
            <a:endParaRPr lang="en-US" b="1" dirty="0">
              <a:solidFill>
                <a:srgbClr val="00B050"/>
              </a:solidFill>
              <a:latin typeface="Times New Roman" panose="02020603050405020304" pitchFamily="18" charset="0"/>
              <a:ea typeface="等线" panose="02010600030101010101" pitchFamily="2" charset="-122"/>
            </a:endParaRPr>
          </a:p>
          <a:p>
            <a:pPr marL="342900" lvl="0" indent="-342900" algn="just">
              <a:lnSpc>
                <a:spcPct val="133000"/>
              </a:lnSpc>
              <a:spcBef>
                <a:spcPts val="1200"/>
              </a:spcBef>
              <a:spcAft>
                <a:spcPts val="320"/>
              </a:spcAft>
              <a:buFont typeface="Wingdings" panose="05000000000000000000" pitchFamily="2" charset="2"/>
              <a:buChar char=""/>
            </a:pPr>
            <a:r>
              <a:rPr lang="en-US" b="1" dirty="0">
                <a:effectLst/>
                <a:latin typeface="Times New Roman" panose="02020603050405020304" pitchFamily="18" charset="0"/>
                <a:ea typeface="等线" panose="02010600030101010101" pitchFamily="2" charset="-122"/>
              </a:rPr>
              <a:t>Student Developers</a:t>
            </a:r>
            <a:endParaRPr lang="en-US" b="1"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5 Best students working for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Total = 5 students × UGX 300,000 × 3 months = </a:t>
            </a:r>
            <a:r>
              <a:rPr lang="en-US" b="1" dirty="0">
                <a:effectLst/>
                <a:latin typeface="Times New Roman" panose="02020603050405020304" pitchFamily="18" charset="0"/>
                <a:ea typeface="SimSun" panose="02010600030101010101" pitchFamily="2" charset="-122"/>
              </a:rPr>
              <a:t>UGX 4,500,000</a:t>
            </a:r>
            <a:r>
              <a:rPr lang="en-US" dirty="0">
                <a:effectLst/>
                <a:latin typeface="Times New Roman" panose="02020603050405020304" pitchFamily="18" charset="0"/>
                <a:ea typeface="等线" panose="02010600030101010101" pitchFamily="2" charset="-122"/>
              </a:rPr>
              <a:t>.</a:t>
            </a:r>
            <a:endParaRPr lang="en-US" dirty="0">
              <a:effectLst/>
              <a:latin typeface="Times New Roman" panose="02020603050405020304" pitchFamily="18" charset="0"/>
              <a:ea typeface="等线" panose="02010600030101010101" pitchFamily="2" charset="-122"/>
            </a:endParaRPr>
          </a:p>
          <a:p>
            <a:pPr marL="342900" lvl="0" indent="-342900" algn="just">
              <a:lnSpc>
                <a:spcPct val="133000"/>
              </a:lnSpc>
              <a:spcBef>
                <a:spcPts val="1200"/>
              </a:spcBef>
              <a:spcAft>
                <a:spcPts val="320"/>
              </a:spcAft>
              <a:buFont typeface="Wingdings" panose="05000000000000000000" pitchFamily="2" charset="2"/>
              <a:buChar char=""/>
            </a:pPr>
            <a:r>
              <a:rPr lang="en-US" b="1" dirty="0">
                <a:effectLst/>
                <a:latin typeface="Times New Roman" panose="02020603050405020304" pitchFamily="18" charset="0"/>
                <a:ea typeface="等线" panose="02010600030101010101" pitchFamily="2" charset="-122"/>
              </a:rPr>
              <a:t>Professional Developer</a:t>
            </a:r>
            <a:endParaRPr lang="en-US" b="1"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1 Proficient developer working for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Total = UGX 2,000,000 × 3 months</a:t>
            </a:r>
            <a:endParaRPr lang="en-US" dirty="0">
              <a:effectLst/>
              <a:latin typeface="Times New Roman" panose="02020603050405020304" pitchFamily="18" charset="0"/>
              <a:ea typeface="等线" panose="02010600030101010101" pitchFamily="2" charset="-122"/>
            </a:endParaRPr>
          </a:p>
          <a:p>
            <a:pPr marL="914400" marR="0" algn="just">
              <a:spcBef>
                <a:spcPts val="500"/>
              </a:spcBef>
              <a:spcAft>
                <a:spcPts val="500"/>
              </a:spcAft>
            </a:pPr>
            <a:r>
              <a:rPr lang="en-US" dirty="0">
                <a:effectLst/>
                <a:latin typeface="Times New Roman" panose="02020603050405020304" pitchFamily="18" charset="0"/>
                <a:ea typeface="等线" panose="02010600030101010101" pitchFamily="2" charset="-122"/>
              </a:rPr>
              <a:t> = </a:t>
            </a:r>
            <a:r>
              <a:rPr lang="en-US" b="1" dirty="0">
                <a:effectLst/>
                <a:latin typeface="Times New Roman" panose="02020603050405020304" pitchFamily="18" charset="0"/>
                <a:ea typeface="SimSun" panose="02010600030101010101" pitchFamily="2" charset="-122"/>
              </a:rPr>
              <a:t>UGX 6,000,000</a:t>
            </a:r>
            <a:r>
              <a:rPr lang="en-US" dirty="0">
                <a:effectLst/>
                <a:latin typeface="Times New Roman" panose="02020603050405020304" pitchFamily="18" charset="0"/>
                <a:ea typeface="等线" panose="02010600030101010101" pitchFamily="2" charset="-122"/>
              </a:rPr>
              <a:t>.</a:t>
            </a:r>
            <a:endParaRPr lang="en-US"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endParaRPr lang="en-US" sz="1700" dirty="0">
              <a:latin typeface="Times New Roman" panose="02020603050405020304" pitchFamily="18" charset="0"/>
              <a:ea typeface="等线" panose="02010600030101010101" pitchFamily="2" charset="-122"/>
            </a:endParaRPr>
          </a:p>
        </p:txBody>
      </p:sp>
      <p:sp>
        <p:nvSpPr>
          <p:cNvPr id="5" name="Content Placeholder 4"/>
          <p:cNvSpPr>
            <a:spLocks noGrp="1"/>
          </p:cNvSpPr>
          <p:nvPr>
            <p:ph sz="half" idx="2"/>
          </p:nvPr>
        </p:nvSpPr>
        <p:spPr>
          <a:xfrm>
            <a:off x="6515943" y="1396538"/>
            <a:ext cx="4927912" cy="5015346"/>
          </a:xfrm>
        </p:spPr>
        <p:txBody>
          <a:bodyPr>
            <a:noAutofit/>
          </a:bodyPr>
          <a:lstStyle/>
          <a:p>
            <a:pPr marL="0" indent="0" algn="just">
              <a:lnSpc>
                <a:spcPct val="150000"/>
              </a:lnSpc>
              <a:buNone/>
            </a:pPr>
            <a:r>
              <a:rPr lang="en-US" b="1" dirty="0">
                <a:solidFill>
                  <a:srgbClr val="00B050"/>
                </a:solidFill>
                <a:latin typeface="Times New Roman" panose="02020603050405020304" pitchFamily="18" charset="0"/>
                <a:ea typeface="等线" panose="02010600030101010101" pitchFamily="2" charset="-122"/>
              </a:rPr>
              <a:t>2. Infrastructure Costs</a:t>
            </a:r>
            <a:endParaRPr lang="en-US" b="1" dirty="0">
              <a:solidFill>
                <a:srgbClr val="00B050"/>
              </a:solidFill>
              <a:latin typeface="Times New Roman" panose="02020603050405020304" pitchFamily="18" charset="0"/>
              <a:ea typeface="等线" panose="02010600030101010101" pitchFamily="2" charset="-122"/>
            </a:endParaRPr>
          </a:p>
          <a:p>
            <a:pPr lvl="1" algn="just">
              <a:lnSpc>
                <a:spcPct val="200000"/>
              </a:lnSpc>
              <a:buFont typeface="Wingdings" panose="05000000000000000000" pitchFamily="2" charset="2"/>
              <a:buChar char="Ø"/>
            </a:pPr>
            <a:r>
              <a:rPr lang="en-US" b="1" dirty="0">
                <a:latin typeface="Times New Roman" panose="02020603050405020304" pitchFamily="18" charset="0"/>
                <a:ea typeface="等线" panose="02010600030101010101" pitchFamily="2" charset="-122"/>
              </a:rPr>
              <a:t>Cloud Hosting: </a:t>
            </a:r>
            <a:r>
              <a:rPr lang="en-US" dirty="0">
                <a:latin typeface="Times New Roman" panose="02020603050405020304" pitchFamily="18" charset="0"/>
                <a:ea typeface="等线" panose="02010600030101010101" pitchFamily="2" charset="-122"/>
              </a:rPr>
              <a:t>UGX 200,000 per year.</a:t>
            </a:r>
            <a:endParaRPr lang="en-US" dirty="0">
              <a:latin typeface="Times New Roman" panose="02020603050405020304" pitchFamily="18" charset="0"/>
              <a:ea typeface="等线" panose="02010600030101010101" pitchFamily="2" charset="-122"/>
            </a:endParaRPr>
          </a:p>
          <a:p>
            <a:pPr marL="0" indent="0" algn="just">
              <a:lnSpc>
                <a:spcPct val="80000"/>
              </a:lnSpc>
              <a:buNone/>
            </a:pPr>
            <a:r>
              <a:rPr lang="en-US" b="1" dirty="0">
                <a:solidFill>
                  <a:srgbClr val="00B050"/>
                </a:solidFill>
                <a:latin typeface="Times New Roman" panose="02020603050405020304" pitchFamily="18" charset="0"/>
                <a:ea typeface="等线" panose="02010600030101010101" pitchFamily="2" charset="-122"/>
              </a:rPr>
              <a:t>3.  Testing Costs</a:t>
            </a:r>
            <a:endParaRPr lang="en-US" b="1" dirty="0">
              <a:solidFill>
                <a:srgbClr val="00B050"/>
              </a:solidFill>
              <a:latin typeface="Times New Roman" panose="02020603050405020304" pitchFamily="18" charset="0"/>
              <a:ea typeface="等线" panose="02010600030101010101" pitchFamily="2" charset="-122"/>
            </a:endParaRPr>
          </a:p>
          <a:p>
            <a:pPr lvl="1" algn="just">
              <a:lnSpc>
                <a:spcPct val="150000"/>
              </a:lnSpc>
              <a:buFont typeface="Wingdings" panose="05000000000000000000" pitchFamily="2" charset="2"/>
              <a:buChar char="Ø"/>
            </a:pPr>
            <a:r>
              <a:rPr lang="en-US" sz="1800" dirty="0">
                <a:latin typeface="Times New Roman" panose="02020603050405020304" pitchFamily="18" charset="0"/>
                <a:ea typeface="等线" panose="02010600030101010101" pitchFamily="2" charset="-122"/>
              </a:rPr>
              <a:t>Since WITI staff can effectively test the functional features and provide feedback, this will reduce additional costs associated with third-party testing. Therefore, UGX 0 for testing</a:t>
            </a:r>
            <a:r>
              <a:rPr lang="en-US" sz="1800" b="1" dirty="0">
                <a:latin typeface="Times New Roman" panose="02020603050405020304" pitchFamily="18" charset="0"/>
                <a:ea typeface="等线" panose="02010600030101010101" pitchFamily="2" charset="-122"/>
              </a:rPr>
              <a:t>.</a:t>
            </a:r>
            <a:endParaRPr lang="en-US" sz="1800" b="1" dirty="0">
              <a:latin typeface="Times New Roman" panose="02020603050405020304" pitchFamily="18" charset="0"/>
              <a:ea typeface="等线" panose="02010600030101010101" pitchFamily="2" charset="-122"/>
            </a:endParaRPr>
          </a:p>
          <a:p>
            <a:pPr algn="just">
              <a:lnSpc>
                <a:spcPct val="80000"/>
              </a:lnSpc>
            </a:pPr>
            <a:r>
              <a:rPr lang="en-US" sz="1700" b="1" dirty="0">
                <a:latin typeface="Times New Roman" panose="02020603050405020304" pitchFamily="18" charset="0"/>
                <a:ea typeface="等线" panose="02010600030101010101" pitchFamily="2" charset="-122"/>
              </a:rPr>
              <a:t>4. Maintenance Costs:</a:t>
            </a:r>
            <a:endParaRPr lang="en-US" sz="1700" b="1" dirty="0">
              <a:latin typeface="Times New Roman" panose="02020603050405020304" pitchFamily="18" charset="0"/>
              <a:ea typeface="等线" panose="02010600030101010101" pitchFamily="2" charset="-122"/>
            </a:endParaRPr>
          </a:p>
          <a:p>
            <a:pPr lvl="1" algn="just">
              <a:lnSpc>
                <a:spcPct val="150000"/>
              </a:lnSpc>
              <a:buFont typeface="Wingdings" panose="05000000000000000000" pitchFamily="2" charset="2"/>
              <a:buChar char="Ø"/>
            </a:pPr>
            <a:r>
              <a:rPr lang="en-US" sz="1800" dirty="0">
                <a:latin typeface="Times New Roman" panose="02020603050405020304" pitchFamily="18" charset="0"/>
                <a:ea typeface="等线" panose="02010600030101010101" pitchFamily="2" charset="-122"/>
              </a:rPr>
              <a:t>Estimated at UGX 600,000 annually for the developer’s maintenance support after deployment.</a:t>
            </a:r>
            <a:endParaRPr lang="en-US" sz="1800" dirty="0">
              <a:latin typeface="Times New Roman" panose="02020603050405020304" pitchFamily="18" charset="0"/>
              <a:ea typeface="等线" panose="02010600030101010101" pitchFamily="2" charset="-122"/>
            </a:endParaRPr>
          </a:p>
        </p:txBody>
      </p:sp>
      <p:sp>
        <p:nvSpPr>
          <p:cNvPr id="4" name="Rectangle 3"/>
          <p:cNvSpPr/>
          <p:nvPr/>
        </p:nvSpPr>
        <p:spPr>
          <a:xfrm>
            <a:off x="1147156" y="191597"/>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 Total Development Costs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87768"/>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1"/>
          </p:nvPr>
        </p:nvSpPr>
        <p:spPr>
          <a:xfrm>
            <a:off x="1097279" y="1256423"/>
            <a:ext cx="10401993" cy="5133294"/>
          </a:xfrm>
        </p:spPr>
        <p:txBody>
          <a:bodyPr>
            <a:noAutofit/>
          </a:bodyPr>
          <a:lstStyle/>
          <a:p>
            <a:pPr algn="just">
              <a:lnSpc>
                <a:spcPct val="156000"/>
              </a:lnSpc>
              <a:spcBef>
                <a:spcPts val="1400"/>
              </a:spcBef>
              <a:spcAft>
                <a:spcPts val="1450"/>
              </a:spcAft>
            </a:pPr>
            <a:r>
              <a:rPr lang="en-US" sz="1800" b="1" dirty="0">
                <a:solidFill>
                  <a:srgbClr val="00B050"/>
                </a:solidFill>
                <a:effectLst/>
                <a:latin typeface="Times New Roman" panose="02020603050405020304" pitchFamily="18" charset="0"/>
                <a:ea typeface="SimSun" panose="02010600030101010101" pitchFamily="2" charset="-122"/>
              </a:rPr>
              <a:t>Expected Benefits</a:t>
            </a:r>
            <a:endParaRPr lang="en-US" sz="1800" b="1" dirty="0">
              <a:solidFill>
                <a:srgbClr val="00B050"/>
              </a:solidFill>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By leveraging the expertise of WITI's best students and a proficient developer, the institution minimizes development costs while providing valuable learning opportunities for students.</a:t>
            </a:r>
            <a:endParaRPr lang="en-US" sz="1700" dirty="0">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The collaboration will enhance students' skills and practical experience while ensuring that the system aligns with WITI's needs.</a:t>
            </a:r>
            <a:endParaRPr lang="en-US" sz="1700" dirty="0">
              <a:effectLst/>
              <a:latin typeface="Times New Roman" panose="02020603050405020304" pitchFamily="18" charset="0"/>
              <a:ea typeface="等线" panose="02010600030101010101" pitchFamily="2" charset="-122"/>
            </a:endParaRPr>
          </a:p>
          <a:p>
            <a:pPr marL="342900" marR="0" lvl="0" indent="-342900" algn="just">
              <a:lnSpc>
                <a:spcPct val="150000"/>
              </a:lnSpc>
              <a:spcBef>
                <a:spcPts val="500"/>
              </a:spcBef>
              <a:spcAft>
                <a:spcPts val="500"/>
              </a:spcAft>
              <a:buFont typeface="Wingdings" panose="05000000000000000000" pitchFamily="2" charset="2"/>
              <a:buChar char=""/>
            </a:pPr>
            <a:r>
              <a:rPr lang="en-US" sz="1700" dirty="0">
                <a:effectLst/>
                <a:latin typeface="Times New Roman" panose="02020603050405020304" pitchFamily="18" charset="0"/>
                <a:ea typeface="等线" panose="02010600030101010101" pitchFamily="2" charset="-122"/>
              </a:rPr>
              <a:t>The anticipated benefits of increased operational efficiency, improved data management, and support for WITI’s mission to bridge the technological gender gap will outweigh the development and maintenance costs.</a:t>
            </a:r>
            <a:endParaRPr lang="en-US" sz="1700"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r>
              <a:rPr lang="en-US" sz="1800" b="1" dirty="0">
                <a:solidFill>
                  <a:srgbClr val="00B050"/>
                </a:solidFill>
                <a:effectLst/>
                <a:latin typeface="Times New Roman" panose="02020603050405020304" pitchFamily="18" charset="0"/>
                <a:ea typeface="等线" panose="02010600030101010101" pitchFamily="2" charset="-122"/>
              </a:rPr>
              <a:t>Conclusion</a:t>
            </a:r>
            <a:r>
              <a:rPr lang="en-US" sz="1800" b="1" dirty="0">
                <a:effectLst/>
                <a:latin typeface="Times New Roman" panose="02020603050405020304" pitchFamily="18" charset="0"/>
                <a:ea typeface="等线" panose="02010600030101010101" pitchFamily="2" charset="-122"/>
              </a:rPr>
              <a:t>: </a:t>
            </a:r>
            <a:r>
              <a:rPr lang="en-US" sz="1800" dirty="0">
                <a:effectLst/>
                <a:latin typeface="Times New Roman" panose="02020603050405020304" pitchFamily="18" charset="0"/>
                <a:ea typeface="等线" panose="02010600030101010101" pitchFamily="2" charset="-122"/>
              </a:rPr>
              <a:t>The economic feasibility of the SMS at WITI indicates a viable project with costs totaling </a:t>
            </a:r>
            <a:endParaRPr lang="en-US" sz="1800" dirty="0">
              <a:effectLst/>
              <a:latin typeface="Times New Roman" panose="02020603050405020304" pitchFamily="18" charset="0"/>
              <a:ea typeface="等线" panose="02010600030101010101" pitchFamily="2" charset="-122"/>
            </a:endParaRPr>
          </a:p>
          <a:p>
            <a:pPr marL="0" indent="0" algn="just">
              <a:lnSpc>
                <a:spcPct val="150000"/>
              </a:lnSpc>
              <a:spcBef>
                <a:spcPts val="500"/>
              </a:spcBef>
              <a:spcAft>
                <a:spcPts val="500"/>
              </a:spcAft>
              <a:buNone/>
            </a:pPr>
            <a:r>
              <a:rPr lang="en-US" sz="1800" b="1" dirty="0">
                <a:effectLst/>
                <a:latin typeface="Times New Roman" panose="02020603050405020304" pitchFamily="18" charset="0"/>
                <a:ea typeface="等线" panose="02010600030101010101" pitchFamily="2" charset="-122"/>
              </a:rPr>
              <a:t>UGX 11,300,000. </a:t>
            </a:r>
            <a:r>
              <a:rPr lang="en-US" sz="1800" dirty="0">
                <a:effectLst/>
                <a:latin typeface="Times New Roman" panose="02020603050405020304" pitchFamily="18" charset="0"/>
                <a:ea typeface="等线" panose="02010600030101010101" pitchFamily="2" charset="-122"/>
              </a:rPr>
              <a:t>Utilizing existing resources and student developers minimizes expenses while enhancing efficiency and data accuracy. The anticipated benefits outweigh the costs, confirming the project's feasibility.</a:t>
            </a:r>
            <a:endParaRPr lang="en-US" sz="1800" dirty="0">
              <a:effectLst/>
              <a:latin typeface="Times New Roman" panose="02020603050405020304" pitchFamily="18" charset="0"/>
              <a:ea typeface="等线" panose="02010600030101010101" pitchFamily="2" charset="-122"/>
            </a:endParaRPr>
          </a:p>
          <a:p>
            <a:pPr marL="0" marR="0" lvl="0" indent="0" algn="just">
              <a:lnSpc>
                <a:spcPct val="150000"/>
              </a:lnSpc>
              <a:spcBef>
                <a:spcPts val="500"/>
              </a:spcBef>
              <a:spcAft>
                <a:spcPts val="500"/>
              </a:spcAft>
              <a:buNone/>
            </a:pPr>
            <a:endParaRPr lang="en-US" sz="1800" dirty="0">
              <a:latin typeface="Times New Roman" panose="02020603050405020304" pitchFamily="18" charset="0"/>
              <a:ea typeface="等线" panose="02010600030101010101" pitchFamily="2" charset="-122"/>
            </a:endParaRPr>
          </a:p>
        </p:txBody>
      </p:sp>
      <p:sp>
        <p:nvSpPr>
          <p:cNvPr id="4" name="Rectangle 3"/>
          <p:cNvSpPr/>
          <p:nvPr/>
        </p:nvSpPr>
        <p:spPr>
          <a:xfrm>
            <a:off x="1147156" y="174972"/>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 Cost-Benefit Analysis</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1185949" y="186205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spcBef>
                <a:spcPts val="500"/>
              </a:spcBef>
              <a:spcAft>
                <a:spcPts val="500"/>
              </a:spcAft>
            </a:pPr>
            <a:r>
              <a:rPr lang="en-US" sz="3000" b="1" cap="all" dirty="0">
                <a:effectLst/>
                <a:latin typeface="Times New Roman" panose="02020603050405020304" pitchFamily="18" charset="0"/>
                <a:ea typeface="SimSun" panose="02010600030101010101" pitchFamily="2" charset="-122"/>
                <a:cs typeface="SimSun" panose="02010600030101010101" pitchFamily="2" charset="-122"/>
              </a:rPr>
              <a:t>Conclusion</a:t>
            </a:r>
            <a:endParaRPr lang="en-US" sz="30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08743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3" name="Subtitle 2"/>
          <p:cNvSpPr>
            <a:spLocks noGrp="1"/>
          </p:cNvSpPr>
          <p:nvPr>
            <p:ph idx="4294967295"/>
          </p:nvPr>
        </p:nvSpPr>
        <p:spPr>
          <a:xfrm>
            <a:off x="1013258" y="338081"/>
            <a:ext cx="10513724" cy="4549775"/>
          </a:xfrm>
        </p:spPr>
        <p:txBody>
          <a:bodyPr>
            <a:noAutofit/>
          </a:bodyPr>
          <a:lstStyle/>
          <a:p>
            <a:pPr marL="0" marR="0" indent="0" algn="just">
              <a:lnSpc>
                <a:spcPct val="150000"/>
              </a:lnSpc>
              <a:spcBef>
                <a:spcPts val="500"/>
              </a:spcBef>
              <a:spcAft>
                <a:spcPts val="500"/>
              </a:spcAft>
              <a:buNone/>
            </a:pPr>
            <a:r>
              <a:rPr lang="en-US" sz="1800" b="1" kern="0" dirty="0">
                <a:solidFill>
                  <a:srgbClr val="00B050"/>
                </a:solidFill>
                <a:effectLst/>
                <a:latin typeface="Times New Roman" panose="02020603050405020304" pitchFamily="18" charset="0"/>
                <a:ea typeface="SimSun" panose="02010600030101010101" pitchFamily="2" charset="-122"/>
              </a:rPr>
              <a:t>The feasibility study </a:t>
            </a:r>
            <a:r>
              <a:rPr lang="en-US" sz="1800" kern="0" dirty="0">
                <a:effectLst/>
                <a:latin typeface="Times New Roman" panose="02020603050405020304" pitchFamily="18" charset="0"/>
                <a:ea typeface="SimSun" panose="02010600030101010101" pitchFamily="2" charset="-122"/>
              </a:rPr>
              <a:t>for the proposed Student Management System (SMS) at the Women’s Institute of Technology and Innovation (WITI) supports its implementation across all dimensions.</a:t>
            </a:r>
            <a:endParaRPr lang="en-US" sz="1800" dirty="0">
              <a:effectLst/>
              <a:latin typeface="Times New Roman" panose="02020603050405020304" pitchFamily="18" charset="0"/>
              <a:ea typeface="SimSun" panose="02010600030101010101" pitchFamily="2" charset="-122"/>
            </a:endParaRPr>
          </a:p>
          <a:p>
            <a:pPr marL="487045" lvl="1" indent="-285750" algn="just">
              <a:lnSpc>
                <a:spcPct val="150000"/>
              </a:lnSpc>
              <a:spcBef>
                <a:spcPts val="500"/>
              </a:spcBef>
              <a:spcAft>
                <a:spcPts val="500"/>
              </a:spcAft>
              <a:buFont typeface="Wingdings" panose="05000000000000000000" pitchFamily="2" charset="2"/>
              <a:buChar char="Ø"/>
            </a:pPr>
            <a:r>
              <a:rPr lang="en-US" sz="1800" b="1" kern="0" dirty="0">
                <a:solidFill>
                  <a:srgbClr val="00B050"/>
                </a:solidFill>
                <a:effectLst/>
                <a:latin typeface="Times New Roman" panose="02020603050405020304" pitchFamily="18" charset="0"/>
                <a:ea typeface="SimSun" panose="02010600030101010101" pitchFamily="2" charset="-122"/>
              </a:rPr>
              <a:t>Technical Feasibility</a:t>
            </a:r>
            <a:r>
              <a:rPr lang="en-US" sz="1800" b="1" dirty="0">
                <a:solidFill>
                  <a:srgbClr val="00B050"/>
                </a:solidFill>
                <a:effectLst/>
                <a:latin typeface="Times New Roman" panose="02020603050405020304" pitchFamily="18" charset="0"/>
                <a:ea typeface="SimSun" panose="02010600030101010101" pitchFamily="2" charset="-122"/>
              </a:rPr>
              <a:t>:</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WITI has the necessary hardware, software, and network infrastructure, including cloud hosting, to support the SMS, which will utilize PHP (Laravel) and MySQL.</a:t>
            </a:r>
            <a:endParaRPr lang="en-US" sz="1800" dirty="0">
              <a:effectLst/>
              <a:latin typeface="Times New Roman" panose="02020603050405020304" pitchFamily="18" charset="0"/>
              <a:ea typeface="SimSun" panose="02010600030101010101" pitchFamily="2" charset="-122"/>
            </a:endParaRPr>
          </a:p>
          <a:p>
            <a:pPr marL="395605" lvl="1" indent="-285750" algn="just">
              <a:lnSpc>
                <a:spcPct val="150000"/>
              </a:lnSpc>
              <a:spcBef>
                <a:spcPts val="500"/>
              </a:spcBef>
              <a:spcAft>
                <a:spcPts val="500"/>
              </a:spcAft>
              <a:buFont typeface="Wingdings" panose="05000000000000000000" pitchFamily="2" charset="2"/>
              <a:buChar char="Ø"/>
            </a:pPr>
            <a:r>
              <a:rPr lang="en-US" sz="1800" b="1" dirty="0">
                <a:solidFill>
                  <a:srgbClr val="00B050"/>
                </a:solidFill>
                <a:effectLst/>
                <a:latin typeface="Times New Roman" panose="02020603050405020304" pitchFamily="18" charset="0"/>
                <a:ea typeface="SimSun" panose="02010600030101010101" pitchFamily="2" charset="-122"/>
              </a:rPr>
              <a:t>Operational Feasibility:</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Staff and students are ready to adapt to the new system, with proficient staff available to train students. Student developers will collaborate on the project, ensuring smooth integration into existing workflows.</a:t>
            </a:r>
            <a:endParaRPr lang="en-US" sz="1800" dirty="0">
              <a:effectLst/>
              <a:latin typeface="Times New Roman" panose="02020603050405020304" pitchFamily="18" charset="0"/>
              <a:ea typeface="SimSun" panose="02010600030101010101" pitchFamily="2" charset="-122"/>
            </a:endParaRPr>
          </a:p>
          <a:p>
            <a:pPr marL="487045" lvl="1" indent="-285750" algn="just">
              <a:lnSpc>
                <a:spcPct val="150000"/>
              </a:lnSpc>
              <a:spcBef>
                <a:spcPts val="500"/>
              </a:spcBef>
              <a:spcAft>
                <a:spcPts val="500"/>
              </a:spcAft>
              <a:buFont typeface="Wingdings" panose="05000000000000000000" pitchFamily="2" charset="2"/>
              <a:buChar char="Ø"/>
            </a:pPr>
            <a:r>
              <a:rPr lang="en-US" sz="1800" b="1" dirty="0">
                <a:solidFill>
                  <a:srgbClr val="00B050"/>
                </a:solidFill>
                <a:effectLst/>
                <a:latin typeface="Times New Roman" panose="02020603050405020304" pitchFamily="18" charset="0"/>
                <a:ea typeface="SimSun" panose="02010600030101010101" pitchFamily="2" charset="-122"/>
              </a:rPr>
              <a:t>Economic Feasibility:</a:t>
            </a:r>
            <a:r>
              <a:rPr lang="en-US" sz="1800" kern="0" dirty="0">
                <a:solidFill>
                  <a:srgbClr val="00B050"/>
                </a:solidFill>
                <a:effectLst/>
                <a:latin typeface="Times New Roman" panose="02020603050405020304" pitchFamily="18" charset="0"/>
                <a:ea typeface="SimSun" panose="02010600030101010101" pitchFamily="2" charset="-122"/>
              </a:rPr>
              <a:t> </a:t>
            </a:r>
            <a:r>
              <a:rPr lang="en-US" sz="1800" kern="0" dirty="0">
                <a:effectLst/>
                <a:latin typeface="Times New Roman" panose="02020603050405020304" pitchFamily="18" charset="0"/>
                <a:ea typeface="SimSun" panose="02010600030101010101" pitchFamily="2" charset="-122"/>
              </a:rPr>
              <a:t>The estimated cost for development and maintenance is </a:t>
            </a:r>
            <a:r>
              <a:rPr lang="en-US" sz="1800" b="1" dirty="0">
                <a:effectLst/>
                <a:latin typeface="Times New Roman" panose="02020603050405020304" pitchFamily="18" charset="0"/>
                <a:ea typeface="SimSun" panose="02010600030101010101" pitchFamily="2" charset="-122"/>
              </a:rPr>
              <a:t>UGX 11,300,000</a:t>
            </a:r>
            <a:r>
              <a:rPr lang="en-US" sz="1800" kern="0" dirty="0">
                <a:effectLst/>
                <a:latin typeface="Times New Roman" panose="02020603050405020304" pitchFamily="18" charset="0"/>
                <a:ea typeface="SimSun" panose="02010600030101010101" pitchFamily="2" charset="-122"/>
              </a:rPr>
              <a:t>. Utilizing existing resources and student involvement minimizes costs while enhancing efficiency and data accuracy.</a:t>
            </a:r>
            <a:endParaRPr lang="en-US" sz="1800" dirty="0">
              <a:effectLst/>
              <a:latin typeface="Times New Roman" panose="02020603050405020304" pitchFamily="18" charset="0"/>
              <a:ea typeface="SimSun" panose="02010600030101010101" pitchFamily="2" charset="-122"/>
            </a:endParaRPr>
          </a:p>
          <a:p>
            <a:pPr marL="0" marR="0" algn="just">
              <a:lnSpc>
                <a:spcPct val="150000"/>
              </a:lnSpc>
              <a:spcBef>
                <a:spcPts val="500"/>
              </a:spcBef>
              <a:spcAft>
                <a:spcPts val="500"/>
              </a:spcAft>
            </a:pPr>
            <a:r>
              <a:rPr lang="en-US" sz="1800" kern="0" dirty="0">
                <a:effectLst/>
                <a:latin typeface="Times New Roman" panose="02020603050405020304" pitchFamily="18" charset="0"/>
                <a:ea typeface="SimSun" panose="02010600030101010101" pitchFamily="2" charset="-122"/>
              </a:rPr>
              <a:t> </a:t>
            </a:r>
            <a:endParaRPr lang="en-US" sz="1800" dirty="0">
              <a:effectLst/>
              <a:latin typeface="Times New Roman" panose="02020603050405020304" pitchFamily="18" charset="0"/>
              <a:ea typeface="SimSun" panose="02010600030101010101" pitchFamily="2" charset="-122"/>
            </a:endParaRPr>
          </a:p>
        </p:txBody>
      </p:sp>
      <p:sp>
        <p:nvSpPr>
          <p:cNvPr id="5" name="Rectangle 4"/>
          <p:cNvSpPr/>
          <p:nvPr/>
        </p:nvSpPr>
        <p:spPr>
          <a:xfrm>
            <a:off x="1096385" y="4944113"/>
            <a:ext cx="10213571" cy="969818"/>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500"/>
              </a:spcBef>
              <a:spcAft>
                <a:spcPts val="500"/>
              </a:spcAft>
            </a:pPr>
            <a:endParaRPr lang="en-US" sz="2200" b="1" kern="0" dirty="0">
              <a:effectLst/>
              <a:latin typeface="Times New Roman" panose="02020603050405020304" pitchFamily="18" charset="0"/>
              <a:ea typeface="SimSun" panose="02010600030101010101" pitchFamily="2" charset="-122"/>
            </a:endParaRPr>
          </a:p>
          <a:p>
            <a:pPr>
              <a:spcBef>
                <a:spcPts val="500"/>
              </a:spcBef>
              <a:spcAft>
                <a:spcPts val="500"/>
              </a:spcAft>
            </a:pPr>
            <a:r>
              <a:rPr lang="en-US" sz="2200" b="1" kern="0" dirty="0">
                <a:effectLst/>
                <a:latin typeface="Times New Roman" panose="02020603050405020304" pitchFamily="18" charset="0"/>
                <a:ea typeface="SimSun" panose="02010600030101010101" pitchFamily="2" charset="-122"/>
              </a:rPr>
              <a:t>In summary, the SMS project is feasible and aligns with WITI’s mission to provide quality education and bridge the technological gender gap in Uganda.</a:t>
            </a:r>
            <a:endParaRPr lang="en-US" sz="2200" b="1" dirty="0">
              <a:effectLst/>
              <a:latin typeface="Times New Roman" panose="02020603050405020304" pitchFamily="18" charset="0"/>
              <a:ea typeface="SimSun" panose="02010600030101010101" pitchFamily="2" charset="-122"/>
            </a:endParaRPr>
          </a:p>
          <a:p>
            <a:pPr lvl="0">
              <a:spcBef>
                <a:spcPts val="500"/>
              </a:spcBef>
              <a:spcAft>
                <a:spcPts val="500"/>
              </a:spcAft>
            </a:pPr>
            <a:endParaRPr lang="en-US" sz="22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5400000">
            <a:off x="-341024" y="308263"/>
            <a:ext cx="1662545" cy="1046019"/>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nchor="ctr">
            <a:normAutofit fontScale="90000"/>
          </a:bodyPr>
          <a:lstStyle/>
          <a:p>
            <a:pPr lvl="0"/>
            <a:r>
              <a:rPr lang="en-US" sz="4800" i="1" dirty="0">
                <a:solidFill>
                  <a:srgbClr val="FFFFFF"/>
                </a:solidFill>
              </a:rPr>
              <a:t>Your best quote that reflects your approach… “It’s one small step for man, one giant leap for mankind.”</a:t>
            </a:r>
            <a:endParaRPr lang="en-US" sz="4800" i="1" dirty="0">
              <a:solidFill>
                <a:srgbClr val="FFFFFF"/>
              </a:solidFill>
            </a:endParaRPr>
          </a:p>
        </p:txBody>
      </p:sp>
      <p:sp>
        <p:nvSpPr>
          <p:cNvPr id="4" name="Rectangle 3"/>
          <p:cNvSpPr/>
          <p:nvPr/>
        </p:nvSpPr>
        <p:spPr>
          <a:xfrm>
            <a:off x="3480264" y="853441"/>
            <a:ext cx="4815840" cy="4123112"/>
          </a:xfrm>
          <a:prstGeom prst="rect">
            <a:avLst/>
          </a:prstGeom>
          <a:solidFill>
            <a:srgbClr val="00B050"/>
          </a:solidFill>
          <a:ln w="12700">
            <a:solidFill>
              <a:schemeClr val="bg1"/>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50000"/>
              </a:lnSpc>
              <a:spcBef>
                <a:spcPts val="0"/>
              </a:spcBef>
              <a:spcAft>
                <a:spcPts val="0"/>
              </a:spcAft>
            </a:pP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b="1" dirty="0">
                <a:effectLst/>
                <a:latin typeface="Times New Roman" panose="02020603050405020304" pitchFamily="18" charset="0"/>
                <a:ea typeface="等线" panose="02010600030101010101" pitchFamily="2" charset="-122"/>
              </a:rPr>
              <a:t>PREPARED BY</a:t>
            </a:r>
            <a:br>
              <a:rPr lang="en-US" sz="2400" dirty="0">
                <a:effectLst/>
                <a:latin typeface="Times New Roman" panose="02020603050405020304" pitchFamily="18" charset="0"/>
                <a:ea typeface="等线" panose="02010600030101010101" pitchFamily="2" charset="-122"/>
              </a:rPr>
            </a:br>
            <a:r>
              <a:rPr lang="en-US" sz="2400" dirty="0">
                <a:effectLst/>
                <a:latin typeface="Times New Roman" panose="02020603050405020304" pitchFamily="18" charset="0"/>
                <a:ea typeface="等线" panose="02010600030101010101" pitchFamily="2" charset="-122"/>
              </a:rPr>
              <a:t>NABATANZI GORRET </a:t>
            </a: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dirty="0">
                <a:effectLst/>
                <a:latin typeface="Times New Roman" panose="02020603050405020304" pitchFamily="18" charset="0"/>
                <a:ea typeface="等线" panose="02010600030101010101" pitchFamily="2" charset="-122"/>
              </a:rPr>
              <a:t>and</a:t>
            </a:r>
            <a:endParaRPr lang="en-US" sz="2400" dirty="0">
              <a:effectLst/>
              <a:latin typeface="Times New Roman" panose="02020603050405020304" pitchFamily="18" charset="0"/>
              <a:ea typeface="等线" panose="02010600030101010101" pitchFamily="2" charset="-122"/>
            </a:endParaRPr>
          </a:p>
          <a:p>
            <a:pPr marL="0" marR="0" algn="ctr">
              <a:lnSpc>
                <a:spcPct val="150000"/>
              </a:lnSpc>
              <a:spcBef>
                <a:spcPts val="0"/>
              </a:spcBef>
              <a:spcAft>
                <a:spcPts val="0"/>
              </a:spcAft>
            </a:pPr>
            <a:r>
              <a:rPr lang="en-US" sz="2400" dirty="0">
                <a:effectLst/>
                <a:latin typeface="Times New Roman" panose="02020603050405020304" pitchFamily="18" charset="0"/>
                <a:ea typeface="等线" panose="02010600030101010101" pitchFamily="2" charset="-122"/>
              </a:rPr>
              <a:t>KOBUMANZI ESETHER</a:t>
            </a:r>
            <a:br>
              <a:rPr lang="en-US" sz="2400" dirty="0">
                <a:effectLst/>
                <a:latin typeface="Times New Roman" panose="02020603050405020304" pitchFamily="18" charset="0"/>
                <a:ea typeface="等线" panose="02010600030101010101" pitchFamily="2" charset="-122"/>
              </a:rPr>
            </a:br>
            <a:r>
              <a:rPr lang="en-US" sz="2400" dirty="0">
                <a:effectLst/>
                <a:latin typeface="Times New Roman" panose="02020603050405020304" pitchFamily="18" charset="0"/>
                <a:ea typeface="等线" panose="02010600030101010101" pitchFamily="2" charset="-122"/>
              </a:rPr>
              <a:t>Date: October 14, 2024</a:t>
            </a:r>
            <a:br>
              <a:rPr lang="en-US" sz="2400" dirty="0">
                <a:effectLst/>
                <a:latin typeface="Times New Roman" panose="02020603050405020304" pitchFamily="18" charset="0"/>
                <a:ea typeface="等线" panose="02010600030101010101" pitchFamily="2" charset="-122"/>
              </a:rPr>
            </a:br>
            <a:endParaRPr lang="en-US" sz="2400" b="1" cap="all" dirty="0">
              <a:effectLst/>
              <a:latin typeface="Times New Roman" panose="02020603050405020304" pitchFamily="18" charset="0"/>
              <a:ea typeface="SimSun" panose="02010600030101010101" pitchFamily="2" charset="-122"/>
              <a:cs typeface="SimSun" panose="02010600030101010101" pitchFamily="2" charset="-122"/>
            </a:endParaRPr>
          </a:p>
        </p:txBody>
      </p:sp>
      <p:sp>
        <p:nvSpPr>
          <p:cNvPr id="6" name="Right Triangle 5"/>
          <p:cNvSpPr/>
          <p:nvPr/>
        </p:nvSpPr>
        <p:spPr>
          <a:xfrm rot="16200000">
            <a:off x="9919851" y="4139333"/>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Triangle 2"/>
          <p:cNvSpPr/>
          <p:nvPr/>
        </p:nvSpPr>
        <p:spPr>
          <a:xfrm rot="10800000">
            <a:off x="9756368" y="0"/>
            <a:ext cx="2435632" cy="2092038"/>
          </a:xfrm>
          <a:prstGeom prst="r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datastoreItem>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{A590E009-5C5F-4699-B83D-A978FA0B91CF}tf56160789_win32</Template>
  <TotalTime>0</TotalTime>
  <Words>18369</Words>
  <Application>WPS Presentation</Application>
  <PresentationFormat>Widescreen</PresentationFormat>
  <Paragraphs>278</Paragraphs>
  <Slides>30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Arial</vt:lpstr>
      <vt:lpstr>SimSun</vt:lpstr>
      <vt:lpstr>Wingdings</vt:lpstr>
      <vt:lpstr>Calibri</vt:lpstr>
      <vt:lpstr>Times New Roman</vt:lpstr>
      <vt:lpstr>等线</vt:lpstr>
      <vt:lpstr>Franklin Gothic Book</vt:lpstr>
      <vt:lpstr>Bookman Old Style</vt:lpstr>
      <vt:lpstr>Segoe Print</vt:lpstr>
      <vt:lpstr>Microsoft YaHei</vt:lpstr>
      <vt:lpstr>Arial Unicode MS</vt:lpstr>
      <vt:lpstr>Custom</vt:lpstr>
      <vt:lpstr>         FOR WOMEN’S INSTITUTE OF TECHNOLOGY &amp; INNOVATION (WITI)  </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lpstr>Your best quote that reflects your approach… “It’s one small step for man, one giant leap for mankind.”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GOLDEN</dc:creator>
  <cp:lastModifiedBy>GOLDEN</cp:lastModifiedBy>
  <cp:revision>7</cp:revision>
  <dcterms:created xsi:type="dcterms:W3CDTF">2024-10-19T03:58:00Z</dcterms:created>
  <dcterms:modified xsi:type="dcterms:W3CDTF">2024-12-13T13:41:50Z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EA776C8C0B0A4EDC9F85457C223FE375_13</vt:lpwstr>
  </property>
  <property fmtid="{D5CDD505-2E9C-101B-9397-08002B2CF9AE}" pid="4" name="KSOProductBuildVer">
    <vt:lpwstr>1033-12.2.0.19307</vt:lpwstr>
  </property>
</Properties>
</file>